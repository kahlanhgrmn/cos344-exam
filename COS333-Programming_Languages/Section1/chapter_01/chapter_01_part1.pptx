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  <p:sldMasterId id="2147483712" r:id="rId2"/>
  </p:sldMasterIdLst>
  <p:notesMasterIdLst>
    <p:notesMasterId r:id="rId12"/>
  </p:notesMasterIdLst>
  <p:sldIdLst>
    <p:sldId id="256" r:id="rId3"/>
    <p:sldId id="259" r:id="rId4"/>
    <p:sldId id="260" r:id="rId5"/>
    <p:sldId id="292" r:id="rId6"/>
    <p:sldId id="293" r:id="rId7"/>
    <p:sldId id="294" r:id="rId8"/>
    <p:sldId id="295" r:id="rId9"/>
    <p:sldId id="296" r:id="rId10"/>
    <p:sldId id="297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EAEAEA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24" autoAdjust="0"/>
  </p:normalViewPr>
  <p:slideViewPr>
    <p:cSldViewPr>
      <p:cViewPr varScale="1">
        <p:scale>
          <a:sx n="73" d="100"/>
          <a:sy n="73" d="100"/>
        </p:scale>
        <p:origin x="110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162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8CE61639-17ED-4568-A109-8E662EB57E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673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10095BF5-4AD6-463F-BFFB-74C71C30254D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0474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3FA94DE-C4C3-4637-9175-39E071196A37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155369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9C294B67-8C5B-4D51-897D-78A13D937D38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A common test or exam question that you can expect related to these reasons will take the form of a short scenario that I describe. This scenario</a:t>
            </a:r>
            <a:r>
              <a:rPr lang="en-ZA" altLang="en-US" baseline="0" noProof="0" dirty="0" smtClean="0"/>
              <a:t> will involve an individual, and you will have to provide a reason for why this individual needs to know about general programming language concepts. It is important that the reason you provide is relevant to the individual described.</a:t>
            </a:r>
          </a:p>
          <a:p>
            <a:pPr eaLnBrk="1" hangingPunct="1"/>
            <a:endParaRPr lang="en-ZA" altLang="en-US" baseline="0" noProof="0" dirty="0" smtClean="0"/>
          </a:p>
          <a:p>
            <a:pPr eaLnBrk="1" hangingPunct="1"/>
            <a:r>
              <a:rPr lang="en-ZA" altLang="en-US" baseline="0" noProof="0" dirty="0" smtClean="0"/>
              <a:t>For example, the scenario may involve a manager in a software development company. In this scenario, the first, third, fourth, and fifth reasons are unlikely to be relevant, because a manager will not be actively programming. The second and last reasons are applicable, because a manager might decide on a language to use for a project, and decisions like this will steer the field of computing in some way.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194365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/>
            <a:fld id="{4797AF20-DE8D-4B03-9949-EE2D4ABB2299}" type="slidenum">
              <a:rPr lang="en-US" altLang="en-US" sz="1300"/>
              <a:pPr algn="r"/>
              <a:t>4</a:t>
            </a:fld>
            <a:endParaRPr lang="en-US" altLang="en-US" sz="13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868348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/>
            <a:fld id="{FD1802E9-C5E4-4604-B4E0-A7BFDAF2DA69}" type="slidenum">
              <a:rPr lang="en-US" altLang="en-US" sz="1300"/>
              <a:pPr algn="r"/>
              <a:t>5</a:t>
            </a:fld>
            <a:endParaRPr lang="en-US" altLang="en-US" sz="13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243250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/>
            <a:fld id="{5CA703D2-89AF-4B5A-A5AB-191DB1A2E023}" type="slidenum">
              <a:rPr lang="en-US" altLang="en-US" sz="1300"/>
              <a:pPr algn="r"/>
              <a:t>6</a:t>
            </a:fld>
            <a:endParaRPr lang="en-US" altLang="en-US" sz="13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246276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/>
            <a:fld id="{13B7D34E-277B-42FC-BD03-15D172C3F2D5}" type="slidenum">
              <a:rPr lang="en-US" altLang="en-US" sz="1300"/>
              <a:pPr algn="r"/>
              <a:t>7</a:t>
            </a:fld>
            <a:endParaRPr lang="en-US" altLang="en-US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735763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/>
            <a:fld id="{17802B13-FE5E-458C-95EB-F56D10E3EBA0}" type="slidenum">
              <a:rPr lang="en-US" altLang="en-US" sz="1300"/>
              <a:pPr algn="r"/>
              <a:t>8</a:t>
            </a:fld>
            <a:endParaRPr lang="en-US" altLang="en-US" sz="13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54707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/>
            <a:fld id="{DAB62A6F-1CB0-4384-B116-58C643873E9E}" type="slidenum">
              <a:rPr lang="en-US" altLang="en-US" sz="1300"/>
              <a:pPr algn="r"/>
              <a:t>9</a:t>
            </a:fld>
            <a:endParaRPr lang="en-US" altLang="en-US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974517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4597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F122ABE-8A6B-4C4D-AF36-135B761990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763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4EAD46B7-1AEE-462F-A370-7591A6D455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97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4B5238A9-B079-4FD2-9F88-38ED0D119E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394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EF0C98EB-B905-4B75-9D5E-60D1B84CC6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164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C204B37-15DE-40B3-A1E2-00D7DF8DEE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14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0282C40-2530-4079-B192-7B10550F2A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73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69FCF538-FBEA-4C20-9C86-C8F3BEE289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81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0A59CF4-7BEF-4411-9763-14EB294C6D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65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C384A559-205F-44FF-AAF5-934F996E77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44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1A4E1994-5CA5-4600-AE11-9CE1FC65E1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0972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D3DEF-3B9A-478D-A0DC-9F71749A79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004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EA683-BB76-47D8-856E-0ED2E7DE2B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076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4BB23-971F-4E97-8F5D-75034A9FFB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72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991C1-E38F-426B-BF4D-E18946925A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72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17859-A478-4A59-9A4E-446108A123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079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204FF-DF54-4A94-9726-B3A16C8D84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0382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2B777-8427-4558-9AD6-E529958034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458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F91F1-316C-4D51-BBCE-8BD4EECDF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954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609D4-69C1-481C-B07F-224A78A3B9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99552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76B28-2592-4F0B-B1D0-3AB798223C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282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D48B0-08D1-4237-839D-BADB8F5DE9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805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89D48F04-14DE-472B-A236-3883FEA45D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ea typeface="+mn-ea"/>
                <a:cs typeface="Lucida Sans Unicode" pitchFamily="34" charset="0"/>
              </a:defRPr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30EE5EA4-558C-497A-A4B5-4804B6F20F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Chapter 1</a:t>
            </a:r>
            <a:br>
              <a:rPr lang="en-ZA" altLang="en-US" noProof="0" dirty="0" smtClean="0"/>
            </a:br>
            <a:r>
              <a:rPr lang="en-ZA" altLang="en-US" sz="2800" dirty="0" smtClean="0"/>
              <a:t>Part 1</a:t>
            </a:r>
            <a:endParaRPr lang="en-ZA" altLang="en-US" sz="2800" noProof="0" dirty="0" smtClean="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Preliminaries</a:t>
            </a:r>
          </a:p>
        </p:txBody>
      </p:sp>
      <p:pic>
        <p:nvPicPr>
          <p:cNvPr id="5" name="Picture 8" descr="Front Cover: Concepts of Programming Languages, Global Edition, by Robert W Sebesta&#10;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0"/>
            <a:ext cx="4724400" cy="586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BFC0E3C-77B6-47C9-8A5D-C39E92F19E4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Topic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ZA" altLang="en-US" noProof="0" dirty="0" smtClean="0"/>
              <a:t>Reasons for Studying Concepts of Programming Languages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FF385EC-BCA9-4DE7-9C9A-078B9B508FA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1066800"/>
          </a:xfrm>
        </p:spPr>
        <p:txBody>
          <a:bodyPr/>
          <a:lstStyle/>
          <a:p>
            <a:pPr eaLnBrk="1" hangingPunct="1"/>
            <a:r>
              <a:rPr lang="en-ZA" altLang="en-US" sz="3200" noProof="0" dirty="0" smtClean="0"/>
              <a:t>Reasons for Studying Concepts of Programming Languages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Increased ability to express ideas</a:t>
            </a:r>
          </a:p>
          <a:p>
            <a:pPr eaLnBrk="1" hangingPunct="1"/>
            <a:r>
              <a:rPr lang="en-ZA" altLang="en-US" noProof="0" dirty="0" smtClean="0"/>
              <a:t>Improved background for choosing appropriate languages</a:t>
            </a:r>
          </a:p>
          <a:p>
            <a:pPr eaLnBrk="1" hangingPunct="1"/>
            <a:r>
              <a:rPr lang="en-ZA" altLang="en-US" noProof="0" dirty="0" smtClean="0"/>
              <a:t>Increased ability to learn new languages</a:t>
            </a:r>
          </a:p>
          <a:p>
            <a:pPr eaLnBrk="1" hangingPunct="1"/>
            <a:r>
              <a:rPr lang="en-ZA" altLang="en-US" noProof="0" dirty="0" smtClean="0"/>
              <a:t>Better understanding of significance of implementation</a:t>
            </a:r>
          </a:p>
          <a:p>
            <a:pPr eaLnBrk="1" hangingPunct="1"/>
            <a:r>
              <a:rPr lang="en-ZA" altLang="en-US" noProof="0" dirty="0" smtClean="0"/>
              <a:t>Better use of languages that are already known</a:t>
            </a:r>
          </a:p>
          <a:p>
            <a:pPr eaLnBrk="1" hangingPunct="1"/>
            <a:r>
              <a:rPr lang="en-ZA" altLang="en-US" noProof="0" dirty="0" smtClean="0"/>
              <a:t>Overall advancement of computing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 txBox="1">
            <a:spLocks noGrp="1"/>
          </p:cNvSpPr>
          <p:nvPr/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601FBC4-7B09-4E99-8C80-F1E46FD2A9F6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 algn="r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Increased ability to express ideas</a:t>
            </a:r>
          </a:p>
          <a:p>
            <a:pPr lvl="1" eaLnBrk="1" hangingPunct="1"/>
            <a:r>
              <a:rPr lang="en-ZA" altLang="en-US" noProof="0" dirty="0" smtClean="0"/>
              <a:t>You cannot express what you cannot describe</a:t>
            </a:r>
          </a:p>
          <a:p>
            <a:pPr lvl="1" eaLnBrk="1" hangingPunct="1"/>
            <a:r>
              <a:rPr lang="en-ZA" altLang="en-US" noProof="0" dirty="0" smtClean="0"/>
              <a:t>A language limits the structures you can use</a:t>
            </a:r>
          </a:p>
          <a:p>
            <a:pPr lvl="1" eaLnBrk="1" hangingPunct="1"/>
            <a:r>
              <a:rPr lang="en-ZA" altLang="en-US" noProof="0" dirty="0" smtClean="0"/>
              <a:t>Even if your language is dictated, unsupported structures can be simulated if you know about them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76200"/>
            <a:ext cx="77724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r>
              <a:rPr lang="en-US" altLang="en-US" sz="3200" kern="0" smtClean="0"/>
              <a:t>Reasons for Studying Concepts of Programming Languages</a:t>
            </a:r>
            <a:endParaRPr lang="en-US" altLang="en-US" sz="3200" kern="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 txBox="1">
            <a:spLocks noGrp="1"/>
          </p:cNvSpPr>
          <p:nvPr/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3E6206E-E3EC-48E8-B31E-EADF570AD55C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 algn="r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Helps choose appropriate languages</a:t>
            </a:r>
          </a:p>
          <a:p>
            <a:pPr lvl="1" eaLnBrk="1" hangingPunct="1"/>
            <a:r>
              <a:rPr lang="en-ZA" altLang="en-US" noProof="0" dirty="0" smtClean="0"/>
              <a:t>Programmers are often limited</a:t>
            </a:r>
          </a:p>
          <a:p>
            <a:pPr lvl="2" eaLnBrk="1" hangingPunct="1"/>
            <a:r>
              <a:rPr lang="en-ZA" altLang="en-US" noProof="0" dirty="0" smtClean="0"/>
              <a:t>In-house training</a:t>
            </a:r>
          </a:p>
          <a:p>
            <a:pPr lvl="2" eaLnBrk="1" hangingPunct="1"/>
            <a:r>
              <a:rPr lang="en-ZA" altLang="en-US" noProof="0" dirty="0" smtClean="0"/>
              <a:t>Formal training a long time ago</a:t>
            </a:r>
          </a:p>
          <a:p>
            <a:pPr lvl="1" eaLnBrk="1" hangingPunct="1"/>
            <a:r>
              <a:rPr lang="en-ZA" altLang="en-US" noProof="0" dirty="0" smtClean="0"/>
              <a:t>Language concepts allow informed choices</a:t>
            </a:r>
          </a:p>
          <a:p>
            <a:pPr lvl="1" eaLnBrk="1" hangingPunct="1"/>
            <a:r>
              <a:rPr lang="en-ZA" altLang="en-US" noProof="0" dirty="0" smtClean="0"/>
              <a:t>It is better to use a directly supported feature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76200"/>
            <a:ext cx="77724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r>
              <a:rPr lang="en-US" altLang="en-US" sz="3200" kern="0" smtClean="0"/>
              <a:t>Reasons for Studying Concepts of Programming Languages</a:t>
            </a:r>
            <a:endParaRPr lang="en-US" altLang="en-US" sz="3200" kern="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 txBox="1">
            <a:spLocks noGrp="1"/>
          </p:cNvSpPr>
          <p:nvPr/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EEB8222-1E51-4E99-AE9F-C7E732D891EB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 algn="r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Increased ability to learn new languages</a:t>
            </a:r>
          </a:p>
          <a:p>
            <a:pPr lvl="1" eaLnBrk="1" hangingPunct="1"/>
            <a:r>
              <a:rPr lang="en-ZA" altLang="en-US" noProof="0" dirty="0" smtClean="0"/>
              <a:t>Programming is a young discipline</a:t>
            </a:r>
          </a:p>
          <a:p>
            <a:pPr lvl="2" eaLnBrk="1" hangingPunct="1"/>
            <a:r>
              <a:rPr lang="en-ZA" altLang="en-US" noProof="0" dirty="0" smtClean="0"/>
              <a:t>New languages constantly evolving</a:t>
            </a:r>
          </a:p>
          <a:p>
            <a:pPr lvl="2" eaLnBrk="1" hangingPunct="1"/>
            <a:r>
              <a:rPr lang="en-ZA" altLang="en-US" noProof="0" dirty="0" smtClean="0"/>
              <a:t>Usage patterns constantly change</a:t>
            </a:r>
          </a:p>
          <a:p>
            <a:pPr lvl="1" eaLnBrk="1" hangingPunct="1"/>
            <a:r>
              <a:rPr lang="en-ZA" altLang="en-US" noProof="0" dirty="0" smtClean="0"/>
              <a:t>General language concept knowledge helps</a:t>
            </a:r>
          </a:p>
          <a:p>
            <a:pPr lvl="2" eaLnBrk="1" hangingPunct="1"/>
            <a:r>
              <a:rPr lang="en-ZA" altLang="en-US" noProof="0" dirty="0" smtClean="0"/>
              <a:t>Reduces time taken to learn a new language</a:t>
            </a:r>
          </a:p>
          <a:p>
            <a:pPr lvl="2" eaLnBrk="1" hangingPunct="1"/>
            <a:r>
              <a:rPr lang="en-ZA" altLang="en-US" noProof="0" dirty="0" smtClean="0"/>
              <a:t>Helps interpretation of literature on languages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76200"/>
            <a:ext cx="77724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r>
              <a:rPr lang="en-US" altLang="en-US" sz="3200" kern="0" smtClean="0"/>
              <a:t>Reasons for Studying Concepts of Programming Languages</a:t>
            </a:r>
            <a:endParaRPr lang="en-US" altLang="en-US" sz="3200" kern="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/>
          <p:cNvSpPr txBox="1">
            <a:spLocks noGrp="1"/>
          </p:cNvSpPr>
          <p:nvPr/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32405C9-BF91-4EBE-B224-0449F04E70A7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 algn="r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Better understanding of implementation</a:t>
            </a:r>
          </a:p>
          <a:p>
            <a:pPr lvl="1" eaLnBrk="1" hangingPunct="1"/>
            <a:r>
              <a:rPr lang="en-ZA" altLang="en-US" noProof="0" dirty="0" smtClean="0"/>
              <a:t>Why languages work the way they do</a:t>
            </a:r>
          </a:p>
          <a:p>
            <a:pPr lvl="2" eaLnBrk="1" hangingPunct="1"/>
            <a:r>
              <a:rPr lang="en-ZA" altLang="en-US" noProof="0" dirty="0" smtClean="0"/>
              <a:t>Use languages as they were intended to be used</a:t>
            </a:r>
          </a:p>
          <a:p>
            <a:pPr lvl="1" eaLnBrk="1" hangingPunct="1"/>
            <a:r>
              <a:rPr lang="en-ZA" altLang="en-US" noProof="0" dirty="0" smtClean="0"/>
              <a:t>Understanding low-level bugs</a:t>
            </a:r>
          </a:p>
          <a:p>
            <a:pPr lvl="1" eaLnBrk="1" hangingPunct="1"/>
            <a:r>
              <a:rPr lang="en-ZA" altLang="en-US" noProof="0" dirty="0" smtClean="0"/>
              <a:t>Understanding efficiency </a:t>
            </a:r>
            <a:r>
              <a:rPr lang="en-ZA" altLang="en-US" noProof="0" dirty="0" err="1" smtClean="0"/>
              <a:t>tradeoffs</a:t>
            </a:r>
            <a:endParaRPr lang="en-ZA" altLang="en-US" noProof="0" dirty="0" smtClean="0"/>
          </a:p>
          <a:p>
            <a:pPr lvl="1" eaLnBrk="1" hangingPunct="1"/>
            <a:endParaRPr lang="en-ZA" altLang="en-US" noProof="0" dirty="0" smtClean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76200"/>
            <a:ext cx="77724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r>
              <a:rPr lang="en-US" altLang="en-US" sz="3200" kern="0" smtClean="0"/>
              <a:t>Reasons for Studying Concepts of Programming Languages</a:t>
            </a:r>
            <a:endParaRPr lang="en-US" altLang="en-US" sz="3200" kern="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 txBox="1">
            <a:spLocks noGrp="1"/>
          </p:cNvSpPr>
          <p:nvPr/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5ADA2B6-2A79-4FF1-8CE6-836F1562231C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 algn="r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Better use of already known languages</a:t>
            </a:r>
          </a:p>
          <a:p>
            <a:pPr lvl="1" eaLnBrk="1" hangingPunct="1"/>
            <a:r>
              <a:rPr lang="en-ZA" altLang="en-US" noProof="0" dirty="0" smtClean="0"/>
              <a:t>Contemporary languages are large &amp; complex</a:t>
            </a:r>
          </a:p>
          <a:p>
            <a:pPr lvl="2" eaLnBrk="1" hangingPunct="1"/>
            <a:r>
              <a:rPr lang="en-ZA" altLang="en-US" noProof="0" dirty="0" smtClean="0"/>
              <a:t>Many programmers use only a subset of features</a:t>
            </a:r>
          </a:p>
          <a:p>
            <a:pPr lvl="2" eaLnBrk="1" hangingPunct="1"/>
            <a:r>
              <a:rPr lang="en-ZA" altLang="en-US" noProof="0" dirty="0" smtClean="0"/>
              <a:t>Knowing about features lets you exploit them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76200"/>
            <a:ext cx="77724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r>
              <a:rPr lang="en-US" altLang="en-US" sz="3200" kern="0" smtClean="0"/>
              <a:t>Reasons for Studying Concepts of Programming Languages</a:t>
            </a:r>
            <a:endParaRPr lang="en-US" altLang="en-US" sz="3200" kern="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 txBox="1">
            <a:spLocks noGrp="1"/>
          </p:cNvSpPr>
          <p:nvPr/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8AFB2BF-3E4F-4657-AAA9-9B05BFCAB2DD}" type="slidenum">
              <a:rPr lang="en-US" altLang="en-US" sz="1000">
                <a:solidFill>
                  <a:schemeClr val="tx1"/>
                </a:solidFill>
                <a:latin typeface="Arial" panose="020B0604020202020204" pitchFamily="34" charset="0"/>
              </a:rPr>
              <a:pPr algn="r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Overall advancement of computing</a:t>
            </a:r>
          </a:p>
          <a:p>
            <a:pPr lvl="1" eaLnBrk="1" hangingPunct="1"/>
            <a:r>
              <a:rPr lang="en-ZA" altLang="en-US" noProof="0" dirty="0" smtClean="0"/>
              <a:t>Language evolution is complex (chapter 2)</a:t>
            </a:r>
          </a:p>
          <a:p>
            <a:pPr lvl="2" eaLnBrk="1" hangingPunct="1"/>
            <a:r>
              <a:rPr lang="en-ZA" altLang="en-US" noProof="0" dirty="0" smtClean="0"/>
              <a:t>Language popularity is often not well founded</a:t>
            </a:r>
          </a:p>
          <a:p>
            <a:pPr lvl="2" eaLnBrk="1" hangingPunct="1"/>
            <a:r>
              <a:rPr lang="en-ZA" altLang="en-US" noProof="0" dirty="0" smtClean="0"/>
              <a:t>ALGOL 60 versus Fortran</a:t>
            </a:r>
          </a:p>
          <a:p>
            <a:pPr lvl="1" eaLnBrk="1" hangingPunct="1"/>
            <a:r>
              <a:rPr lang="en-ZA" altLang="en-US" noProof="0" dirty="0" smtClean="0"/>
              <a:t>Better understanding of underlying issues</a:t>
            </a:r>
          </a:p>
          <a:p>
            <a:pPr lvl="2" eaLnBrk="1" hangingPunct="1"/>
            <a:r>
              <a:rPr lang="en-ZA" altLang="en-US" noProof="0" dirty="0" smtClean="0"/>
              <a:t>Those in charge would choose better languages</a:t>
            </a:r>
          </a:p>
          <a:p>
            <a:pPr lvl="2" eaLnBrk="1" hangingPunct="1"/>
            <a:r>
              <a:rPr lang="en-ZA" altLang="en-US" noProof="0" dirty="0" smtClean="0"/>
              <a:t>Better languages would eventually dominate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76200"/>
            <a:ext cx="77724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666699"/>
                </a:solidFill>
                <a:latin typeface="Lucida Sans Unicode" pitchFamily="34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r>
              <a:rPr lang="en-US" altLang="en-US" sz="3200" kern="0" smtClean="0"/>
              <a:t>Reasons for Studying Concepts of Programming Languages</a:t>
            </a:r>
            <a:endParaRPr lang="en-US" altLang="en-US" sz="3200" kern="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besta">
  <a:themeElements>
    <a:clrScheme name="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2938</TotalTime>
  <Words>555</Words>
  <Application>Microsoft Office PowerPoint</Application>
  <PresentationFormat>On-screen Show (4:3)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Lucida Sans Unicode</vt:lpstr>
      <vt:lpstr>Times</vt:lpstr>
      <vt:lpstr>sebesta</vt:lpstr>
      <vt:lpstr>Custom Design</vt:lpstr>
      <vt:lpstr>Chapter 1 Part 1</vt:lpstr>
      <vt:lpstr>Topic</vt:lpstr>
      <vt:lpstr>Reasons for Studying Concepts of Programming Languages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155</cp:revision>
  <dcterms:created xsi:type="dcterms:W3CDTF">2003-08-01T12:29:19Z</dcterms:created>
  <dcterms:modified xsi:type="dcterms:W3CDTF">2026-02-19T17:48:13Z</dcterms:modified>
</cp:coreProperties>
</file>