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 id="2147483712" r:id="rId2"/>
  </p:sldMasterIdLst>
  <p:notesMasterIdLst>
    <p:notesMasterId r:id="rId18"/>
  </p:notesMasterIdLst>
  <p:sldIdLst>
    <p:sldId id="256" r:id="rId3"/>
    <p:sldId id="259" r:id="rId4"/>
    <p:sldId id="262" r:id="rId5"/>
    <p:sldId id="298" r:id="rId6"/>
    <p:sldId id="299" r:id="rId7"/>
    <p:sldId id="300" r:id="rId8"/>
    <p:sldId id="301" r:id="rId9"/>
    <p:sldId id="302" r:id="rId10"/>
    <p:sldId id="303" r:id="rId11"/>
    <p:sldId id="271" r:id="rId12"/>
    <p:sldId id="261" r:id="rId13"/>
    <p:sldId id="304" r:id="rId14"/>
    <p:sldId id="305" r:id="rId15"/>
    <p:sldId id="306" r:id="rId16"/>
    <p:sldId id="307" r:id="rId1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EAEAEA"/>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424"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31627"/>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8CE61639-17ED-4568-A109-8E662EB57EDA}" type="slidenum">
              <a:rPr lang="en-US" altLang="en-US"/>
              <a:pPr>
                <a:defRPr/>
              </a:pPr>
              <a:t>‹#›</a:t>
            </a:fld>
            <a:endParaRPr lang="en-US" altLang="en-US"/>
          </a:p>
        </p:txBody>
      </p:sp>
    </p:spTree>
    <p:extLst>
      <p:ext uri="{BB962C8B-B14F-4D97-AF65-F5344CB8AC3E}">
        <p14:creationId xmlns:p14="http://schemas.microsoft.com/office/powerpoint/2010/main" val="26986734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0095BF5-4AD6-463F-BFFB-74C71C30254D}" type="slidenum">
              <a:rPr lang="en-US" altLang="en-US" sz="1200" smtClean="0"/>
              <a:pPr/>
              <a:t>1</a:t>
            </a:fld>
            <a:endParaRPr lang="en-US" altLang="en-US" sz="1200" smtClean="0"/>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dirty="0" smtClean="0"/>
          </a:p>
        </p:txBody>
      </p:sp>
    </p:spTree>
    <p:extLst>
      <p:ext uri="{BB962C8B-B14F-4D97-AF65-F5344CB8AC3E}">
        <p14:creationId xmlns:p14="http://schemas.microsoft.com/office/powerpoint/2010/main" val="2740474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3FA94DE-C4C3-4637-9175-39E071196A37}" type="slidenum">
              <a:rPr lang="en-US" altLang="en-US" sz="1200" smtClean="0"/>
              <a:pPr/>
              <a:t>2</a:t>
            </a:fld>
            <a:endParaRPr lang="en-US" altLang="en-US" sz="1200" smtClean="0"/>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155369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FD3FF1E-427A-4301-ABEE-B88B43114B44}" type="slidenum">
              <a:rPr lang="en-US" altLang="en-US" sz="1200" smtClean="0"/>
              <a:pPr/>
              <a:t>3</a:t>
            </a:fld>
            <a:endParaRPr lang="en-US" altLang="en-US" sz="1200" smtClean="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830743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DE371D1-9D9D-445C-856A-576E24853CA9}" type="slidenum">
              <a:rPr lang="en-US" altLang="en-US" sz="1300" smtClean="0"/>
              <a:pPr/>
              <a:t>4</a:t>
            </a:fld>
            <a:endParaRPr lang="en-US" altLang="en-US" sz="1300" smtClean="0"/>
          </a:p>
        </p:txBody>
      </p:sp>
      <p:sp>
        <p:nvSpPr>
          <p:cNvPr id="26627" name="Rectangle 2"/>
          <p:cNvSpPr>
            <a:spLocks noGrp="1" noRot="1" noChangeAspect="1" noChangeArrowheads="1" noTextEdit="1"/>
          </p:cNvSpPr>
          <p:nvPr>
            <p:ph type="sldImg"/>
          </p:nvPr>
        </p:nvSpPr>
        <p:spPr>
          <a:xfrm>
            <a:off x="992188" y="768350"/>
            <a:ext cx="5114925" cy="3836988"/>
          </a:xfrm>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sz="1200" noProof="0" dirty="0" smtClean="0"/>
              <a:t>A manageable set of features and constructs: Large, complex languages allow</a:t>
            </a:r>
            <a:r>
              <a:rPr lang="en-ZA" altLang="en-US" sz="1200" baseline="0" noProof="0" dirty="0" smtClean="0"/>
              <a:t> for programs that are difficult to follow. A good example of a complex language is C++.</a:t>
            </a:r>
          </a:p>
          <a:p>
            <a:pPr eaLnBrk="1" hangingPunct="1"/>
            <a:endParaRPr lang="en-ZA" altLang="en-US" sz="1200" baseline="0" noProof="0" dirty="0" smtClean="0"/>
          </a:p>
          <a:p>
            <a:pPr eaLnBrk="1" hangingPunct="1"/>
            <a:r>
              <a:rPr lang="en-ZA" altLang="en-US" sz="1200" noProof="0" dirty="0" smtClean="0"/>
              <a:t>Minimal feature multiplicity:</a:t>
            </a:r>
            <a:r>
              <a:rPr lang="en-ZA" altLang="en-US" sz="1200" baseline="0" noProof="0" dirty="0" smtClean="0"/>
              <a:t> If there are several ways to achieve the same thing, the language becomes more difficult to read. For example, in C++ there are several ways to increment a variable (for example, </a:t>
            </a:r>
            <a:r>
              <a:rPr lang="en-ZA" altLang="en-US" sz="1200" baseline="0" noProof="0" dirty="0" err="1" smtClean="0"/>
              <a:t>var</a:t>
            </a:r>
            <a:r>
              <a:rPr lang="en-ZA" altLang="en-US" sz="1200" baseline="0" noProof="0" dirty="0" smtClean="0"/>
              <a:t>=var+1, </a:t>
            </a:r>
            <a:r>
              <a:rPr lang="en-ZA" altLang="en-US" sz="1200" baseline="0" noProof="0" dirty="0" err="1" smtClean="0"/>
              <a:t>var</a:t>
            </a:r>
            <a:r>
              <a:rPr lang="en-ZA" altLang="en-US" sz="1200" baseline="0" noProof="0" dirty="0" smtClean="0"/>
              <a:t>+=1, ++</a:t>
            </a:r>
            <a:r>
              <a:rPr lang="en-ZA" altLang="en-US" sz="1200" baseline="0" noProof="0" dirty="0" err="1" smtClean="0"/>
              <a:t>var</a:t>
            </a:r>
            <a:r>
              <a:rPr lang="en-ZA" altLang="en-US" sz="1200" baseline="0" noProof="0" dirty="0" smtClean="0"/>
              <a:t>, and </a:t>
            </a:r>
            <a:r>
              <a:rPr lang="en-ZA" altLang="en-US" sz="1200" baseline="0" noProof="0" dirty="0" err="1" smtClean="0"/>
              <a:t>var</a:t>
            </a:r>
            <a:r>
              <a:rPr lang="en-ZA" altLang="en-US" sz="1200" baseline="0" noProof="0" dirty="0" smtClean="0"/>
              <a:t>++).</a:t>
            </a:r>
          </a:p>
          <a:p>
            <a:pPr eaLnBrk="1" hangingPunct="1"/>
            <a:endParaRPr lang="en-ZA" altLang="en-US" sz="1200" baseline="0" noProof="0" dirty="0" smtClean="0"/>
          </a:p>
          <a:p>
            <a:pPr eaLnBrk="1" hangingPunct="1"/>
            <a:r>
              <a:rPr lang="en-ZA" altLang="en-US" sz="1200" noProof="0" dirty="0" smtClean="0"/>
              <a:t>Minimal operator overloading: It’s more</a:t>
            </a:r>
            <a:r>
              <a:rPr lang="en-ZA" altLang="en-US" sz="1200" baseline="0" noProof="0" dirty="0" smtClean="0"/>
              <a:t> difficult to understand program written in a language that uses the same operator symbol for different things. For example, in C++ the * operator is used to represent multiplication, pointer declarations, and pointer dereferencing.</a:t>
            </a:r>
          </a:p>
          <a:p>
            <a:pPr eaLnBrk="1" hangingPunct="1"/>
            <a:endParaRPr lang="en-ZA" altLang="en-US" sz="1200" baseline="0" noProof="0" dirty="0" smtClean="0"/>
          </a:p>
          <a:p>
            <a:pPr eaLnBrk="1" hangingPunct="1"/>
            <a:r>
              <a:rPr lang="en-ZA" altLang="en-US" sz="1200" baseline="0" noProof="0" dirty="0" smtClean="0"/>
              <a:t>A good example of orthogonality is basic addition. As you should already know, integer addition and floating point addition are very different operations on a machine level. If a language has a single addition operator for integer and floating point addition, the language is highly orthogonal. This is because the same operator is used to add two integer values, two floating point values, an integer and a float, and a float and an integer. All these combinations are legal without any exceptions. On the other hand, if a programming language has different operators for adding two integers and adding two floating point values, the language is not very orthogonal. There is an exception for how addition is done, depending on the operands being added. Additionally, it isn’t possible to add an integer and a floating point value, or a floating point value and an integer (without either providing separate operators for these operations, or using manual type conversions).</a:t>
            </a:r>
            <a:endParaRPr lang="en-ZA" altLang="en-US" noProof="0" dirty="0" smtClean="0"/>
          </a:p>
        </p:txBody>
      </p:sp>
    </p:spTree>
    <p:extLst>
      <p:ext uri="{BB962C8B-B14F-4D97-AF65-F5344CB8AC3E}">
        <p14:creationId xmlns:p14="http://schemas.microsoft.com/office/powerpoint/2010/main" val="1987198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smtClean="0"/>
              <a:t>A naming restriction might be a length limit for a variable name, or rules allowing only certain characters to be used in a variable name.</a:t>
            </a:r>
          </a:p>
          <a:p>
            <a:endParaRPr lang="en-ZA" dirty="0" smtClean="0"/>
          </a:p>
          <a:p>
            <a:r>
              <a:rPr lang="en-ZA" dirty="0" smtClean="0"/>
              <a:t>A special word is something like </a:t>
            </a:r>
            <a:r>
              <a:rPr lang="en-ZA" dirty="0" err="1" smtClean="0"/>
              <a:t>int</a:t>
            </a:r>
            <a:r>
              <a:rPr lang="en-ZA" dirty="0" smtClean="0"/>
              <a:t>, float, class, and</a:t>
            </a:r>
            <a:r>
              <a:rPr lang="en-ZA" baseline="0" dirty="0" smtClean="0"/>
              <a:t> static in C++. A special word like integer would be considered more readable than </a:t>
            </a:r>
            <a:r>
              <a:rPr lang="en-ZA" baseline="0" dirty="0" err="1" smtClean="0"/>
              <a:t>int</a:t>
            </a:r>
            <a:r>
              <a:rPr lang="en-ZA" baseline="0" dirty="0" smtClean="0"/>
              <a:t>, for example (can you think of a drawback to using integer instead of </a:t>
            </a:r>
            <a:r>
              <a:rPr lang="en-ZA" baseline="0" dirty="0" err="1" smtClean="0"/>
              <a:t>int</a:t>
            </a:r>
            <a:r>
              <a:rPr lang="en-ZA" baseline="0" dirty="0" smtClean="0"/>
              <a:t>?). Special words can be used to start and end a block. For example a language might use BEGIN and END to start and end a block. This is more readable than the C-based programming languages, which use braces (can you think of a drawback to using BEGIN and END?). A language will be even more readable if the type of block is described by special words (for example BEGIN IF and END IF).</a:t>
            </a:r>
          </a:p>
          <a:p>
            <a:endParaRPr lang="en-ZA" baseline="0" dirty="0" smtClean="0"/>
          </a:p>
          <a:p>
            <a:r>
              <a:rPr lang="en-ZA" baseline="0" dirty="0" smtClean="0"/>
              <a:t>Meaningful keywords should have names that describe what they do. An example of where this is not the case is in C++ where the static special word is used to indicate a class variable. The name “static” doesn’t give a good idea of what it represents. The static special word is also an example of a case in which two language constructs have the same name, but different meanings. In a variable declaration, like this:</a:t>
            </a:r>
          </a:p>
          <a:p>
            <a:endParaRPr lang="en-ZA" baseline="0" dirty="0" smtClean="0"/>
          </a:p>
          <a:p>
            <a:r>
              <a:rPr lang="en-ZA" baseline="0" dirty="0" smtClean="0"/>
              <a:t>static </a:t>
            </a:r>
            <a:r>
              <a:rPr lang="en-ZA" baseline="0" dirty="0" err="1" smtClean="0"/>
              <a:t>int</a:t>
            </a:r>
            <a:r>
              <a:rPr lang="en-ZA" baseline="0" dirty="0" smtClean="0"/>
              <a:t> a = 5;</a:t>
            </a:r>
          </a:p>
          <a:p>
            <a:endParaRPr lang="en-ZA" baseline="0" dirty="0" smtClean="0"/>
          </a:p>
          <a:p>
            <a:r>
              <a:rPr lang="en-ZA" baseline="0" dirty="0" smtClean="0"/>
              <a:t>the static special word indicates that the variable is allocated once at the start of program execution. In a class, static indicates a class-level variable.</a:t>
            </a:r>
            <a:endParaRPr lang="en-ZA" dirty="0"/>
          </a:p>
        </p:txBody>
      </p:sp>
      <p:sp>
        <p:nvSpPr>
          <p:cNvPr id="4" name="Slide Number Placeholder 3"/>
          <p:cNvSpPr>
            <a:spLocks noGrp="1"/>
          </p:cNvSpPr>
          <p:nvPr>
            <p:ph type="sldNum" sz="quarter" idx="10"/>
          </p:nvPr>
        </p:nvSpPr>
        <p:spPr/>
        <p:txBody>
          <a:bodyPr/>
          <a:lstStyle/>
          <a:p>
            <a:pPr>
              <a:defRPr/>
            </a:pPr>
            <a:fld id="{8CE61639-17ED-4568-A109-8E662EB57EDA}" type="slidenum">
              <a:rPr lang="en-US" altLang="en-US" smtClean="0"/>
              <a:pPr>
                <a:defRPr/>
              </a:pPr>
              <a:t>5</a:t>
            </a:fld>
            <a:endParaRPr lang="en-US" altLang="en-US"/>
          </a:p>
        </p:txBody>
      </p:sp>
    </p:spTree>
    <p:extLst>
      <p:ext uri="{BB962C8B-B14F-4D97-AF65-F5344CB8AC3E}">
        <p14:creationId xmlns:p14="http://schemas.microsoft.com/office/powerpoint/2010/main" val="3270670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57AEDB0-35AB-4466-938E-B990009E25A0}" type="slidenum">
              <a:rPr lang="en-US" altLang="en-US" sz="1300" smtClean="0"/>
              <a:pPr/>
              <a:t>6</a:t>
            </a:fld>
            <a:endParaRPr lang="en-US" altLang="en-US" sz="1300" smtClean="0"/>
          </a:p>
        </p:txBody>
      </p:sp>
      <p:sp>
        <p:nvSpPr>
          <p:cNvPr id="29699" name="Rectangle 2"/>
          <p:cNvSpPr>
            <a:spLocks noGrp="1" noRot="1" noChangeAspect="1" noChangeArrowheads="1" noTextEdit="1"/>
          </p:cNvSpPr>
          <p:nvPr>
            <p:ph type="sldImg"/>
          </p:nvPr>
        </p:nvSpPr>
        <p:spPr>
          <a:xfrm>
            <a:off x="992188" y="768350"/>
            <a:ext cx="5114925" cy="3836988"/>
          </a:xfrm>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649163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FE11F11-17AA-4E2C-BCA0-7F91B6404772}" type="slidenum">
              <a:rPr lang="en-US" altLang="en-US" sz="1300" smtClean="0"/>
              <a:pPr/>
              <a:t>7</a:t>
            </a:fld>
            <a:endParaRPr lang="en-US" altLang="en-US" sz="1300" smtClean="0"/>
          </a:p>
        </p:txBody>
      </p:sp>
      <p:sp>
        <p:nvSpPr>
          <p:cNvPr id="31747" name="Rectangle 2"/>
          <p:cNvSpPr>
            <a:spLocks noGrp="1" noRot="1" noChangeAspect="1" noChangeArrowheads="1" noTextEdit="1"/>
          </p:cNvSpPr>
          <p:nvPr>
            <p:ph type="sldImg"/>
          </p:nvPr>
        </p:nvSpPr>
        <p:spPr>
          <a:xfrm>
            <a:off x="992188" y="768350"/>
            <a:ext cx="5114925" cy="3836988"/>
          </a:xfrm>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4173285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4475896-1F18-47B1-BE58-B59CC35B153B}" type="slidenum">
              <a:rPr lang="en-US" altLang="en-US" sz="1300" smtClean="0"/>
              <a:pPr/>
              <a:t>8</a:t>
            </a:fld>
            <a:endParaRPr lang="en-US" altLang="en-US" sz="1300" smtClean="0"/>
          </a:p>
        </p:txBody>
      </p:sp>
      <p:sp>
        <p:nvSpPr>
          <p:cNvPr id="33795" name="Rectangle 2"/>
          <p:cNvSpPr>
            <a:spLocks noGrp="1" noRot="1" noChangeAspect="1" noChangeArrowheads="1" noTextEdit="1"/>
          </p:cNvSpPr>
          <p:nvPr>
            <p:ph type="sldImg"/>
          </p:nvPr>
        </p:nvSpPr>
        <p:spPr>
          <a:xfrm>
            <a:off x="992188" y="768350"/>
            <a:ext cx="5114925" cy="3836988"/>
          </a:xfrm>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4012717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7492698-C93D-4C3C-8B58-B8E214BD719E}" type="slidenum">
              <a:rPr lang="en-US" altLang="en-US" sz="1300" smtClean="0"/>
              <a:pPr/>
              <a:t>9</a:t>
            </a:fld>
            <a:endParaRPr lang="en-US" altLang="en-US" sz="1300" smtClean="0"/>
          </a:p>
        </p:txBody>
      </p:sp>
      <p:sp>
        <p:nvSpPr>
          <p:cNvPr id="35843" name="Rectangle 2"/>
          <p:cNvSpPr>
            <a:spLocks noGrp="1" noRot="1" noChangeAspect="1" noChangeArrowheads="1" noTextEdit="1"/>
          </p:cNvSpPr>
          <p:nvPr>
            <p:ph type="sldImg"/>
          </p:nvPr>
        </p:nvSpPr>
        <p:spPr>
          <a:xfrm>
            <a:off x="992188" y="768350"/>
            <a:ext cx="5114925" cy="3836988"/>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046231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7F7CBF2E-D9C1-4262-AF8D-E1249164D7B2}" type="slidenum">
              <a:rPr lang="en-US" altLang="en-US" sz="1200" smtClean="0"/>
              <a:pPr/>
              <a:t>10</a:t>
            </a:fld>
            <a:endParaRPr lang="en-US" altLang="en-US" sz="1200" smtClean="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959898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92DC6BC-CDBE-4BB3-A6CC-0BDB2A57C118}" type="slidenum">
              <a:rPr lang="en-US" altLang="en-US" sz="1200" smtClean="0"/>
              <a:pPr/>
              <a:t>11</a:t>
            </a:fld>
            <a:endParaRPr lang="en-US" altLang="en-US" sz="1200"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134330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326A1EE-C432-4F7F-B248-B96547AECC8F}" type="slidenum">
              <a:rPr lang="en-US" altLang="en-US" sz="1300" smtClean="0"/>
              <a:pPr/>
              <a:t>12</a:t>
            </a:fld>
            <a:endParaRPr lang="en-US" altLang="en-US" sz="1300" smtClean="0"/>
          </a:p>
        </p:txBody>
      </p:sp>
      <p:sp>
        <p:nvSpPr>
          <p:cNvPr id="39939" name="Rectangle 2"/>
          <p:cNvSpPr>
            <a:spLocks noGrp="1" noRot="1" noChangeAspect="1" noChangeArrowheads="1" noTextEdit="1"/>
          </p:cNvSpPr>
          <p:nvPr>
            <p:ph type="sldImg"/>
          </p:nvPr>
        </p:nvSpPr>
        <p:spPr>
          <a:xfrm>
            <a:off x="992188" y="768350"/>
            <a:ext cx="5114925" cy="3836988"/>
          </a:xfrm>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914021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1BC1D80-E18B-444E-865D-B5069A489002}" type="slidenum">
              <a:rPr lang="en-US" altLang="en-US" sz="1300" smtClean="0"/>
              <a:pPr/>
              <a:t>13</a:t>
            </a:fld>
            <a:endParaRPr lang="en-US" altLang="en-US" sz="1300" smtClean="0"/>
          </a:p>
        </p:txBody>
      </p:sp>
      <p:sp>
        <p:nvSpPr>
          <p:cNvPr id="41987" name="Rectangle 2"/>
          <p:cNvSpPr>
            <a:spLocks noGrp="1" noRot="1" noChangeAspect="1" noChangeArrowheads="1" noTextEdit="1"/>
          </p:cNvSpPr>
          <p:nvPr>
            <p:ph type="sldImg"/>
          </p:nvPr>
        </p:nvSpPr>
        <p:spPr>
          <a:xfrm>
            <a:off x="992188" y="768350"/>
            <a:ext cx="5114925" cy="3836988"/>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092811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7CE9EAC-A5BF-47BD-A3DA-A09881D9A099}" type="slidenum">
              <a:rPr lang="en-US" altLang="en-US" sz="1200" smtClean="0"/>
              <a:pPr/>
              <a:t>14</a:t>
            </a:fld>
            <a:endParaRPr lang="en-US" altLang="en-US" sz="1200"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188071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021204C-6C9A-4DD8-970C-8101D2536292}" type="slidenum">
              <a:rPr lang="en-US" altLang="en-US" sz="1200" smtClean="0"/>
              <a:pPr/>
              <a:t>15</a:t>
            </a:fld>
            <a:endParaRPr lang="en-US" altLang="en-US" sz="1200"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Structured programming uses block-like structures like sequences, selections (like if statements), and iteration (loop structures) to avoid </a:t>
            </a:r>
            <a:r>
              <a:rPr lang="en-ZA" altLang="en-US" noProof="0" dirty="0" err="1" smtClean="0"/>
              <a:t>goto</a:t>
            </a:r>
            <a:r>
              <a:rPr lang="en-ZA" altLang="en-US" noProof="0" dirty="0" smtClean="0"/>
              <a:t> statements. It is also often associated with modular programming, which breaks up the program into</a:t>
            </a:r>
            <a:r>
              <a:rPr lang="en-ZA" altLang="en-US" baseline="0" noProof="0" dirty="0" smtClean="0"/>
              <a:t> manageable parts (e.g. using functions, methods, or procedures).</a:t>
            </a:r>
            <a:endParaRPr lang="en-ZA" altLang="en-US" noProof="0" dirty="0" smtClean="0"/>
          </a:p>
        </p:txBody>
      </p:sp>
    </p:spTree>
    <p:extLst>
      <p:ext uri="{BB962C8B-B14F-4D97-AF65-F5344CB8AC3E}">
        <p14:creationId xmlns:p14="http://schemas.microsoft.com/office/powerpoint/2010/main" val="1316765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7106"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47107"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spTree>
    <p:extLst>
      <p:ext uri="{BB962C8B-B14F-4D97-AF65-F5344CB8AC3E}">
        <p14:creationId xmlns:p14="http://schemas.microsoft.com/office/powerpoint/2010/main" val="1045970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BF122ABE-8A6B-4C4D-AF36-135B761990F2}" type="slidenum">
              <a:rPr lang="en-US" altLang="en-US"/>
              <a:pPr>
                <a:defRPr/>
              </a:pPr>
              <a:t>‹#›</a:t>
            </a:fld>
            <a:endParaRPr lang="en-US" altLang="en-US"/>
          </a:p>
        </p:txBody>
      </p:sp>
    </p:spTree>
    <p:extLst>
      <p:ext uri="{BB962C8B-B14F-4D97-AF65-F5344CB8AC3E}">
        <p14:creationId xmlns:p14="http://schemas.microsoft.com/office/powerpoint/2010/main" val="246476336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4EAD46B7-1AEE-462F-A370-7591A6D455B7}" type="slidenum">
              <a:rPr lang="en-US" altLang="en-US"/>
              <a:pPr>
                <a:defRPr/>
              </a:pPr>
              <a:t>‹#›</a:t>
            </a:fld>
            <a:endParaRPr lang="en-US" altLang="en-US"/>
          </a:p>
        </p:txBody>
      </p:sp>
    </p:spTree>
    <p:extLst>
      <p:ext uri="{BB962C8B-B14F-4D97-AF65-F5344CB8AC3E}">
        <p14:creationId xmlns:p14="http://schemas.microsoft.com/office/powerpoint/2010/main" val="1577977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4B5238A9-B079-4FD2-9F88-38ED0D119E9D}" type="slidenum">
              <a:rPr lang="en-US" altLang="en-US"/>
              <a:pPr>
                <a:defRPr/>
              </a:pPr>
              <a:t>‹#›</a:t>
            </a:fld>
            <a:endParaRPr lang="en-US" altLang="en-US"/>
          </a:p>
        </p:txBody>
      </p:sp>
    </p:spTree>
    <p:extLst>
      <p:ext uri="{BB962C8B-B14F-4D97-AF65-F5344CB8AC3E}">
        <p14:creationId xmlns:p14="http://schemas.microsoft.com/office/powerpoint/2010/main" val="2173943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EF0C98EB-B905-4B75-9D5E-60D1B84CC6E7}" type="slidenum">
              <a:rPr lang="en-US" altLang="en-US"/>
              <a:pPr>
                <a:defRPr/>
              </a:pPr>
              <a:t>‹#›</a:t>
            </a:fld>
            <a:endParaRPr lang="en-US" altLang="en-US"/>
          </a:p>
        </p:txBody>
      </p:sp>
    </p:spTree>
    <p:extLst>
      <p:ext uri="{BB962C8B-B14F-4D97-AF65-F5344CB8AC3E}">
        <p14:creationId xmlns:p14="http://schemas.microsoft.com/office/powerpoint/2010/main" val="3131643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BC204B37-15DE-40B3-A1E2-00D7DF8DEEC8}" type="slidenum">
              <a:rPr lang="en-US" altLang="en-US"/>
              <a:pPr>
                <a:defRPr/>
              </a:pPr>
              <a:t>‹#›</a:t>
            </a:fld>
            <a:endParaRPr lang="en-US" altLang="en-US"/>
          </a:p>
        </p:txBody>
      </p:sp>
    </p:spTree>
    <p:extLst>
      <p:ext uri="{BB962C8B-B14F-4D97-AF65-F5344CB8AC3E}">
        <p14:creationId xmlns:p14="http://schemas.microsoft.com/office/powerpoint/2010/main" val="3801149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20282C40-2530-4079-B192-7B10550F2AC5}" type="slidenum">
              <a:rPr lang="en-US" altLang="en-US"/>
              <a:pPr>
                <a:defRPr/>
              </a:pPr>
              <a:t>‹#›</a:t>
            </a:fld>
            <a:endParaRPr lang="en-US" altLang="en-US"/>
          </a:p>
        </p:txBody>
      </p:sp>
    </p:spTree>
    <p:extLst>
      <p:ext uri="{BB962C8B-B14F-4D97-AF65-F5344CB8AC3E}">
        <p14:creationId xmlns:p14="http://schemas.microsoft.com/office/powerpoint/2010/main" val="1467739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69FCF538-FBEA-4C20-9C86-C8F3BEE28907}" type="slidenum">
              <a:rPr lang="en-US" altLang="en-US"/>
              <a:pPr>
                <a:defRPr/>
              </a:pPr>
              <a:t>‹#›</a:t>
            </a:fld>
            <a:endParaRPr lang="en-US" altLang="en-US"/>
          </a:p>
        </p:txBody>
      </p:sp>
    </p:spTree>
    <p:extLst>
      <p:ext uri="{BB962C8B-B14F-4D97-AF65-F5344CB8AC3E}">
        <p14:creationId xmlns:p14="http://schemas.microsoft.com/office/powerpoint/2010/main" val="1800815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20A59CF4-7BEF-4411-9763-14EB294C6DAC}" type="slidenum">
              <a:rPr lang="en-US" altLang="en-US"/>
              <a:pPr>
                <a:defRPr/>
              </a:pPr>
              <a:t>‹#›</a:t>
            </a:fld>
            <a:endParaRPr lang="en-US" altLang="en-US"/>
          </a:p>
        </p:txBody>
      </p:sp>
    </p:spTree>
    <p:extLst>
      <p:ext uri="{BB962C8B-B14F-4D97-AF65-F5344CB8AC3E}">
        <p14:creationId xmlns:p14="http://schemas.microsoft.com/office/powerpoint/2010/main" val="456655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C384A559-205F-44FF-AAF5-934F996E77FB}" type="slidenum">
              <a:rPr lang="en-US" altLang="en-US"/>
              <a:pPr>
                <a:defRPr/>
              </a:pPr>
              <a:t>‹#›</a:t>
            </a:fld>
            <a:endParaRPr lang="en-US" altLang="en-US"/>
          </a:p>
        </p:txBody>
      </p:sp>
    </p:spTree>
    <p:extLst>
      <p:ext uri="{BB962C8B-B14F-4D97-AF65-F5344CB8AC3E}">
        <p14:creationId xmlns:p14="http://schemas.microsoft.com/office/powerpoint/2010/main" val="1446443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1A4E1994-5CA5-4600-AE11-9CE1FC65E103}" type="slidenum">
              <a:rPr lang="en-US" altLang="en-US"/>
              <a:pPr>
                <a:defRPr/>
              </a:pPr>
              <a:t>‹#›</a:t>
            </a:fld>
            <a:endParaRPr lang="en-US" altLang="en-US"/>
          </a:p>
        </p:txBody>
      </p:sp>
    </p:spTree>
    <p:extLst>
      <p:ext uri="{BB962C8B-B14F-4D97-AF65-F5344CB8AC3E}">
        <p14:creationId xmlns:p14="http://schemas.microsoft.com/office/powerpoint/2010/main" val="910972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Copyright © 2012 Pearson Education. All rights reserved.</a:t>
            </a:r>
          </a:p>
        </p:txBody>
      </p:sp>
      <p:sp>
        <p:nvSpPr>
          <p:cNvPr id="6" name="Slide Number Placeholder 5"/>
          <p:cNvSpPr>
            <a:spLocks noGrp="1"/>
          </p:cNvSpPr>
          <p:nvPr>
            <p:ph type="sldNum" sz="quarter" idx="12"/>
          </p:nvPr>
        </p:nvSpPr>
        <p:spPr/>
        <p:txBody>
          <a:bodyPr/>
          <a:lstStyle>
            <a:lvl1pPr>
              <a:defRPr/>
            </a:lvl1pPr>
          </a:lstStyle>
          <a:p>
            <a:pPr>
              <a:defRPr/>
            </a:pPr>
            <a:fld id="{209D3DEF-3B9A-478D-A0DC-9F71749A79AA}" type="slidenum">
              <a:rPr lang="en-US" altLang="en-US"/>
              <a:pPr>
                <a:defRPr/>
              </a:pPr>
              <a:t>‹#›</a:t>
            </a:fld>
            <a:endParaRPr lang="en-US" altLang="en-US"/>
          </a:p>
        </p:txBody>
      </p:sp>
    </p:spTree>
    <p:extLst>
      <p:ext uri="{BB962C8B-B14F-4D97-AF65-F5344CB8AC3E}">
        <p14:creationId xmlns:p14="http://schemas.microsoft.com/office/powerpoint/2010/main" val="29340043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Copyright © 2012 Pearson Education. All rights reserved.</a:t>
            </a:r>
          </a:p>
        </p:txBody>
      </p:sp>
      <p:sp>
        <p:nvSpPr>
          <p:cNvPr id="6" name="Slide Number Placeholder 5"/>
          <p:cNvSpPr>
            <a:spLocks noGrp="1"/>
          </p:cNvSpPr>
          <p:nvPr>
            <p:ph type="sldNum" sz="quarter" idx="12"/>
          </p:nvPr>
        </p:nvSpPr>
        <p:spPr/>
        <p:txBody>
          <a:bodyPr/>
          <a:lstStyle>
            <a:lvl1pPr>
              <a:defRPr/>
            </a:lvl1pPr>
          </a:lstStyle>
          <a:p>
            <a:pPr>
              <a:defRPr/>
            </a:pPr>
            <a:fld id="{50FEA683-BB76-47D8-856E-0ED2E7DE2B72}" type="slidenum">
              <a:rPr lang="en-US" altLang="en-US"/>
              <a:pPr>
                <a:defRPr/>
              </a:pPr>
              <a:t>‹#›</a:t>
            </a:fld>
            <a:endParaRPr lang="en-US" altLang="en-US"/>
          </a:p>
        </p:txBody>
      </p:sp>
    </p:spTree>
    <p:extLst>
      <p:ext uri="{BB962C8B-B14F-4D97-AF65-F5344CB8AC3E}">
        <p14:creationId xmlns:p14="http://schemas.microsoft.com/office/powerpoint/2010/main" val="707076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Copyright © 2012 Pearson Education. All rights reserved.</a:t>
            </a:r>
          </a:p>
        </p:txBody>
      </p:sp>
      <p:sp>
        <p:nvSpPr>
          <p:cNvPr id="6" name="Slide Number Placeholder 5"/>
          <p:cNvSpPr>
            <a:spLocks noGrp="1"/>
          </p:cNvSpPr>
          <p:nvPr>
            <p:ph type="sldNum" sz="quarter" idx="12"/>
          </p:nvPr>
        </p:nvSpPr>
        <p:spPr/>
        <p:txBody>
          <a:bodyPr/>
          <a:lstStyle>
            <a:lvl1pPr>
              <a:defRPr/>
            </a:lvl1pPr>
          </a:lstStyle>
          <a:p>
            <a:pPr>
              <a:defRPr/>
            </a:pPr>
            <a:fld id="{0BA4BB23-971F-4E97-8F5D-75034A9FFBFC}" type="slidenum">
              <a:rPr lang="en-US" altLang="en-US"/>
              <a:pPr>
                <a:defRPr/>
              </a:pPr>
              <a:t>‹#›</a:t>
            </a:fld>
            <a:endParaRPr lang="en-US" altLang="en-US"/>
          </a:p>
        </p:txBody>
      </p:sp>
    </p:spTree>
    <p:extLst>
      <p:ext uri="{BB962C8B-B14F-4D97-AF65-F5344CB8AC3E}">
        <p14:creationId xmlns:p14="http://schemas.microsoft.com/office/powerpoint/2010/main" val="5137202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Copyright © 2012 Pearson Education. All rights reserved.</a:t>
            </a:r>
          </a:p>
        </p:txBody>
      </p:sp>
      <p:sp>
        <p:nvSpPr>
          <p:cNvPr id="7" name="Slide Number Placeholder 5"/>
          <p:cNvSpPr>
            <a:spLocks noGrp="1"/>
          </p:cNvSpPr>
          <p:nvPr>
            <p:ph type="sldNum" sz="quarter" idx="12"/>
          </p:nvPr>
        </p:nvSpPr>
        <p:spPr/>
        <p:txBody>
          <a:bodyPr/>
          <a:lstStyle>
            <a:lvl1pPr>
              <a:defRPr/>
            </a:lvl1pPr>
          </a:lstStyle>
          <a:p>
            <a:pPr>
              <a:defRPr/>
            </a:pPr>
            <a:fld id="{9B8991C1-E38F-426B-BF4D-E18946925AFE}" type="slidenum">
              <a:rPr lang="en-US" altLang="en-US"/>
              <a:pPr>
                <a:defRPr/>
              </a:pPr>
              <a:t>‹#›</a:t>
            </a:fld>
            <a:endParaRPr lang="en-US" altLang="en-US"/>
          </a:p>
        </p:txBody>
      </p:sp>
    </p:spTree>
    <p:extLst>
      <p:ext uri="{BB962C8B-B14F-4D97-AF65-F5344CB8AC3E}">
        <p14:creationId xmlns:p14="http://schemas.microsoft.com/office/powerpoint/2010/main" val="2246723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a:t>Copyright © 2012 Pearson Education. All rights reserved.</a:t>
            </a:r>
          </a:p>
        </p:txBody>
      </p:sp>
      <p:sp>
        <p:nvSpPr>
          <p:cNvPr id="9" name="Slide Number Placeholder 5"/>
          <p:cNvSpPr>
            <a:spLocks noGrp="1"/>
          </p:cNvSpPr>
          <p:nvPr>
            <p:ph type="sldNum" sz="quarter" idx="12"/>
          </p:nvPr>
        </p:nvSpPr>
        <p:spPr/>
        <p:txBody>
          <a:bodyPr/>
          <a:lstStyle>
            <a:lvl1pPr>
              <a:defRPr/>
            </a:lvl1pPr>
          </a:lstStyle>
          <a:p>
            <a:pPr>
              <a:defRPr/>
            </a:pPr>
            <a:fld id="{FF917859-A478-4A59-9A4E-446108A123D2}" type="slidenum">
              <a:rPr lang="en-US" altLang="en-US"/>
              <a:pPr>
                <a:defRPr/>
              </a:pPr>
              <a:t>‹#›</a:t>
            </a:fld>
            <a:endParaRPr lang="en-US" altLang="en-US"/>
          </a:p>
        </p:txBody>
      </p:sp>
    </p:spTree>
    <p:extLst>
      <p:ext uri="{BB962C8B-B14F-4D97-AF65-F5344CB8AC3E}">
        <p14:creationId xmlns:p14="http://schemas.microsoft.com/office/powerpoint/2010/main" val="1185079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a:t>Copyright © 2012 Pearson Education. All rights reserved.</a:t>
            </a:r>
          </a:p>
        </p:txBody>
      </p:sp>
      <p:sp>
        <p:nvSpPr>
          <p:cNvPr id="5" name="Slide Number Placeholder 5"/>
          <p:cNvSpPr>
            <a:spLocks noGrp="1"/>
          </p:cNvSpPr>
          <p:nvPr>
            <p:ph type="sldNum" sz="quarter" idx="12"/>
          </p:nvPr>
        </p:nvSpPr>
        <p:spPr/>
        <p:txBody>
          <a:bodyPr/>
          <a:lstStyle>
            <a:lvl1pPr>
              <a:defRPr/>
            </a:lvl1pPr>
          </a:lstStyle>
          <a:p>
            <a:pPr>
              <a:defRPr/>
            </a:pPr>
            <a:fld id="{A53204FF-DF54-4A94-9726-B3A16C8D8456}" type="slidenum">
              <a:rPr lang="en-US" altLang="en-US"/>
              <a:pPr>
                <a:defRPr/>
              </a:pPr>
              <a:t>‹#›</a:t>
            </a:fld>
            <a:endParaRPr lang="en-US" altLang="en-US"/>
          </a:p>
        </p:txBody>
      </p:sp>
    </p:spTree>
    <p:extLst>
      <p:ext uri="{BB962C8B-B14F-4D97-AF65-F5344CB8AC3E}">
        <p14:creationId xmlns:p14="http://schemas.microsoft.com/office/powerpoint/2010/main" val="27803821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a:t>Copyright © 2012 Pearson Education. All rights reserved.</a:t>
            </a:r>
          </a:p>
        </p:txBody>
      </p:sp>
      <p:sp>
        <p:nvSpPr>
          <p:cNvPr id="4" name="Slide Number Placeholder 5"/>
          <p:cNvSpPr>
            <a:spLocks noGrp="1"/>
          </p:cNvSpPr>
          <p:nvPr>
            <p:ph type="sldNum" sz="quarter" idx="12"/>
          </p:nvPr>
        </p:nvSpPr>
        <p:spPr/>
        <p:txBody>
          <a:bodyPr/>
          <a:lstStyle>
            <a:lvl1pPr>
              <a:defRPr/>
            </a:lvl1pPr>
          </a:lstStyle>
          <a:p>
            <a:pPr>
              <a:defRPr/>
            </a:pPr>
            <a:fld id="{C782B777-8427-4558-9AD6-E529958034CB}" type="slidenum">
              <a:rPr lang="en-US" altLang="en-US"/>
              <a:pPr>
                <a:defRPr/>
              </a:pPr>
              <a:t>‹#›</a:t>
            </a:fld>
            <a:endParaRPr lang="en-US" altLang="en-US"/>
          </a:p>
        </p:txBody>
      </p:sp>
    </p:spTree>
    <p:extLst>
      <p:ext uri="{BB962C8B-B14F-4D97-AF65-F5344CB8AC3E}">
        <p14:creationId xmlns:p14="http://schemas.microsoft.com/office/powerpoint/2010/main" val="32184588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Copyright © 2012 Pearson Education. All rights reserved.</a:t>
            </a:r>
          </a:p>
        </p:txBody>
      </p:sp>
      <p:sp>
        <p:nvSpPr>
          <p:cNvPr id="7" name="Slide Number Placeholder 5"/>
          <p:cNvSpPr>
            <a:spLocks noGrp="1"/>
          </p:cNvSpPr>
          <p:nvPr>
            <p:ph type="sldNum" sz="quarter" idx="12"/>
          </p:nvPr>
        </p:nvSpPr>
        <p:spPr/>
        <p:txBody>
          <a:bodyPr/>
          <a:lstStyle>
            <a:lvl1pPr>
              <a:defRPr/>
            </a:lvl1pPr>
          </a:lstStyle>
          <a:p>
            <a:pPr>
              <a:defRPr/>
            </a:pPr>
            <a:fld id="{EBFF91F1-316C-4D51-BBCE-8BD4EECDFD21}" type="slidenum">
              <a:rPr lang="en-US" altLang="en-US"/>
              <a:pPr>
                <a:defRPr/>
              </a:pPr>
              <a:t>‹#›</a:t>
            </a:fld>
            <a:endParaRPr lang="en-US" altLang="en-US"/>
          </a:p>
        </p:txBody>
      </p:sp>
    </p:spTree>
    <p:extLst>
      <p:ext uri="{BB962C8B-B14F-4D97-AF65-F5344CB8AC3E}">
        <p14:creationId xmlns:p14="http://schemas.microsoft.com/office/powerpoint/2010/main" val="6449547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Copyright © 2012 Pearson Education. All rights reserved.</a:t>
            </a:r>
          </a:p>
        </p:txBody>
      </p:sp>
      <p:sp>
        <p:nvSpPr>
          <p:cNvPr id="7" name="Slide Number Placeholder 5"/>
          <p:cNvSpPr>
            <a:spLocks noGrp="1"/>
          </p:cNvSpPr>
          <p:nvPr>
            <p:ph type="sldNum" sz="quarter" idx="12"/>
          </p:nvPr>
        </p:nvSpPr>
        <p:spPr/>
        <p:txBody>
          <a:bodyPr/>
          <a:lstStyle>
            <a:lvl1pPr>
              <a:defRPr/>
            </a:lvl1pPr>
          </a:lstStyle>
          <a:p>
            <a:pPr>
              <a:defRPr/>
            </a:pPr>
            <a:fld id="{757609D4-69C1-481C-B07F-224A78A3B9DA}" type="slidenum">
              <a:rPr lang="en-US" altLang="en-US"/>
              <a:pPr>
                <a:defRPr/>
              </a:pPr>
              <a:t>‹#›</a:t>
            </a:fld>
            <a:endParaRPr lang="en-US" altLang="en-US"/>
          </a:p>
        </p:txBody>
      </p:sp>
    </p:spTree>
    <p:extLst>
      <p:ext uri="{BB962C8B-B14F-4D97-AF65-F5344CB8AC3E}">
        <p14:creationId xmlns:p14="http://schemas.microsoft.com/office/powerpoint/2010/main" val="10099552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Copyright © 2012 Pearson Education. All rights reserved.</a:t>
            </a:r>
          </a:p>
        </p:txBody>
      </p:sp>
      <p:sp>
        <p:nvSpPr>
          <p:cNvPr id="6" name="Slide Number Placeholder 5"/>
          <p:cNvSpPr>
            <a:spLocks noGrp="1"/>
          </p:cNvSpPr>
          <p:nvPr>
            <p:ph type="sldNum" sz="quarter" idx="12"/>
          </p:nvPr>
        </p:nvSpPr>
        <p:spPr/>
        <p:txBody>
          <a:bodyPr/>
          <a:lstStyle>
            <a:lvl1pPr>
              <a:defRPr/>
            </a:lvl1pPr>
          </a:lstStyle>
          <a:p>
            <a:pPr>
              <a:defRPr/>
            </a:pPr>
            <a:fld id="{CF276B28-2592-4F0B-B1D0-3AB798223CE3}" type="slidenum">
              <a:rPr lang="en-US" altLang="en-US"/>
              <a:pPr>
                <a:defRPr/>
              </a:pPr>
              <a:t>‹#›</a:t>
            </a:fld>
            <a:endParaRPr lang="en-US" altLang="en-US"/>
          </a:p>
        </p:txBody>
      </p:sp>
    </p:spTree>
    <p:extLst>
      <p:ext uri="{BB962C8B-B14F-4D97-AF65-F5344CB8AC3E}">
        <p14:creationId xmlns:p14="http://schemas.microsoft.com/office/powerpoint/2010/main" val="14562828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Copyright © 2012 Pearson Education. All rights reserved.</a:t>
            </a:r>
          </a:p>
        </p:txBody>
      </p:sp>
      <p:sp>
        <p:nvSpPr>
          <p:cNvPr id="6" name="Slide Number Placeholder 5"/>
          <p:cNvSpPr>
            <a:spLocks noGrp="1"/>
          </p:cNvSpPr>
          <p:nvPr>
            <p:ph type="sldNum" sz="quarter" idx="12"/>
          </p:nvPr>
        </p:nvSpPr>
        <p:spPr/>
        <p:txBody>
          <a:bodyPr/>
          <a:lstStyle>
            <a:lvl1pPr>
              <a:defRPr/>
            </a:lvl1pPr>
          </a:lstStyle>
          <a:p>
            <a:pPr>
              <a:defRPr/>
            </a:pPr>
            <a:fld id="{8E2D48B0-08D1-4237-839D-BADB8F5DE9C4}" type="slidenum">
              <a:rPr lang="en-US" altLang="en-US"/>
              <a:pPr>
                <a:defRPr/>
              </a:pPr>
              <a:t>‹#›</a:t>
            </a:fld>
            <a:endParaRPr lang="en-US" altLang="en-US"/>
          </a:p>
        </p:txBody>
      </p:sp>
    </p:spTree>
    <p:extLst>
      <p:ext uri="{BB962C8B-B14F-4D97-AF65-F5344CB8AC3E}">
        <p14:creationId xmlns:p14="http://schemas.microsoft.com/office/powerpoint/2010/main" val="4248055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6084"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46085"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89D48F04-14DE-472B-A236-3883FEA45DE4}"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Line 7"/>
          <p:cNvSpPr>
            <a:spLocks noChangeShapeType="1"/>
          </p:cNvSpPr>
          <p:nvPr/>
        </p:nvSpPr>
        <p:spPr bwMode="auto">
          <a:xfrm>
            <a:off x="609600" y="1219200"/>
            <a:ext cx="8153400" cy="0"/>
          </a:xfrm>
          <a:prstGeom prst="line">
            <a:avLst/>
          </a:prstGeom>
          <a:noFill/>
          <a:ln w="5715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884"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mn-ea"/>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ea typeface="+mn-ea"/>
                <a:cs typeface="Lucida Sans Unicode" pitchFamily="34" charset="0"/>
              </a:defRPr>
            </a:lvl1pPr>
          </a:lstStyle>
          <a:p>
            <a:pPr>
              <a:defRPr/>
            </a:pPr>
            <a:r>
              <a:rPr lang="en-US"/>
              <a:t>Copyright © 2012 Pearson Education. All rights reserved.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ea typeface="Lucida Sans Unicode" panose="020B0602030504020204" pitchFamily="34" charset="0"/>
                <a:cs typeface="Lucida Sans Unicode" panose="020B0602030504020204" pitchFamily="34" charset="0"/>
              </a:defRPr>
            </a:lvl1pPr>
          </a:lstStyle>
          <a:p>
            <a:pPr>
              <a:defRPr/>
            </a:pPr>
            <a:fld id="{30EE5EA4-558C-497A-A4B5-4804B6F20FE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ctrTitle"/>
          </p:nvPr>
        </p:nvSpPr>
        <p:spPr/>
        <p:txBody>
          <a:bodyPr/>
          <a:lstStyle/>
          <a:p>
            <a:pPr eaLnBrk="1" hangingPunct="1"/>
            <a:r>
              <a:rPr lang="en-ZA" altLang="en-US" noProof="0" dirty="0" smtClean="0"/>
              <a:t>Chapter 1</a:t>
            </a:r>
            <a:br>
              <a:rPr lang="en-ZA" altLang="en-US" noProof="0" dirty="0" smtClean="0"/>
            </a:br>
            <a:r>
              <a:rPr lang="en-ZA" altLang="en-US" sz="2800" dirty="0" smtClean="0"/>
              <a:t>Part 2</a:t>
            </a:r>
            <a:endParaRPr lang="en-ZA" altLang="en-US" sz="2800" noProof="0" dirty="0" smtClean="0"/>
          </a:p>
        </p:txBody>
      </p:sp>
      <p:sp>
        <p:nvSpPr>
          <p:cNvPr id="5123" name="Rectangle 5"/>
          <p:cNvSpPr>
            <a:spLocks noGrp="1" noChangeArrowheads="1"/>
          </p:cNvSpPr>
          <p:nvPr>
            <p:ph type="subTitle" idx="1"/>
          </p:nvPr>
        </p:nvSpPr>
        <p:spPr/>
        <p:txBody>
          <a:bodyPr/>
          <a:lstStyle/>
          <a:p>
            <a:pPr eaLnBrk="1" hangingPunct="1"/>
            <a:r>
              <a:rPr lang="en-ZA" altLang="en-US" noProof="0" dirty="0" smtClean="0"/>
              <a:t>Preliminaries</a:t>
            </a:r>
          </a:p>
        </p:txBody>
      </p:sp>
      <p:pic>
        <p:nvPicPr>
          <p:cNvPr id="5" name="Picture 8" descr="Front Cover: Concepts of Programming Languages, Global Edition, by Robert W Sebesta&#1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9600" y="0"/>
            <a:ext cx="4724400" cy="586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BFC0E3C-77B6-47C9-8A5D-C39E92F19E40}"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7172" name="Rectangle 2"/>
          <p:cNvSpPr>
            <a:spLocks noGrp="1" noChangeArrowheads="1"/>
          </p:cNvSpPr>
          <p:nvPr>
            <p:ph type="title"/>
          </p:nvPr>
        </p:nvSpPr>
        <p:spPr/>
        <p:txBody>
          <a:bodyPr/>
          <a:lstStyle/>
          <a:p>
            <a:pPr eaLnBrk="1" hangingPunct="1"/>
            <a:r>
              <a:rPr lang="en-ZA" altLang="en-US" noProof="0" dirty="0" smtClean="0"/>
              <a:t>Topics</a:t>
            </a:r>
          </a:p>
        </p:txBody>
      </p:sp>
      <p:sp>
        <p:nvSpPr>
          <p:cNvPr id="7173" name="Rectangle 3"/>
          <p:cNvSpPr>
            <a:spLocks noGrp="1" noChangeArrowheads="1"/>
          </p:cNvSpPr>
          <p:nvPr>
            <p:ph type="body" idx="1"/>
          </p:nvPr>
        </p:nvSpPr>
        <p:spPr/>
        <p:txBody>
          <a:bodyPr/>
          <a:lstStyle/>
          <a:p>
            <a:pPr marL="533400" indent="-533400" eaLnBrk="1" hangingPunct="1"/>
            <a:r>
              <a:rPr lang="en-ZA" altLang="en-US" noProof="0" dirty="0" smtClean="0"/>
              <a:t>Language Evaluation Criteria</a:t>
            </a:r>
          </a:p>
          <a:p>
            <a:pPr marL="533400" indent="-533400" eaLnBrk="1" hangingPunct="1"/>
            <a:r>
              <a:rPr lang="en-ZA" altLang="en-US" dirty="0"/>
              <a:t>Language Design </a:t>
            </a:r>
            <a:r>
              <a:rPr lang="en-ZA" altLang="en-US" dirty="0" smtClean="0"/>
              <a:t>Trade-Offs</a:t>
            </a:r>
            <a:endParaRPr lang="en-ZA" altLang="en-US" noProof="0" dirty="0" smtClean="0"/>
          </a:p>
          <a:p>
            <a:pPr marL="533400" indent="-533400" eaLnBrk="1" hangingPunct="1"/>
            <a:r>
              <a:rPr lang="en-ZA" altLang="en-US" noProof="0" dirty="0" smtClean="0"/>
              <a:t>Programming Domains</a:t>
            </a:r>
          </a:p>
          <a:p>
            <a:pPr marL="533400" indent="-533400" eaLnBrk="1" hangingPunct="1"/>
            <a:r>
              <a:rPr lang="en-ZA" altLang="en-US" dirty="0"/>
              <a:t>Influences on Language </a:t>
            </a:r>
            <a:r>
              <a:rPr lang="en-ZA" altLang="en-US" dirty="0" smtClean="0"/>
              <a:t>Design</a:t>
            </a:r>
            <a:endParaRPr lang="en-ZA" altLang="en-US" dirty="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FB72C99-C200-474A-94DA-37595C9FE0A6}"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23555" name="Rectangle 2"/>
          <p:cNvSpPr>
            <a:spLocks noGrp="1" noChangeArrowheads="1"/>
          </p:cNvSpPr>
          <p:nvPr>
            <p:ph type="title"/>
          </p:nvPr>
        </p:nvSpPr>
        <p:spPr/>
        <p:txBody>
          <a:bodyPr/>
          <a:lstStyle/>
          <a:p>
            <a:pPr eaLnBrk="1" hangingPunct="1"/>
            <a:r>
              <a:rPr lang="en-ZA" altLang="en-US" noProof="0" dirty="0" smtClean="0"/>
              <a:t>Language Evaluation Criteria</a:t>
            </a:r>
          </a:p>
        </p:txBody>
      </p:sp>
      <p:sp>
        <p:nvSpPr>
          <p:cNvPr id="23556" name="Rectangle 3"/>
          <p:cNvSpPr>
            <a:spLocks noGrp="1" noChangeArrowheads="1"/>
          </p:cNvSpPr>
          <p:nvPr>
            <p:ph type="body" idx="1"/>
          </p:nvPr>
        </p:nvSpPr>
        <p:spPr>
          <a:xfrm>
            <a:off x="533400" y="1447800"/>
            <a:ext cx="7772400" cy="4953000"/>
          </a:xfrm>
        </p:spPr>
        <p:txBody>
          <a:bodyPr/>
          <a:lstStyle/>
          <a:p>
            <a:pPr eaLnBrk="1" hangingPunct="1"/>
            <a:r>
              <a:rPr lang="en-ZA" altLang="en-US" b="1" noProof="0" dirty="0" smtClean="0"/>
              <a:t>Readability</a:t>
            </a:r>
            <a:r>
              <a:rPr lang="en-ZA" altLang="en-US" noProof="0" dirty="0" smtClean="0"/>
              <a:t>: </a:t>
            </a:r>
          </a:p>
          <a:p>
            <a:pPr lvl="1" eaLnBrk="1" hangingPunct="1"/>
            <a:r>
              <a:rPr lang="en-ZA" altLang="en-US" noProof="0" dirty="0" smtClean="0"/>
              <a:t>The ease with which programs can be read and understood</a:t>
            </a:r>
          </a:p>
          <a:p>
            <a:pPr eaLnBrk="1" hangingPunct="1"/>
            <a:r>
              <a:rPr lang="en-ZA" altLang="en-US" b="1" noProof="0" dirty="0" err="1" smtClean="0"/>
              <a:t>Writability</a:t>
            </a:r>
            <a:r>
              <a:rPr lang="en-ZA" altLang="en-US" noProof="0" dirty="0" smtClean="0"/>
              <a:t>:</a:t>
            </a:r>
          </a:p>
          <a:p>
            <a:pPr lvl="1" eaLnBrk="1" hangingPunct="1"/>
            <a:r>
              <a:rPr lang="en-ZA" altLang="en-US" noProof="0" dirty="0" smtClean="0"/>
              <a:t>The ease with which a language can be used to create programs</a:t>
            </a:r>
          </a:p>
          <a:p>
            <a:pPr eaLnBrk="1" hangingPunct="1"/>
            <a:r>
              <a:rPr lang="en-ZA" altLang="en-US" b="1" noProof="0" dirty="0" smtClean="0"/>
              <a:t>Reliability</a:t>
            </a:r>
            <a:r>
              <a:rPr lang="en-ZA" altLang="en-US" noProof="0" dirty="0" smtClean="0"/>
              <a:t>:</a:t>
            </a:r>
          </a:p>
          <a:p>
            <a:pPr lvl="1" eaLnBrk="1" hangingPunct="1"/>
            <a:r>
              <a:rPr lang="en-ZA" altLang="en-US" noProof="0" dirty="0" smtClean="0"/>
              <a:t>Whether the language performs to its specifications under all conditions</a:t>
            </a:r>
          </a:p>
          <a:p>
            <a:pPr eaLnBrk="1" hangingPunct="1"/>
            <a:r>
              <a:rPr lang="en-ZA" altLang="en-US" b="1" noProof="0" dirty="0" smtClean="0"/>
              <a:t>Cost</a:t>
            </a:r>
            <a:r>
              <a:rPr lang="en-ZA" altLang="en-US" noProof="0" dirty="0" smtClean="0"/>
              <a:t>:</a:t>
            </a:r>
          </a:p>
          <a:p>
            <a:pPr lvl="1" eaLnBrk="1" hangingPunct="1"/>
            <a:r>
              <a:rPr lang="en-ZA" altLang="en-US" noProof="0" dirty="0" smtClean="0"/>
              <a:t>The ultimate total cost of using the language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9B5A5E9-4D71-4556-8662-3CCB0A6D8E05}"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25603" name="Rectangle 2"/>
          <p:cNvSpPr>
            <a:spLocks noGrp="1" noChangeArrowheads="1"/>
          </p:cNvSpPr>
          <p:nvPr>
            <p:ph type="title"/>
          </p:nvPr>
        </p:nvSpPr>
        <p:spPr/>
        <p:txBody>
          <a:bodyPr/>
          <a:lstStyle/>
          <a:p>
            <a:pPr eaLnBrk="1" hangingPunct="1"/>
            <a:r>
              <a:rPr lang="en-ZA" altLang="en-US" noProof="0" dirty="0" smtClean="0"/>
              <a:t>Evaluation Criteria: Readability</a:t>
            </a:r>
          </a:p>
        </p:txBody>
      </p:sp>
      <p:sp>
        <p:nvSpPr>
          <p:cNvPr id="25604" name="Rectangle 3"/>
          <p:cNvSpPr>
            <a:spLocks noGrp="1" noChangeArrowheads="1"/>
          </p:cNvSpPr>
          <p:nvPr>
            <p:ph type="body" idx="1"/>
          </p:nvPr>
        </p:nvSpPr>
        <p:spPr/>
        <p:txBody>
          <a:bodyPr/>
          <a:lstStyle/>
          <a:p>
            <a:pPr marL="381000" indent="-381000" eaLnBrk="1" hangingPunct="1">
              <a:lnSpc>
                <a:spcPct val="80000"/>
              </a:lnSpc>
            </a:pPr>
            <a:r>
              <a:rPr lang="en-ZA" altLang="en-US" sz="2000" noProof="0" dirty="0" smtClean="0"/>
              <a:t>Overall simplicity</a:t>
            </a:r>
          </a:p>
          <a:p>
            <a:pPr marL="800100" lvl="1" indent="-342900" eaLnBrk="1" hangingPunct="1">
              <a:lnSpc>
                <a:spcPct val="80000"/>
              </a:lnSpc>
            </a:pPr>
            <a:r>
              <a:rPr lang="en-ZA" altLang="en-US" sz="1800" noProof="0" dirty="0" smtClean="0"/>
              <a:t>A manageable set of features and constructs</a:t>
            </a:r>
          </a:p>
          <a:p>
            <a:pPr marL="800100" lvl="1" indent="-342900" eaLnBrk="1" hangingPunct="1">
              <a:lnSpc>
                <a:spcPct val="80000"/>
              </a:lnSpc>
            </a:pPr>
            <a:r>
              <a:rPr lang="en-ZA" altLang="en-US" sz="1800" noProof="0" dirty="0" smtClean="0"/>
              <a:t>Minimal feature multiplicity </a:t>
            </a:r>
          </a:p>
          <a:p>
            <a:pPr marL="800100" lvl="1" indent="-342900" eaLnBrk="1" hangingPunct="1">
              <a:lnSpc>
                <a:spcPct val="80000"/>
              </a:lnSpc>
            </a:pPr>
            <a:r>
              <a:rPr lang="en-ZA" altLang="en-US" sz="1800" noProof="0" dirty="0" smtClean="0"/>
              <a:t>Minimal operator overloading</a:t>
            </a:r>
          </a:p>
          <a:p>
            <a:pPr marL="800100" lvl="1" indent="-342900" eaLnBrk="1" hangingPunct="1">
              <a:lnSpc>
                <a:spcPct val="80000"/>
              </a:lnSpc>
            </a:pPr>
            <a:r>
              <a:rPr lang="en-ZA" altLang="en-US" sz="1800" noProof="0" dirty="0" smtClean="0"/>
              <a:t>Too much simplicity can be bad for readability</a:t>
            </a:r>
          </a:p>
          <a:p>
            <a:pPr marL="381000" indent="-381000" eaLnBrk="1" hangingPunct="1">
              <a:lnSpc>
                <a:spcPct val="80000"/>
              </a:lnSpc>
            </a:pPr>
            <a:endParaRPr lang="en-ZA" altLang="en-US" sz="2000" noProof="0" dirty="0" smtClean="0"/>
          </a:p>
          <a:p>
            <a:pPr marL="381000" indent="-381000" eaLnBrk="1" hangingPunct="1">
              <a:lnSpc>
                <a:spcPct val="80000"/>
              </a:lnSpc>
            </a:pPr>
            <a:r>
              <a:rPr lang="en-ZA" altLang="en-US" sz="2000" noProof="0" dirty="0" smtClean="0"/>
              <a:t>Orthogonality </a:t>
            </a:r>
          </a:p>
          <a:p>
            <a:pPr marL="800100" lvl="1" indent="-342900" eaLnBrk="1" hangingPunct="1">
              <a:lnSpc>
                <a:spcPct val="80000"/>
              </a:lnSpc>
            </a:pPr>
            <a:r>
              <a:rPr lang="en-ZA" altLang="en-US" sz="1800" noProof="0" dirty="0" smtClean="0"/>
              <a:t>Definition</a:t>
            </a:r>
          </a:p>
          <a:p>
            <a:pPr marL="1200150" lvl="2" indent="-342900" eaLnBrk="1" hangingPunct="1">
              <a:lnSpc>
                <a:spcPct val="80000"/>
              </a:lnSpc>
            </a:pPr>
            <a:r>
              <a:rPr lang="en-ZA" altLang="en-US" sz="1500" noProof="0" dirty="0" smtClean="0"/>
              <a:t>A relatively small set of primitive constructs can be combined in a relatively small number of ways</a:t>
            </a:r>
          </a:p>
          <a:p>
            <a:pPr marL="1200150" lvl="2" indent="-342900" eaLnBrk="1" hangingPunct="1">
              <a:lnSpc>
                <a:spcPct val="80000"/>
              </a:lnSpc>
            </a:pPr>
            <a:r>
              <a:rPr lang="en-ZA" altLang="en-US" sz="1500" noProof="0" dirty="0" smtClean="0"/>
              <a:t>AND (most importantly) </a:t>
            </a:r>
            <a:r>
              <a:rPr lang="en-ZA" altLang="en-US" sz="1500" u="sng" noProof="0" dirty="0" smtClean="0"/>
              <a:t>every possible combination is legal</a:t>
            </a:r>
          </a:p>
          <a:p>
            <a:pPr marL="1200150" lvl="2" indent="-342900" eaLnBrk="1" hangingPunct="1">
              <a:lnSpc>
                <a:spcPct val="80000"/>
              </a:lnSpc>
            </a:pPr>
            <a:r>
              <a:rPr lang="en-ZA" altLang="en-US" sz="1500" dirty="0"/>
              <a:t>S</a:t>
            </a:r>
            <a:r>
              <a:rPr lang="en-ZA" altLang="en-US" sz="1500" dirty="0" smtClean="0"/>
              <a:t>mall set of constructs is not sufficient on its own for high orthogonality</a:t>
            </a:r>
            <a:endParaRPr lang="en-ZA" altLang="en-US" sz="1500" noProof="0" dirty="0" smtClean="0"/>
          </a:p>
          <a:p>
            <a:pPr marL="800100" lvl="1" indent="-342900" eaLnBrk="1" hangingPunct="1">
              <a:lnSpc>
                <a:spcPct val="80000"/>
              </a:lnSpc>
            </a:pPr>
            <a:r>
              <a:rPr lang="en-ZA" altLang="en-US" sz="1800" noProof="0" dirty="0" smtClean="0"/>
              <a:t>An orthogonal language feature is context independent</a:t>
            </a:r>
          </a:p>
          <a:p>
            <a:pPr marL="800100" lvl="1" indent="-342900" eaLnBrk="1" hangingPunct="1">
              <a:lnSpc>
                <a:spcPct val="80000"/>
              </a:lnSpc>
            </a:pPr>
            <a:r>
              <a:rPr lang="en-ZA" altLang="en-US" sz="1800" noProof="0" dirty="0" smtClean="0"/>
              <a:t>Lack of orthogonality = exceptions</a:t>
            </a:r>
          </a:p>
          <a:p>
            <a:pPr marL="800100" lvl="1" indent="-342900" eaLnBrk="1" hangingPunct="1">
              <a:lnSpc>
                <a:spcPct val="80000"/>
              </a:lnSpc>
            </a:pPr>
            <a:r>
              <a:rPr lang="en-ZA" altLang="en-US" sz="1800" noProof="0" dirty="0" smtClean="0"/>
              <a:t>Too much orthogonality can be bad for readability (ALGOL 68)</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ZA" altLang="en-US" noProof="0" dirty="0" smtClean="0"/>
              <a:t>Evaluation Criteria: Readability</a:t>
            </a:r>
          </a:p>
        </p:txBody>
      </p:sp>
      <p:sp>
        <p:nvSpPr>
          <p:cNvPr id="27651" name="Rectangle 3"/>
          <p:cNvSpPr>
            <a:spLocks noGrp="1" noChangeArrowheads="1"/>
          </p:cNvSpPr>
          <p:nvPr>
            <p:ph type="body" idx="1"/>
          </p:nvPr>
        </p:nvSpPr>
        <p:spPr/>
        <p:txBody>
          <a:bodyPr/>
          <a:lstStyle/>
          <a:p>
            <a:pPr eaLnBrk="1" hangingPunct="1">
              <a:lnSpc>
                <a:spcPct val="90000"/>
              </a:lnSpc>
            </a:pPr>
            <a:r>
              <a:rPr lang="en-ZA" altLang="en-US" sz="2000" noProof="0" dirty="0" smtClean="0"/>
              <a:t>Data types</a:t>
            </a:r>
          </a:p>
          <a:p>
            <a:pPr lvl="1" eaLnBrk="1" hangingPunct="1">
              <a:lnSpc>
                <a:spcPct val="90000"/>
              </a:lnSpc>
            </a:pPr>
            <a:r>
              <a:rPr lang="en-ZA" altLang="en-US" sz="1800" noProof="0" dirty="0" smtClean="0"/>
              <a:t>Adequate predefined data types and data structures</a:t>
            </a:r>
          </a:p>
          <a:p>
            <a:pPr lvl="1" eaLnBrk="1" hangingPunct="1">
              <a:lnSpc>
                <a:spcPct val="90000"/>
              </a:lnSpc>
            </a:pPr>
            <a:r>
              <a:rPr lang="en-ZA" altLang="en-US" sz="1800" noProof="0" dirty="0" smtClean="0"/>
              <a:t>If required types are missing, they must be simulated</a:t>
            </a:r>
          </a:p>
          <a:p>
            <a:pPr eaLnBrk="1" hangingPunct="1">
              <a:lnSpc>
                <a:spcPct val="90000"/>
              </a:lnSpc>
            </a:pPr>
            <a:endParaRPr lang="en-ZA" altLang="en-US" sz="2000" noProof="0" dirty="0" smtClean="0"/>
          </a:p>
          <a:p>
            <a:pPr eaLnBrk="1" hangingPunct="1">
              <a:lnSpc>
                <a:spcPct val="90000"/>
              </a:lnSpc>
            </a:pPr>
            <a:r>
              <a:rPr lang="en-ZA" altLang="en-US" sz="2000" noProof="0" dirty="0" smtClean="0"/>
              <a:t>Syntax considerations</a:t>
            </a:r>
          </a:p>
          <a:p>
            <a:pPr lvl="1" eaLnBrk="1" hangingPunct="1">
              <a:lnSpc>
                <a:spcPct val="90000"/>
              </a:lnSpc>
            </a:pPr>
            <a:r>
              <a:rPr lang="en-ZA" altLang="en-US" sz="1800" noProof="0" dirty="0" smtClean="0"/>
              <a:t>Identifier forms</a:t>
            </a:r>
          </a:p>
          <a:p>
            <a:pPr lvl="2" eaLnBrk="1" hangingPunct="1">
              <a:lnSpc>
                <a:spcPct val="90000"/>
              </a:lnSpc>
            </a:pPr>
            <a:r>
              <a:rPr lang="en-ZA" altLang="en-US" sz="1700" noProof="0" dirty="0" smtClean="0"/>
              <a:t>Lack of naming restrictions increases readability </a:t>
            </a:r>
          </a:p>
          <a:p>
            <a:pPr lvl="1" eaLnBrk="1" hangingPunct="1">
              <a:lnSpc>
                <a:spcPct val="90000"/>
              </a:lnSpc>
            </a:pPr>
            <a:r>
              <a:rPr lang="en-ZA" altLang="en-US" sz="1800" noProof="0" dirty="0" smtClean="0"/>
              <a:t>Special words</a:t>
            </a:r>
          </a:p>
          <a:p>
            <a:pPr lvl="2" eaLnBrk="1" hangingPunct="1">
              <a:lnSpc>
                <a:spcPct val="90000"/>
              </a:lnSpc>
            </a:pPr>
            <a:r>
              <a:rPr lang="en-ZA" altLang="en-US" sz="1700" noProof="0" dirty="0" smtClean="0"/>
              <a:t>Sensible special words are more readable</a:t>
            </a:r>
          </a:p>
          <a:p>
            <a:pPr lvl="2" eaLnBrk="1" hangingPunct="1">
              <a:lnSpc>
                <a:spcPct val="90000"/>
              </a:lnSpc>
            </a:pPr>
            <a:r>
              <a:rPr lang="en-ZA" altLang="en-US" sz="1700" noProof="0" dirty="0" smtClean="0"/>
              <a:t>Compound statement (block) notation can affect readability</a:t>
            </a:r>
          </a:p>
          <a:p>
            <a:pPr lvl="1" eaLnBrk="1" hangingPunct="1">
              <a:lnSpc>
                <a:spcPct val="90000"/>
              </a:lnSpc>
            </a:pPr>
            <a:r>
              <a:rPr lang="en-ZA" altLang="en-US" sz="1800" noProof="0" dirty="0" smtClean="0"/>
              <a:t>Form and meaning</a:t>
            </a:r>
          </a:p>
          <a:p>
            <a:pPr lvl="2" eaLnBrk="1" hangingPunct="1">
              <a:lnSpc>
                <a:spcPct val="90000"/>
              </a:lnSpc>
            </a:pPr>
            <a:r>
              <a:rPr lang="en-ZA" altLang="en-US" sz="1700" noProof="0" dirty="0" smtClean="0"/>
              <a:t>Self-descriptive constructs, meaningful keywords</a:t>
            </a:r>
          </a:p>
          <a:p>
            <a:pPr lvl="2" eaLnBrk="1" hangingPunct="1">
              <a:lnSpc>
                <a:spcPct val="90000"/>
              </a:lnSpc>
            </a:pPr>
            <a:r>
              <a:rPr lang="en-ZA" altLang="en-US" sz="1700" noProof="0" dirty="0" smtClean="0"/>
              <a:t>Avoid language constructs with same name, different meaning</a:t>
            </a:r>
          </a:p>
        </p:txBody>
      </p:sp>
      <p:sp>
        <p:nvSpPr>
          <p:cNvPr id="2765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5FA87DF-26C9-4D50-A9BB-F0A995269EEE}"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0D1C736-04E0-432D-BA4E-A8325B5FD8F4}"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28675" name="Rectangle 2"/>
          <p:cNvSpPr>
            <a:spLocks noGrp="1" noChangeArrowheads="1"/>
          </p:cNvSpPr>
          <p:nvPr>
            <p:ph type="title"/>
          </p:nvPr>
        </p:nvSpPr>
        <p:spPr/>
        <p:txBody>
          <a:bodyPr/>
          <a:lstStyle/>
          <a:p>
            <a:pPr eaLnBrk="1" hangingPunct="1"/>
            <a:r>
              <a:rPr lang="en-ZA" altLang="en-US" noProof="0" dirty="0" smtClean="0"/>
              <a:t>Evaluation Criteria: </a:t>
            </a:r>
            <a:r>
              <a:rPr lang="en-ZA" altLang="en-US" noProof="0" dirty="0" err="1" smtClean="0"/>
              <a:t>Writability</a:t>
            </a:r>
            <a:endParaRPr lang="en-ZA" altLang="en-US" noProof="0" dirty="0" smtClean="0"/>
          </a:p>
        </p:txBody>
      </p:sp>
      <p:sp>
        <p:nvSpPr>
          <p:cNvPr id="28676" name="Rectangle 3"/>
          <p:cNvSpPr>
            <a:spLocks noGrp="1" noChangeArrowheads="1"/>
          </p:cNvSpPr>
          <p:nvPr>
            <p:ph type="body" idx="1"/>
          </p:nvPr>
        </p:nvSpPr>
        <p:spPr>
          <a:xfrm>
            <a:off x="533400" y="1524000"/>
            <a:ext cx="7772400" cy="4648200"/>
          </a:xfrm>
        </p:spPr>
        <p:txBody>
          <a:bodyPr/>
          <a:lstStyle/>
          <a:p>
            <a:pPr eaLnBrk="1" hangingPunct="1"/>
            <a:r>
              <a:rPr lang="en-ZA" altLang="en-US" sz="2000" noProof="0" dirty="0" smtClean="0"/>
              <a:t>Simplicity and orthogonality</a:t>
            </a:r>
          </a:p>
          <a:p>
            <a:pPr lvl="1" eaLnBrk="1" hangingPunct="1"/>
            <a:r>
              <a:rPr lang="en-ZA" altLang="en-US" sz="1800" noProof="0" dirty="0" smtClean="0"/>
              <a:t>Few constructs, a small number of primitives, a small set of rules for combining them</a:t>
            </a:r>
          </a:p>
          <a:p>
            <a:pPr lvl="1" eaLnBrk="1" hangingPunct="1">
              <a:buFontTx/>
              <a:buNone/>
            </a:pPr>
            <a:endParaRPr lang="en-ZA" altLang="en-US" sz="1800" noProof="0" dirty="0" smtClean="0"/>
          </a:p>
          <a:p>
            <a:pPr eaLnBrk="1" hangingPunct="1"/>
            <a:r>
              <a:rPr lang="en-ZA" altLang="en-US" sz="2000" noProof="0" dirty="0" smtClean="0"/>
              <a:t>Support for abstraction</a:t>
            </a:r>
          </a:p>
          <a:p>
            <a:pPr lvl="1" eaLnBrk="1" hangingPunct="1"/>
            <a:r>
              <a:rPr lang="en-ZA" altLang="en-US" sz="1800" noProof="0" dirty="0" smtClean="0"/>
              <a:t>The ability to define and use complex structures or operations in ways that allow details to be ignored</a:t>
            </a:r>
          </a:p>
          <a:p>
            <a:pPr lvl="1" eaLnBrk="1" hangingPunct="1"/>
            <a:r>
              <a:rPr lang="en-ZA" altLang="en-US" sz="1800" noProof="0" dirty="0" smtClean="0"/>
              <a:t>Process abstraction: provision for subprograms</a:t>
            </a:r>
          </a:p>
          <a:p>
            <a:pPr lvl="1" eaLnBrk="1" hangingPunct="1"/>
            <a:r>
              <a:rPr lang="en-ZA" altLang="en-US" sz="1800" noProof="0" dirty="0" smtClean="0"/>
              <a:t>Data abstraction: classes, pointers &amp; dynamic memory</a:t>
            </a:r>
          </a:p>
          <a:p>
            <a:pPr lvl="1" eaLnBrk="1" hangingPunct="1">
              <a:buFontTx/>
              <a:buNone/>
            </a:pPr>
            <a:endParaRPr lang="en-ZA" altLang="en-US" sz="1800" noProof="0" dirty="0" smtClean="0"/>
          </a:p>
          <a:p>
            <a:pPr eaLnBrk="1" hangingPunct="1"/>
            <a:r>
              <a:rPr lang="en-ZA" altLang="en-US" sz="1800" noProof="0" dirty="0" smtClean="0"/>
              <a:t>Expressivity</a:t>
            </a:r>
          </a:p>
          <a:p>
            <a:pPr lvl="1" eaLnBrk="1" hangingPunct="1"/>
            <a:r>
              <a:rPr lang="en-ZA" altLang="en-US" sz="1800" noProof="0" dirty="0" smtClean="0"/>
              <a:t>A set of relatively convenient ways of specifying operations</a:t>
            </a:r>
          </a:p>
          <a:p>
            <a:pPr lvl="1" eaLnBrk="1" hangingPunct="1"/>
            <a:r>
              <a:rPr lang="en-ZA" altLang="en-US" sz="1800" noProof="0" dirty="0" smtClean="0"/>
              <a:t>Strength and number of operators and predefined functions</a:t>
            </a:r>
            <a:endParaRPr lang="en-ZA" altLang="en-US" noProof="0"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211D039-CFD1-47BD-A5A1-F143BC8DA2E4}"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30723" name="Rectangle 2"/>
          <p:cNvSpPr>
            <a:spLocks noGrp="1" noChangeArrowheads="1"/>
          </p:cNvSpPr>
          <p:nvPr>
            <p:ph type="title"/>
          </p:nvPr>
        </p:nvSpPr>
        <p:spPr/>
        <p:txBody>
          <a:bodyPr/>
          <a:lstStyle/>
          <a:p>
            <a:pPr eaLnBrk="1" hangingPunct="1"/>
            <a:r>
              <a:rPr lang="en-ZA" altLang="en-US" noProof="0" dirty="0" smtClean="0"/>
              <a:t>Evaluation Criteria: Reliability</a:t>
            </a:r>
          </a:p>
        </p:txBody>
      </p:sp>
      <p:sp>
        <p:nvSpPr>
          <p:cNvPr id="30724" name="Rectangle 3"/>
          <p:cNvSpPr>
            <a:spLocks noGrp="1" noChangeArrowheads="1"/>
          </p:cNvSpPr>
          <p:nvPr>
            <p:ph type="body" idx="1"/>
          </p:nvPr>
        </p:nvSpPr>
        <p:spPr>
          <a:xfrm>
            <a:off x="609600" y="1447800"/>
            <a:ext cx="8229600" cy="4572000"/>
          </a:xfrm>
        </p:spPr>
        <p:txBody>
          <a:bodyPr/>
          <a:lstStyle/>
          <a:p>
            <a:pPr eaLnBrk="1" hangingPunct="1"/>
            <a:r>
              <a:rPr lang="en-ZA" altLang="en-US" sz="2400" noProof="0" dirty="0" smtClean="0"/>
              <a:t>Type checking</a:t>
            </a:r>
          </a:p>
          <a:p>
            <a:pPr lvl="1" eaLnBrk="1" hangingPunct="1"/>
            <a:r>
              <a:rPr lang="en-ZA" altLang="en-US" sz="1800" noProof="0" dirty="0" smtClean="0"/>
              <a:t>Testing for type errors</a:t>
            </a:r>
          </a:p>
          <a:p>
            <a:pPr lvl="1" eaLnBrk="1" hangingPunct="1"/>
            <a:r>
              <a:rPr lang="en-ZA" altLang="en-US" sz="1800" noProof="0" dirty="0" smtClean="0"/>
              <a:t>Compile-time type checking is preferable to run-time checking</a:t>
            </a:r>
          </a:p>
          <a:p>
            <a:pPr eaLnBrk="1" hangingPunct="1"/>
            <a:r>
              <a:rPr lang="en-ZA" altLang="en-US" sz="2400" noProof="0" dirty="0" smtClean="0"/>
              <a:t>Exception handling</a:t>
            </a:r>
          </a:p>
          <a:p>
            <a:pPr lvl="1" eaLnBrk="1" hangingPunct="1"/>
            <a:r>
              <a:rPr lang="en-ZA" altLang="en-US" sz="1800" noProof="0" dirty="0" smtClean="0"/>
              <a:t>Intercept run-time errors and take corrective measures</a:t>
            </a:r>
          </a:p>
          <a:p>
            <a:pPr eaLnBrk="1" hangingPunct="1"/>
            <a:r>
              <a:rPr lang="en-ZA" altLang="en-US" sz="2400" noProof="0" dirty="0" smtClean="0"/>
              <a:t>Aliasing</a:t>
            </a:r>
          </a:p>
          <a:p>
            <a:pPr lvl="1" eaLnBrk="1" hangingPunct="1"/>
            <a:r>
              <a:rPr lang="en-ZA" altLang="en-US" sz="1800" dirty="0"/>
              <a:t>T</a:t>
            </a:r>
            <a:r>
              <a:rPr lang="en-ZA" altLang="en-US" sz="1800" noProof="0" dirty="0" smtClean="0"/>
              <a:t>wo or more distinct referencing names for one memory location</a:t>
            </a:r>
          </a:p>
          <a:p>
            <a:pPr lvl="1" eaLnBrk="1" hangingPunct="1"/>
            <a:r>
              <a:rPr lang="en-ZA" altLang="en-US" sz="1800" noProof="0" dirty="0" smtClean="0"/>
              <a:t>Generally accepted to be a dangerous feature</a:t>
            </a:r>
          </a:p>
          <a:p>
            <a:pPr eaLnBrk="1" hangingPunct="1"/>
            <a:r>
              <a:rPr lang="en-ZA" altLang="en-US" sz="2400" noProof="0" dirty="0" smtClean="0"/>
              <a:t>Readability and </a:t>
            </a:r>
            <a:r>
              <a:rPr lang="en-ZA" altLang="en-US" sz="2400" noProof="0" dirty="0" err="1" smtClean="0"/>
              <a:t>writability</a:t>
            </a:r>
            <a:endParaRPr lang="en-ZA" altLang="en-US" sz="2400" noProof="0" dirty="0" smtClean="0"/>
          </a:p>
          <a:p>
            <a:pPr lvl="1" eaLnBrk="1" hangingPunct="1"/>
            <a:r>
              <a:rPr lang="en-ZA" altLang="en-US" sz="1800" noProof="0" dirty="0" smtClean="0"/>
              <a:t>A language that does not support “natural” ways of expressing an algorithm will require the use  of “unnatural” approaches, and hence reduced reliability</a:t>
            </a:r>
          </a:p>
          <a:p>
            <a:pPr lvl="1" eaLnBrk="1" hangingPunct="1"/>
            <a:endParaRPr lang="en-ZA" altLang="en-US" noProof="0"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4A080A9-1BF2-4591-9AA0-DA9ED43CBEE6}"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32771" name="Rectangle 2"/>
          <p:cNvSpPr>
            <a:spLocks noGrp="1" noChangeArrowheads="1"/>
          </p:cNvSpPr>
          <p:nvPr>
            <p:ph type="title"/>
          </p:nvPr>
        </p:nvSpPr>
        <p:spPr/>
        <p:txBody>
          <a:bodyPr/>
          <a:lstStyle/>
          <a:p>
            <a:pPr eaLnBrk="1" hangingPunct="1"/>
            <a:r>
              <a:rPr lang="en-ZA" altLang="en-US" noProof="0" dirty="0" smtClean="0"/>
              <a:t>Evaluation Criteria: Cost</a:t>
            </a:r>
          </a:p>
        </p:txBody>
      </p:sp>
      <p:sp>
        <p:nvSpPr>
          <p:cNvPr id="32772" name="Rectangle 3"/>
          <p:cNvSpPr>
            <a:spLocks noGrp="1" noChangeArrowheads="1"/>
          </p:cNvSpPr>
          <p:nvPr>
            <p:ph type="body" idx="1"/>
          </p:nvPr>
        </p:nvSpPr>
        <p:spPr>
          <a:xfrm>
            <a:off x="533400" y="1371600"/>
            <a:ext cx="8229600" cy="4876800"/>
          </a:xfrm>
        </p:spPr>
        <p:txBody>
          <a:bodyPr/>
          <a:lstStyle/>
          <a:p>
            <a:pPr eaLnBrk="1" hangingPunct="1">
              <a:lnSpc>
                <a:spcPct val="90000"/>
              </a:lnSpc>
            </a:pPr>
            <a:r>
              <a:rPr lang="en-ZA" altLang="en-US" noProof="0" dirty="0" smtClean="0"/>
              <a:t>Training programmers to use language</a:t>
            </a:r>
          </a:p>
          <a:p>
            <a:pPr eaLnBrk="1" hangingPunct="1">
              <a:lnSpc>
                <a:spcPct val="90000"/>
              </a:lnSpc>
            </a:pPr>
            <a:r>
              <a:rPr lang="en-ZA" altLang="en-US" noProof="0" dirty="0" smtClean="0"/>
              <a:t>Writing programs</a:t>
            </a:r>
          </a:p>
          <a:p>
            <a:pPr lvl="1" eaLnBrk="1" hangingPunct="1">
              <a:lnSpc>
                <a:spcPct val="90000"/>
              </a:lnSpc>
            </a:pPr>
            <a:r>
              <a:rPr lang="en-ZA" altLang="en-US" noProof="0" dirty="0" smtClean="0"/>
              <a:t>How close the language is to the application area</a:t>
            </a:r>
          </a:p>
          <a:p>
            <a:pPr eaLnBrk="1" hangingPunct="1">
              <a:lnSpc>
                <a:spcPct val="90000"/>
              </a:lnSpc>
            </a:pPr>
            <a:r>
              <a:rPr lang="en-ZA" altLang="en-US" noProof="0" dirty="0" smtClean="0"/>
              <a:t>Compiling programs</a:t>
            </a:r>
          </a:p>
          <a:p>
            <a:pPr eaLnBrk="1" hangingPunct="1">
              <a:lnSpc>
                <a:spcPct val="90000"/>
              </a:lnSpc>
            </a:pPr>
            <a:r>
              <a:rPr lang="en-ZA" altLang="en-US" noProof="0" dirty="0" smtClean="0"/>
              <a:t>Executing programs</a:t>
            </a:r>
          </a:p>
          <a:p>
            <a:pPr eaLnBrk="1" hangingPunct="1">
              <a:lnSpc>
                <a:spcPct val="90000"/>
              </a:lnSpc>
            </a:pPr>
            <a:r>
              <a:rPr lang="en-ZA" altLang="en-US" noProof="0" dirty="0" smtClean="0"/>
              <a:t>Language implementation system</a:t>
            </a:r>
          </a:p>
          <a:p>
            <a:pPr lvl="1" eaLnBrk="1" hangingPunct="1">
              <a:lnSpc>
                <a:spcPct val="90000"/>
              </a:lnSpc>
            </a:pPr>
            <a:r>
              <a:rPr lang="en-ZA" altLang="en-US" noProof="0" dirty="0" smtClean="0"/>
              <a:t>The availability of free compilers</a:t>
            </a:r>
          </a:p>
          <a:p>
            <a:pPr eaLnBrk="1" hangingPunct="1">
              <a:lnSpc>
                <a:spcPct val="90000"/>
              </a:lnSpc>
            </a:pPr>
            <a:r>
              <a:rPr lang="en-ZA" altLang="en-US" noProof="0" dirty="0" smtClean="0"/>
              <a:t>Reliability</a:t>
            </a:r>
          </a:p>
          <a:p>
            <a:pPr lvl="1" eaLnBrk="1" hangingPunct="1">
              <a:lnSpc>
                <a:spcPct val="90000"/>
              </a:lnSpc>
            </a:pPr>
            <a:r>
              <a:rPr lang="en-ZA" altLang="en-US" noProof="0" dirty="0" smtClean="0"/>
              <a:t>Poor reliability = high costs</a:t>
            </a:r>
          </a:p>
          <a:p>
            <a:pPr eaLnBrk="1" hangingPunct="1">
              <a:lnSpc>
                <a:spcPct val="90000"/>
              </a:lnSpc>
            </a:pPr>
            <a:r>
              <a:rPr lang="en-ZA" altLang="en-US" noProof="0" dirty="0" smtClean="0"/>
              <a:t>Maintaining programs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3276564-DF2E-4570-BD35-B9364FBBF3F7}"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34819" name="Rectangle 2"/>
          <p:cNvSpPr>
            <a:spLocks noGrp="1" noChangeArrowheads="1"/>
          </p:cNvSpPr>
          <p:nvPr>
            <p:ph type="title"/>
          </p:nvPr>
        </p:nvSpPr>
        <p:spPr/>
        <p:txBody>
          <a:bodyPr/>
          <a:lstStyle/>
          <a:p>
            <a:pPr eaLnBrk="1" hangingPunct="1"/>
            <a:r>
              <a:rPr lang="en-ZA" altLang="en-US" noProof="0" dirty="0" smtClean="0"/>
              <a:t>Evaluation Criteria: Others</a:t>
            </a:r>
          </a:p>
        </p:txBody>
      </p:sp>
      <p:sp>
        <p:nvSpPr>
          <p:cNvPr id="34820" name="Rectangle 3"/>
          <p:cNvSpPr>
            <a:spLocks noGrp="1" noChangeArrowheads="1"/>
          </p:cNvSpPr>
          <p:nvPr>
            <p:ph type="body" idx="1"/>
          </p:nvPr>
        </p:nvSpPr>
        <p:spPr/>
        <p:txBody>
          <a:bodyPr/>
          <a:lstStyle/>
          <a:p>
            <a:pPr eaLnBrk="1" hangingPunct="1"/>
            <a:r>
              <a:rPr lang="en-ZA" altLang="en-US" noProof="0" dirty="0" smtClean="0"/>
              <a:t>Portability</a:t>
            </a:r>
          </a:p>
          <a:p>
            <a:pPr lvl="1" eaLnBrk="1" hangingPunct="1"/>
            <a:r>
              <a:rPr lang="en-ZA" altLang="en-US" noProof="0" dirty="0" smtClean="0"/>
              <a:t>The ease with which programs can be moved from one implementation to another</a:t>
            </a:r>
          </a:p>
          <a:p>
            <a:pPr eaLnBrk="1" hangingPunct="1"/>
            <a:r>
              <a:rPr lang="en-ZA" altLang="en-US" noProof="0" dirty="0" smtClean="0"/>
              <a:t>Generality</a:t>
            </a:r>
          </a:p>
          <a:p>
            <a:pPr lvl="1" eaLnBrk="1" hangingPunct="1"/>
            <a:r>
              <a:rPr lang="en-ZA" altLang="en-US" noProof="0" dirty="0" smtClean="0"/>
              <a:t>The applicability to a wide range of applications</a:t>
            </a:r>
          </a:p>
          <a:p>
            <a:pPr eaLnBrk="1" hangingPunct="1"/>
            <a:r>
              <a:rPr lang="en-ZA" altLang="en-US" noProof="0" dirty="0" smtClean="0"/>
              <a:t>Well-</a:t>
            </a:r>
            <a:r>
              <a:rPr lang="en-ZA" altLang="en-US" noProof="0" dirty="0" err="1" smtClean="0"/>
              <a:t>definedness</a:t>
            </a:r>
            <a:endParaRPr lang="en-ZA" altLang="en-US" noProof="0" dirty="0" smtClean="0"/>
          </a:p>
          <a:p>
            <a:pPr lvl="1" eaLnBrk="1" hangingPunct="1"/>
            <a:r>
              <a:rPr lang="en-ZA" altLang="en-US" noProof="0" dirty="0" smtClean="0"/>
              <a:t>The completeness and precision of the language’s official definition</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486F8A8-A4C5-4A2C-A9C0-E5840C15F71E}"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49155" name="Rectangle 2"/>
          <p:cNvSpPr>
            <a:spLocks noGrp="1" noChangeArrowheads="1"/>
          </p:cNvSpPr>
          <p:nvPr>
            <p:ph type="title"/>
          </p:nvPr>
        </p:nvSpPr>
        <p:spPr/>
        <p:txBody>
          <a:bodyPr/>
          <a:lstStyle/>
          <a:p>
            <a:pPr eaLnBrk="1" hangingPunct="1"/>
            <a:r>
              <a:rPr lang="en-ZA" altLang="en-US" noProof="0" dirty="0" smtClean="0"/>
              <a:t>Language Design Trade-Offs</a:t>
            </a:r>
          </a:p>
        </p:txBody>
      </p:sp>
      <p:sp>
        <p:nvSpPr>
          <p:cNvPr id="49156" name="Rectangle 3"/>
          <p:cNvSpPr>
            <a:spLocks noGrp="1" noChangeArrowheads="1"/>
          </p:cNvSpPr>
          <p:nvPr>
            <p:ph type="body" idx="1"/>
          </p:nvPr>
        </p:nvSpPr>
        <p:spPr>
          <a:xfrm>
            <a:off x="533400" y="1447800"/>
            <a:ext cx="8153400" cy="4572000"/>
          </a:xfrm>
        </p:spPr>
        <p:txBody>
          <a:bodyPr/>
          <a:lstStyle/>
          <a:p>
            <a:pPr eaLnBrk="1" hangingPunct="1">
              <a:lnSpc>
                <a:spcPct val="80000"/>
              </a:lnSpc>
            </a:pPr>
            <a:r>
              <a:rPr lang="en-ZA" altLang="en-US" noProof="0" dirty="0" smtClean="0"/>
              <a:t>Reliability vs. cost of execution</a:t>
            </a:r>
          </a:p>
          <a:p>
            <a:pPr lvl="1" eaLnBrk="1" hangingPunct="1">
              <a:lnSpc>
                <a:spcPct val="80000"/>
              </a:lnSpc>
            </a:pPr>
            <a:r>
              <a:rPr lang="en-ZA" altLang="en-US" sz="2000" noProof="0" dirty="0" smtClean="0"/>
              <a:t>Java example</a:t>
            </a:r>
          </a:p>
          <a:p>
            <a:pPr lvl="2" eaLnBrk="1" hangingPunct="1">
              <a:lnSpc>
                <a:spcPct val="80000"/>
              </a:lnSpc>
            </a:pPr>
            <a:r>
              <a:rPr lang="en-ZA" altLang="en-US" sz="1700" noProof="0" dirty="0" smtClean="0"/>
              <a:t>All references to array elements are checked for proper indexing</a:t>
            </a:r>
          </a:p>
          <a:p>
            <a:pPr lvl="2" eaLnBrk="1" hangingPunct="1">
              <a:lnSpc>
                <a:spcPct val="80000"/>
              </a:lnSpc>
            </a:pPr>
            <a:r>
              <a:rPr lang="en-ZA" altLang="en-US" sz="1700" noProof="0" dirty="0" smtClean="0"/>
              <a:t>Increased execution costs</a:t>
            </a:r>
          </a:p>
          <a:p>
            <a:pPr lvl="2" eaLnBrk="1" hangingPunct="1">
              <a:lnSpc>
                <a:spcPct val="80000"/>
              </a:lnSpc>
            </a:pPr>
            <a:r>
              <a:rPr lang="en-ZA" altLang="en-US" sz="1700" noProof="0" dirty="0" smtClean="0"/>
              <a:t>Better reliability</a:t>
            </a:r>
          </a:p>
          <a:p>
            <a:pPr lvl="1" eaLnBrk="1" hangingPunct="1">
              <a:lnSpc>
                <a:spcPct val="80000"/>
              </a:lnSpc>
              <a:buFontTx/>
              <a:buNone/>
            </a:pPr>
            <a:endParaRPr lang="en-ZA" altLang="en-US" sz="1600" noProof="0" dirty="0" smtClean="0"/>
          </a:p>
          <a:p>
            <a:pPr eaLnBrk="1" hangingPunct="1">
              <a:lnSpc>
                <a:spcPct val="80000"/>
              </a:lnSpc>
            </a:pPr>
            <a:r>
              <a:rPr lang="en-ZA" altLang="en-US" noProof="0" dirty="0" smtClean="0"/>
              <a:t>Readability vs. </a:t>
            </a:r>
            <a:r>
              <a:rPr lang="en-ZA" altLang="en-US" noProof="0" dirty="0" err="1" smtClean="0"/>
              <a:t>writability</a:t>
            </a:r>
            <a:endParaRPr lang="en-ZA" altLang="en-US" noProof="0" dirty="0" smtClean="0"/>
          </a:p>
          <a:p>
            <a:pPr lvl="1" eaLnBrk="1" hangingPunct="1">
              <a:lnSpc>
                <a:spcPct val="80000"/>
              </a:lnSpc>
            </a:pPr>
            <a:r>
              <a:rPr lang="en-ZA" altLang="en-US" sz="2000" noProof="0" dirty="0" smtClean="0"/>
              <a:t>APL example</a:t>
            </a:r>
          </a:p>
          <a:p>
            <a:pPr lvl="2" eaLnBrk="1" hangingPunct="1">
              <a:lnSpc>
                <a:spcPct val="80000"/>
              </a:lnSpc>
            </a:pPr>
            <a:r>
              <a:rPr lang="en-ZA" altLang="en-US" sz="1700" noProof="0" dirty="0" smtClean="0"/>
              <a:t>Many powerful operators (and </a:t>
            </a:r>
            <a:r>
              <a:rPr lang="en-ZA" altLang="en-US" sz="1700" dirty="0" smtClean="0"/>
              <a:t>many</a:t>
            </a:r>
            <a:r>
              <a:rPr lang="en-ZA" altLang="en-US" sz="1700" noProof="0" dirty="0" smtClean="0"/>
              <a:t> non-standard symbols)</a:t>
            </a:r>
          </a:p>
          <a:p>
            <a:pPr lvl="2" eaLnBrk="1" hangingPunct="1">
              <a:lnSpc>
                <a:spcPct val="80000"/>
              </a:lnSpc>
            </a:pPr>
            <a:r>
              <a:rPr lang="en-ZA" altLang="en-US" sz="1700" noProof="0" dirty="0" smtClean="0"/>
              <a:t>Allows complex computations to be written compactly</a:t>
            </a:r>
          </a:p>
          <a:p>
            <a:pPr lvl="2" eaLnBrk="1" hangingPunct="1">
              <a:lnSpc>
                <a:spcPct val="80000"/>
              </a:lnSpc>
            </a:pPr>
            <a:r>
              <a:rPr lang="en-ZA" altLang="en-US" sz="1700" noProof="0" dirty="0" smtClean="0"/>
              <a:t>But results in very poor</a:t>
            </a:r>
            <a:r>
              <a:rPr lang="en-ZA" altLang="en-US" noProof="0" dirty="0" smtClean="0"/>
              <a:t> </a:t>
            </a:r>
            <a:r>
              <a:rPr lang="en-ZA" altLang="en-US" sz="1700" noProof="0" dirty="0" smtClean="0"/>
              <a:t>readability</a:t>
            </a:r>
          </a:p>
          <a:p>
            <a:pPr lvl="1" eaLnBrk="1" hangingPunct="1">
              <a:lnSpc>
                <a:spcPct val="80000"/>
              </a:lnSpc>
              <a:buFontTx/>
              <a:buNone/>
            </a:pPr>
            <a:endParaRPr lang="en-ZA" altLang="en-US" sz="1600" noProof="0" dirty="0" smtClean="0"/>
          </a:p>
          <a:p>
            <a:pPr eaLnBrk="1" hangingPunct="1">
              <a:lnSpc>
                <a:spcPct val="80000"/>
              </a:lnSpc>
            </a:pPr>
            <a:r>
              <a:rPr lang="en-ZA" altLang="en-US" noProof="0" dirty="0" err="1" smtClean="0"/>
              <a:t>Writability</a:t>
            </a:r>
            <a:r>
              <a:rPr lang="en-ZA" altLang="en-US" noProof="0" dirty="0" smtClean="0"/>
              <a:t> (flexibility) vs. reliability</a:t>
            </a:r>
            <a:endParaRPr lang="en-ZA" altLang="en-US" sz="2400" noProof="0" dirty="0" smtClean="0"/>
          </a:p>
          <a:p>
            <a:pPr lvl="1" eaLnBrk="1" hangingPunct="1">
              <a:lnSpc>
                <a:spcPct val="80000"/>
              </a:lnSpc>
            </a:pPr>
            <a:r>
              <a:rPr lang="en-ZA" altLang="en-US" sz="2000" noProof="0" dirty="0" smtClean="0"/>
              <a:t>C++ example</a:t>
            </a:r>
          </a:p>
          <a:p>
            <a:pPr lvl="2" eaLnBrk="1" hangingPunct="1">
              <a:lnSpc>
                <a:spcPct val="80000"/>
              </a:lnSpc>
            </a:pPr>
            <a:r>
              <a:rPr lang="en-ZA" altLang="en-US" sz="1700" noProof="0" dirty="0" smtClean="0"/>
              <a:t>Pointers are powerful, expressive, and very flexible</a:t>
            </a:r>
          </a:p>
          <a:p>
            <a:pPr lvl="2" eaLnBrk="1" hangingPunct="1">
              <a:lnSpc>
                <a:spcPct val="80000"/>
              </a:lnSpc>
            </a:pPr>
            <a:r>
              <a:rPr lang="en-ZA" altLang="en-US" sz="1700" noProof="0" dirty="0" smtClean="0"/>
              <a:t>Reduced reliability</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347A09A-3337-4C0A-B372-EDB2A3F7B35A}"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36867" name="Rectangle 2"/>
          <p:cNvSpPr>
            <a:spLocks noGrp="1" noChangeArrowheads="1"/>
          </p:cNvSpPr>
          <p:nvPr>
            <p:ph type="title"/>
          </p:nvPr>
        </p:nvSpPr>
        <p:spPr/>
        <p:txBody>
          <a:bodyPr/>
          <a:lstStyle/>
          <a:p>
            <a:pPr eaLnBrk="1" hangingPunct="1"/>
            <a:r>
              <a:rPr lang="en-ZA" altLang="en-US" noProof="0" dirty="0" smtClean="0"/>
              <a:t>Programming Domains</a:t>
            </a:r>
          </a:p>
        </p:txBody>
      </p:sp>
      <p:sp>
        <p:nvSpPr>
          <p:cNvPr id="36868" name="Rectangle 3"/>
          <p:cNvSpPr>
            <a:spLocks noGrp="1" noChangeArrowheads="1"/>
          </p:cNvSpPr>
          <p:nvPr>
            <p:ph type="body" idx="1"/>
          </p:nvPr>
        </p:nvSpPr>
        <p:spPr>
          <a:xfrm>
            <a:off x="609600" y="1447800"/>
            <a:ext cx="8153400" cy="4495800"/>
          </a:xfrm>
        </p:spPr>
        <p:txBody>
          <a:bodyPr/>
          <a:lstStyle/>
          <a:p>
            <a:pPr eaLnBrk="1" hangingPunct="1">
              <a:lnSpc>
                <a:spcPct val="80000"/>
              </a:lnSpc>
            </a:pPr>
            <a:r>
              <a:rPr lang="en-ZA" altLang="en-US" sz="2000" noProof="0" dirty="0" smtClean="0"/>
              <a:t>Scientific applications</a:t>
            </a:r>
          </a:p>
          <a:p>
            <a:pPr lvl="1" eaLnBrk="1" hangingPunct="1">
              <a:lnSpc>
                <a:spcPct val="80000"/>
              </a:lnSpc>
            </a:pPr>
            <a:r>
              <a:rPr lang="en-ZA" altLang="en-US" sz="1800" noProof="0" dirty="0" smtClean="0"/>
              <a:t>Large numbers of floating point computations </a:t>
            </a:r>
            <a:r>
              <a:rPr lang="en-ZA" altLang="en-US" sz="1800" dirty="0" smtClean="0"/>
              <a:t>and</a:t>
            </a:r>
            <a:r>
              <a:rPr lang="en-ZA" altLang="en-US" sz="1800" noProof="0" dirty="0" smtClean="0"/>
              <a:t> array use</a:t>
            </a:r>
          </a:p>
          <a:p>
            <a:pPr lvl="1" eaLnBrk="1" hangingPunct="1">
              <a:lnSpc>
                <a:spcPct val="80000"/>
              </a:lnSpc>
            </a:pPr>
            <a:r>
              <a:rPr lang="en-ZA" altLang="en-US" sz="1800" noProof="0" dirty="0" smtClean="0"/>
              <a:t>Fortran</a:t>
            </a:r>
          </a:p>
          <a:p>
            <a:pPr eaLnBrk="1" hangingPunct="1">
              <a:lnSpc>
                <a:spcPct val="80000"/>
              </a:lnSpc>
            </a:pPr>
            <a:r>
              <a:rPr lang="en-ZA" altLang="en-US" sz="2000" noProof="0" dirty="0" smtClean="0"/>
              <a:t>Business applications</a:t>
            </a:r>
          </a:p>
          <a:p>
            <a:pPr lvl="1" eaLnBrk="1" hangingPunct="1">
              <a:lnSpc>
                <a:spcPct val="80000"/>
              </a:lnSpc>
            </a:pPr>
            <a:r>
              <a:rPr lang="en-ZA" altLang="en-US" sz="1800" noProof="0" dirty="0" smtClean="0"/>
              <a:t>Produce reports, use decimal numbers and characters</a:t>
            </a:r>
          </a:p>
          <a:p>
            <a:pPr lvl="1" eaLnBrk="1" hangingPunct="1">
              <a:lnSpc>
                <a:spcPct val="80000"/>
              </a:lnSpc>
            </a:pPr>
            <a:r>
              <a:rPr lang="en-ZA" altLang="en-US" sz="1800" noProof="0" dirty="0" smtClean="0"/>
              <a:t>COBOL</a:t>
            </a:r>
          </a:p>
          <a:p>
            <a:pPr eaLnBrk="1" hangingPunct="1">
              <a:lnSpc>
                <a:spcPct val="80000"/>
              </a:lnSpc>
            </a:pPr>
            <a:r>
              <a:rPr lang="en-ZA" altLang="en-US" sz="2000" noProof="0" dirty="0" smtClean="0"/>
              <a:t>Artificial intelligence</a:t>
            </a:r>
          </a:p>
          <a:p>
            <a:pPr lvl="1" eaLnBrk="1" hangingPunct="1">
              <a:lnSpc>
                <a:spcPct val="80000"/>
              </a:lnSpc>
            </a:pPr>
            <a:r>
              <a:rPr lang="en-ZA" altLang="en-US" sz="1800" noProof="0" dirty="0" smtClean="0"/>
              <a:t>Symbols rather than numbers manipulated; use of linked lists</a:t>
            </a:r>
          </a:p>
          <a:p>
            <a:pPr lvl="1" eaLnBrk="1" hangingPunct="1">
              <a:lnSpc>
                <a:spcPct val="80000"/>
              </a:lnSpc>
            </a:pPr>
            <a:r>
              <a:rPr lang="en-ZA" altLang="en-US" sz="1800" noProof="0" dirty="0" smtClean="0"/>
              <a:t>LISP</a:t>
            </a:r>
          </a:p>
          <a:p>
            <a:pPr eaLnBrk="1" hangingPunct="1">
              <a:lnSpc>
                <a:spcPct val="80000"/>
              </a:lnSpc>
            </a:pPr>
            <a:r>
              <a:rPr lang="en-ZA" altLang="en-US" sz="2000" noProof="0" dirty="0" smtClean="0"/>
              <a:t>Systems programming</a:t>
            </a:r>
          </a:p>
          <a:p>
            <a:pPr lvl="1" eaLnBrk="1" hangingPunct="1">
              <a:lnSpc>
                <a:spcPct val="80000"/>
              </a:lnSpc>
            </a:pPr>
            <a:r>
              <a:rPr lang="en-ZA" altLang="en-US" sz="1800" noProof="0" dirty="0" smtClean="0"/>
              <a:t>Need efficiency because of continuous use</a:t>
            </a:r>
          </a:p>
          <a:p>
            <a:pPr lvl="1" eaLnBrk="1" hangingPunct="1">
              <a:lnSpc>
                <a:spcPct val="80000"/>
              </a:lnSpc>
            </a:pPr>
            <a:r>
              <a:rPr lang="en-ZA" altLang="en-US" sz="1800" noProof="0" dirty="0" smtClean="0"/>
              <a:t>C</a:t>
            </a:r>
          </a:p>
          <a:p>
            <a:pPr eaLnBrk="1" hangingPunct="1">
              <a:lnSpc>
                <a:spcPct val="80000"/>
              </a:lnSpc>
            </a:pPr>
            <a:r>
              <a:rPr lang="en-ZA" altLang="en-US" sz="2000" noProof="0" dirty="0" smtClean="0"/>
              <a:t>Web Software</a:t>
            </a:r>
          </a:p>
          <a:p>
            <a:pPr lvl="1" eaLnBrk="1" hangingPunct="1">
              <a:lnSpc>
                <a:spcPct val="80000"/>
              </a:lnSpc>
            </a:pPr>
            <a:r>
              <a:rPr lang="en-ZA" altLang="en-US" sz="1800" noProof="0" dirty="0" smtClean="0"/>
              <a:t>Eclectic collection of languages</a:t>
            </a:r>
          </a:p>
          <a:p>
            <a:pPr lvl="1" eaLnBrk="1" hangingPunct="1">
              <a:lnSpc>
                <a:spcPct val="80000"/>
              </a:lnSpc>
            </a:pPr>
            <a:r>
              <a:rPr lang="en-ZA" altLang="en-US" sz="1800" noProof="0" dirty="0" err="1" smtClean="0"/>
              <a:t>Markup</a:t>
            </a:r>
            <a:r>
              <a:rPr lang="en-ZA" altLang="en-US" sz="1800" noProof="0" dirty="0" smtClean="0"/>
              <a:t> (HTML), scripting (PHP), general-purpose (Java)</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ACC7813-D967-408A-91E7-DA50DE19802C}"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38915" name="Rectangle 2"/>
          <p:cNvSpPr>
            <a:spLocks noGrp="1" noChangeArrowheads="1"/>
          </p:cNvSpPr>
          <p:nvPr>
            <p:ph type="title"/>
          </p:nvPr>
        </p:nvSpPr>
        <p:spPr/>
        <p:txBody>
          <a:bodyPr/>
          <a:lstStyle/>
          <a:p>
            <a:pPr eaLnBrk="1" hangingPunct="1"/>
            <a:r>
              <a:rPr lang="en-ZA" altLang="en-US" noProof="0" dirty="0" smtClean="0"/>
              <a:t>Influences on Language Design</a:t>
            </a:r>
          </a:p>
        </p:txBody>
      </p:sp>
      <p:sp>
        <p:nvSpPr>
          <p:cNvPr id="38916" name="Rectangle 3"/>
          <p:cNvSpPr>
            <a:spLocks noGrp="1" noChangeArrowheads="1"/>
          </p:cNvSpPr>
          <p:nvPr>
            <p:ph type="body" idx="1"/>
          </p:nvPr>
        </p:nvSpPr>
        <p:spPr/>
        <p:txBody>
          <a:bodyPr/>
          <a:lstStyle/>
          <a:p>
            <a:pPr eaLnBrk="1" hangingPunct="1">
              <a:lnSpc>
                <a:spcPct val="90000"/>
              </a:lnSpc>
            </a:pPr>
            <a:r>
              <a:rPr lang="en-ZA" altLang="en-US" noProof="0" dirty="0" smtClean="0"/>
              <a:t>Computer Architecture</a:t>
            </a:r>
          </a:p>
          <a:p>
            <a:pPr lvl="1" eaLnBrk="1" hangingPunct="1">
              <a:lnSpc>
                <a:spcPct val="90000"/>
              </a:lnSpc>
            </a:pPr>
            <a:r>
              <a:rPr lang="en-ZA" altLang="en-US" noProof="0" dirty="0" smtClean="0"/>
              <a:t>Languages are developed around the prevalent computer architecture, which is known as the </a:t>
            </a:r>
            <a:r>
              <a:rPr lang="en-ZA" altLang="en-US" u="sng" noProof="0" dirty="0" smtClean="0"/>
              <a:t>von Neumann</a:t>
            </a:r>
            <a:r>
              <a:rPr lang="en-ZA" altLang="en-US" noProof="0" dirty="0" smtClean="0"/>
              <a:t> architecture</a:t>
            </a:r>
          </a:p>
          <a:p>
            <a:pPr eaLnBrk="1" hangingPunct="1">
              <a:lnSpc>
                <a:spcPct val="90000"/>
              </a:lnSpc>
            </a:pPr>
            <a:r>
              <a:rPr lang="en-ZA" altLang="en-US" noProof="0" dirty="0" smtClean="0"/>
              <a:t>Programming Methodologies</a:t>
            </a:r>
          </a:p>
          <a:p>
            <a:pPr lvl="1" eaLnBrk="1" hangingPunct="1">
              <a:lnSpc>
                <a:spcPct val="90000"/>
              </a:lnSpc>
            </a:pPr>
            <a:r>
              <a:rPr lang="en-ZA" altLang="en-US" noProof="0" dirty="0" smtClean="0"/>
              <a:t>New software development methodologies (e.g., object-oriented software development) led to new programming paradigms and by extension, new programming languages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4086001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A70FA68-44DB-4667-B757-C6D279AB99FD}"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40963" name="Rectangle 2"/>
          <p:cNvSpPr>
            <a:spLocks noGrp="1" noChangeArrowheads="1"/>
          </p:cNvSpPr>
          <p:nvPr>
            <p:ph type="title"/>
          </p:nvPr>
        </p:nvSpPr>
        <p:spPr/>
        <p:txBody>
          <a:bodyPr/>
          <a:lstStyle/>
          <a:p>
            <a:pPr eaLnBrk="1" hangingPunct="1"/>
            <a:r>
              <a:rPr lang="en-ZA" altLang="en-US" noProof="0" dirty="0" smtClean="0"/>
              <a:t>Computer Architecture Influence</a:t>
            </a:r>
          </a:p>
        </p:txBody>
      </p:sp>
      <p:sp>
        <p:nvSpPr>
          <p:cNvPr id="40964" name="Rectangle 3"/>
          <p:cNvSpPr>
            <a:spLocks noGrp="1" noChangeArrowheads="1"/>
          </p:cNvSpPr>
          <p:nvPr>
            <p:ph type="body" idx="1"/>
          </p:nvPr>
        </p:nvSpPr>
        <p:spPr/>
        <p:txBody>
          <a:bodyPr/>
          <a:lstStyle/>
          <a:p>
            <a:pPr eaLnBrk="1" hangingPunct="1"/>
            <a:r>
              <a:rPr lang="en-ZA" altLang="en-US" sz="2400" noProof="0" dirty="0" smtClean="0"/>
              <a:t>Best-known computer architecture: Von Neumann </a:t>
            </a:r>
          </a:p>
          <a:p>
            <a:pPr eaLnBrk="1" hangingPunct="1"/>
            <a:r>
              <a:rPr lang="en-ZA" altLang="en-US" sz="2400" noProof="0" dirty="0" smtClean="0"/>
              <a:t>Imperative languages are most dominant, because of von Neumann computers</a:t>
            </a:r>
          </a:p>
          <a:p>
            <a:pPr lvl="1" eaLnBrk="1" hangingPunct="1"/>
            <a:r>
              <a:rPr lang="en-ZA" altLang="en-US" sz="2000" noProof="0" dirty="0" smtClean="0"/>
              <a:t>Data and programs stored in memory</a:t>
            </a:r>
          </a:p>
          <a:p>
            <a:pPr lvl="1" eaLnBrk="1" hangingPunct="1"/>
            <a:r>
              <a:rPr lang="en-ZA" altLang="en-US" sz="2000" noProof="0" dirty="0" smtClean="0"/>
              <a:t>Memory is separate from CPU</a:t>
            </a:r>
          </a:p>
          <a:p>
            <a:pPr lvl="1" eaLnBrk="1" hangingPunct="1"/>
            <a:r>
              <a:rPr lang="en-ZA" altLang="en-US" sz="2000" noProof="0" dirty="0" smtClean="0"/>
              <a:t>Instructions and data are piped from memory to CPU</a:t>
            </a:r>
          </a:p>
          <a:p>
            <a:pPr lvl="1" eaLnBrk="1" hangingPunct="1"/>
            <a:r>
              <a:rPr lang="en-ZA" altLang="en-US" sz="2000" noProof="0" dirty="0" smtClean="0"/>
              <a:t>Basis for imperative languages</a:t>
            </a:r>
          </a:p>
          <a:p>
            <a:pPr lvl="2" eaLnBrk="1" hangingPunct="1"/>
            <a:r>
              <a:rPr lang="en-ZA" altLang="en-US" sz="1900" noProof="0" dirty="0" smtClean="0"/>
              <a:t>Variables model memory cells</a:t>
            </a:r>
          </a:p>
          <a:p>
            <a:pPr lvl="2" eaLnBrk="1" hangingPunct="1"/>
            <a:r>
              <a:rPr lang="en-ZA" altLang="en-US" sz="1900" noProof="0" dirty="0" smtClean="0"/>
              <a:t>Assignment statements model piping</a:t>
            </a:r>
          </a:p>
          <a:p>
            <a:pPr lvl="2" eaLnBrk="1" hangingPunct="1"/>
            <a:r>
              <a:rPr lang="en-ZA" altLang="en-US" sz="1900" noProof="0" dirty="0" smtClean="0"/>
              <a:t>Iteration is efficient, recursion is discouraged</a:t>
            </a:r>
          </a:p>
          <a:p>
            <a:pPr lvl="2" eaLnBrk="1" hangingPunct="1"/>
            <a:endParaRPr lang="en-ZA" altLang="en-US" sz="1900" noProof="0" dirty="0" smtClean="0"/>
          </a:p>
          <a:p>
            <a:pPr eaLnBrk="1" hangingPunct="1"/>
            <a:endParaRPr lang="en-ZA" altLang="en-US" sz="2400" noProof="0"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518001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61DD85B-B810-4031-9493-97C50911F850}"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43011" name="Rectangle 2"/>
          <p:cNvSpPr>
            <a:spLocks noGrp="1" noChangeArrowheads="1"/>
          </p:cNvSpPr>
          <p:nvPr>
            <p:ph type="title"/>
          </p:nvPr>
        </p:nvSpPr>
        <p:spPr/>
        <p:txBody>
          <a:bodyPr/>
          <a:lstStyle/>
          <a:p>
            <a:pPr eaLnBrk="1" hangingPunct="1"/>
            <a:r>
              <a:rPr lang="en-ZA" altLang="en-US" noProof="0" dirty="0" smtClean="0"/>
              <a:t>The von Neumann Architecture</a:t>
            </a:r>
          </a:p>
        </p:txBody>
      </p:sp>
      <p:pic>
        <p:nvPicPr>
          <p:cNvPr id="430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600200"/>
            <a:ext cx="7086600" cy="449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2095455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7ADCA8B-0CCA-4880-8AFF-F1C1632973C3}"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45059" name="Rectangle 2"/>
          <p:cNvSpPr>
            <a:spLocks noGrp="1" noChangeArrowheads="1"/>
          </p:cNvSpPr>
          <p:nvPr>
            <p:ph type="title"/>
          </p:nvPr>
        </p:nvSpPr>
        <p:spPr/>
        <p:txBody>
          <a:bodyPr/>
          <a:lstStyle/>
          <a:p>
            <a:pPr eaLnBrk="1" hangingPunct="1"/>
            <a:r>
              <a:rPr lang="en-ZA" altLang="en-US" sz="3200" noProof="0" dirty="0" smtClean="0"/>
              <a:t>Programming Methodologies Influences</a:t>
            </a:r>
          </a:p>
        </p:txBody>
      </p:sp>
      <p:sp>
        <p:nvSpPr>
          <p:cNvPr id="45060" name="Rectangle 3"/>
          <p:cNvSpPr>
            <a:spLocks noGrp="1" noChangeArrowheads="1"/>
          </p:cNvSpPr>
          <p:nvPr>
            <p:ph type="body" idx="1"/>
          </p:nvPr>
        </p:nvSpPr>
        <p:spPr>
          <a:xfrm>
            <a:off x="609600" y="1447800"/>
            <a:ext cx="8153400" cy="4572000"/>
          </a:xfrm>
        </p:spPr>
        <p:txBody>
          <a:bodyPr/>
          <a:lstStyle/>
          <a:p>
            <a:pPr eaLnBrk="1" hangingPunct="1"/>
            <a:r>
              <a:rPr lang="en-ZA" altLang="en-US" sz="2400" noProof="0" dirty="0" smtClean="0"/>
              <a:t>1950s and early 1960s: Simple applications</a:t>
            </a:r>
          </a:p>
          <a:p>
            <a:pPr lvl="1" eaLnBrk="1" hangingPunct="1"/>
            <a:r>
              <a:rPr lang="en-ZA" altLang="en-US" sz="2000" noProof="0" dirty="0" smtClean="0"/>
              <a:t>Worry about machine efficiency</a:t>
            </a:r>
          </a:p>
          <a:p>
            <a:pPr eaLnBrk="1" hangingPunct="1"/>
            <a:r>
              <a:rPr lang="en-ZA" altLang="en-US" sz="2400" noProof="0" dirty="0" smtClean="0"/>
              <a:t>Late 1960s: People efficiency became important</a:t>
            </a:r>
          </a:p>
          <a:p>
            <a:pPr lvl="1" eaLnBrk="1" hangingPunct="1"/>
            <a:r>
              <a:rPr lang="en-ZA" altLang="en-US" sz="2000" noProof="0" dirty="0" smtClean="0"/>
              <a:t>Improved readability, better control structures</a:t>
            </a:r>
          </a:p>
          <a:p>
            <a:pPr lvl="1" eaLnBrk="1" hangingPunct="1"/>
            <a:r>
              <a:rPr lang="en-ZA" altLang="en-US" sz="2000" noProof="0" dirty="0" smtClean="0"/>
              <a:t>Structured programming</a:t>
            </a:r>
          </a:p>
          <a:p>
            <a:pPr lvl="1" eaLnBrk="1" hangingPunct="1"/>
            <a:r>
              <a:rPr lang="en-ZA" altLang="en-US" sz="2000" dirty="0"/>
              <a:t>T</a:t>
            </a:r>
            <a:r>
              <a:rPr lang="en-ZA" altLang="en-US" sz="2000" noProof="0" dirty="0" smtClean="0"/>
              <a:t>op-down design and step-wise refinement</a:t>
            </a:r>
          </a:p>
          <a:p>
            <a:pPr eaLnBrk="1" hangingPunct="1"/>
            <a:r>
              <a:rPr lang="en-ZA" altLang="en-US" sz="2400" noProof="0" dirty="0" smtClean="0"/>
              <a:t>Late 1970s: Process-oriented to data-oriented</a:t>
            </a:r>
          </a:p>
          <a:p>
            <a:pPr lvl="1" eaLnBrk="1" hangingPunct="1"/>
            <a:r>
              <a:rPr lang="en-ZA" altLang="en-US" sz="2000" noProof="0" dirty="0" smtClean="0"/>
              <a:t>Data abstraction</a:t>
            </a:r>
          </a:p>
          <a:p>
            <a:pPr eaLnBrk="1" hangingPunct="1"/>
            <a:r>
              <a:rPr lang="en-ZA" altLang="en-US" sz="2400" noProof="0" dirty="0" smtClean="0"/>
              <a:t>Middle 1980s: Object-oriented programming</a:t>
            </a:r>
          </a:p>
          <a:p>
            <a:pPr lvl="1" eaLnBrk="1" hangingPunct="1"/>
            <a:r>
              <a:rPr lang="en-ZA" altLang="en-US" sz="2000" noProof="0" dirty="0" smtClean="0"/>
              <a:t>Data abstraction + inheritance + polymorphism</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altLang="en-US" dirty="0"/>
              <a:t>Copyright © </a:t>
            </a:r>
            <a:r>
              <a:rPr lang="en-US" altLang="en-US" dirty="0" smtClean="0"/>
              <a:t>2023 </a:t>
            </a:r>
            <a:r>
              <a:rPr lang="en-US" altLang="en-US" dirty="0"/>
              <a:t>Pearson Education, Ltd. All rights reserved.</a:t>
            </a:r>
          </a:p>
        </p:txBody>
      </p:sp>
    </p:spTree>
    <p:extLst>
      <p:ext uri="{BB962C8B-B14F-4D97-AF65-F5344CB8AC3E}">
        <p14:creationId xmlns:p14="http://schemas.microsoft.com/office/powerpoint/2010/main" val="2918209197"/>
      </p:ext>
    </p:extLst>
  </p:cSld>
  <p:clrMapOvr>
    <a:masterClrMapping/>
  </p:clrMapOvr>
</p:sld>
</file>

<file path=ppt/theme/theme1.xml><?xml version="1.0" encoding="utf-8"?>
<a:theme xmlns:a="http://schemas.openxmlformats.org/drawingml/2006/main" name="sebesta">
  <a:themeElements>
    <a:clrScheme name="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3049</TotalTime>
  <Words>1592</Words>
  <Application>Microsoft Office PowerPoint</Application>
  <PresentationFormat>On-screen Show (4:3)</PresentationFormat>
  <Paragraphs>206</Paragraphs>
  <Slides>15</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Lucida Sans Unicode</vt:lpstr>
      <vt:lpstr>Times</vt:lpstr>
      <vt:lpstr>sebesta</vt:lpstr>
      <vt:lpstr>Custom Design</vt:lpstr>
      <vt:lpstr>Chapter 1 Part 2</vt:lpstr>
      <vt:lpstr>Topics</vt:lpstr>
      <vt:lpstr>Language Evaluation Criteria</vt:lpstr>
      <vt:lpstr>Evaluation Criteria: Readability</vt:lpstr>
      <vt:lpstr>Evaluation Criteria: Readability</vt:lpstr>
      <vt:lpstr>Evaluation Criteria: Writability</vt:lpstr>
      <vt:lpstr>Evaluation Criteria: Reliability</vt:lpstr>
      <vt:lpstr>Evaluation Criteria: Cost</vt:lpstr>
      <vt:lpstr>Evaluation Criteria: Others</vt:lpstr>
      <vt:lpstr>Language Design Trade-Offs</vt:lpstr>
      <vt:lpstr>Programming Domains</vt:lpstr>
      <vt:lpstr>Influences on Language Design</vt:lpstr>
      <vt:lpstr>Computer Architecture Influence</vt:lpstr>
      <vt:lpstr>The von Neumann Architecture</vt:lpstr>
      <vt:lpstr>Programming Methodologies Influences</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174</cp:revision>
  <dcterms:created xsi:type="dcterms:W3CDTF">2003-08-01T12:29:19Z</dcterms:created>
  <dcterms:modified xsi:type="dcterms:W3CDTF">2026-02-19T17:49:55Z</dcterms:modified>
</cp:coreProperties>
</file>