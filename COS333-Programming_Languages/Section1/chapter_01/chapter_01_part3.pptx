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  <p:sldMasterId id="2147483712" r:id="rId2"/>
  </p:sldMasterIdLst>
  <p:notesMasterIdLst>
    <p:notesMasterId r:id="rId14"/>
  </p:notesMasterIdLst>
  <p:sldIdLst>
    <p:sldId id="256" r:id="rId3"/>
    <p:sldId id="259" r:id="rId4"/>
    <p:sldId id="269" r:id="rId5"/>
    <p:sldId id="273" r:id="rId6"/>
    <p:sldId id="306" r:id="rId7"/>
    <p:sldId id="274" r:id="rId8"/>
    <p:sldId id="309" r:id="rId9"/>
    <p:sldId id="276" r:id="rId10"/>
    <p:sldId id="310" r:id="rId11"/>
    <p:sldId id="278" r:id="rId12"/>
    <p:sldId id="288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EAEAEA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24" autoAdjust="0"/>
  </p:normalViewPr>
  <p:slideViewPr>
    <p:cSldViewPr>
      <p:cViewPr varScale="1">
        <p:scale>
          <a:sx n="73" d="100"/>
          <a:sy n="73" d="100"/>
        </p:scale>
        <p:origin x="110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162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8CE61639-17ED-4568-A109-8E662EB57E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8673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10095BF5-4AD6-463F-BFFB-74C71C30254D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40474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3FA94DE-C4C3-4637-9175-39E071196A37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155369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79CD54F-6EC1-475D-8366-C404D3DDBF1A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396121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CA979E40-0E40-4925-8B2F-C476CCDB990F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554319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F2C01027-FC99-4D9F-8854-6EB6E5C7391D}" type="slidenum">
              <a:rPr lang="en-US" altLang="en-US" sz="1300" smtClean="0"/>
              <a:pPr/>
              <a:t>5</a:t>
            </a:fld>
            <a:endParaRPr lang="en-US" altLang="en-US" sz="1300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Additional compilation terminology</a:t>
            </a:r>
          </a:p>
          <a:p>
            <a:pPr eaLnBrk="1" hangingPunct="1"/>
            <a:endParaRPr lang="en-ZA" altLang="en-US" noProof="0" dirty="0" smtClean="0"/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ZA" altLang="en-US" noProof="0" dirty="0" smtClean="0"/>
              <a:t>Load module (executable image)</a:t>
            </a:r>
          </a:p>
          <a:p>
            <a:pPr marL="628650" lvl="1" indent="-171450" eaLnBrk="1" hangingPunct="1">
              <a:buFont typeface="Arial" panose="020B0604020202020204" pitchFamily="34" charset="0"/>
              <a:buChar char="•"/>
            </a:pPr>
            <a:r>
              <a:rPr lang="en-ZA" altLang="en-US" noProof="0" dirty="0" smtClean="0"/>
              <a:t>The user and system code together</a:t>
            </a:r>
          </a:p>
          <a:p>
            <a:pPr marL="628650" lvl="1" indent="-171450" eaLnBrk="1" hangingPunct="1">
              <a:buFont typeface="Arial" panose="020B0604020202020204" pitchFamily="34" charset="0"/>
              <a:buChar char="•"/>
            </a:pPr>
            <a:r>
              <a:rPr lang="en-ZA" altLang="en-US" noProof="0" dirty="0" smtClean="0"/>
              <a:t>For example, I/O code provided by the OS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ZA" altLang="en-US" noProof="0" dirty="0" smtClean="0"/>
              <a:t>Linking and loading</a:t>
            </a:r>
          </a:p>
          <a:p>
            <a:pPr marL="628650" lvl="1" indent="-171450" eaLnBrk="1" hangingPunct="1">
              <a:buFont typeface="Arial" panose="020B0604020202020204" pitchFamily="34" charset="0"/>
              <a:buChar char="•"/>
            </a:pPr>
            <a:r>
              <a:rPr lang="en-ZA" altLang="en-US" noProof="0" dirty="0" smtClean="0"/>
              <a:t>The process of collecting system program units and linking them to a user program</a:t>
            </a:r>
          </a:p>
        </p:txBody>
      </p:sp>
    </p:spTree>
    <p:extLst>
      <p:ext uri="{BB962C8B-B14F-4D97-AF65-F5344CB8AC3E}">
        <p14:creationId xmlns:p14="http://schemas.microsoft.com/office/powerpoint/2010/main" val="3594037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B6F0B96-A065-4619-9FCA-24DC83466BDB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954849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12B8C13-4B80-4DAD-80B1-27F2D93B1008}" type="slidenum">
              <a:rPr lang="en-US" altLang="en-US" sz="1300" smtClean="0"/>
              <a:pPr/>
              <a:t>7</a:t>
            </a:fld>
            <a:endParaRPr lang="en-US" altLang="en-US" sz="130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508938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0A77F7ED-9E20-42AC-B564-71B0A1C15367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996445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9DA0697-EDFF-4C53-94AC-832AE57FEBA6}" type="slidenum">
              <a:rPr lang="en-US" altLang="en-US" sz="1300" smtClean="0"/>
              <a:pPr/>
              <a:t>9</a:t>
            </a:fld>
            <a:endParaRPr lang="en-US" altLang="en-US" sz="130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107709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47DF6448-FBFD-4210-A59F-D25727CDA720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503358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3129C7F-113A-4199-92CC-23475B042CDB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679780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4597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BF122ABE-8A6B-4C4D-AF36-135B761990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763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4EAD46B7-1AEE-462F-A370-7591A6D455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97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4B5238A9-B079-4FD2-9F88-38ED0D119E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394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EF0C98EB-B905-4B75-9D5E-60D1B84CC6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164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BC204B37-15DE-40B3-A1E2-00D7DF8DEE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14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0282C40-2530-4079-B192-7B10550F2A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73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69FCF538-FBEA-4C20-9C86-C8F3BEE289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81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0A59CF4-7BEF-4411-9763-14EB294C6D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65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C384A559-205F-44FF-AAF5-934F996E77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44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1A4E1994-5CA5-4600-AE11-9CE1FC65E1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0972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D3DEF-3B9A-478D-A0DC-9F71749A79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004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EA683-BB76-47D8-856E-0ED2E7DE2B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076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4BB23-971F-4E97-8F5D-75034A9FFB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72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991C1-E38F-426B-BF4D-E18946925A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72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17859-A478-4A59-9A4E-446108A123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079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204FF-DF54-4A94-9726-B3A16C8D84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0382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2B777-8427-4558-9AD6-E529958034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8458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FF91F1-316C-4D51-BBCE-8BD4EECDFD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954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609D4-69C1-481C-B07F-224A78A3B9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99552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76B28-2592-4F0B-B1D0-3AB798223C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282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D48B0-08D1-4237-839D-BADB8F5DE9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805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89D48F04-14DE-472B-A236-3883FEA45D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99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ea typeface="+mn-ea"/>
                <a:cs typeface="Lucida Sans Unicode" pitchFamily="34" charset="0"/>
              </a:defRPr>
            </a:lvl1pPr>
          </a:lstStyle>
          <a:p>
            <a:pPr>
              <a:defRPr/>
            </a:pPr>
            <a:r>
              <a:rPr lang="en-US"/>
              <a:t>Copyright © 2012 Pearson Education.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30EE5EA4-558C-497A-A4B5-4804B6F20F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Chapter 1</a:t>
            </a:r>
            <a:br>
              <a:rPr lang="en-ZA" altLang="en-US" noProof="0" dirty="0" smtClean="0"/>
            </a:br>
            <a:r>
              <a:rPr lang="en-ZA" altLang="en-US" sz="2800" dirty="0" smtClean="0"/>
              <a:t>Part 3</a:t>
            </a:r>
            <a:endParaRPr lang="en-ZA" altLang="en-US" sz="2800" noProof="0" dirty="0" smtClean="0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Preliminaries</a:t>
            </a:r>
          </a:p>
        </p:txBody>
      </p:sp>
      <p:pic>
        <p:nvPicPr>
          <p:cNvPr id="5" name="Picture 8" descr="Front Cover: Concepts of Programming Languages, Global Edition, by Robert W Sebesta&#10;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0"/>
            <a:ext cx="4724400" cy="586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BFC0E3C-77B6-47C9-8A5D-C39E92F19E4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Topics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ZA" altLang="en-US" dirty="0" smtClean="0"/>
              <a:t>Language </a:t>
            </a:r>
            <a:r>
              <a:rPr lang="en-ZA" altLang="en-US" dirty="0"/>
              <a:t>Categories</a:t>
            </a:r>
          </a:p>
          <a:p>
            <a:pPr marL="533400" indent="-533400" eaLnBrk="1" hangingPunct="1"/>
            <a:r>
              <a:rPr lang="en-ZA" altLang="en-US" dirty="0"/>
              <a:t>Implementation </a:t>
            </a:r>
            <a:r>
              <a:rPr lang="en-ZA" altLang="en-US" dirty="0" smtClean="0"/>
              <a:t>Methods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2E66E25-493D-4F6B-B8FC-438E2D930AFE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Language Categories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1534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ZA" altLang="en-US" sz="2000" noProof="0" dirty="0" smtClean="0"/>
              <a:t>Imperative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Central features: variables, assignment statements, iteration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Includes languages that support object-oriented programming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Includes scripting languages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Includes the visual languages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Examples: C, Java, Perl, JavaScript, Visual BASIC .NET, C++</a:t>
            </a:r>
          </a:p>
          <a:p>
            <a:pPr eaLnBrk="1" hangingPunct="1">
              <a:lnSpc>
                <a:spcPct val="80000"/>
              </a:lnSpc>
            </a:pPr>
            <a:endParaRPr lang="en-ZA" altLang="en-US" sz="1400" noProof="0" dirty="0" smtClean="0"/>
          </a:p>
          <a:p>
            <a:pPr eaLnBrk="1" hangingPunct="1">
              <a:lnSpc>
                <a:spcPct val="80000"/>
              </a:lnSpc>
            </a:pPr>
            <a:r>
              <a:rPr lang="en-ZA" altLang="en-US" sz="2000" noProof="0" dirty="0" smtClean="0"/>
              <a:t>Functional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Main means of computation: applying functions to parameters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Examples: LISP, Scheme, ML, F#</a:t>
            </a:r>
          </a:p>
          <a:p>
            <a:pPr eaLnBrk="1" hangingPunct="1">
              <a:lnSpc>
                <a:spcPct val="80000"/>
              </a:lnSpc>
            </a:pPr>
            <a:endParaRPr lang="en-ZA" altLang="en-US" sz="1400" noProof="0" dirty="0" smtClean="0"/>
          </a:p>
          <a:p>
            <a:pPr eaLnBrk="1" hangingPunct="1">
              <a:lnSpc>
                <a:spcPct val="80000"/>
              </a:lnSpc>
            </a:pPr>
            <a:r>
              <a:rPr lang="en-ZA" altLang="en-US" sz="2000" noProof="0" dirty="0" smtClean="0"/>
              <a:t>Logic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Rule-based (rules are specified in no particular order)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Example: </a:t>
            </a:r>
            <a:r>
              <a:rPr lang="en-ZA" altLang="en-US" sz="1800" noProof="0" dirty="0" err="1" smtClean="0"/>
              <a:t>Prolog</a:t>
            </a:r>
            <a:endParaRPr lang="en-ZA" altLang="en-US" sz="1800" noProof="0" dirty="0" smtClean="0"/>
          </a:p>
          <a:p>
            <a:pPr eaLnBrk="1" hangingPunct="1">
              <a:lnSpc>
                <a:spcPct val="80000"/>
              </a:lnSpc>
            </a:pPr>
            <a:endParaRPr lang="en-ZA" altLang="en-US" sz="1400" noProof="0" dirty="0" smtClean="0"/>
          </a:p>
          <a:p>
            <a:pPr eaLnBrk="1" hangingPunct="1">
              <a:lnSpc>
                <a:spcPct val="80000"/>
              </a:lnSpc>
            </a:pPr>
            <a:r>
              <a:rPr lang="en-ZA" altLang="en-US" sz="2000" noProof="0" dirty="0" err="1" smtClean="0"/>
              <a:t>Markup</a:t>
            </a:r>
            <a:r>
              <a:rPr lang="en-ZA" altLang="en-US" sz="2000" noProof="0" dirty="0" smtClean="0"/>
              <a:t>/programming hybrid 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err="1" smtClean="0"/>
              <a:t>Markup</a:t>
            </a:r>
            <a:r>
              <a:rPr lang="en-ZA" altLang="en-US" sz="1800" noProof="0" dirty="0" smtClean="0"/>
              <a:t> languages extended to support some programming</a:t>
            </a:r>
          </a:p>
          <a:p>
            <a:pPr lvl="1" eaLnBrk="1" hangingPunct="1">
              <a:lnSpc>
                <a:spcPct val="80000"/>
              </a:lnSpc>
            </a:pPr>
            <a:r>
              <a:rPr lang="en-ZA" altLang="en-US" sz="1800" noProof="0" dirty="0" smtClean="0"/>
              <a:t>Examples: JSTL, XSLT</a:t>
            </a:r>
          </a:p>
          <a:p>
            <a:pPr eaLnBrk="1" hangingPunct="1">
              <a:lnSpc>
                <a:spcPct val="80000"/>
              </a:lnSpc>
            </a:pPr>
            <a:endParaRPr lang="en-ZA" altLang="en-US" sz="2000" noProof="0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FE738F63-6D54-4CBD-81A0-46D1F8F92BDA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Implementation Methods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5105400"/>
          </a:xfrm>
        </p:spPr>
        <p:txBody>
          <a:bodyPr/>
          <a:lstStyle/>
          <a:p>
            <a:pPr eaLnBrk="1" hangingPunct="1"/>
            <a:r>
              <a:rPr lang="en-ZA" altLang="en-US" sz="2400" noProof="0" dirty="0" smtClean="0"/>
              <a:t>Compilation</a:t>
            </a:r>
          </a:p>
          <a:p>
            <a:pPr lvl="1" eaLnBrk="1" hangingPunct="1"/>
            <a:r>
              <a:rPr lang="en-ZA" altLang="en-US" sz="2000" noProof="0" dirty="0" smtClean="0"/>
              <a:t>Programs are translated into machine language</a:t>
            </a:r>
          </a:p>
          <a:p>
            <a:pPr lvl="1" eaLnBrk="1" hangingPunct="1"/>
            <a:r>
              <a:rPr lang="en-ZA" altLang="en-US" sz="2000" noProof="0" dirty="0" smtClean="0"/>
              <a:t>Large commercial applications</a:t>
            </a:r>
          </a:p>
          <a:p>
            <a:pPr lvl="1" eaLnBrk="1" hangingPunct="1">
              <a:buFontTx/>
              <a:buNone/>
            </a:pPr>
            <a:endParaRPr lang="en-ZA" altLang="en-US" sz="1400" noProof="0" dirty="0" smtClean="0"/>
          </a:p>
          <a:p>
            <a:pPr eaLnBrk="1" hangingPunct="1"/>
            <a:r>
              <a:rPr lang="en-ZA" altLang="en-US" sz="2400" noProof="0" dirty="0" smtClean="0"/>
              <a:t>Pure Interpretation</a:t>
            </a:r>
          </a:p>
          <a:p>
            <a:pPr lvl="1" eaLnBrk="1" hangingPunct="1"/>
            <a:r>
              <a:rPr lang="en-ZA" altLang="en-US" sz="2000" noProof="0" dirty="0" smtClean="0"/>
              <a:t>Programs interpreted by a separate interpreter program</a:t>
            </a:r>
          </a:p>
          <a:p>
            <a:pPr lvl="1" eaLnBrk="1" hangingPunct="1"/>
            <a:r>
              <a:rPr lang="en-ZA" altLang="en-US" sz="2000" noProof="0" dirty="0" smtClean="0"/>
              <a:t>Small programs or when efficiency is not an issue</a:t>
            </a:r>
          </a:p>
          <a:p>
            <a:pPr lvl="1" eaLnBrk="1" hangingPunct="1">
              <a:buFontTx/>
              <a:buNone/>
            </a:pPr>
            <a:endParaRPr lang="en-ZA" altLang="en-US" sz="1400" noProof="0" dirty="0" smtClean="0"/>
          </a:p>
          <a:p>
            <a:pPr eaLnBrk="1" hangingPunct="1"/>
            <a:r>
              <a:rPr lang="en-ZA" altLang="en-US" sz="2400" noProof="0" dirty="0" smtClean="0"/>
              <a:t>Hybrid Implementation Systems</a:t>
            </a:r>
          </a:p>
          <a:p>
            <a:pPr lvl="1" eaLnBrk="1" hangingPunct="1"/>
            <a:r>
              <a:rPr lang="en-ZA" altLang="en-US" sz="2000" noProof="0" dirty="0" smtClean="0"/>
              <a:t>A compromise between compilers and pure interpreters</a:t>
            </a:r>
          </a:p>
          <a:p>
            <a:pPr lvl="1" eaLnBrk="1" hangingPunct="1"/>
            <a:r>
              <a:rPr lang="en-ZA" altLang="en-US" sz="2000" noProof="0" dirty="0" smtClean="0"/>
              <a:t>Small/medium systems, efficiency not the first concern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77DB13B-76CA-4A87-888D-C33A0CEA98E5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Compilation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Translate high-level program (source language) into machine code (machine language)</a:t>
            </a:r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Slow translation, fast execution</a:t>
            </a:r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Compilation process has several phases</a:t>
            </a:r>
            <a:endParaRPr lang="en-ZA" altLang="en-US" sz="1900" noProof="0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CBF784A-794A-439D-9F4B-5030493F81DA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6477000" cy="12065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The Compilation Process</a:t>
            </a:r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95400"/>
            <a:ext cx="4027488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F4B7EA9-C591-46FD-8C50-3A70E1CAF32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Pure Interpretation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No translation</a:t>
            </a:r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Easier implementation of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Run-time errors can easily and immediately be displayed</a:t>
            </a:r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Slower 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10 to 100 times slower than compiled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Decoding high-level statements vs machine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Repeated statement executions are repeatedly decoded</a:t>
            </a:r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Often requires more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Source program and symbol table are present at runtime</a:t>
            </a:r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Now rare for traditional high-level languages</a:t>
            </a:r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Significant use of pure interpretation today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Used by Web scripting languages (e.g., JavaScript and PHP)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BD119FA-48D8-4037-AC11-F63D0E38B2D1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Pure Interpretation Process</a:t>
            </a:r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371600"/>
            <a:ext cx="373221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2A714CA-6EC7-49EF-926A-73AD5B39CE8A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noProof="0" dirty="0" smtClean="0"/>
              <a:t>Hybrid Implementation Systems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058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Compromise between compilers &amp; pure interpreters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High-level language program translated to an intermediate language allowing easy interpretation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Faster than pure interpretation</a:t>
            </a:r>
          </a:p>
          <a:p>
            <a:pPr eaLnBrk="1" hangingPunct="1">
              <a:lnSpc>
                <a:spcPct val="90000"/>
              </a:lnSpc>
            </a:pPr>
            <a:endParaRPr lang="en-ZA" altLang="en-US" sz="1400" noProof="0" dirty="0" smtClean="0"/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Perl programs use a hybrid implementation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Partially compiled to detect errors before interpretation</a:t>
            </a:r>
          </a:p>
          <a:p>
            <a:pPr eaLnBrk="1" hangingPunct="1">
              <a:lnSpc>
                <a:spcPct val="90000"/>
              </a:lnSpc>
            </a:pPr>
            <a:endParaRPr lang="en-ZA" altLang="en-US" sz="1400" noProof="0" dirty="0" smtClean="0"/>
          </a:p>
          <a:p>
            <a:pPr eaLnBrk="1" hangingPunct="1">
              <a:lnSpc>
                <a:spcPct val="90000"/>
              </a:lnSpc>
            </a:pPr>
            <a:r>
              <a:rPr lang="en-ZA" altLang="en-US" sz="2400" noProof="0" dirty="0" smtClean="0"/>
              <a:t>Typical Java implementations are hybrid</a:t>
            </a:r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dirty="0" smtClean="0"/>
              <a:t>Programs compiled into </a:t>
            </a:r>
            <a:r>
              <a:rPr lang="en-ZA" altLang="en-US" sz="2000" noProof="0" dirty="0" smtClean="0"/>
              <a:t>intermediate form called </a:t>
            </a:r>
            <a:r>
              <a:rPr lang="en-ZA" altLang="en-US" sz="2000" u="sng" noProof="0" dirty="0" smtClean="0"/>
              <a:t>byte code</a:t>
            </a:r>
            <a:endParaRPr lang="en-ZA" altLang="en-US" sz="2000" noProof="0" dirty="0" smtClean="0"/>
          </a:p>
          <a:p>
            <a:pPr lvl="1" eaLnBrk="1" hangingPunct="1">
              <a:lnSpc>
                <a:spcPct val="90000"/>
              </a:lnSpc>
            </a:pPr>
            <a:r>
              <a:rPr lang="en-ZA" altLang="en-US" sz="2000" noProof="0" dirty="0" smtClean="0"/>
              <a:t>Byte code is portability to any machine that has</a:t>
            </a:r>
          </a:p>
          <a:p>
            <a:pPr lvl="2" eaLnBrk="1" hangingPunct="1">
              <a:lnSpc>
                <a:spcPct val="90000"/>
              </a:lnSpc>
            </a:pPr>
            <a:r>
              <a:rPr lang="en-ZA" altLang="en-US" sz="1700" noProof="0" dirty="0" smtClean="0"/>
              <a:t>Byte code interpreter</a:t>
            </a:r>
          </a:p>
          <a:p>
            <a:pPr lvl="2" eaLnBrk="1" hangingPunct="1">
              <a:lnSpc>
                <a:spcPct val="90000"/>
              </a:lnSpc>
            </a:pPr>
            <a:r>
              <a:rPr lang="en-ZA" altLang="en-US" sz="1700" dirty="0"/>
              <a:t>A</a:t>
            </a:r>
            <a:r>
              <a:rPr lang="en-ZA" altLang="en-US" sz="1700" noProof="0" dirty="0" smtClean="0"/>
              <a:t> run-time system</a:t>
            </a:r>
          </a:p>
          <a:p>
            <a:pPr lvl="2" eaLnBrk="1" hangingPunct="1">
              <a:lnSpc>
                <a:spcPct val="90000"/>
              </a:lnSpc>
            </a:pPr>
            <a:r>
              <a:rPr lang="en-ZA" altLang="en-US" sz="1700" noProof="0" dirty="0" smtClean="0"/>
              <a:t>Together, these are called the </a:t>
            </a:r>
            <a:r>
              <a:rPr lang="en-ZA" altLang="en-US" sz="1700" u="sng" noProof="0" dirty="0" smtClean="0"/>
              <a:t>Java Virtual Machine</a:t>
            </a:r>
            <a:endParaRPr lang="en-ZA" altLang="en-US" sz="1700" noProof="0" dirty="0" smtClean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BCDD7A7-1AD0-43BE-96FA-A59ED089A281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295400"/>
            <a:ext cx="18192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153400" cy="1143000"/>
          </a:xfrm>
        </p:spPr>
        <p:txBody>
          <a:bodyPr/>
          <a:lstStyle/>
          <a:p>
            <a:pPr eaLnBrk="1" hangingPunct="1"/>
            <a:r>
              <a:rPr lang="en-ZA" altLang="en-US" noProof="0" dirty="0" smtClean="0"/>
              <a:t>Hybrid Implementation Systems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4E2DC65C-46DF-46CB-B48F-EF04BA7F75DB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 sz="3200" noProof="0" dirty="0" smtClean="0"/>
              <a:t>Just-in-Time Implementation Systems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ZA" altLang="en-US" sz="2400" noProof="0" dirty="0" smtClean="0"/>
              <a:t>JIT systems are </a:t>
            </a:r>
            <a:r>
              <a:rPr lang="en-ZA" altLang="en-US" sz="2400" dirty="0"/>
              <a:t>a</a:t>
            </a:r>
            <a:r>
              <a:rPr lang="en-ZA" altLang="en-US" sz="2400" noProof="0" dirty="0" smtClean="0"/>
              <a:t> kind of hybrid system</a:t>
            </a:r>
          </a:p>
          <a:p>
            <a:pPr lvl="1" eaLnBrk="1" hangingPunct="1"/>
            <a:r>
              <a:rPr lang="en-ZA" altLang="en-US" sz="2000" noProof="0" dirty="0" smtClean="0"/>
              <a:t>Initially translate programs to an intermediate language</a:t>
            </a:r>
          </a:p>
          <a:p>
            <a:pPr lvl="1" eaLnBrk="1" hangingPunct="1"/>
            <a:r>
              <a:rPr lang="en-ZA" altLang="en-US" sz="2000" noProof="0" dirty="0" smtClean="0"/>
              <a:t>Then compile the intermediate language of the subprograms into machine code when they are called </a:t>
            </a:r>
          </a:p>
          <a:p>
            <a:pPr lvl="1" eaLnBrk="1" hangingPunct="1"/>
            <a:r>
              <a:rPr lang="en-ZA" altLang="en-US" sz="2000" noProof="0" dirty="0" smtClean="0"/>
              <a:t>Machine code version is kept for subsequent calls</a:t>
            </a:r>
          </a:p>
          <a:p>
            <a:pPr lvl="1" eaLnBrk="1" hangingPunct="1"/>
            <a:r>
              <a:rPr lang="en-ZA" altLang="en-US" sz="2000" dirty="0"/>
              <a:t>In essence, JIT systems are delayed </a:t>
            </a:r>
            <a:r>
              <a:rPr lang="en-ZA" altLang="en-US" sz="2000" dirty="0" smtClean="0"/>
              <a:t>compilers</a:t>
            </a:r>
            <a:endParaRPr lang="en-ZA" altLang="en-US" sz="2000" noProof="0" dirty="0" smtClean="0"/>
          </a:p>
          <a:p>
            <a:pPr eaLnBrk="1" hangingPunct="1"/>
            <a:r>
              <a:rPr lang="en-ZA" altLang="en-US" sz="2400" noProof="0" dirty="0" smtClean="0"/>
              <a:t>Examples</a:t>
            </a:r>
          </a:p>
          <a:p>
            <a:pPr lvl="1" eaLnBrk="1" hangingPunct="1"/>
            <a:r>
              <a:rPr lang="en-ZA" altLang="en-US" sz="2000" noProof="0" dirty="0" smtClean="0"/>
              <a:t>JIT systems are widely used for Java programs</a:t>
            </a:r>
          </a:p>
          <a:p>
            <a:pPr lvl="1" eaLnBrk="1" hangingPunct="1"/>
            <a:r>
              <a:rPr lang="en-ZA" altLang="en-US" sz="2000" noProof="0" dirty="0" smtClean="0"/>
              <a:t>The .NET languages implemented using JIT system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2023 </a:t>
            </a:r>
            <a:r>
              <a:rPr lang="en-US" altLang="en-US" dirty="0"/>
              <a:t>Pearson Education, Ltd.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besta">
  <a:themeElements>
    <a:clrScheme name="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ebesta">
      <a:majorFont>
        <a:latin typeface="Lucida Sans Unicode"/>
        <a:ea typeface="Lucida Sans Unicode"/>
        <a:cs typeface="Lucida Sans Unicode"/>
      </a:majorFont>
      <a:minorFont>
        <a:latin typeface="Lucida Sans Unicode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sebesta2</Template>
  <TotalTime>7721</TotalTime>
  <Words>578</Words>
  <Application>Microsoft Office PowerPoint</Application>
  <PresentationFormat>On-screen Show (4:3)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Lucida Sans Unicode</vt:lpstr>
      <vt:lpstr>Times</vt:lpstr>
      <vt:lpstr>sebesta</vt:lpstr>
      <vt:lpstr>Custom Design</vt:lpstr>
      <vt:lpstr>Chapter 1 Part 3</vt:lpstr>
      <vt:lpstr>Topics</vt:lpstr>
      <vt:lpstr>Language Categories</vt:lpstr>
      <vt:lpstr>Implementation Methods</vt:lpstr>
      <vt:lpstr>Compilation</vt:lpstr>
      <vt:lpstr>The Compilation Process</vt:lpstr>
      <vt:lpstr>Pure Interpretation</vt:lpstr>
      <vt:lpstr>Pure Interpretation Process</vt:lpstr>
      <vt:lpstr>Hybrid Implementation Systems</vt:lpstr>
      <vt:lpstr>Hybrid Implementation Systems</vt:lpstr>
      <vt:lpstr>Just-in-Time Implementation Systems</vt:lpstr>
    </vt:vector>
  </TitlesOfParts>
  <Company>Pearson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Willem S. van Heerden</cp:lastModifiedBy>
  <cp:revision>164</cp:revision>
  <dcterms:created xsi:type="dcterms:W3CDTF">2003-08-01T12:29:19Z</dcterms:created>
  <dcterms:modified xsi:type="dcterms:W3CDTF">2026-02-19T17:51:23Z</dcterms:modified>
</cp:coreProperties>
</file>