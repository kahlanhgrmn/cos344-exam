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24"/>
  </p:notesMasterIdLst>
  <p:sldIdLst>
    <p:sldId id="327" r:id="rId2"/>
    <p:sldId id="313" r:id="rId3"/>
    <p:sldId id="357" r:id="rId4"/>
    <p:sldId id="277" r:id="rId5"/>
    <p:sldId id="340" r:id="rId6"/>
    <p:sldId id="341" r:id="rId7"/>
    <p:sldId id="280" r:id="rId8"/>
    <p:sldId id="342" r:id="rId9"/>
    <p:sldId id="282" r:id="rId10"/>
    <p:sldId id="343" r:id="rId11"/>
    <p:sldId id="344" r:id="rId12"/>
    <p:sldId id="345" r:id="rId13"/>
    <p:sldId id="346" r:id="rId14"/>
    <p:sldId id="348" r:id="rId15"/>
    <p:sldId id="290" r:id="rId16"/>
    <p:sldId id="349" r:id="rId17"/>
    <p:sldId id="350" r:id="rId18"/>
    <p:sldId id="293" r:id="rId19"/>
    <p:sldId id="351" r:id="rId20"/>
    <p:sldId id="352" r:id="rId21"/>
    <p:sldId id="353" r:id="rId22"/>
    <p:sldId id="356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993300"/>
    <a:srgbClr val="666699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43" autoAdjust="0"/>
    <p:restoredTop sz="86424" autoAdjust="0"/>
  </p:normalViewPr>
  <p:slideViewPr>
    <p:cSldViewPr>
      <p:cViewPr>
        <p:scale>
          <a:sx n="75" d="100"/>
          <a:sy n="75" d="100"/>
        </p:scale>
        <p:origin x="1037" y="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884B6931-4788-4554-9A45-C2B8C91BBF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8275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7953998D-967D-42DE-BFD2-1CF864B52188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862850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3C82ACA-EE67-4E96-9F3A-F01B1CAD640E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80425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5FB3BC86-FC23-4C1F-80BC-29A2CB739CD2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142748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A1CFC03-0B62-4DC7-92C2-8C5C990C2B5F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ACM: Association of Computing Machinery</a:t>
            </a:r>
          </a:p>
          <a:p>
            <a:pPr eaLnBrk="1" hangingPunct="1"/>
            <a:r>
              <a:rPr lang="en-ZA" altLang="en-US" noProof="0" dirty="0" smtClean="0"/>
              <a:t>GAMM: German acronym for Society of Applied Mathematics and Mechanics</a:t>
            </a:r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720091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820180B3-309A-4B0B-A013-F1F84E601B0E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318901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76847F8D-351F-4065-82B0-B2746869ED3D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4152641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45F867C-B2E2-4C3D-A493-5613A3466D9E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en-US" noProof="0" dirty="0" smtClean="0"/>
              <a:t>Subprograms are like functions in C++, or methods in Java. We’ll get into more</a:t>
            </a:r>
            <a:r>
              <a:rPr lang="en-ZA" altLang="en-US" baseline="0" noProof="0" dirty="0" smtClean="0"/>
              <a:t> detail on them in Chapter 9</a:t>
            </a:r>
            <a:r>
              <a:rPr lang="en-ZA" altLang="en-US" baseline="0" noProof="0" dirty="0" smtClean="0"/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en-US" baseline="0" noProof="0" dirty="0" smtClean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en-US" baseline="0" noProof="0" dirty="0" smtClean="0"/>
              <a:t>Recall that recursion and dynamic arrays were only added to Fortran 90, around 30 years later.</a:t>
            </a:r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3516195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A264A53-554A-4A93-A889-FFE7D1135E55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BNF is Backus-Naur Form, which is a notation</a:t>
            </a:r>
            <a:r>
              <a:rPr lang="en-ZA" altLang="en-US" baseline="0" noProof="0" dirty="0" smtClean="0"/>
              <a:t> for describing a programming language’s syntax. You will learn more about this in the compiler construction module.</a:t>
            </a:r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4233491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BC54E707-12E6-4DD4-8EE4-B174F17DF45B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391107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1E4DA5A8-033D-4C11-9BAE-38634FF50501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249615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491A6132-CAEF-4ACE-89A8-A6929CBD1942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100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B284260-2A07-47D9-957A-3EA7DE8B99B1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Macros in COBOL are similar to inline functions in C and C++.</a:t>
            </a:r>
          </a:p>
          <a:p>
            <a:pPr eaLnBrk="1" hangingPunct="1"/>
            <a:endParaRPr lang="en-ZA" altLang="en-US" noProof="0" dirty="0" smtClean="0"/>
          </a:p>
          <a:p>
            <a:pPr eaLnBrk="1" hangingPunct="1"/>
            <a:r>
              <a:rPr lang="en-ZA" altLang="en-US" noProof="0" dirty="0" smtClean="0"/>
              <a:t>Arithmetic in COBOL looks like this:</a:t>
            </a:r>
          </a:p>
          <a:p>
            <a:pPr eaLnBrk="1" hangingPunct="1"/>
            <a:endParaRPr lang="en-ZA" altLang="en-US" noProof="0" dirty="0" smtClean="0"/>
          </a:p>
          <a:p>
            <a:pPr eaLnBrk="1" hangingPunct="1"/>
            <a:r>
              <a:rPr lang="en-ZA" dirty="0" smtClean="0">
                <a:effectLst/>
              </a:rPr>
              <a:t>ADD </a:t>
            </a:r>
            <a:r>
              <a:rPr lang="en-ZA" dirty="0" smtClean="0"/>
              <a:t>REGULAR-PAY TO OVERTIME-PAY GIVING GROSS-PAY</a:t>
            </a:r>
          </a:p>
          <a:p>
            <a:pPr eaLnBrk="1" hangingPunct="1"/>
            <a:endParaRPr lang="en-ZA" altLang="en-US" noProof="0" dirty="0" smtClean="0"/>
          </a:p>
          <a:p>
            <a:pPr eaLnBrk="1" hangingPunct="1"/>
            <a:r>
              <a:rPr lang="en-ZA" altLang="en-US" noProof="0" dirty="0" smtClean="0"/>
              <a:t>What influence does this type of arithmetic syntax have on the programming language evaluation criteria?</a:t>
            </a:r>
          </a:p>
        </p:txBody>
      </p:sp>
    </p:spTree>
    <p:extLst>
      <p:ext uri="{BB962C8B-B14F-4D97-AF65-F5344CB8AC3E}">
        <p14:creationId xmlns:p14="http://schemas.microsoft.com/office/powerpoint/2010/main" val="1736844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5F977E79-A5C2-4E0F-9BC9-1DC931AD1460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Time sharing is</a:t>
            </a:r>
            <a:r>
              <a:rPr lang="en-ZA" altLang="en-US" baseline="0" noProof="0" dirty="0" smtClean="0"/>
              <a:t> a method of computing where a central processor switches rapidly between multiple terminals, giving the illusion of each of the users of the terminals working in real-time.</a:t>
            </a:r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1912485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BB1F2AEE-62C3-4CB3-A92E-995F86F56860}" type="slidenum">
              <a:rPr lang="en-US" altLang="en-US" sz="1200" smtClean="0"/>
              <a:pPr/>
              <a:t>15</a:t>
            </a:fld>
            <a:endParaRPr lang="en-US" altLang="en-US" sz="1200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692118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CA43C04-336D-46E3-99E0-C8FB3915E8A4}" type="slidenum">
              <a:rPr lang="en-US" altLang="en-US" sz="1200" smtClean="0"/>
              <a:pPr/>
              <a:t>16</a:t>
            </a:fld>
            <a:endParaRPr lang="en-US" altLang="en-US" sz="1200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551471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76AB8BD3-73DB-4EE7-B20D-2143AC7EA918}" type="slidenum">
              <a:rPr lang="en-US" altLang="en-US" sz="1200" smtClean="0"/>
              <a:pPr/>
              <a:t>17</a:t>
            </a:fld>
            <a:endParaRPr lang="en-US" altLang="en-US" sz="1200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654254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AA927CB-55D6-47EB-A17C-E788073071DD}" type="slidenum">
              <a:rPr lang="en-US" altLang="en-US" sz="1200" smtClean="0"/>
              <a:pPr/>
              <a:t>18</a:t>
            </a:fld>
            <a:endParaRPr lang="en-US" altLang="en-US" sz="1200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163739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D389DC6F-00A2-4183-9062-680445CD445B}" type="slidenum">
              <a:rPr lang="en-US" altLang="en-US" sz="1200" smtClean="0"/>
              <a:pPr/>
              <a:t>19</a:t>
            </a:fld>
            <a:endParaRPr lang="en-US" altLang="en-US" sz="1200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4483516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DF5DEDBD-633F-4D40-AB18-1A83E276B967}" type="slidenum">
              <a:rPr lang="en-US" altLang="en-US" sz="1200" smtClean="0"/>
              <a:pPr/>
              <a:t>20</a:t>
            </a:fld>
            <a:endParaRPr lang="en-US" altLang="en-US" sz="1200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603587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FEA679A7-2E40-4971-9BCC-4E60D4FB94C5}" type="slidenum">
              <a:rPr lang="en-US" altLang="en-US" sz="1200" smtClean="0"/>
              <a:pPr/>
              <a:t>22</a:t>
            </a:fld>
            <a:endParaRPr lang="en-US" altLang="en-US" sz="1200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138911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448550" y="6583363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defRPr/>
            </a:pPr>
            <a:endParaRPr lang="en-US" altLang="en-US" sz="1200" smtClean="0">
              <a:latin typeface="Courier" pitchFamily="49" charset="0"/>
            </a:endParaRPr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99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06F266C7-773D-4E38-B0C4-0D28F64192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9438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27AD4F1-BEA6-4F49-ACF1-B0958015A3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37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C4287CD5-84EB-44C6-9F1A-C082FECC80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33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1BBFDD07-6A32-42FE-8119-7B3213BD84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40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0D8D79F-3E80-47CE-A602-2B458FB5F6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372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E71443BC-02B8-4462-90C2-32D7E4229D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925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AEC01063-189D-4A54-B45B-FAEB91C586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00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7C85C37B-61DF-4B8B-A03B-5DB53DD07A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637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62E37D0E-3BD2-41D6-9104-5AEBC7B8BB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457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D60B7CF2-261F-4164-AC0C-FE12D16087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65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BE9E300F-1054-40DF-8DF2-025EF9D4B8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93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035295AF-A5E9-49E8-B2AC-CD10FBBF3B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3333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33339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33339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Chapter 2</a:t>
            </a:r>
            <a:br>
              <a:rPr lang="en-US" altLang="en-US" dirty="0" smtClean="0"/>
            </a:br>
            <a:r>
              <a:rPr lang="en-US" altLang="en-US" sz="2800" dirty="0" smtClean="0"/>
              <a:t>Part 2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Evolution of the Major Programming Languages</a:t>
            </a:r>
          </a:p>
          <a:p>
            <a:pPr eaLnBrk="1" hangingPunct="1"/>
            <a:endParaRPr lang="en-US" altLang="en-US" smtClean="0"/>
          </a:p>
        </p:txBody>
      </p:sp>
      <p:pic>
        <p:nvPicPr>
          <p:cNvPr id="5" name="Picture 8" descr="Front Cover: Concepts of Programming Languages, Global Edition, by Robert W Sebesta&#10;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0"/>
            <a:ext cx="4724400" cy="586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EDF32F6-57B3-47BF-BB6D-C89F43558C9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2 Topics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en-US" sz="2400" dirty="0" smtClean="0"/>
              <a:t>The First Step Toward Sophistication: ALGOL 60</a:t>
            </a:r>
          </a:p>
          <a:p>
            <a:pPr marL="533400" indent="-533400" eaLnBrk="1" hangingPunct="1"/>
            <a:r>
              <a:rPr lang="en-US" altLang="en-US" sz="2400" dirty="0" smtClean="0"/>
              <a:t>Computerizing Business Records: COBOL</a:t>
            </a:r>
          </a:p>
          <a:p>
            <a:pPr marL="533400" indent="-533400" eaLnBrk="1" hangingPunct="1"/>
            <a:r>
              <a:rPr lang="en-US" altLang="en-US" sz="2400" dirty="0" smtClean="0"/>
              <a:t>The Beginnings of Timesharing: BASIC</a:t>
            </a:r>
          </a:p>
          <a:p>
            <a:pPr marL="533400" indent="-533400" eaLnBrk="1" hangingPunct="1"/>
            <a:r>
              <a:rPr lang="en-US" altLang="en-US" sz="2400" dirty="0"/>
              <a:t>Everything for Everybody: PL/I</a:t>
            </a:r>
          </a:p>
          <a:p>
            <a:pPr marL="533400" indent="-533400" eaLnBrk="1" hangingPunct="1"/>
            <a:r>
              <a:rPr lang="en-US" altLang="en-US" sz="2400" dirty="0" smtClean="0"/>
              <a:t>An </a:t>
            </a:r>
            <a:r>
              <a:rPr lang="en-US" altLang="en-US" sz="2400" dirty="0"/>
              <a:t>Early Dynamic </a:t>
            </a:r>
            <a:r>
              <a:rPr lang="en-US" altLang="en-US" sz="2400" dirty="0" smtClean="0"/>
              <a:t>Language: APL</a:t>
            </a:r>
          </a:p>
          <a:p>
            <a:pPr marL="533400" indent="-533400" eaLnBrk="1" hangingPunct="1"/>
            <a:r>
              <a:rPr lang="en-US" altLang="en-US" sz="2400" dirty="0"/>
              <a:t>The Beginnings of Data Abstraction: SIMULA </a:t>
            </a:r>
            <a:r>
              <a:rPr lang="en-US" altLang="en-US" sz="2400" dirty="0" smtClean="0"/>
              <a:t>67</a:t>
            </a:r>
          </a:p>
          <a:p>
            <a:pPr marL="533400" indent="-533400" eaLnBrk="1" hangingPunct="1">
              <a:buFontTx/>
              <a:buNone/>
            </a:pPr>
            <a:endParaRPr lang="en-US" altLang="en-US" sz="2400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Genealogy of Common Languages</a:t>
            </a:r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1-</a:t>
            </a:r>
            <a:fld id="{E71443BC-02B8-4462-90C2-32D7E4229D9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" r="18565" b="36552"/>
          <a:stretch>
            <a:fillRect/>
          </a:stretch>
        </p:blipFill>
        <p:spPr bwMode="auto">
          <a:xfrm>
            <a:off x="2017713" y="1371600"/>
            <a:ext cx="4992687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4" name="Straight Connector 43"/>
          <p:cNvCxnSpPr/>
          <p:nvPr/>
        </p:nvCxnSpPr>
        <p:spPr bwMode="auto">
          <a:xfrm>
            <a:off x="3253740" y="1588770"/>
            <a:ext cx="35814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3227070" y="1733550"/>
            <a:ext cx="35814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3550920" y="2320290"/>
            <a:ext cx="41148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>
            <a:off x="4137660" y="1760220"/>
            <a:ext cx="28575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>
            <a:off x="4027170" y="2095500"/>
            <a:ext cx="259080" cy="381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4572000" y="2103120"/>
            <a:ext cx="182880" cy="381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>
            <a:off x="3783330" y="1752600"/>
            <a:ext cx="182880" cy="381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1150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0927A67E-EA3F-4786-8F99-14356CC10B5C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The First Step Toward Sophistication: ALGOL 60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Environment of development</a:t>
            </a:r>
          </a:p>
          <a:p>
            <a:pPr lvl="1" eaLnBrk="1" hangingPunct="1"/>
            <a:r>
              <a:rPr lang="en-US" altLang="en-US" dirty="0" smtClean="0"/>
              <a:t>FORTRAN had (barely) arrived for IBM 70x</a:t>
            </a:r>
          </a:p>
          <a:p>
            <a:pPr lvl="1" eaLnBrk="1" hangingPunct="1"/>
            <a:r>
              <a:rPr lang="en-US" altLang="en-US" dirty="0" smtClean="0"/>
              <a:t>Many other languages were being developed</a:t>
            </a:r>
          </a:p>
          <a:p>
            <a:pPr lvl="2" eaLnBrk="1" hangingPunct="1"/>
            <a:r>
              <a:rPr lang="en-US" altLang="en-US" dirty="0" smtClean="0"/>
              <a:t>All for specific machines</a:t>
            </a:r>
          </a:p>
          <a:p>
            <a:pPr lvl="2" eaLnBrk="1" hangingPunct="1"/>
            <a:r>
              <a:rPr lang="en-US" altLang="en-US" dirty="0" smtClean="0"/>
              <a:t>No portable language</a:t>
            </a:r>
          </a:p>
          <a:p>
            <a:pPr lvl="1" eaLnBrk="1" hangingPunct="1"/>
            <a:r>
              <a:rPr lang="en-US" altLang="en-US" dirty="0" smtClean="0"/>
              <a:t>No universal way to communicate algorithms</a:t>
            </a:r>
          </a:p>
          <a:p>
            <a:pPr eaLnBrk="1" hangingPunct="1"/>
            <a:r>
              <a:rPr lang="en-US" altLang="en-US" dirty="0" smtClean="0"/>
              <a:t>An effort to design a universal language</a:t>
            </a:r>
          </a:p>
          <a:p>
            <a:pPr lvl="1" eaLnBrk="1" hangingPunct="1"/>
            <a:r>
              <a:rPr lang="en-US" altLang="en-US" dirty="0" smtClean="0"/>
              <a:t>Universal in terms of machine independence</a:t>
            </a:r>
          </a:p>
          <a:p>
            <a:pPr lvl="1" eaLnBrk="1" hangingPunct="1"/>
            <a:r>
              <a:rPr lang="en-US" altLang="en-US" dirty="0" smtClean="0"/>
              <a:t>ALGOL 60 was still a scientific language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CB34DB9-F8EB-4436-B7DB-7877FADE578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Early Design Process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ACM and GAMM met for four days for design (May 27 to June 1, 1958)</a:t>
            </a:r>
          </a:p>
          <a:p>
            <a:pPr eaLnBrk="1" hangingPunct="1"/>
            <a:r>
              <a:rPr lang="en-US" altLang="en-US" u="sng" smtClean="0"/>
              <a:t>I</a:t>
            </a:r>
            <a:r>
              <a:rPr lang="en-US" altLang="en-US" smtClean="0"/>
              <a:t>nternational </a:t>
            </a:r>
            <a:r>
              <a:rPr lang="en-US" altLang="en-US" u="sng" smtClean="0"/>
              <a:t>A</a:t>
            </a:r>
            <a:r>
              <a:rPr lang="en-US" altLang="en-US" smtClean="0"/>
              <a:t>lgorithmic </a:t>
            </a:r>
            <a:r>
              <a:rPr lang="en-US" altLang="en-US" u="sng" smtClean="0"/>
              <a:t>L</a:t>
            </a:r>
            <a:r>
              <a:rPr lang="en-US" altLang="en-US" smtClean="0"/>
              <a:t>anguage (IAL), then renamed </a:t>
            </a:r>
            <a:r>
              <a:rPr lang="en-US" altLang="en-US" u="sng" smtClean="0"/>
              <a:t>ALGO</a:t>
            </a:r>
            <a:r>
              <a:rPr lang="en-US" altLang="en-US" smtClean="0"/>
              <a:t>rithmic </a:t>
            </a:r>
            <a:r>
              <a:rPr lang="en-US" altLang="en-US" u="sng" smtClean="0"/>
              <a:t>L</a:t>
            </a:r>
            <a:r>
              <a:rPr lang="en-US" altLang="en-US" smtClean="0"/>
              <a:t>anguage</a:t>
            </a:r>
          </a:p>
          <a:p>
            <a:pPr eaLnBrk="1" hangingPunct="1"/>
            <a:r>
              <a:rPr lang="en-US" altLang="en-US" smtClean="0"/>
              <a:t>Goals of the language</a:t>
            </a:r>
          </a:p>
          <a:p>
            <a:pPr lvl="1" eaLnBrk="1" hangingPunct="1"/>
            <a:r>
              <a:rPr lang="en-US" altLang="en-US" smtClean="0"/>
              <a:t>Close to mathematical notation</a:t>
            </a:r>
          </a:p>
          <a:p>
            <a:pPr lvl="1" eaLnBrk="1" hangingPunct="1"/>
            <a:r>
              <a:rPr lang="en-US" altLang="en-US" smtClean="0"/>
              <a:t>Good for describing algorithms</a:t>
            </a:r>
          </a:p>
          <a:p>
            <a:pPr lvl="1" eaLnBrk="1" hangingPunct="1"/>
            <a:r>
              <a:rPr lang="en-US" altLang="en-US" smtClean="0"/>
              <a:t>Must be translatable to machine code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0BFA956F-0E7E-4A59-AF40-E88E45609665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ALGOL 58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543800" cy="50292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Design of ALGOL 58</a:t>
            </a:r>
          </a:p>
          <a:p>
            <a:pPr lvl="1" eaLnBrk="1" hangingPunct="1"/>
            <a:r>
              <a:rPr lang="en-US" altLang="en-US" sz="2000" dirty="0" smtClean="0"/>
              <a:t>Concept of type was formalized</a:t>
            </a:r>
          </a:p>
          <a:p>
            <a:pPr lvl="1" eaLnBrk="1" hangingPunct="1"/>
            <a:r>
              <a:rPr lang="en-US" altLang="en-US" sz="2000" dirty="0" smtClean="0"/>
              <a:t>Names could be any length</a:t>
            </a:r>
          </a:p>
          <a:p>
            <a:pPr lvl="1" eaLnBrk="1" hangingPunct="1"/>
            <a:r>
              <a:rPr lang="en-US" altLang="en-US" sz="2000" dirty="0" smtClean="0"/>
              <a:t>Arrays</a:t>
            </a:r>
          </a:p>
          <a:p>
            <a:pPr lvl="2" eaLnBrk="1" hangingPunct="1"/>
            <a:r>
              <a:rPr lang="en-US" altLang="en-US" sz="1700" dirty="0" smtClean="0"/>
              <a:t>Could </a:t>
            </a:r>
            <a:r>
              <a:rPr lang="en-US" altLang="en-US" sz="1700" dirty="0" smtClean="0"/>
              <a:t>have any number of </a:t>
            </a:r>
            <a:r>
              <a:rPr lang="en-US" altLang="en-US" sz="1700" dirty="0" smtClean="0"/>
              <a:t>subscripts</a:t>
            </a:r>
          </a:p>
          <a:p>
            <a:pPr lvl="2" eaLnBrk="1" hangingPunct="1"/>
            <a:r>
              <a:rPr lang="en-US" altLang="en-US" sz="1800" dirty="0"/>
              <a:t>Subscripts were placed in </a:t>
            </a:r>
            <a:r>
              <a:rPr lang="en-US" altLang="en-US" sz="1800" dirty="0" smtClean="0"/>
              <a:t>brackets</a:t>
            </a:r>
          </a:p>
          <a:p>
            <a:pPr lvl="2" eaLnBrk="1" hangingPunct="1"/>
            <a:r>
              <a:rPr lang="en-US" altLang="en-US" sz="1800" dirty="0"/>
              <a:t>L</a:t>
            </a:r>
            <a:r>
              <a:rPr lang="en-US" altLang="en-US" sz="1800" dirty="0" smtClean="0"/>
              <a:t>ower </a:t>
            </a:r>
            <a:r>
              <a:rPr lang="en-US" altLang="en-US" sz="1800" dirty="0"/>
              <a:t>bound could be specified by the programmer</a:t>
            </a:r>
            <a:endParaRPr lang="en-US" altLang="en-US" sz="1700" dirty="0" smtClean="0"/>
          </a:p>
          <a:p>
            <a:pPr lvl="1" eaLnBrk="1" hangingPunct="1"/>
            <a:r>
              <a:rPr lang="en-US" altLang="en-US" sz="2000" dirty="0" smtClean="0"/>
              <a:t>Parameters were separated by mode (in &amp; out</a:t>
            </a:r>
            <a:r>
              <a:rPr lang="en-US" altLang="en-US" sz="2000" dirty="0" smtClean="0"/>
              <a:t>)</a:t>
            </a:r>
            <a:endParaRPr lang="en-US" altLang="en-US" sz="2000" dirty="0" smtClean="0"/>
          </a:p>
          <a:p>
            <a:pPr lvl="1" eaLnBrk="1" hangingPunct="1"/>
            <a:r>
              <a:rPr lang="en-US" altLang="en-US" sz="2000" dirty="0" smtClean="0"/>
              <a:t>Compound statements (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begin ... end</a:t>
            </a:r>
            <a:r>
              <a:rPr lang="en-US" altLang="en-US" sz="2000" dirty="0" smtClean="0"/>
              <a:t>)</a:t>
            </a:r>
          </a:p>
          <a:p>
            <a:pPr lvl="1" eaLnBrk="1" hangingPunct="1"/>
            <a:r>
              <a:rPr lang="en-US" altLang="en-US" sz="2000" dirty="0" smtClean="0"/>
              <a:t>Semicolon as a statement separator</a:t>
            </a:r>
          </a:p>
          <a:p>
            <a:pPr lvl="1" eaLnBrk="1" hangingPunct="1"/>
            <a:r>
              <a:rPr lang="en-US" altLang="en-US" sz="2000" dirty="0" smtClean="0"/>
              <a:t>Assignment operator was := (evolved from &lt;=)</a:t>
            </a:r>
          </a:p>
          <a:p>
            <a:pPr lvl="1" eaLnBrk="1" hangingPunct="1"/>
            <a:r>
              <a:rPr lang="en-US" altLang="en-US" sz="2000" dirty="0" smtClean="0"/>
              <a:t>The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000" dirty="0" smtClean="0"/>
              <a:t> had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else-if</a:t>
            </a:r>
            <a:r>
              <a:rPr lang="en-US" altLang="en-US" sz="2000" dirty="0" smtClean="0"/>
              <a:t> clause, </a:t>
            </a:r>
            <a:r>
              <a:rPr lang="en-US" altLang="en-US" sz="2000" dirty="0" smtClean="0"/>
              <a:t>and could </a:t>
            </a:r>
            <a:r>
              <a:rPr lang="en-US" altLang="en-US" sz="2000" dirty="0" smtClean="0"/>
              <a:t>be nested</a:t>
            </a:r>
          </a:p>
          <a:p>
            <a:pPr lvl="1" eaLnBrk="1" hangingPunct="1"/>
            <a:r>
              <a:rPr lang="en-US" altLang="en-US" sz="2000" dirty="0" smtClean="0"/>
              <a:t>No I/O - “would make it machine dependent”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B2125C90-84DF-4B49-9F8E-DC31EC596EF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ALGOL 58 Implementation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Not meant to be implemented</a:t>
            </a:r>
          </a:p>
          <a:p>
            <a:pPr eaLnBrk="1" hangingPunct="1"/>
            <a:r>
              <a:rPr lang="en-US" altLang="en-US" dirty="0" smtClean="0"/>
              <a:t>IBM</a:t>
            </a:r>
          </a:p>
          <a:p>
            <a:pPr lvl="1" eaLnBrk="1" hangingPunct="1"/>
            <a:r>
              <a:rPr lang="en-US" altLang="en-US" dirty="0"/>
              <a:t>I</a:t>
            </a:r>
            <a:r>
              <a:rPr lang="en-US" altLang="en-US" dirty="0" smtClean="0"/>
              <a:t>nitially enthusiastic</a:t>
            </a:r>
          </a:p>
          <a:p>
            <a:pPr lvl="1" eaLnBrk="1" hangingPunct="1"/>
            <a:r>
              <a:rPr lang="en-US" altLang="en-US" dirty="0" smtClean="0"/>
              <a:t>But all support was dropped by mid 1959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464CE75-256D-4DC2-8899-DE53AD6ED67E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ALGOL 60 Overview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Modified ALGOL 58 at 6-day Paris meeting</a:t>
            </a:r>
          </a:p>
          <a:p>
            <a:pPr eaLnBrk="1" hangingPunct="1"/>
            <a:r>
              <a:rPr lang="en-US" altLang="en-US" dirty="0" smtClean="0"/>
              <a:t>New features</a:t>
            </a:r>
          </a:p>
          <a:p>
            <a:pPr lvl="1" eaLnBrk="1" hangingPunct="1"/>
            <a:r>
              <a:rPr lang="en-US" altLang="en-US" dirty="0" smtClean="0"/>
              <a:t>Block structure with local scope</a:t>
            </a:r>
          </a:p>
          <a:p>
            <a:pPr lvl="1" eaLnBrk="1" hangingPunct="1"/>
            <a:r>
              <a:rPr lang="en-US" altLang="en-US" dirty="0" smtClean="0"/>
              <a:t>Complex parameter passing methods</a:t>
            </a:r>
          </a:p>
          <a:p>
            <a:pPr lvl="2" eaLnBrk="1" hangingPunct="1"/>
            <a:r>
              <a:rPr lang="en-US" altLang="en-US" dirty="0" smtClean="0"/>
              <a:t>Pass by value and pass by name</a:t>
            </a:r>
          </a:p>
          <a:p>
            <a:pPr lvl="1" eaLnBrk="1" hangingPunct="1"/>
            <a:r>
              <a:rPr lang="en-US" altLang="en-US" dirty="0" smtClean="0"/>
              <a:t>Subprogram recursion</a:t>
            </a:r>
          </a:p>
          <a:p>
            <a:pPr lvl="2" eaLnBrk="1" hangingPunct="1"/>
            <a:r>
              <a:rPr lang="en-US" altLang="en-US" dirty="0"/>
              <a:t>F</a:t>
            </a:r>
            <a:r>
              <a:rPr lang="en-US" altLang="en-US" dirty="0" smtClean="0"/>
              <a:t>irst to introduce this for imperative languages</a:t>
            </a:r>
          </a:p>
          <a:p>
            <a:pPr lvl="1" eaLnBrk="1" hangingPunct="1"/>
            <a:r>
              <a:rPr lang="en-US" altLang="en-US" dirty="0" smtClean="0"/>
              <a:t>Stack-dynamic arrays</a:t>
            </a:r>
          </a:p>
          <a:p>
            <a:pPr lvl="2" eaLnBrk="1" hangingPunct="1"/>
            <a:r>
              <a:rPr lang="en-US" altLang="en-US" dirty="0"/>
              <a:t>A</a:t>
            </a:r>
            <a:r>
              <a:rPr lang="en-US" altLang="en-US" dirty="0" smtClean="0"/>
              <a:t>llowed run-time size declaration of arrays</a:t>
            </a:r>
          </a:p>
          <a:p>
            <a:pPr eaLnBrk="1" hangingPunct="1"/>
            <a:r>
              <a:rPr lang="en-US" altLang="en-US" dirty="0" smtClean="0"/>
              <a:t>BUT still no I/O and no string handling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0E5F5EE8-5DB0-4A4E-A041-17AE540B628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ALGOL 60 Evaluation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Successes</a:t>
            </a:r>
          </a:p>
          <a:p>
            <a:pPr lvl="1" eaLnBrk="1" hangingPunct="1"/>
            <a:r>
              <a:rPr lang="en-US" altLang="en-US" dirty="0" smtClean="0"/>
              <a:t>Algorithm publishing standard for over 20 years</a:t>
            </a:r>
          </a:p>
          <a:p>
            <a:pPr lvl="1" eaLnBrk="1" hangingPunct="1"/>
            <a:r>
              <a:rPr lang="en-US" altLang="en-US" dirty="0" smtClean="0"/>
              <a:t>Basis for all subsequent imperative languages</a:t>
            </a:r>
          </a:p>
          <a:p>
            <a:pPr lvl="1" eaLnBrk="1" hangingPunct="1"/>
            <a:r>
              <a:rPr lang="en-US" altLang="en-US" dirty="0" smtClean="0"/>
              <a:t>First machine-independent language</a:t>
            </a:r>
          </a:p>
          <a:p>
            <a:pPr lvl="1" eaLnBrk="1" hangingPunct="1"/>
            <a:r>
              <a:rPr lang="en-US" altLang="en-US" dirty="0" smtClean="0"/>
              <a:t>First language with formally defined syntax (BNF)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BAF12A2-E26A-41EB-96EC-491D32B8092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ALGOL 60 Evaluation (continued)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Failure</a:t>
            </a:r>
          </a:p>
          <a:p>
            <a:pPr lvl="1" eaLnBrk="1" hangingPunct="1"/>
            <a:r>
              <a:rPr lang="en-US" altLang="en-US" dirty="0" smtClean="0"/>
              <a:t>Never widely used, especially in U.S.</a:t>
            </a:r>
          </a:p>
          <a:p>
            <a:pPr lvl="1" eaLnBrk="1" hangingPunct="1"/>
            <a:r>
              <a:rPr lang="en-US" altLang="en-US" dirty="0" smtClean="0"/>
              <a:t>Reasons</a:t>
            </a:r>
          </a:p>
          <a:p>
            <a:pPr lvl="2" eaLnBrk="1" hangingPunct="1"/>
            <a:r>
              <a:rPr lang="en-US" altLang="en-US" dirty="0" smtClean="0"/>
              <a:t>Lack of </a:t>
            </a:r>
            <a:r>
              <a:rPr lang="en-US" altLang="en-US" dirty="0" smtClean="0"/>
              <a:t>I/O</a:t>
            </a:r>
            <a:endParaRPr lang="en-US" altLang="en-US" dirty="0" smtClean="0"/>
          </a:p>
          <a:p>
            <a:pPr lvl="3" eaLnBrk="1" hangingPunct="1"/>
            <a:r>
              <a:rPr lang="en-US" altLang="en-US" dirty="0" smtClean="0"/>
              <a:t>Ironically made programs non-portable</a:t>
            </a:r>
          </a:p>
          <a:p>
            <a:pPr lvl="2" eaLnBrk="1" hangingPunct="1"/>
            <a:r>
              <a:rPr lang="en-US" altLang="en-US" dirty="0" smtClean="0"/>
              <a:t>Too flexible</a:t>
            </a:r>
          </a:p>
          <a:p>
            <a:pPr lvl="3" eaLnBrk="1" hangingPunct="1"/>
            <a:r>
              <a:rPr lang="en-US" altLang="en-US" dirty="0"/>
              <a:t>H</a:t>
            </a:r>
            <a:r>
              <a:rPr lang="en-US" altLang="en-US" dirty="0" smtClean="0"/>
              <a:t>ard to understand and implement</a:t>
            </a:r>
          </a:p>
          <a:p>
            <a:pPr lvl="2" eaLnBrk="1" hangingPunct="1"/>
            <a:r>
              <a:rPr lang="en-US" altLang="en-US" dirty="0" smtClean="0"/>
              <a:t>Formal syntax description</a:t>
            </a:r>
          </a:p>
          <a:p>
            <a:pPr lvl="3" eaLnBrk="1" hangingPunct="1"/>
            <a:r>
              <a:rPr lang="en-US" altLang="en-US" dirty="0" smtClean="0"/>
              <a:t>Confusing at the time</a:t>
            </a:r>
          </a:p>
          <a:p>
            <a:pPr lvl="3" eaLnBrk="1" hangingPunct="1"/>
            <a:r>
              <a:rPr lang="en-US" altLang="en-US" dirty="0" smtClean="0"/>
              <a:t>Now BNF is a standard, and widely understood</a:t>
            </a:r>
          </a:p>
          <a:p>
            <a:pPr lvl="2" eaLnBrk="1" hangingPunct="1"/>
            <a:r>
              <a:rPr lang="en-US" altLang="en-US" dirty="0" smtClean="0"/>
              <a:t>Entrenchment of Fortran and lack of IBM support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5350BA0-A0F4-44BC-B504-C33F93E7ADCA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Computerizing Business Records: COBOL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First </a:t>
            </a:r>
            <a:r>
              <a:rPr lang="en-US" altLang="en-US" u="sng" dirty="0" smtClean="0"/>
              <a:t>C</a:t>
            </a:r>
            <a:r>
              <a:rPr lang="en-US" altLang="en-US" dirty="0" smtClean="0"/>
              <a:t>ommon </a:t>
            </a:r>
            <a:r>
              <a:rPr lang="en-US" altLang="en-US" u="sng" dirty="0" smtClean="0"/>
              <a:t>B</a:t>
            </a:r>
            <a:r>
              <a:rPr lang="en-US" altLang="en-US" dirty="0" smtClean="0"/>
              <a:t>usiness </a:t>
            </a:r>
            <a:r>
              <a:rPr lang="en-US" altLang="en-US" u="sng" dirty="0" smtClean="0"/>
              <a:t>L</a:t>
            </a:r>
            <a:r>
              <a:rPr lang="en-US" altLang="en-US" dirty="0" smtClean="0"/>
              <a:t>anguage (CBL), then </a:t>
            </a:r>
            <a:r>
              <a:rPr lang="en-US" altLang="en-US" u="sng" dirty="0" err="1" smtClean="0"/>
              <a:t>CO</a:t>
            </a:r>
            <a:r>
              <a:rPr lang="en-US" altLang="en-US" dirty="0" err="1" smtClean="0"/>
              <a:t>mmon</a:t>
            </a:r>
            <a:r>
              <a:rPr lang="en-US" altLang="en-US" dirty="0" smtClean="0"/>
              <a:t> </a:t>
            </a:r>
            <a:r>
              <a:rPr lang="en-US" altLang="en-US" u="sng" dirty="0" smtClean="0"/>
              <a:t>B</a:t>
            </a:r>
            <a:r>
              <a:rPr lang="en-US" altLang="en-US" dirty="0" smtClean="0"/>
              <a:t>usiness-</a:t>
            </a:r>
            <a:r>
              <a:rPr lang="en-US" altLang="en-US" u="sng" dirty="0" smtClean="0"/>
              <a:t>O</a:t>
            </a:r>
            <a:r>
              <a:rPr lang="en-US" altLang="en-US" dirty="0" smtClean="0"/>
              <a:t>riented </a:t>
            </a:r>
            <a:r>
              <a:rPr lang="en-US" altLang="en-US" u="sng" dirty="0" smtClean="0"/>
              <a:t>L</a:t>
            </a:r>
            <a:r>
              <a:rPr lang="en-US" altLang="en-US" dirty="0" smtClean="0"/>
              <a:t>anguage</a:t>
            </a:r>
          </a:p>
          <a:p>
            <a:pPr eaLnBrk="1" hangingPunct="1"/>
            <a:r>
              <a:rPr lang="en-US" altLang="en-US" dirty="0" smtClean="0"/>
              <a:t>Environment of development</a:t>
            </a:r>
          </a:p>
          <a:p>
            <a:pPr lvl="1" eaLnBrk="1" hangingPunct="1"/>
            <a:r>
              <a:rPr lang="en-US" altLang="en-US" dirty="0" smtClean="0"/>
              <a:t>Only a few proprietary business languages</a:t>
            </a:r>
          </a:p>
          <a:p>
            <a:pPr lvl="2" eaLnBrk="1" hangingPunct="1"/>
            <a:r>
              <a:rPr lang="en-US" altLang="en-US" dirty="0" smtClean="0"/>
              <a:t>UNIVAC was beginning to use FLOW-MATIC</a:t>
            </a:r>
          </a:p>
          <a:p>
            <a:pPr lvl="2" eaLnBrk="1" hangingPunct="1"/>
            <a:r>
              <a:rPr lang="en-US" altLang="en-US" dirty="0" smtClean="0"/>
              <a:t>USAF was beginning to use AIMACO</a:t>
            </a:r>
          </a:p>
          <a:p>
            <a:pPr lvl="2" eaLnBrk="1" hangingPunct="1"/>
            <a:r>
              <a:rPr lang="en-US" altLang="en-US" dirty="0" smtClean="0"/>
              <a:t>IBM was developing COMTRAN</a:t>
            </a:r>
          </a:p>
          <a:p>
            <a:pPr lvl="1" eaLnBrk="1" hangingPunct="1"/>
            <a:r>
              <a:rPr lang="en-US" altLang="en-US" dirty="0" smtClean="0"/>
              <a:t>COBOL was based on FLOW-MATIC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41E573E-BD13-4BC5-BE07-6B4E22F2741E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COBOL Design Process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First Design Meeting (Pentagon) in May 1959</a:t>
            </a:r>
          </a:p>
          <a:p>
            <a:pPr eaLnBrk="1" hangingPunct="1"/>
            <a:r>
              <a:rPr lang="en-US" altLang="en-US" sz="2400" dirty="0" smtClean="0"/>
              <a:t>Design goals</a:t>
            </a:r>
          </a:p>
          <a:p>
            <a:pPr lvl="1" eaLnBrk="1" hangingPunct="1"/>
            <a:r>
              <a:rPr lang="en-US" altLang="en-US" sz="2000" dirty="0" smtClean="0"/>
              <a:t>Must look like simple English</a:t>
            </a:r>
          </a:p>
          <a:p>
            <a:pPr lvl="1" eaLnBrk="1" hangingPunct="1"/>
            <a:r>
              <a:rPr lang="en-US" altLang="en-US" sz="2000" dirty="0" smtClean="0"/>
              <a:t>Must be easy to use, even if that means less power</a:t>
            </a:r>
          </a:p>
          <a:p>
            <a:pPr lvl="1" eaLnBrk="1" hangingPunct="1"/>
            <a:r>
              <a:rPr lang="en-US" altLang="en-US" sz="2000" dirty="0" smtClean="0"/>
              <a:t>Must broaden the base of computer users</a:t>
            </a:r>
          </a:p>
          <a:p>
            <a:pPr lvl="1" eaLnBrk="1" hangingPunct="1"/>
            <a:r>
              <a:rPr lang="en-US" altLang="en-US" sz="2000" dirty="0" smtClean="0"/>
              <a:t>Must not be biased by current compiler problems</a:t>
            </a:r>
          </a:p>
          <a:p>
            <a:pPr eaLnBrk="1" hangingPunct="1"/>
            <a:r>
              <a:rPr lang="en-US" altLang="en-US" sz="2400" dirty="0" smtClean="0"/>
              <a:t>Design committee members were all from computer manufacturers and DoD branches</a:t>
            </a:r>
          </a:p>
          <a:p>
            <a:pPr eaLnBrk="1" hangingPunct="1"/>
            <a:r>
              <a:rPr lang="en-US" altLang="en-US" sz="2400" dirty="0" smtClean="0"/>
              <a:t>Design problems</a:t>
            </a:r>
          </a:p>
          <a:p>
            <a:pPr lvl="1" eaLnBrk="1" hangingPunct="1"/>
            <a:r>
              <a:rPr lang="en-US" altLang="en-US" sz="2000" dirty="0" smtClean="0"/>
              <a:t>Arithmetic expressions?</a:t>
            </a:r>
          </a:p>
          <a:p>
            <a:pPr lvl="1" eaLnBrk="1" hangingPunct="1"/>
            <a:r>
              <a:rPr lang="en-US" altLang="en-US" sz="2000" dirty="0" smtClean="0"/>
              <a:t>Subscripts?</a:t>
            </a:r>
          </a:p>
          <a:p>
            <a:pPr lvl="1" eaLnBrk="1" hangingPunct="1"/>
            <a:r>
              <a:rPr lang="en-US" altLang="en-US" sz="2000" dirty="0" smtClean="0"/>
              <a:t>Fights among manufacturers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D2A68C7-6937-43BA-AA0D-4817BA853B5A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COBOL Evaluation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058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Contributions</a:t>
            </a:r>
          </a:p>
          <a:p>
            <a:pPr lvl="1" eaLnBrk="1" hangingPunct="1"/>
            <a:r>
              <a:rPr lang="en-US" altLang="en-US" dirty="0" smtClean="0"/>
              <a:t>Hierarchical data structures (records)</a:t>
            </a:r>
          </a:p>
          <a:p>
            <a:pPr lvl="1" eaLnBrk="1" hangingPunct="1"/>
            <a:r>
              <a:rPr lang="en-US" altLang="en-US" dirty="0" smtClean="0"/>
              <a:t>Nested selection statements</a:t>
            </a:r>
          </a:p>
          <a:p>
            <a:pPr lvl="1" eaLnBrk="1" hangingPunct="1"/>
            <a:r>
              <a:rPr lang="en-US" altLang="en-US" dirty="0" smtClean="0"/>
              <a:t>Long names (up to 30 characters), with hyphens</a:t>
            </a:r>
          </a:p>
          <a:p>
            <a:pPr lvl="1" eaLnBrk="1" hangingPunct="1"/>
            <a:r>
              <a:rPr lang="en-US" altLang="en-US" dirty="0" smtClean="0"/>
              <a:t>Separate and very detailed data division</a:t>
            </a:r>
          </a:p>
          <a:p>
            <a:pPr lvl="1" eaLnBrk="1" hangingPunct="1"/>
            <a:r>
              <a:rPr lang="en-US" altLang="en-US" dirty="0"/>
              <a:t>Still </a:t>
            </a:r>
            <a:r>
              <a:rPr lang="en-US" altLang="en-US" dirty="0" smtClean="0"/>
              <a:t>most used </a:t>
            </a:r>
            <a:r>
              <a:rPr lang="en-US" altLang="en-US" dirty="0"/>
              <a:t>business applications language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Drawbacks</a:t>
            </a:r>
          </a:p>
          <a:p>
            <a:pPr lvl="1" eaLnBrk="1" hangingPunct="1"/>
            <a:r>
              <a:rPr lang="en-US" altLang="en-US" dirty="0" smtClean="0"/>
              <a:t>Relatively weak procedure division</a:t>
            </a:r>
          </a:p>
          <a:p>
            <a:pPr lvl="2" eaLnBrk="1" hangingPunct="1"/>
            <a:r>
              <a:rPr lang="en-US" altLang="en-US" dirty="0" smtClean="0"/>
              <a:t>First </a:t>
            </a:r>
            <a:r>
              <a:rPr lang="en-US" altLang="en-US" dirty="0"/>
              <a:t>word in every statement was a verb</a:t>
            </a:r>
          </a:p>
          <a:p>
            <a:pPr lvl="2" eaLnBrk="1" hangingPunct="1"/>
            <a:r>
              <a:rPr lang="en-US" altLang="en-US" dirty="0" smtClean="0"/>
              <a:t>English names for arithmetic operations</a:t>
            </a:r>
          </a:p>
          <a:p>
            <a:pPr lvl="1" eaLnBrk="1" hangingPunct="1"/>
            <a:r>
              <a:rPr lang="en-US" altLang="en-US" dirty="0" smtClean="0"/>
              <a:t>Initially no subprograms with parameters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56A2E33-4FDE-404F-BDB0-53F0F027BE85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The Beginning of Timesharing: BASIC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u="sng" dirty="0" smtClean="0"/>
              <a:t>B</a:t>
            </a:r>
            <a:r>
              <a:rPr lang="en-US" altLang="en-US" sz="2400" dirty="0" smtClean="0"/>
              <a:t>eginner’s </a:t>
            </a:r>
            <a:r>
              <a:rPr lang="en-US" altLang="en-US" sz="2400" u="sng" dirty="0" smtClean="0"/>
              <a:t>A</a:t>
            </a:r>
            <a:r>
              <a:rPr lang="en-US" altLang="en-US" sz="2400" dirty="0" smtClean="0"/>
              <a:t>ll-Purpose </a:t>
            </a:r>
            <a:r>
              <a:rPr lang="en-US" altLang="en-US" sz="2400" u="sng" dirty="0" smtClean="0"/>
              <a:t>S</a:t>
            </a:r>
            <a:r>
              <a:rPr lang="en-US" altLang="en-US" sz="2400" dirty="0" smtClean="0"/>
              <a:t>ymbolic </a:t>
            </a:r>
            <a:r>
              <a:rPr lang="en-US" altLang="en-US" sz="2400" u="sng" dirty="0" smtClean="0"/>
              <a:t>I</a:t>
            </a:r>
            <a:r>
              <a:rPr lang="en-US" altLang="en-US" sz="2400" dirty="0" smtClean="0"/>
              <a:t>nstruction </a:t>
            </a:r>
            <a:r>
              <a:rPr lang="en-US" altLang="en-US" sz="2400" u="sng" dirty="0" smtClean="0"/>
              <a:t>C</a:t>
            </a:r>
            <a:r>
              <a:rPr lang="en-US" altLang="en-US" sz="2400" dirty="0" smtClean="0"/>
              <a:t>ode</a:t>
            </a:r>
          </a:p>
          <a:p>
            <a:pPr eaLnBrk="1" hangingPunct="1"/>
            <a:r>
              <a:rPr lang="en-US" altLang="en-US" sz="2400" dirty="0" smtClean="0"/>
              <a:t>Designed by </a:t>
            </a:r>
            <a:r>
              <a:rPr lang="en-US" altLang="en-US" sz="2400" dirty="0" err="1" smtClean="0"/>
              <a:t>Kemeny</a:t>
            </a:r>
            <a:r>
              <a:rPr lang="en-US" altLang="en-US" sz="2400" dirty="0" smtClean="0"/>
              <a:t> &amp; Kurtz at Dartmouth College</a:t>
            </a:r>
          </a:p>
          <a:p>
            <a:pPr eaLnBrk="1" hangingPunct="1"/>
            <a:r>
              <a:rPr lang="en-US" altLang="en-US" sz="2400" dirty="0" smtClean="0"/>
              <a:t>Design Goals:</a:t>
            </a:r>
          </a:p>
          <a:p>
            <a:pPr lvl="1" eaLnBrk="1" hangingPunct="1"/>
            <a:r>
              <a:rPr lang="en-US" altLang="en-US" sz="2000" dirty="0" smtClean="0"/>
              <a:t>Easy to learn and use for non-science students</a:t>
            </a:r>
          </a:p>
          <a:p>
            <a:pPr lvl="1" eaLnBrk="1" hangingPunct="1"/>
            <a:r>
              <a:rPr lang="en-US" altLang="en-US" sz="2000" dirty="0" smtClean="0"/>
              <a:t>Must be “pleasant and friendly”</a:t>
            </a:r>
          </a:p>
          <a:p>
            <a:pPr lvl="1" eaLnBrk="1" hangingPunct="1"/>
            <a:r>
              <a:rPr lang="en-US" altLang="en-US" sz="2000" dirty="0" smtClean="0"/>
              <a:t>Fast turnaround for homework</a:t>
            </a:r>
          </a:p>
          <a:p>
            <a:pPr lvl="1" eaLnBrk="1" hangingPunct="1"/>
            <a:r>
              <a:rPr lang="en-US" altLang="en-US" sz="2000" dirty="0" smtClean="0"/>
              <a:t>Free and private access</a:t>
            </a:r>
          </a:p>
          <a:p>
            <a:pPr lvl="1" eaLnBrk="1" hangingPunct="1"/>
            <a:r>
              <a:rPr lang="en-US" altLang="en-US" sz="2000" dirty="0" smtClean="0"/>
              <a:t>User time is more important than computer time</a:t>
            </a:r>
          </a:p>
          <a:p>
            <a:pPr eaLnBrk="1" hangingPunct="1"/>
            <a:r>
              <a:rPr lang="en-US" altLang="en-US" sz="2400" dirty="0" smtClean="0"/>
              <a:t>First widely-used language with </a:t>
            </a:r>
            <a:r>
              <a:rPr lang="en-US" altLang="en-US" sz="2400" u="sng" dirty="0" smtClean="0"/>
              <a:t>time sharing</a:t>
            </a:r>
            <a:r>
              <a:rPr lang="en-US" altLang="en-US" sz="2400" dirty="0" smtClean="0"/>
              <a:t>   </a:t>
            </a:r>
          </a:p>
          <a:p>
            <a:pPr eaLnBrk="1" hangingPunct="1"/>
            <a:r>
              <a:rPr lang="en-US" altLang="en-US" sz="2400" dirty="0" smtClean="0"/>
              <a:t>Current popular dialects</a:t>
            </a:r>
          </a:p>
          <a:p>
            <a:pPr lvl="1" eaLnBrk="1" hangingPunct="1"/>
            <a:r>
              <a:rPr lang="en-US" altLang="en-US" sz="2000" dirty="0" smtClean="0"/>
              <a:t>Visual BASIC</a:t>
            </a:r>
          </a:p>
          <a:p>
            <a:pPr lvl="1" eaLnBrk="1" hangingPunct="1"/>
            <a:r>
              <a:rPr lang="en-US" altLang="en-US" sz="2000" dirty="0" smtClean="0"/>
              <a:t>VB.NET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E39D7E1-3C1F-415F-8F7C-92C9CF81799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Everything for Everybody: PL/I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924800" cy="5029200"/>
          </a:xfrm>
        </p:spPr>
        <p:txBody>
          <a:bodyPr/>
          <a:lstStyle/>
          <a:p>
            <a:pPr eaLnBrk="1" hangingPunct="1"/>
            <a:r>
              <a:rPr lang="en-US" altLang="en-US" u="sng" dirty="0" smtClean="0"/>
              <a:t>P</a:t>
            </a:r>
            <a:r>
              <a:rPr lang="en-US" altLang="en-US" dirty="0" smtClean="0"/>
              <a:t>rogramming </a:t>
            </a:r>
            <a:r>
              <a:rPr lang="en-US" altLang="en-US" u="sng" dirty="0" smtClean="0"/>
              <a:t>L</a:t>
            </a:r>
            <a:r>
              <a:rPr lang="en-US" altLang="en-US" dirty="0" smtClean="0"/>
              <a:t>anguage </a:t>
            </a:r>
            <a:r>
              <a:rPr lang="en-US" altLang="en-US" u="sng" dirty="0" smtClean="0"/>
              <a:t>One</a:t>
            </a:r>
          </a:p>
          <a:p>
            <a:pPr eaLnBrk="1" hangingPunct="1"/>
            <a:r>
              <a:rPr lang="en-US" altLang="en-US" dirty="0" smtClean="0"/>
              <a:t>Designed by IBM and SHARE</a:t>
            </a:r>
          </a:p>
          <a:p>
            <a:pPr eaLnBrk="1" hangingPunct="1"/>
            <a:r>
              <a:rPr lang="en-US" altLang="en-US" dirty="0" smtClean="0"/>
              <a:t>Computing situation in 1964 (IBM’s view)</a:t>
            </a:r>
          </a:p>
          <a:p>
            <a:pPr lvl="1" eaLnBrk="1" hangingPunct="1"/>
            <a:r>
              <a:rPr lang="en-US" altLang="en-US" dirty="0" smtClean="0"/>
              <a:t>Scientific computing</a:t>
            </a:r>
          </a:p>
          <a:p>
            <a:pPr lvl="2" eaLnBrk="1" hangingPunct="1"/>
            <a:r>
              <a:rPr lang="en-US" altLang="en-US" dirty="0" smtClean="0"/>
              <a:t>IBM 1620 and 7090 computers</a:t>
            </a:r>
          </a:p>
          <a:p>
            <a:pPr lvl="2" eaLnBrk="1" hangingPunct="1"/>
            <a:r>
              <a:rPr lang="en-US" altLang="en-US" dirty="0" smtClean="0"/>
              <a:t>FORTRAN</a:t>
            </a:r>
          </a:p>
          <a:p>
            <a:pPr lvl="2" eaLnBrk="1" hangingPunct="1"/>
            <a:r>
              <a:rPr lang="en-US" altLang="en-US" dirty="0" smtClean="0"/>
              <a:t>SHARE user group</a:t>
            </a:r>
          </a:p>
          <a:p>
            <a:pPr lvl="1" eaLnBrk="1" hangingPunct="1"/>
            <a:r>
              <a:rPr lang="en-US" altLang="en-US" dirty="0" smtClean="0"/>
              <a:t>Business computing</a:t>
            </a:r>
          </a:p>
          <a:p>
            <a:pPr lvl="2" eaLnBrk="1" hangingPunct="1"/>
            <a:r>
              <a:rPr lang="en-US" altLang="en-US" dirty="0" smtClean="0"/>
              <a:t>IBM 1401, 7080 computers</a:t>
            </a:r>
          </a:p>
          <a:p>
            <a:pPr lvl="2" eaLnBrk="1" hangingPunct="1"/>
            <a:r>
              <a:rPr lang="en-US" altLang="en-US" dirty="0" smtClean="0"/>
              <a:t>COBOL</a:t>
            </a:r>
          </a:p>
          <a:p>
            <a:pPr lvl="2" eaLnBrk="1" hangingPunct="1"/>
            <a:r>
              <a:rPr lang="en-US" altLang="en-US" dirty="0" smtClean="0"/>
              <a:t>GUIDE user group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A8EFB8E-495F-43EC-B73C-9E986418F15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PL/I: Background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By 1963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Scientific users needing better I/O, like </a:t>
            </a:r>
            <a:r>
              <a:rPr lang="en-US" altLang="en-US" sz="2000" dirty="0" smtClean="0"/>
              <a:t>COBOL provided</a:t>
            </a: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Business users needing floating point and arrays (for MIS)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A problem was developing for organizations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smtClean="0"/>
              <a:t>Two kinds of computers, languages, and support staff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smtClean="0"/>
              <a:t>Far too costly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The obvious 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Build a new computer for both applications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smtClean="0"/>
              <a:t>IBM System/360 line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Design a new language for both applications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smtClean="0"/>
              <a:t>Added systems programming and list processing too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0CE97D8-31CD-4E30-B6EB-6DCE517EC401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PL/I: Design Process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Designed in 5 months by 3x3 Committee</a:t>
            </a:r>
          </a:p>
          <a:p>
            <a:pPr lvl="1" eaLnBrk="1" hangingPunct="1"/>
            <a:r>
              <a:rPr lang="en-US" altLang="en-US" smtClean="0"/>
              <a:t>Three members from IBM</a:t>
            </a:r>
          </a:p>
          <a:p>
            <a:pPr lvl="1" eaLnBrk="1" hangingPunct="1"/>
            <a:r>
              <a:rPr lang="en-US" altLang="en-US" smtClean="0"/>
              <a:t>Three members from SHARE</a:t>
            </a:r>
          </a:p>
          <a:p>
            <a:pPr eaLnBrk="1" hangingPunct="1"/>
            <a:r>
              <a:rPr lang="en-US" altLang="en-US" smtClean="0"/>
              <a:t>Initial concept</a:t>
            </a:r>
          </a:p>
          <a:p>
            <a:pPr lvl="1" eaLnBrk="1" hangingPunct="1"/>
            <a:r>
              <a:rPr lang="en-US" altLang="en-US" smtClean="0"/>
              <a:t>An extension of Fortran IV called Fortran VI</a:t>
            </a:r>
          </a:p>
          <a:p>
            <a:pPr lvl="1" eaLnBrk="1" hangingPunct="1"/>
            <a:r>
              <a:rPr lang="en-US" altLang="en-US" smtClean="0"/>
              <a:t>Quickly refocused into a new language</a:t>
            </a:r>
          </a:p>
          <a:p>
            <a:pPr eaLnBrk="1" hangingPunct="1"/>
            <a:r>
              <a:rPr lang="en-US" altLang="en-US" smtClean="0"/>
              <a:t>Initially NPL (</a:t>
            </a:r>
            <a:r>
              <a:rPr lang="en-US" altLang="en-US" u="sng" smtClean="0"/>
              <a:t>N</a:t>
            </a:r>
            <a:r>
              <a:rPr lang="en-US" altLang="en-US" smtClean="0"/>
              <a:t>ew </a:t>
            </a:r>
            <a:r>
              <a:rPr lang="en-US" altLang="en-US" u="sng" smtClean="0"/>
              <a:t>P</a:t>
            </a:r>
            <a:r>
              <a:rPr lang="en-US" altLang="en-US" smtClean="0"/>
              <a:t>rogramming </a:t>
            </a:r>
            <a:r>
              <a:rPr lang="en-US" altLang="en-US" u="sng" smtClean="0"/>
              <a:t>L</a:t>
            </a:r>
            <a:r>
              <a:rPr lang="en-US" altLang="en-US" smtClean="0"/>
              <a:t>anguage)</a:t>
            </a:r>
          </a:p>
          <a:p>
            <a:pPr eaLnBrk="1" hangingPunct="1"/>
            <a:r>
              <a:rPr lang="en-US" altLang="en-US" smtClean="0"/>
              <a:t>Name changed to PL/I in 1965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A066AB8-E5E1-451D-8A86-9A9C34DC5C3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PL/I: Evaluation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PL/I contributions</a:t>
            </a:r>
          </a:p>
          <a:p>
            <a:pPr lvl="1" eaLnBrk="1" hangingPunct="1"/>
            <a:r>
              <a:rPr lang="en-US" altLang="en-US" dirty="0" smtClean="0"/>
              <a:t>First unit-level concurrency</a:t>
            </a:r>
          </a:p>
          <a:p>
            <a:pPr lvl="1" eaLnBrk="1" hangingPunct="1"/>
            <a:r>
              <a:rPr lang="en-US" altLang="en-US" dirty="0" smtClean="0"/>
              <a:t>First exception handling</a:t>
            </a:r>
          </a:p>
          <a:p>
            <a:pPr lvl="1" eaLnBrk="1" hangingPunct="1"/>
            <a:r>
              <a:rPr lang="en-US" altLang="en-US" dirty="0" smtClean="0"/>
              <a:t>Switch-selectable recursion</a:t>
            </a:r>
          </a:p>
          <a:p>
            <a:pPr lvl="1" eaLnBrk="1" hangingPunct="1"/>
            <a:r>
              <a:rPr lang="en-US" altLang="en-US" dirty="0" smtClean="0"/>
              <a:t>First pointer data type</a:t>
            </a:r>
          </a:p>
          <a:p>
            <a:pPr lvl="1" eaLnBrk="1" hangingPunct="1"/>
            <a:r>
              <a:rPr lang="en-US" altLang="en-US" dirty="0" smtClean="0"/>
              <a:t>First array cross sections</a:t>
            </a:r>
          </a:p>
          <a:p>
            <a:pPr eaLnBrk="1" hangingPunct="1"/>
            <a:r>
              <a:rPr lang="en-US" altLang="en-US" dirty="0" smtClean="0"/>
              <a:t>Concerns</a:t>
            </a:r>
          </a:p>
          <a:p>
            <a:pPr lvl="1" eaLnBrk="1" hangingPunct="1"/>
            <a:r>
              <a:rPr lang="en-US" altLang="en-US" dirty="0" smtClean="0"/>
              <a:t>Many new features were poorly designed</a:t>
            </a:r>
          </a:p>
          <a:p>
            <a:pPr lvl="1" eaLnBrk="1" hangingPunct="1"/>
            <a:r>
              <a:rPr lang="en-US" altLang="en-US" dirty="0" smtClean="0"/>
              <a:t>Too large and too complex</a:t>
            </a:r>
          </a:p>
          <a:p>
            <a:pPr lvl="2" eaLnBrk="1" hangingPunct="1"/>
            <a:r>
              <a:rPr lang="en-US" altLang="en-US" dirty="0"/>
              <a:t>T</a:t>
            </a:r>
            <a:r>
              <a:rPr lang="en-US" altLang="en-US" dirty="0" smtClean="0"/>
              <a:t>ried to incorporate all available constructs</a:t>
            </a:r>
          </a:p>
          <a:p>
            <a:pPr lvl="2" eaLnBrk="1" hangingPunct="1"/>
            <a:r>
              <a:rPr lang="en-US" altLang="en-US" dirty="0" smtClean="0"/>
              <a:t>Many different data structures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3A23F0B-6E26-4845-AD62-754CA264797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 anchor="ctr"/>
          <a:lstStyle/>
          <a:p>
            <a:pPr eaLnBrk="1" hangingPunct="1"/>
            <a:r>
              <a:rPr lang="en-US" altLang="en-US" sz="3200" dirty="0" smtClean="0"/>
              <a:t>An Early Dynamic Language:</a:t>
            </a:r>
            <a:r>
              <a:rPr lang="en-US" altLang="en-US" sz="3200" dirty="0"/>
              <a:t> </a:t>
            </a:r>
            <a:r>
              <a:rPr lang="en-US" altLang="en-US" sz="3200" dirty="0" smtClean="0"/>
              <a:t>APL</a:t>
            </a: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u="sng" dirty="0"/>
              <a:t>A</a:t>
            </a:r>
            <a:r>
              <a:rPr lang="en-US" altLang="en-US" dirty="0"/>
              <a:t> </a:t>
            </a:r>
            <a:r>
              <a:rPr lang="en-US" altLang="en-US" u="sng" dirty="0"/>
              <a:t>P</a:t>
            </a:r>
            <a:r>
              <a:rPr lang="en-US" altLang="en-US" dirty="0"/>
              <a:t>rogramming </a:t>
            </a:r>
            <a:r>
              <a:rPr lang="en-US" altLang="en-US" u="sng" dirty="0"/>
              <a:t>L</a:t>
            </a:r>
            <a:r>
              <a:rPr lang="en-US" altLang="en-US" dirty="0"/>
              <a:t>anguage</a:t>
            </a:r>
          </a:p>
          <a:p>
            <a:pPr eaLnBrk="1" hangingPunct="1"/>
            <a:r>
              <a:rPr lang="en-US" altLang="en-US" dirty="0" smtClean="0"/>
              <a:t>Characterized by</a:t>
            </a:r>
          </a:p>
          <a:p>
            <a:pPr lvl="1" eaLnBrk="1" hangingPunct="1"/>
            <a:r>
              <a:rPr lang="en-US" altLang="en-US" dirty="0" smtClean="0"/>
              <a:t>Dynamic typing</a:t>
            </a:r>
          </a:p>
          <a:p>
            <a:pPr lvl="2" eaLnBrk="1" hangingPunct="1"/>
            <a:r>
              <a:rPr lang="en-US" altLang="en-US" dirty="0" smtClean="0"/>
              <a:t>Variable acquires a type when it is assigned a value</a:t>
            </a:r>
          </a:p>
          <a:p>
            <a:pPr lvl="2" eaLnBrk="1" hangingPunct="1"/>
            <a:r>
              <a:rPr lang="en-US" altLang="en-US" dirty="0" smtClean="0"/>
              <a:t>Variable type can change at runtime</a:t>
            </a:r>
          </a:p>
          <a:p>
            <a:pPr lvl="1" eaLnBrk="1" hangingPunct="1"/>
            <a:r>
              <a:rPr lang="en-US" altLang="en-US" dirty="0" smtClean="0"/>
              <a:t>Dynamic storage allocation</a:t>
            </a:r>
          </a:p>
          <a:p>
            <a:pPr lvl="2" eaLnBrk="1" hangingPunct="1"/>
            <a:r>
              <a:rPr lang="en-US" altLang="en-US" dirty="0" smtClean="0"/>
              <a:t>Variable storage allocated when value is assigned</a:t>
            </a:r>
          </a:p>
          <a:p>
            <a:pPr lvl="2" eaLnBrk="1" hangingPunct="1"/>
            <a:r>
              <a:rPr lang="en-US" altLang="en-US" dirty="0" smtClean="0"/>
              <a:t>Variable storage can change at runtime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9A64B38-64C1-4FAC-8600-D4CD659AF82C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Designed at IBM by Ken Iverson circa 1960</a:t>
            </a:r>
          </a:p>
          <a:p>
            <a:pPr lvl="1" eaLnBrk="1" hangingPunct="1"/>
            <a:r>
              <a:rPr lang="en-US" altLang="en-US" dirty="0" smtClean="0"/>
              <a:t>Initially a hardware description language</a:t>
            </a:r>
          </a:p>
          <a:p>
            <a:pPr lvl="1" eaLnBrk="1" hangingPunct="1"/>
            <a:r>
              <a:rPr lang="en-US" altLang="en-US" dirty="0" smtClean="0"/>
              <a:t>Highly expressive</a:t>
            </a:r>
          </a:p>
          <a:p>
            <a:pPr lvl="2" eaLnBrk="1" hangingPunct="1"/>
            <a:r>
              <a:rPr lang="en-US" altLang="en-US" dirty="0" smtClean="0"/>
              <a:t>Very large number of operators</a:t>
            </a:r>
          </a:p>
          <a:p>
            <a:pPr lvl="2" eaLnBrk="1" hangingPunct="1"/>
            <a:r>
              <a:rPr lang="en-US" altLang="en-US" dirty="0" smtClean="0"/>
              <a:t>Operators work for scalars and arrays</a:t>
            </a:r>
          </a:p>
          <a:p>
            <a:pPr lvl="1" eaLnBrk="1" hangingPunct="1"/>
            <a:r>
              <a:rPr lang="en-US" altLang="en-US" dirty="0" smtClean="0"/>
              <a:t>Programs are very difficult to read</a:t>
            </a:r>
          </a:p>
          <a:p>
            <a:pPr lvl="1" eaLnBrk="1" hangingPunct="1"/>
            <a:r>
              <a:rPr lang="en-US" altLang="en-US" dirty="0" smtClean="0"/>
              <a:t>Still in use with minimal changes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 anchor="ctr"/>
          <a:lstStyle/>
          <a:p>
            <a:pPr eaLnBrk="1" hangingPunct="1"/>
            <a:r>
              <a:rPr lang="en-US" altLang="en-US" sz="3200" dirty="0" smtClean="0"/>
              <a:t>An Early Dynamic Language:</a:t>
            </a:r>
            <a:r>
              <a:rPr lang="en-US" altLang="en-US" sz="3200" dirty="0"/>
              <a:t> </a:t>
            </a:r>
            <a:r>
              <a:rPr lang="en-US" altLang="en-US" sz="3200" dirty="0" smtClean="0"/>
              <a:t>APL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 smtClean="0"/>
              <a:t>APL</a:t>
            </a:r>
          </a:p>
        </p:txBody>
      </p:sp>
      <p:sp>
        <p:nvSpPr>
          <p:cNvPr id="972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altLang="en-US" smtClean="0"/>
              <a:t>Examples of APL programs</a:t>
            </a:r>
          </a:p>
          <a:p>
            <a:pPr lvl="1"/>
            <a:r>
              <a:rPr lang="en-ZA" altLang="en-US" sz="2000" smtClean="0"/>
              <a:t>Sort a list of words according to word length</a:t>
            </a:r>
          </a:p>
          <a:p>
            <a:pPr lvl="1"/>
            <a:endParaRPr lang="en-ZA" altLang="en-US" sz="2000" smtClean="0"/>
          </a:p>
          <a:p>
            <a:pPr lvl="1"/>
            <a:endParaRPr lang="en-ZA" altLang="en-US" sz="2000" smtClean="0"/>
          </a:p>
          <a:p>
            <a:pPr lvl="1"/>
            <a:r>
              <a:rPr lang="en-ZA" altLang="en-US" sz="2000" smtClean="0"/>
              <a:t>Generate 6 non-repeating pseudo-random integers between 1 and 40, and print them in ascending order</a:t>
            </a:r>
          </a:p>
          <a:p>
            <a:pPr lvl="1"/>
            <a:endParaRPr lang="en-ZA" altLang="en-US" sz="2000" smtClean="0"/>
          </a:p>
          <a:p>
            <a:pPr lvl="1"/>
            <a:endParaRPr lang="en-ZA" altLang="en-US" sz="2000" smtClean="0"/>
          </a:p>
          <a:p>
            <a:pPr lvl="1"/>
            <a:r>
              <a:rPr lang="en-ZA" altLang="en-US" sz="2000" smtClean="0"/>
              <a:t>Find all the prime numbers from 1 to R</a:t>
            </a:r>
          </a:p>
        </p:txBody>
      </p:sp>
      <p:sp>
        <p:nvSpPr>
          <p:cNvPr id="9728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C720E0A-32E1-45EB-8A53-BC93592D504C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7285" name="Picture 5" descr="example1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514600"/>
            <a:ext cx="1981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6" name="Picture 6" descr="example2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86200"/>
            <a:ext cx="182880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7" name="Picture 7" descr="example3.bmp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953000"/>
            <a:ext cx="3276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3333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90F8528-41B3-4F0B-8E47-7C64B0C7363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The Beginning of Data Abstraction: SIMULA 67</a:t>
            </a: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620000" cy="4800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Designed in Norway by </a:t>
            </a:r>
            <a:r>
              <a:rPr lang="en-US" altLang="en-US" dirty="0" err="1" smtClean="0"/>
              <a:t>Nygaard</a:t>
            </a:r>
            <a:r>
              <a:rPr lang="en-US" altLang="en-US" dirty="0" smtClean="0"/>
              <a:t> &amp; Dahl</a:t>
            </a:r>
          </a:p>
          <a:p>
            <a:pPr lvl="1" eaLnBrk="1" hangingPunct="1"/>
            <a:r>
              <a:rPr lang="en-US" altLang="en-US" dirty="0" smtClean="0"/>
              <a:t>Primarily for system simulation</a:t>
            </a:r>
          </a:p>
          <a:p>
            <a:pPr lvl="1" eaLnBrk="1" hangingPunct="1"/>
            <a:r>
              <a:rPr lang="en-US" altLang="en-US" dirty="0" smtClean="0"/>
              <a:t>Based on ALGOL 60 and SIMULA I</a:t>
            </a:r>
          </a:p>
          <a:p>
            <a:pPr eaLnBrk="1" hangingPunct="1"/>
            <a:r>
              <a:rPr lang="en-US" altLang="en-US" dirty="0" smtClean="0"/>
              <a:t>Primary Contributions</a:t>
            </a:r>
          </a:p>
          <a:p>
            <a:pPr lvl="1" eaLnBrk="1" hangingPunct="1"/>
            <a:r>
              <a:rPr lang="en-US" altLang="en-US" dirty="0" err="1" smtClean="0"/>
              <a:t>Coroutines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/>
              <a:t>Subprograms</a:t>
            </a:r>
          </a:p>
          <a:p>
            <a:pPr lvl="2" eaLnBrk="1" hangingPunct="1"/>
            <a:r>
              <a:rPr lang="en-US" altLang="en-US" dirty="0" smtClean="0"/>
              <a:t>Can restart where they were previously stopped</a:t>
            </a:r>
          </a:p>
          <a:p>
            <a:pPr lvl="1" eaLnBrk="1" hangingPunct="1"/>
            <a:r>
              <a:rPr lang="en-US" altLang="en-US" dirty="0" smtClean="0"/>
              <a:t>The beginnings of data abstraction</a:t>
            </a:r>
          </a:p>
          <a:p>
            <a:pPr lvl="2" eaLnBrk="1" hangingPunct="1"/>
            <a:r>
              <a:rPr lang="en-US" altLang="en-US" dirty="0" smtClean="0"/>
              <a:t>Classes and objects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/>
              <a:t>Not full object-oriented programming</a:t>
            </a:r>
            <a:endParaRPr lang="en-US" altLang="en-US" dirty="0" smtClean="0"/>
          </a:p>
          <a:p>
            <a:pPr lvl="1" eaLnBrk="1" hangingPunct="1">
              <a:buFontTx/>
              <a:buNone/>
            </a:pPr>
            <a:endParaRPr lang="en-US" altLang="en-US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3550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ebesta">
      <a:majorFont>
        <a:latin typeface="Lucida Sans Unicode"/>
        <a:ea typeface="Lucida Sans Unicode"/>
        <a:cs typeface="Lucida Sans Unicode"/>
      </a:majorFont>
      <a:minorFont>
        <a:latin typeface="Lucida Sans Unicode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sebesta2</Template>
  <TotalTime>8385</TotalTime>
  <Words>1472</Words>
  <Application>Microsoft Office PowerPoint</Application>
  <PresentationFormat>On-screen Show (4:3)</PresentationFormat>
  <Paragraphs>278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Courier</vt:lpstr>
      <vt:lpstr>Courier New</vt:lpstr>
      <vt:lpstr>Lucida Sans Unicode</vt:lpstr>
      <vt:lpstr>Times</vt:lpstr>
      <vt:lpstr>1_sebesta</vt:lpstr>
      <vt:lpstr>Chapter 2 Part 2</vt:lpstr>
      <vt:lpstr>Chapter 2 Topics</vt:lpstr>
      <vt:lpstr>Genealogy of Common Languages</vt:lpstr>
      <vt:lpstr>The First Step Toward Sophistication: ALGOL 60</vt:lpstr>
      <vt:lpstr>Early Design Process</vt:lpstr>
      <vt:lpstr>ALGOL 58</vt:lpstr>
      <vt:lpstr>ALGOL 58 Implementation</vt:lpstr>
      <vt:lpstr>ALGOL 60 Overview</vt:lpstr>
      <vt:lpstr>ALGOL 60 Evaluation</vt:lpstr>
      <vt:lpstr>ALGOL 60 Evaluation (continued)</vt:lpstr>
      <vt:lpstr>Computerizing Business Records: COBOL</vt:lpstr>
      <vt:lpstr>COBOL Design Process</vt:lpstr>
      <vt:lpstr>COBOL Evaluation</vt:lpstr>
      <vt:lpstr>The Beginning of Timesharing: BASIC</vt:lpstr>
      <vt:lpstr>Everything for Everybody: PL/I</vt:lpstr>
      <vt:lpstr>PL/I: Background</vt:lpstr>
      <vt:lpstr>PL/I: Design Process</vt:lpstr>
      <vt:lpstr>PL/I: Evaluation</vt:lpstr>
      <vt:lpstr>An Early Dynamic Language: APL</vt:lpstr>
      <vt:lpstr>An Early Dynamic Language: APL</vt:lpstr>
      <vt:lpstr>APL</vt:lpstr>
      <vt:lpstr>The Beginning of Data Abstraction: SIMULA 67</vt:lpstr>
    </vt:vector>
  </TitlesOfParts>
  <Company>Pearson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Willem S. van Heerden</cp:lastModifiedBy>
  <cp:revision>227</cp:revision>
  <dcterms:created xsi:type="dcterms:W3CDTF">2003-08-01T12:29:19Z</dcterms:created>
  <dcterms:modified xsi:type="dcterms:W3CDTF">2026-02-23T23:09:11Z</dcterms:modified>
</cp:coreProperties>
</file>