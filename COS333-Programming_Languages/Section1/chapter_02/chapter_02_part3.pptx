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2" r:id="rId1"/>
  </p:sldMasterIdLst>
  <p:notesMasterIdLst>
    <p:notesMasterId r:id="rId25"/>
  </p:notesMasterIdLst>
  <p:sldIdLst>
    <p:sldId id="327" r:id="rId2"/>
    <p:sldId id="314" r:id="rId3"/>
    <p:sldId id="378" r:id="rId4"/>
    <p:sldId id="357" r:id="rId5"/>
    <p:sldId id="358" r:id="rId6"/>
    <p:sldId id="359" r:id="rId7"/>
    <p:sldId id="360" r:id="rId8"/>
    <p:sldId id="361" r:id="rId9"/>
    <p:sldId id="362" r:id="rId10"/>
    <p:sldId id="305" r:id="rId11"/>
    <p:sldId id="364" r:id="rId12"/>
    <p:sldId id="365" r:id="rId13"/>
    <p:sldId id="309" r:id="rId14"/>
    <p:sldId id="366" r:id="rId15"/>
    <p:sldId id="321" r:id="rId16"/>
    <p:sldId id="376" r:id="rId17"/>
    <p:sldId id="367" r:id="rId18"/>
    <p:sldId id="369" r:id="rId19"/>
    <p:sldId id="368" r:id="rId20"/>
    <p:sldId id="370" r:id="rId21"/>
    <p:sldId id="371" r:id="rId22"/>
    <p:sldId id="374" r:id="rId23"/>
    <p:sldId id="375" r:id="rId24"/>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2860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7432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2004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6576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993300"/>
    <a:srgbClr val="666699"/>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743" autoAdjust="0"/>
    <p:restoredTop sz="86424" autoAdjust="0"/>
  </p:normalViewPr>
  <p:slideViewPr>
    <p:cSldViewPr>
      <p:cViewPr varScale="1">
        <p:scale>
          <a:sx n="73" d="100"/>
          <a:sy n="73" d="100"/>
        </p:scale>
        <p:origin x="1109"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42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US"/>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Lucida Sans Unicode" panose="020B0602030504020204" pitchFamily="34" charset="0"/>
                <a:cs typeface="Lucida Sans Unicode" panose="020B0602030504020204" pitchFamily="34" charset="0"/>
              </a:defRPr>
            </a:lvl1pPr>
          </a:lstStyle>
          <a:p>
            <a:pPr>
              <a:defRPr/>
            </a:pPr>
            <a:fld id="{884B6931-4788-4554-9A45-C2B8C91BBF40}" type="slidenum">
              <a:rPr lang="en-US" altLang="en-US"/>
              <a:pPr>
                <a:defRPr/>
              </a:pPr>
              <a:t>‹#›</a:t>
            </a:fld>
            <a:endParaRPr lang="en-US" altLang="en-US"/>
          </a:p>
        </p:txBody>
      </p:sp>
    </p:spTree>
    <p:extLst>
      <p:ext uri="{BB962C8B-B14F-4D97-AF65-F5344CB8AC3E}">
        <p14:creationId xmlns:p14="http://schemas.microsoft.com/office/powerpoint/2010/main" val="30668275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7953998D-967D-42DE-BFD2-1CF864B52188}" type="slidenum">
              <a:rPr lang="en-US" altLang="en-US" sz="1200" smtClean="0"/>
              <a:pPr/>
              <a:t>1</a:t>
            </a:fld>
            <a:endParaRPr lang="en-US" altLang="en-US" sz="1200" smtClean="0"/>
          </a:p>
        </p:txBody>
      </p:sp>
      <p:sp>
        <p:nvSpPr>
          <p:cNvPr id="5123" name="Rectangle 2"/>
          <p:cNvSpPr>
            <a:spLocks noGrp="1" noRot="1" noChangeAspect="1" noChangeArrowheads="1" noTextEdit="1"/>
          </p:cNvSpPr>
          <p:nvPr>
            <p:ph type="sldImg"/>
          </p:nvPr>
        </p:nvSpPr>
        <p:spPr>
          <a:ln/>
        </p:spPr>
      </p:sp>
      <p:sp>
        <p:nvSpPr>
          <p:cNvPr id="5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1862850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65BB135A-016A-4FC6-AFF9-2358644EDD8C}" type="slidenum">
              <a:rPr lang="en-US" altLang="en-US" sz="1200" smtClean="0"/>
              <a:pPr/>
              <a:t>2</a:t>
            </a:fld>
            <a:endParaRPr lang="en-US" altLang="en-US" sz="1200" smtClean="0"/>
          </a:p>
        </p:txBody>
      </p:sp>
      <p:sp>
        <p:nvSpPr>
          <p:cNvPr id="9219" name="Rectangle 2"/>
          <p:cNvSpPr>
            <a:spLocks noGrp="1" noRot="1" noChangeAspect="1" noChangeArrowheads="1" noTextEdit="1"/>
          </p:cNvSpPr>
          <p:nvPr>
            <p:ph type="sldImg"/>
          </p:nvPr>
        </p:nvSpPr>
        <p:spPr>
          <a:ln/>
        </p:spPr>
      </p:sp>
      <p:sp>
        <p:nvSpPr>
          <p:cNvPr id="9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1347521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CE46074F-034F-40A6-99C6-308776A90DA9}" type="slidenum">
              <a:rPr lang="en-US" altLang="en-US" sz="1200" smtClean="0"/>
              <a:pPr/>
              <a:t>4</a:t>
            </a:fld>
            <a:endParaRPr lang="en-US" altLang="en-US" sz="1200" smtClean="0"/>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27034115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A6DDE41F-B20F-489F-A8F4-F76D04836232}" type="slidenum">
              <a:rPr lang="en-US" altLang="en-US" sz="1200" smtClean="0"/>
              <a:pPr/>
              <a:t>5</a:t>
            </a:fld>
            <a:endParaRPr lang="en-US" altLang="en-US" sz="1200" smtClean="0"/>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4605199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0B663B87-BBF5-48DD-B42E-D5DCD3283B89}" type="slidenum">
              <a:rPr lang="en-US" altLang="en-US" sz="1200" smtClean="0"/>
              <a:pPr/>
              <a:t>6</a:t>
            </a:fld>
            <a:endParaRPr lang="en-US" altLang="en-US" sz="1200" smtClean="0"/>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41792722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A2405C3F-8703-455E-AA99-8027EB2EF579}" type="slidenum">
              <a:rPr lang="en-US" altLang="en-US" sz="1200" smtClean="0"/>
              <a:pPr/>
              <a:t>7</a:t>
            </a:fld>
            <a:endParaRPr lang="en-US" altLang="en-US" sz="1200" smtClean="0"/>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3062958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A6F4F86-5AEA-42C7-8323-96954B62FDE2}" type="slidenum">
              <a:rPr lang="en-US" altLang="en-US" sz="1200" smtClean="0"/>
              <a:pPr/>
              <a:t>8</a:t>
            </a:fld>
            <a:endParaRPr lang="en-US" altLang="en-US" sz="1200" smtClean="0"/>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42392203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033139D4-6BC8-4C6A-A7FB-0A773E108917}" type="slidenum">
              <a:rPr lang="en-US" altLang="en-US" sz="1200" smtClean="0"/>
              <a:pPr/>
              <a:t>9</a:t>
            </a:fld>
            <a:endParaRPr lang="en-US" altLang="en-US" sz="1200" smtClean="0"/>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4585573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9A4B8E61-FDB8-4D3A-B5DB-F67D56B29637}" type="slidenum">
              <a:rPr lang="en-US" altLang="en-US" sz="1200" smtClean="0"/>
              <a:pPr/>
              <a:t>10</a:t>
            </a:fld>
            <a:endParaRPr lang="en-US" altLang="en-US" sz="1200" smtClean="0"/>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ZA" altLang="en-US" noProof="0" dirty="0" smtClean="0"/>
              <a:t>Packages in Ada are essentially like classes in modern</a:t>
            </a:r>
            <a:r>
              <a:rPr lang="en-ZA" altLang="en-US" baseline="0" noProof="0" dirty="0" smtClean="0"/>
              <a:t> object-oriented programming languages.</a:t>
            </a:r>
          </a:p>
          <a:p>
            <a:pPr eaLnBrk="1" hangingPunct="1"/>
            <a:endParaRPr lang="en-ZA" altLang="en-US" baseline="0" noProof="0" dirty="0" smtClean="0"/>
          </a:p>
          <a:p>
            <a:pPr eaLnBrk="1" hangingPunct="1"/>
            <a:r>
              <a:rPr lang="en-ZA" altLang="en-US" baseline="0" noProof="0" dirty="0" smtClean="0"/>
              <a:t>Generic program units are like templates in C++ and generic types in Java. They are closer to C++ templates in terms of how they work. We’ll look at generic subprograms in detail in Chapter 9.</a:t>
            </a:r>
            <a:endParaRPr lang="en-ZA" altLang="en-US" noProof="0" dirty="0" smtClean="0"/>
          </a:p>
        </p:txBody>
      </p:sp>
    </p:spTree>
    <p:extLst>
      <p:ext uri="{BB962C8B-B14F-4D97-AF65-F5344CB8AC3E}">
        <p14:creationId xmlns:p14="http://schemas.microsoft.com/office/powerpoint/2010/main" val="34960073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9ADA82D-2C16-4E27-A506-56428C5A97B8}" type="slidenum">
              <a:rPr lang="en-US" altLang="en-US" sz="1200" smtClean="0"/>
              <a:pPr/>
              <a:t>11</a:t>
            </a:fld>
            <a:endParaRPr lang="en-US" altLang="en-US" sz="1200" smtClean="0"/>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ZA" altLang="en-US" noProof="0" dirty="0" smtClean="0"/>
              <a:t>Alan Kay’s PhD dissertation</a:t>
            </a:r>
            <a:r>
              <a:rPr lang="en-ZA" altLang="en-US" baseline="0" noProof="0" dirty="0" smtClean="0"/>
              <a:t> (published in 1969)</a:t>
            </a:r>
            <a:r>
              <a:rPr lang="en-ZA" altLang="en-US" noProof="0" dirty="0" smtClean="0"/>
              <a:t> was on a system he called </a:t>
            </a:r>
            <a:r>
              <a:rPr lang="en-ZA" altLang="en-US" noProof="0" dirty="0" err="1" smtClean="0"/>
              <a:t>Dynabook</a:t>
            </a:r>
            <a:r>
              <a:rPr lang="en-ZA" altLang="en-US" noProof="0" dirty="0" smtClean="0"/>
              <a:t>,</a:t>
            </a:r>
            <a:r>
              <a:rPr lang="en-ZA" altLang="en-US" baseline="0" noProof="0" dirty="0" smtClean="0"/>
              <a:t> which he envisioned as a desktop-like GUI system, similar to Microsoft Windows. He believed non-programmers would use it, and Smalltalk was developed as a programming language to support this system. Object-oriented programming naturally supports GUI systems, because the various elements (windows, buttons, </a:t>
            </a:r>
            <a:r>
              <a:rPr lang="en-ZA" altLang="en-US" baseline="0" noProof="0" dirty="0" err="1" smtClean="0"/>
              <a:t>etc</a:t>
            </a:r>
            <a:r>
              <a:rPr lang="en-ZA" altLang="en-US" baseline="0" noProof="0" dirty="0" smtClean="0"/>
              <a:t>) can be represented using objects.</a:t>
            </a:r>
            <a:endParaRPr lang="en-ZA" altLang="en-US" noProof="0" dirty="0" smtClean="0"/>
          </a:p>
        </p:txBody>
      </p:sp>
    </p:spTree>
    <p:extLst>
      <p:ext uri="{BB962C8B-B14F-4D97-AF65-F5344CB8AC3E}">
        <p14:creationId xmlns:p14="http://schemas.microsoft.com/office/powerpoint/2010/main" val="10730706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9E818BB2-B0EA-4341-BCA8-E5C049E77C32}" type="slidenum">
              <a:rPr lang="en-US" altLang="en-US" sz="1200" smtClean="0"/>
              <a:pPr/>
              <a:t>12</a:t>
            </a:fld>
            <a:endParaRPr lang="en-US" altLang="en-US" sz="1200" smtClean="0"/>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6880245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D97A67E5-1D1B-4FA4-A2A7-1D607B5D5F44}" type="slidenum">
              <a:rPr lang="en-US" altLang="en-US" sz="1200" smtClean="0"/>
              <a:pPr/>
              <a:t>13</a:t>
            </a:fld>
            <a:endParaRPr lang="en-US" altLang="en-US" sz="1200" smtClean="0"/>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ZA" altLang="en-US" noProof="0" dirty="0" smtClean="0"/>
              <a:t>In what way is Delphi</a:t>
            </a:r>
            <a:r>
              <a:rPr lang="en-ZA" altLang="en-US" baseline="0" noProof="0" dirty="0" smtClean="0"/>
              <a:t> similar to C++ in its approach to support for OOP?</a:t>
            </a:r>
            <a:endParaRPr lang="en-ZA" altLang="en-US" noProof="0" dirty="0" smtClean="0"/>
          </a:p>
        </p:txBody>
      </p:sp>
    </p:spTree>
    <p:extLst>
      <p:ext uri="{BB962C8B-B14F-4D97-AF65-F5344CB8AC3E}">
        <p14:creationId xmlns:p14="http://schemas.microsoft.com/office/powerpoint/2010/main" val="27719540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55FBCCBC-6D22-4A87-A321-60AFD25BEF10}" type="slidenum">
              <a:rPr lang="en-US" altLang="en-US" sz="1200" smtClean="0"/>
              <a:pPr/>
              <a:t>14</a:t>
            </a:fld>
            <a:endParaRPr lang="en-US" altLang="en-US" sz="1200" smtClean="0"/>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ZA" altLang="en-US" smtClean="0"/>
              <a:t>Java does support enumerations, but they are implemented as classes, not primitive ordinal types, as in C++.</a:t>
            </a:r>
          </a:p>
        </p:txBody>
      </p:sp>
    </p:spTree>
    <p:extLst>
      <p:ext uri="{BB962C8B-B14F-4D97-AF65-F5344CB8AC3E}">
        <p14:creationId xmlns:p14="http://schemas.microsoft.com/office/powerpoint/2010/main" val="9489546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38790EE6-041F-4619-AB2A-7D8C18126C7B}" type="slidenum">
              <a:rPr lang="en-US" altLang="en-US" sz="1200" smtClean="0"/>
              <a:pPr/>
              <a:t>15</a:t>
            </a:fld>
            <a:endParaRPr lang="en-US" altLang="en-US" sz="1200" smtClean="0"/>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13960574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smtClean="0"/>
              <a:t>We’ll talk about static and dynamic typing and related concepts in Chapter 5.</a:t>
            </a:r>
          </a:p>
          <a:p>
            <a:endParaRPr lang="en-ZA" dirty="0" smtClean="0"/>
          </a:p>
          <a:p>
            <a:r>
              <a:rPr lang="en-ZA" dirty="0" smtClean="0"/>
              <a:t>CGI programming involves a Web user’s HTTP or HTTPS request executing a server-side script, which produces output (usually</a:t>
            </a:r>
            <a:r>
              <a:rPr lang="en-ZA" baseline="0" dirty="0" smtClean="0"/>
              <a:t> in the form of HTML</a:t>
            </a:r>
            <a:r>
              <a:rPr lang="en-ZA" dirty="0" smtClean="0"/>
              <a:t>) which is set to the users Web browser. Server-side means that the script runs on a Web server.</a:t>
            </a:r>
            <a:endParaRPr lang="en-ZA" dirty="0"/>
          </a:p>
        </p:txBody>
      </p:sp>
      <p:sp>
        <p:nvSpPr>
          <p:cNvPr id="4" name="Slide Number Placeholder 3"/>
          <p:cNvSpPr>
            <a:spLocks noGrp="1"/>
          </p:cNvSpPr>
          <p:nvPr>
            <p:ph type="sldNum" sz="quarter" idx="10"/>
          </p:nvPr>
        </p:nvSpPr>
        <p:spPr/>
        <p:txBody>
          <a:bodyPr/>
          <a:lstStyle/>
          <a:p>
            <a:pPr>
              <a:defRPr/>
            </a:pPr>
            <a:fld id="{884B6931-4788-4554-9A45-C2B8C91BBF40}" type="slidenum">
              <a:rPr lang="en-US" altLang="en-US" smtClean="0"/>
              <a:pPr>
                <a:defRPr/>
              </a:pPr>
              <a:t>17</a:t>
            </a:fld>
            <a:endParaRPr lang="en-US" altLang="en-US"/>
          </a:p>
        </p:txBody>
      </p:sp>
    </p:spTree>
    <p:extLst>
      <p:ext uri="{BB962C8B-B14F-4D97-AF65-F5344CB8AC3E}">
        <p14:creationId xmlns:p14="http://schemas.microsoft.com/office/powerpoint/2010/main" val="39974863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smtClean="0"/>
              <a:t>It’s important to note the difference between how Perl</a:t>
            </a:r>
            <a:r>
              <a:rPr lang="en-ZA" baseline="0" dirty="0" smtClean="0"/>
              <a:t> and PHP handle Web scripting, versus how JavaScript handles it. Perl and PHP are server-side scripting languages, meaning they execute on a server and send results to a user’s Web browser. JavaScript is client-side, meaning it runs on the user’s Web browser, not a server.</a:t>
            </a:r>
            <a:endParaRPr lang="en-ZA" dirty="0"/>
          </a:p>
        </p:txBody>
      </p:sp>
      <p:sp>
        <p:nvSpPr>
          <p:cNvPr id="4" name="Slide Number Placeholder 3"/>
          <p:cNvSpPr>
            <a:spLocks noGrp="1"/>
          </p:cNvSpPr>
          <p:nvPr>
            <p:ph type="sldNum" sz="quarter" idx="10"/>
          </p:nvPr>
        </p:nvSpPr>
        <p:spPr/>
        <p:txBody>
          <a:bodyPr/>
          <a:lstStyle/>
          <a:p>
            <a:pPr>
              <a:defRPr/>
            </a:pPr>
            <a:fld id="{884B6931-4788-4554-9A45-C2B8C91BBF40}" type="slidenum">
              <a:rPr lang="en-US" altLang="en-US" smtClean="0"/>
              <a:pPr>
                <a:defRPr/>
              </a:pPr>
              <a:t>19</a:t>
            </a:fld>
            <a:endParaRPr lang="en-US" altLang="en-US"/>
          </a:p>
        </p:txBody>
      </p:sp>
    </p:spTree>
    <p:extLst>
      <p:ext uri="{BB962C8B-B14F-4D97-AF65-F5344CB8AC3E}">
        <p14:creationId xmlns:p14="http://schemas.microsoft.com/office/powerpoint/2010/main" val="3553819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smtClean="0"/>
              <a:t>As for Perl, CGI programming with Python is server-side Web scripting.</a:t>
            </a:r>
            <a:endParaRPr lang="en-ZA" dirty="0"/>
          </a:p>
        </p:txBody>
      </p:sp>
      <p:sp>
        <p:nvSpPr>
          <p:cNvPr id="4" name="Slide Number Placeholder 3"/>
          <p:cNvSpPr>
            <a:spLocks noGrp="1"/>
          </p:cNvSpPr>
          <p:nvPr>
            <p:ph type="sldNum" sz="quarter" idx="10"/>
          </p:nvPr>
        </p:nvSpPr>
        <p:spPr/>
        <p:txBody>
          <a:bodyPr/>
          <a:lstStyle/>
          <a:p>
            <a:pPr>
              <a:defRPr/>
            </a:pPr>
            <a:fld id="{884B6931-4788-4554-9A45-C2B8C91BBF40}" type="slidenum">
              <a:rPr lang="en-US" altLang="en-US" smtClean="0"/>
              <a:pPr>
                <a:defRPr/>
              </a:pPr>
              <a:t>20</a:t>
            </a:fld>
            <a:endParaRPr lang="en-US" altLang="en-US"/>
          </a:p>
        </p:txBody>
      </p:sp>
    </p:spTree>
    <p:extLst>
      <p:ext uri="{BB962C8B-B14F-4D97-AF65-F5344CB8AC3E}">
        <p14:creationId xmlns:p14="http://schemas.microsoft.com/office/powerpoint/2010/main" val="15373401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B5992FC1-E88F-4EEB-8041-6F46587BC94A}" type="slidenum">
              <a:rPr lang="en-US" altLang="en-US" sz="1200" smtClean="0"/>
              <a:pPr/>
              <a:t>21</a:t>
            </a:fld>
            <a:endParaRPr lang="en-US" altLang="en-US" sz="1200" smtClean="0"/>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ZA" altLang="en-US" noProof="0" dirty="0" smtClean="0"/>
              <a:t>The last point is important to understand about Ruby, and makes the language quite unique. It’s possible to change classes and objects at runtime, meaning you can add or remove methods, or change how they behave. This is useful for</a:t>
            </a:r>
            <a:r>
              <a:rPr lang="en-ZA" altLang="en-US" baseline="0" noProof="0" dirty="0" smtClean="0"/>
              <a:t> creating classes in different forms at runtime, depending on changing requirements.</a:t>
            </a:r>
            <a:endParaRPr lang="en-ZA" altLang="en-US" noProof="0" dirty="0" smtClean="0"/>
          </a:p>
        </p:txBody>
      </p:sp>
    </p:spTree>
    <p:extLst>
      <p:ext uri="{BB962C8B-B14F-4D97-AF65-F5344CB8AC3E}">
        <p14:creationId xmlns:p14="http://schemas.microsoft.com/office/powerpoint/2010/main" val="40057121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667587AB-99F6-4AF9-8356-E88D3B70CC3C}" type="slidenum">
              <a:rPr lang="en-US" altLang="en-US" sz="1200" smtClean="0"/>
              <a:pPr/>
              <a:t>22</a:t>
            </a:fld>
            <a:endParaRPr lang="en-US" altLang="en-US" sz="1200" smtClean="0"/>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ZA" altLang="en-US" noProof="0" dirty="0" smtClean="0"/>
              <a:t>Component-based development is a very complex topic, beyond the scope of this module. In essence, it involves providing functionality in packaged code (known as components), which can be easily imported into</a:t>
            </a:r>
            <a:r>
              <a:rPr lang="en-ZA" altLang="en-US" baseline="0" noProof="0" dirty="0" smtClean="0"/>
              <a:t> other programs as required. Component-based development often uses components from different languages. The .NET languages support this by allowing classes and types to interoperate between all the languages in the .NET framework. This lets a programmer implement a component in one language, which can then be easily used in a program or component written by a different programmer in another language. This is further supported by the fact that all .NET languages compile to the same intermediate language.</a:t>
            </a:r>
            <a:endParaRPr lang="en-ZA" altLang="en-US" noProof="0" dirty="0" smtClean="0"/>
          </a:p>
        </p:txBody>
      </p:sp>
    </p:spTree>
    <p:extLst>
      <p:ext uri="{BB962C8B-B14F-4D97-AF65-F5344CB8AC3E}">
        <p14:creationId xmlns:p14="http://schemas.microsoft.com/office/powerpoint/2010/main" val="25864279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421EB65-03B0-4FA2-82FB-81CFE67E0450}" type="slidenum">
              <a:rPr lang="en-US" altLang="en-US" sz="1200" smtClean="0"/>
              <a:pPr/>
              <a:t>23</a:t>
            </a:fld>
            <a:endParaRPr lang="en-US" altLang="en-US" sz="1200" smtClean="0"/>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39437533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7448550" y="6583363"/>
            <a:ext cx="1841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pPr algn="r">
              <a:defRPr/>
            </a:pPr>
            <a:endParaRPr lang="en-US" altLang="en-US" sz="1200" smtClean="0">
              <a:latin typeface="Courier" pitchFamily="49" charset="0"/>
            </a:endParaRPr>
          </a:p>
        </p:txBody>
      </p:sp>
      <p:sp>
        <p:nvSpPr>
          <p:cNvPr id="79874" name="Rectangle 2"/>
          <p:cNvSpPr>
            <a:spLocks noGrp="1" noChangeArrowheads="1"/>
          </p:cNvSpPr>
          <p:nvPr>
            <p:ph type="ctrTitle"/>
          </p:nvPr>
        </p:nvSpPr>
        <p:spPr>
          <a:xfrm>
            <a:off x="381000" y="1371600"/>
            <a:ext cx="3657600" cy="1143000"/>
          </a:xfrm>
        </p:spPr>
        <p:txBody>
          <a:bodyPr/>
          <a:lstStyle>
            <a:lvl1pPr>
              <a:defRPr b="1">
                <a:solidFill>
                  <a:schemeClr val="accent2"/>
                </a:solidFill>
              </a:defRPr>
            </a:lvl1pPr>
          </a:lstStyle>
          <a:p>
            <a:r>
              <a:rPr lang="en-US"/>
              <a:t>Click to edit Master title style</a:t>
            </a:r>
          </a:p>
        </p:txBody>
      </p:sp>
      <p:sp>
        <p:nvSpPr>
          <p:cNvPr id="79875" name="Rectangle 3"/>
          <p:cNvSpPr>
            <a:spLocks noGrp="1" noChangeArrowheads="1"/>
          </p:cNvSpPr>
          <p:nvPr>
            <p:ph type="subTitle" idx="1"/>
          </p:nvPr>
        </p:nvSpPr>
        <p:spPr>
          <a:xfrm>
            <a:off x="381000" y="3276600"/>
            <a:ext cx="3657600" cy="1752600"/>
          </a:xfrm>
        </p:spPr>
        <p:txBody>
          <a:bodyPr/>
          <a:lstStyle>
            <a:lvl1pPr marL="0" indent="0">
              <a:buFontTx/>
              <a:buNone/>
              <a:defRPr>
                <a:solidFill>
                  <a:srgbClr val="993300"/>
                </a:solidFill>
              </a:defRPr>
            </a:lvl1pPr>
          </a:lstStyle>
          <a:p>
            <a:r>
              <a:rPr lang="en-US"/>
              <a:t>Click to edit Master subtitle style</a:t>
            </a:r>
          </a:p>
        </p:txBody>
      </p:sp>
      <p:sp>
        <p:nvSpPr>
          <p:cNvPr id="5" name="Slide Number Placeholder 5"/>
          <p:cNvSpPr>
            <a:spLocks noGrp="1"/>
          </p:cNvSpPr>
          <p:nvPr>
            <p:ph type="sldNum" sz="quarter" idx="10"/>
          </p:nvPr>
        </p:nvSpPr>
        <p:spPr/>
        <p:txBody>
          <a:bodyPr/>
          <a:lstStyle>
            <a:lvl1pPr>
              <a:defRPr/>
            </a:lvl1pPr>
          </a:lstStyle>
          <a:p>
            <a:pPr>
              <a:defRPr/>
            </a:pPr>
            <a:r>
              <a:rPr lang="en-US" altLang="en-US"/>
              <a:t>1-</a:t>
            </a:r>
            <a:fld id="{06F266C7-773D-4E38-B0C4-0D28F64192C3}" type="slidenum">
              <a:rPr lang="en-US" altLang="en-US"/>
              <a:pPr>
                <a:defRPr/>
              </a:pPr>
              <a:t>‹#›</a:t>
            </a:fld>
            <a:endParaRPr lang="en-US" altLang="en-US"/>
          </a:p>
        </p:txBody>
      </p:sp>
      <p:sp>
        <p:nvSpPr>
          <p:cNvPr id="6" name="Footer Placeholder 6"/>
          <p:cNvSpPr>
            <a:spLocks noGrp="1"/>
          </p:cNvSpPr>
          <p:nvPr>
            <p:ph type="ftr" sz="quarter" idx="11"/>
          </p:nvPr>
        </p:nvSpPr>
        <p:spPr/>
        <p:txBody>
          <a:bodyPr/>
          <a:lstStyle>
            <a:lvl1pPr>
              <a:defRPr/>
            </a:lvl1pPr>
          </a:lstStyle>
          <a:p>
            <a:pPr>
              <a:defRPr/>
            </a:pPr>
            <a:r>
              <a:rPr lang="en-US"/>
              <a:t>Copyright © 2012 Pearson Education. All rights reserved.</a:t>
            </a:r>
          </a:p>
        </p:txBody>
      </p:sp>
    </p:spTree>
    <p:extLst>
      <p:ext uri="{BB962C8B-B14F-4D97-AF65-F5344CB8AC3E}">
        <p14:creationId xmlns:p14="http://schemas.microsoft.com/office/powerpoint/2010/main" val="2894383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dirty="0" smtClean="0"/>
              <a:t>Copyright © 2023 Pearson Education. All rights reserved.</a:t>
            </a:r>
            <a:endParaRPr lang="en-US" dirty="0"/>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227AD4F1-BEA6-4F49-ACF1-B0958015A3BB}" type="slidenum">
              <a:rPr lang="en-US" altLang="en-US"/>
              <a:pPr>
                <a:defRPr/>
              </a:pPr>
              <a:t>‹#›</a:t>
            </a:fld>
            <a:endParaRPr lang="en-US" altLang="en-US"/>
          </a:p>
        </p:txBody>
      </p:sp>
    </p:spTree>
    <p:extLst>
      <p:ext uri="{BB962C8B-B14F-4D97-AF65-F5344CB8AC3E}">
        <p14:creationId xmlns:p14="http://schemas.microsoft.com/office/powerpoint/2010/main" val="1846375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Pearson Education.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C4287CD5-84EB-44C6-9F1A-C082FECC805D}" type="slidenum">
              <a:rPr lang="en-US" altLang="en-US"/>
              <a:pPr>
                <a:defRPr/>
              </a:pPr>
              <a:t>‹#›</a:t>
            </a:fld>
            <a:endParaRPr lang="en-US" altLang="en-US"/>
          </a:p>
        </p:txBody>
      </p:sp>
    </p:spTree>
    <p:extLst>
      <p:ext uri="{BB962C8B-B14F-4D97-AF65-F5344CB8AC3E}">
        <p14:creationId xmlns:p14="http://schemas.microsoft.com/office/powerpoint/2010/main" val="3120335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25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Pearson Education.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1BBFDD07-6A32-42FE-8119-7B3213BD84C3}" type="slidenum">
              <a:rPr lang="en-US" altLang="en-US"/>
              <a:pPr>
                <a:defRPr/>
              </a:pPr>
              <a:t>‹#›</a:t>
            </a:fld>
            <a:endParaRPr lang="en-US" altLang="en-US"/>
          </a:p>
        </p:txBody>
      </p:sp>
    </p:spTree>
    <p:extLst>
      <p:ext uri="{BB962C8B-B14F-4D97-AF65-F5344CB8AC3E}">
        <p14:creationId xmlns:p14="http://schemas.microsoft.com/office/powerpoint/2010/main" val="2634404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ftr" sz="quarter" idx="10"/>
          </p:nvPr>
        </p:nvSpPr>
        <p:spPr>
          <a:ln/>
        </p:spPr>
        <p:txBody>
          <a:bodyPr/>
          <a:lstStyle>
            <a:lvl1pPr>
              <a:defRPr/>
            </a:lvl1pPr>
          </a:lstStyle>
          <a:p>
            <a:pPr>
              <a:defRPr/>
            </a:pPr>
            <a:r>
              <a:rPr lang="en-US"/>
              <a:t>Copyright © 2012 Pearson Education. All rights reserved.</a:t>
            </a:r>
          </a:p>
        </p:txBody>
      </p:sp>
      <p:sp>
        <p:nvSpPr>
          <p:cNvPr id="8" name="Rectangle 5"/>
          <p:cNvSpPr>
            <a:spLocks noGrp="1" noChangeArrowheads="1"/>
          </p:cNvSpPr>
          <p:nvPr>
            <p:ph type="sldNum" sz="quarter" idx="11"/>
          </p:nvPr>
        </p:nvSpPr>
        <p:spPr>
          <a:ln/>
        </p:spPr>
        <p:txBody>
          <a:bodyPr/>
          <a:lstStyle>
            <a:lvl1pPr>
              <a:defRPr/>
            </a:lvl1pPr>
          </a:lstStyle>
          <a:p>
            <a:pPr>
              <a:defRPr/>
            </a:pPr>
            <a:r>
              <a:rPr lang="en-US" altLang="en-US"/>
              <a:t>1-</a:t>
            </a:r>
            <a:fld id="{20D8D79F-3E80-47CE-A602-2B458FB5F624}" type="slidenum">
              <a:rPr lang="en-US" altLang="en-US"/>
              <a:pPr>
                <a:defRPr/>
              </a:pPr>
              <a:t>‹#›</a:t>
            </a:fld>
            <a:endParaRPr lang="en-US" altLang="en-US"/>
          </a:p>
        </p:txBody>
      </p:sp>
    </p:spTree>
    <p:extLst>
      <p:ext uri="{BB962C8B-B14F-4D97-AF65-F5344CB8AC3E}">
        <p14:creationId xmlns:p14="http://schemas.microsoft.com/office/powerpoint/2010/main" val="2453723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ftr" sz="quarter" idx="10"/>
          </p:nvPr>
        </p:nvSpPr>
        <p:spPr>
          <a:ln/>
        </p:spPr>
        <p:txBody>
          <a:bodyPr/>
          <a:lstStyle>
            <a:lvl1pPr>
              <a:defRPr/>
            </a:lvl1pPr>
          </a:lstStyle>
          <a:p>
            <a:pPr>
              <a:defRPr/>
            </a:pPr>
            <a:r>
              <a:rPr lang="en-US"/>
              <a:t>Copyright © 2012 Pearson Education. All rights reserved.</a:t>
            </a:r>
          </a:p>
        </p:txBody>
      </p:sp>
      <p:sp>
        <p:nvSpPr>
          <p:cNvPr id="4" name="Rectangle 5"/>
          <p:cNvSpPr>
            <a:spLocks noGrp="1" noChangeArrowheads="1"/>
          </p:cNvSpPr>
          <p:nvPr>
            <p:ph type="sldNum" sz="quarter" idx="11"/>
          </p:nvPr>
        </p:nvSpPr>
        <p:spPr>
          <a:ln/>
        </p:spPr>
        <p:txBody>
          <a:bodyPr/>
          <a:lstStyle>
            <a:lvl1pPr>
              <a:defRPr/>
            </a:lvl1pPr>
          </a:lstStyle>
          <a:p>
            <a:pPr>
              <a:defRPr/>
            </a:pPr>
            <a:r>
              <a:rPr lang="en-US" altLang="en-US"/>
              <a:t>1-</a:t>
            </a:r>
            <a:fld id="{E71443BC-02B8-4462-90C2-32D7E4229D90}" type="slidenum">
              <a:rPr lang="en-US" altLang="en-US"/>
              <a:pPr>
                <a:defRPr/>
              </a:pPr>
              <a:t>‹#›</a:t>
            </a:fld>
            <a:endParaRPr lang="en-US" altLang="en-US"/>
          </a:p>
        </p:txBody>
      </p:sp>
    </p:spTree>
    <p:extLst>
      <p:ext uri="{BB962C8B-B14F-4D97-AF65-F5344CB8AC3E}">
        <p14:creationId xmlns:p14="http://schemas.microsoft.com/office/powerpoint/2010/main" val="3669252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Copyright © 2012 Pearson Education. All rights reserved.</a:t>
            </a:r>
          </a:p>
        </p:txBody>
      </p:sp>
      <p:sp>
        <p:nvSpPr>
          <p:cNvPr id="3" name="Rectangle 5"/>
          <p:cNvSpPr>
            <a:spLocks noGrp="1" noChangeArrowheads="1"/>
          </p:cNvSpPr>
          <p:nvPr>
            <p:ph type="sldNum" sz="quarter" idx="11"/>
          </p:nvPr>
        </p:nvSpPr>
        <p:spPr>
          <a:ln/>
        </p:spPr>
        <p:txBody>
          <a:bodyPr/>
          <a:lstStyle>
            <a:lvl1pPr>
              <a:defRPr/>
            </a:lvl1pPr>
          </a:lstStyle>
          <a:p>
            <a:pPr>
              <a:defRPr/>
            </a:pPr>
            <a:r>
              <a:rPr lang="en-US" altLang="en-US"/>
              <a:t>1-</a:t>
            </a:r>
            <a:fld id="{AEC01063-189D-4A54-B45B-FAEB91C586D2}" type="slidenum">
              <a:rPr lang="en-US" altLang="en-US"/>
              <a:pPr>
                <a:defRPr/>
              </a:pPr>
              <a:t>‹#›</a:t>
            </a:fld>
            <a:endParaRPr lang="en-US" altLang="en-US"/>
          </a:p>
        </p:txBody>
      </p:sp>
    </p:spTree>
    <p:extLst>
      <p:ext uri="{BB962C8B-B14F-4D97-AF65-F5344CB8AC3E}">
        <p14:creationId xmlns:p14="http://schemas.microsoft.com/office/powerpoint/2010/main" val="2672008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Pearson Education.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7C85C37B-61DF-4B8B-A03B-5DB53DD07A71}" type="slidenum">
              <a:rPr lang="en-US" altLang="en-US"/>
              <a:pPr>
                <a:defRPr/>
              </a:pPr>
              <a:t>‹#›</a:t>
            </a:fld>
            <a:endParaRPr lang="en-US" altLang="en-US"/>
          </a:p>
        </p:txBody>
      </p:sp>
    </p:spTree>
    <p:extLst>
      <p:ext uri="{BB962C8B-B14F-4D97-AF65-F5344CB8AC3E}">
        <p14:creationId xmlns:p14="http://schemas.microsoft.com/office/powerpoint/2010/main" val="2306373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Pearson Education.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62E37D0E-3BD2-41D6-9104-5AEBC7B8BBC3}" type="slidenum">
              <a:rPr lang="en-US" altLang="en-US"/>
              <a:pPr>
                <a:defRPr/>
              </a:pPr>
              <a:t>‹#›</a:t>
            </a:fld>
            <a:endParaRPr lang="en-US" altLang="en-US"/>
          </a:p>
        </p:txBody>
      </p:sp>
    </p:spTree>
    <p:extLst>
      <p:ext uri="{BB962C8B-B14F-4D97-AF65-F5344CB8AC3E}">
        <p14:creationId xmlns:p14="http://schemas.microsoft.com/office/powerpoint/2010/main" val="4281457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Pearson Education.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D60B7CF2-261F-4164-AC0C-FE12D16087AE}" type="slidenum">
              <a:rPr lang="en-US" altLang="en-US"/>
              <a:pPr>
                <a:defRPr/>
              </a:pPr>
              <a:t>‹#›</a:t>
            </a:fld>
            <a:endParaRPr lang="en-US" altLang="en-US"/>
          </a:p>
        </p:txBody>
      </p:sp>
    </p:spTree>
    <p:extLst>
      <p:ext uri="{BB962C8B-B14F-4D97-AF65-F5344CB8AC3E}">
        <p14:creationId xmlns:p14="http://schemas.microsoft.com/office/powerpoint/2010/main" val="4266658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381000"/>
            <a:ext cx="2038350" cy="5791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381000"/>
            <a:ext cx="5962650" cy="5791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Pearson Education.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BE9E300F-1054-40DF-8DF2-025EF9D4B809}" type="slidenum">
              <a:rPr lang="en-US" altLang="en-US"/>
              <a:pPr>
                <a:defRPr/>
              </a:pPr>
              <a:t>‹#›</a:t>
            </a:fld>
            <a:endParaRPr lang="en-US" altLang="en-US"/>
          </a:p>
        </p:txBody>
      </p:sp>
    </p:spTree>
    <p:extLst>
      <p:ext uri="{BB962C8B-B14F-4D97-AF65-F5344CB8AC3E}">
        <p14:creationId xmlns:p14="http://schemas.microsoft.com/office/powerpoint/2010/main" val="1208931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381000"/>
            <a:ext cx="8153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0"/>
            <a:ext cx="8153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78852" name="Rectangle 4"/>
          <p:cNvSpPr>
            <a:spLocks noGrp="1" noChangeArrowheads="1"/>
          </p:cNvSpPr>
          <p:nvPr>
            <p:ph type="ftr" sz="quarter" idx="3"/>
          </p:nvPr>
        </p:nvSpPr>
        <p:spPr bwMode="auto">
          <a:xfrm>
            <a:off x="685800" y="6248400"/>
            <a:ext cx="4191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000">
                <a:latin typeface="Arial" charset="0"/>
                <a:ea typeface="+mn-ea"/>
                <a:cs typeface="+mn-cs"/>
              </a:defRPr>
            </a:lvl1pPr>
          </a:lstStyle>
          <a:p>
            <a:pPr>
              <a:defRPr/>
            </a:pPr>
            <a:r>
              <a:rPr lang="en-US"/>
              <a:t>Copyright © 2012 Pearson Education. All rights reserved.</a:t>
            </a:r>
          </a:p>
        </p:txBody>
      </p:sp>
      <p:sp>
        <p:nvSpPr>
          <p:cNvPr id="78853" name="Rectangle 5"/>
          <p:cNvSpPr>
            <a:spLocks noGrp="1" noChangeArrowheads="1"/>
          </p:cNvSpPr>
          <p:nvPr>
            <p:ph type="sldNum" sz="quarter" idx="4"/>
          </p:nvPr>
        </p:nvSpPr>
        <p:spPr bwMode="auto">
          <a:xfrm>
            <a:off x="69342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000">
                <a:latin typeface="Arial" panose="020B0604020202020204" pitchFamily="34" charset="0"/>
                <a:ea typeface="+mn-ea"/>
                <a:cs typeface="+mn-cs"/>
              </a:defRPr>
            </a:lvl1pPr>
          </a:lstStyle>
          <a:p>
            <a:pPr>
              <a:defRPr/>
            </a:pPr>
            <a:r>
              <a:rPr lang="en-US" altLang="en-US"/>
              <a:t>1-</a:t>
            </a:r>
            <a:fld id="{035295AF-A5E9-49E8-B2AC-CD10FBBF3BD8}" type="slidenum">
              <a:rPr lang="en-US" altLang="en-US"/>
              <a:pPr>
                <a:defRPr/>
              </a:pPr>
              <a:t>‹#›</a:t>
            </a:fld>
            <a:endParaRPr lang="en-US" altLang="en-US"/>
          </a:p>
        </p:txBody>
      </p:sp>
      <p:sp>
        <p:nvSpPr>
          <p:cNvPr id="1030" name="Line 6"/>
          <p:cNvSpPr>
            <a:spLocks noChangeShapeType="1"/>
          </p:cNvSpPr>
          <p:nvPr/>
        </p:nvSpPr>
        <p:spPr bwMode="auto">
          <a:xfrm>
            <a:off x="609600" y="15240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ZA"/>
          </a:p>
        </p:txBody>
      </p:sp>
      <p:sp>
        <p:nvSpPr>
          <p:cNvPr id="1031" name="Line 7"/>
          <p:cNvSpPr>
            <a:spLocks noChangeShapeType="1"/>
          </p:cNvSpPr>
          <p:nvPr/>
        </p:nvSpPr>
        <p:spPr bwMode="auto">
          <a:xfrm>
            <a:off x="609600" y="1219200"/>
            <a:ext cx="8153400" cy="0"/>
          </a:xfrm>
          <a:prstGeom prst="line">
            <a:avLst/>
          </a:prstGeom>
          <a:noFill/>
          <a:ln w="57150">
            <a:solidFill>
              <a:srgbClr val="800000"/>
            </a:solidFill>
            <a:round/>
            <a:headEnd/>
            <a:tailEnd/>
          </a:ln>
          <a:extLst>
            <a:ext uri="{909E8E84-426E-40DD-AFC4-6F175D3DCCD1}">
              <a14:hiddenFill xmlns:a14="http://schemas.microsoft.com/office/drawing/2010/main">
                <a:noFill/>
              </a14:hiddenFill>
            </a:ext>
          </a:extLst>
        </p:spPr>
        <p:txBody>
          <a:bodyPr/>
          <a:lstStyle/>
          <a:p>
            <a:endParaRPr lang="en-ZA"/>
          </a:p>
        </p:txBody>
      </p:sp>
    </p:spTree>
  </p:cSld>
  <p:clrMap bg1="lt1" tx1="dk1" bg2="lt2" tx2="dk2" accent1="accent1" accent2="accent2" accent3="accent3" accent4="accent4" accent5="accent5" accent6="accent6" hlink="hlink" folHlink="folHlink"/>
  <p:sldLayoutIdLst>
    <p:sldLayoutId id="2147483980" r:id="rId1"/>
    <p:sldLayoutId id="2147483970" r:id="rId2"/>
    <p:sldLayoutId id="2147483971" r:id="rId3"/>
    <p:sldLayoutId id="2147483972" r:id="rId4"/>
    <p:sldLayoutId id="2147483973" r:id="rId5"/>
    <p:sldLayoutId id="2147483974" r:id="rId6"/>
    <p:sldLayoutId id="2147483975" r:id="rId7"/>
    <p:sldLayoutId id="2147483976" r:id="rId8"/>
    <p:sldLayoutId id="2147483977" r:id="rId9"/>
    <p:sldLayoutId id="2147483978" r:id="rId10"/>
    <p:sldLayoutId id="2147483979" r:id="rId11"/>
  </p:sldLayoutIdLst>
  <p:hf hdr="0" dt="0"/>
  <p:txStyles>
    <p:titleStyle>
      <a:lvl1pPr algn="l" rtl="0" eaLnBrk="0" fontAlgn="base" hangingPunct="0">
        <a:spcBef>
          <a:spcPct val="0"/>
        </a:spcBef>
        <a:spcAft>
          <a:spcPct val="0"/>
        </a:spcAft>
        <a:defRPr sz="3600">
          <a:solidFill>
            <a:srgbClr val="666699"/>
          </a:solidFill>
          <a:latin typeface="+mj-lt"/>
          <a:ea typeface="+mj-ea"/>
          <a:cs typeface="+mj-cs"/>
        </a:defRPr>
      </a:lvl1pPr>
      <a:lvl2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2pPr>
      <a:lvl3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3pPr>
      <a:lvl4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4pPr>
      <a:lvl5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5pPr>
      <a:lvl6pPr marL="4572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6pPr>
      <a:lvl7pPr marL="9144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7pPr>
      <a:lvl8pPr marL="13716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8pPr>
      <a:lvl9pPr marL="18288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9pPr>
    </p:titleStyle>
    <p:bodyStyle>
      <a:lvl1pPr marL="342900" indent="-342900" algn="l" rtl="0" eaLnBrk="0" fontAlgn="base" hangingPunct="0">
        <a:spcBef>
          <a:spcPct val="20000"/>
        </a:spcBef>
        <a:spcAft>
          <a:spcPct val="0"/>
        </a:spcAft>
        <a:buChar char="•"/>
        <a:defRPr sz="2800">
          <a:solidFill>
            <a:srgbClr val="333399"/>
          </a:solidFill>
          <a:latin typeface="+mn-lt"/>
          <a:ea typeface="+mn-ea"/>
          <a:cs typeface="+mn-cs"/>
        </a:defRPr>
      </a:lvl1pPr>
      <a:lvl2pPr marL="742950" indent="-285750" algn="l" rtl="0" eaLnBrk="0" fontAlgn="base" hangingPunct="0">
        <a:spcBef>
          <a:spcPct val="20000"/>
        </a:spcBef>
        <a:spcAft>
          <a:spcPct val="0"/>
        </a:spcAft>
        <a:buChar char="–"/>
        <a:defRPr sz="2400">
          <a:solidFill>
            <a:srgbClr val="333399"/>
          </a:solidFill>
          <a:latin typeface="+mn-lt"/>
          <a:ea typeface="+mn-ea"/>
          <a:cs typeface="+mn-cs"/>
        </a:defRPr>
      </a:lvl2pPr>
      <a:lvl3pPr marL="1143000" indent="-228600" algn="l" rtl="0" eaLnBrk="0" fontAlgn="base" hangingPunct="0">
        <a:spcBef>
          <a:spcPct val="20000"/>
        </a:spcBef>
        <a:spcAft>
          <a:spcPct val="0"/>
        </a:spcAft>
        <a:buChar char="•"/>
        <a:defRPr sz="21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a:solidFill>
            <a:srgbClr val="333399"/>
          </a:solidFill>
          <a:latin typeface="+mn-lt"/>
          <a:ea typeface="+mn-ea"/>
          <a:cs typeface="+mn-cs"/>
        </a:defRPr>
      </a:lvl4pPr>
      <a:lvl5pPr marL="2057400" indent="-228600" algn="l" rtl="0" eaLnBrk="0" fontAlgn="base" hangingPunct="0">
        <a:spcBef>
          <a:spcPct val="20000"/>
        </a:spcBef>
        <a:spcAft>
          <a:spcPct val="0"/>
        </a:spcAft>
        <a:buChar char="»"/>
        <a:defRPr sz="2000">
          <a:solidFill>
            <a:srgbClr val="666699"/>
          </a:solidFill>
          <a:latin typeface="+mn-lt"/>
          <a:ea typeface="+mn-ea"/>
          <a:cs typeface="+mn-cs"/>
        </a:defRPr>
      </a:lvl5pPr>
      <a:lvl6pPr marL="2514600" indent="-228600" algn="l" rtl="0" fontAlgn="base">
        <a:spcBef>
          <a:spcPct val="20000"/>
        </a:spcBef>
        <a:spcAft>
          <a:spcPct val="0"/>
        </a:spcAft>
        <a:buChar char="»"/>
        <a:defRPr>
          <a:solidFill>
            <a:srgbClr val="666699"/>
          </a:solidFill>
          <a:latin typeface="+mn-lt"/>
          <a:ea typeface="+mn-ea"/>
          <a:cs typeface="+mn-cs"/>
        </a:defRPr>
      </a:lvl6pPr>
      <a:lvl7pPr marL="2971800" indent="-228600" algn="l" rtl="0" fontAlgn="base">
        <a:spcBef>
          <a:spcPct val="20000"/>
        </a:spcBef>
        <a:spcAft>
          <a:spcPct val="0"/>
        </a:spcAft>
        <a:buChar char="»"/>
        <a:defRPr>
          <a:solidFill>
            <a:srgbClr val="666699"/>
          </a:solidFill>
          <a:latin typeface="+mn-lt"/>
          <a:ea typeface="+mn-ea"/>
          <a:cs typeface="+mn-cs"/>
        </a:defRPr>
      </a:lvl7pPr>
      <a:lvl8pPr marL="3429000" indent="-228600" algn="l" rtl="0" fontAlgn="base">
        <a:spcBef>
          <a:spcPct val="20000"/>
        </a:spcBef>
        <a:spcAft>
          <a:spcPct val="0"/>
        </a:spcAft>
        <a:buChar char="»"/>
        <a:defRPr>
          <a:solidFill>
            <a:srgbClr val="666699"/>
          </a:solidFill>
          <a:latin typeface="+mn-lt"/>
          <a:ea typeface="+mn-ea"/>
          <a:cs typeface="+mn-cs"/>
        </a:defRPr>
      </a:lvl8pPr>
      <a:lvl9pPr marL="3886200" indent="-228600" algn="l" rtl="0" fontAlgn="base">
        <a:spcBef>
          <a:spcPct val="20000"/>
        </a:spcBef>
        <a:spcAft>
          <a:spcPct val="0"/>
        </a:spcAft>
        <a:buChar char="»"/>
        <a:defRPr>
          <a:solidFill>
            <a:srgbClr val="666699"/>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p:cNvSpPr>
            <a:spLocks noGrp="1" noChangeArrowheads="1"/>
          </p:cNvSpPr>
          <p:nvPr>
            <p:ph type="ctrTitle"/>
          </p:nvPr>
        </p:nvSpPr>
        <p:spPr/>
        <p:txBody>
          <a:bodyPr/>
          <a:lstStyle/>
          <a:p>
            <a:pPr eaLnBrk="1" hangingPunct="1"/>
            <a:r>
              <a:rPr lang="en-US" altLang="en-US" dirty="0" smtClean="0"/>
              <a:t>Chapter 2</a:t>
            </a:r>
            <a:br>
              <a:rPr lang="en-US" altLang="en-US" dirty="0" smtClean="0"/>
            </a:br>
            <a:r>
              <a:rPr lang="en-US" altLang="en-US" sz="2800" dirty="0" smtClean="0"/>
              <a:t>Part 3</a:t>
            </a:r>
          </a:p>
        </p:txBody>
      </p:sp>
      <p:sp>
        <p:nvSpPr>
          <p:cNvPr id="4099" name="Rectangle 5"/>
          <p:cNvSpPr>
            <a:spLocks noGrp="1" noChangeArrowheads="1"/>
          </p:cNvSpPr>
          <p:nvPr>
            <p:ph type="subTitle" idx="1"/>
          </p:nvPr>
        </p:nvSpPr>
        <p:spPr/>
        <p:txBody>
          <a:bodyPr/>
          <a:lstStyle/>
          <a:p>
            <a:pPr eaLnBrk="1" hangingPunct="1"/>
            <a:r>
              <a:rPr lang="en-US" altLang="en-US" dirty="0" smtClean="0"/>
              <a:t>Evolution of the Major Programming Languages</a:t>
            </a:r>
          </a:p>
          <a:p>
            <a:pPr eaLnBrk="1" hangingPunct="1"/>
            <a:endParaRPr lang="en-US" altLang="en-US" dirty="0" smtClean="0"/>
          </a:p>
        </p:txBody>
      </p:sp>
      <p:pic>
        <p:nvPicPr>
          <p:cNvPr id="5" name="Picture 8" descr="Front Cover: Concepts of Programming Languages, Global Edition, by Robert W Sebesta&#1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19600" y="0"/>
            <a:ext cx="4724400" cy="5867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1800043B-CD73-4BE7-B80F-8287079C51F0}" type="slidenum">
              <a:rPr lang="en-US" altLang="en-US" sz="1000" smtClean="0">
                <a:solidFill>
                  <a:schemeClr val="tx1"/>
                </a:solidFill>
                <a:latin typeface="Arial" panose="020B0604020202020204" pitchFamily="34" charset="0"/>
              </a:rPr>
              <a:pPr>
                <a:spcBef>
                  <a:spcPct val="0"/>
                </a:spcBef>
                <a:buFontTx/>
                <a:buNone/>
              </a:pPr>
              <a:t>2</a:t>
            </a:fld>
            <a:endParaRPr lang="en-US" altLang="en-US" sz="1000" smtClean="0">
              <a:solidFill>
                <a:schemeClr val="tx1"/>
              </a:solidFill>
              <a:latin typeface="Arial" panose="020B0604020202020204" pitchFamily="34" charset="0"/>
            </a:endParaRPr>
          </a:p>
        </p:txBody>
      </p:sp>
      <p:sp>
        <p:nvSpPr>
          <p:cNvPr id="8195" name="Rectangle 2"/>
          <p:cNvSpPr>
            <a:spLocks noGrp="1" noChangeArrowheads="1"/>
          </p:cNvSpPr>
          <p:nvPr>
            <p:ph type="title"/>
          </p:nvPr>
        </p:nvSpPr>
        <p:spPr/>
        <p:txBody>
          <a:bodyPr/>
          <a:lstStyle/>
          <a:p>
            <a:pPr eaLnBrk="1" hangingPunct="1"/>
            <a:r>
              <a:rPr lang="en-US" altLang="en-US" dirty="0" smtClean="0"/>
              <a:t>Chapter 2 Topics</a:t>
            </a:r>
          </a:p>
        </p:txBody>
      </p:sp>
      <p:sp>
        <p:nvSpPr>
          <p:cNvPr id="8196" name="Rectangle 3"/>
          <p:cNvSpPr>
            <a:spLocks noGrp="1" noChangeArrowheads="1"/>
          </p:cNvSpPr>
          <p:nvPr>
            <p:ph type="body" idx="1"/>
          </p:nvPr>
        </p:nvSpPr>
        <p:spPr/>
        <p:txBody>
          <a:bodyPr/>
          <a:lstStyle/>
          <a:p>
            <a:pPr marL="533400" indent="-533400" eaLnBrk="1" hangingPunct="1"/>
            <a:r>
              <a:rPr lang="en-US" altLang="en-US" sz="2400" dirty="0" smtClean="0"/>
              <a:t>Orthogonal Design: ALGOL 68</a:t>
            </a:r>
          </a:p>
          <a:p>
            <a:pPr marL="533400" indent="-533400" eaLnBrk="1" hangingPunct="1"/>
            <a:r>
              <a:rPr lang="en-US" altLang="en-US" sz="2400" dirty="0" smtClean="0"/>
              <a:t>Some Early Descendants of the ALGOLs</a:t>
            </a:r>
          </a:p>
          <a:p>
            <a:pPr marL="533400" indent="-533400" eaLnBrk="1" hangingPunct="1"/>
            <a:r>
              <a:rPr lang="en-US" altLang="en-US" sz="2400" dirty="0" smtClean="0"/>
              <a:t>Programming Based on Logic: Prolog</a:t>
            </a:r>
          </a:p>
          <a:p>
            <a:pPr marL="533400" indent="-533400" eaLnBrk="1" hangingPunct="1"/>
            <a:r>
              <a:rPr lang="en-US" altLang="en-US" sz="2400" dirty="0" smtClean="0"/>
              <a:t>History's Largest Design Effort: Ada</a:t>
            </a:r>
          </a:p>
          <a:p>
            <a:pPr marL="533400" indent="-533400" eaLnBrk="1" hangingPunct="1">
              <a:lnSpc>
                <a:spcPct val="90000"/>
              </a:lnSpc>
            </a:pPr>
            <a:r>
              <a:rPr lang="en-US" altLang="en-US" sz="2400" dirty="0"/>
              <a:t>Object-Oriented Programming: Smalltalk</a:t>
            </a:r>
          </a:p>
          <a:p>
            <a:pPr marL="533400" indent="-533400" eaLnBrk="1" hangingPunct="1">
              <a:lnSpc>
                <a:spcPct val="90000"/>
              </a:lnSpc>
            </a:pPr>
            <a:r>
              <a:rPr lang="en-US" altLang="en-US" sz="2400" dirty="0"/>
              <a:t>Combining Imperative </a:t>
            </a:r>
            <a:r>
              <a:rPr lang="en-US" altLang="en-US" sz="2400" dirty="0" smtClean="0"/>
              <a:t>and OO </a:t>
            </a:r>
            <a:r>
              <a:rPr lang="en-US" altLang="en-US" sz="2400" dirty="0"/>
              <a:t>Features: C++</a:t>
            </a:r>
          </a:p>
          <a:p>
            <a:pPr marL="533400" indent="-533400" eaLnBrk="1" hangingPunct="1">
              <a:lnSpc>
                <a:spcPct val="90000"/>
              </a:lnSpc>
            </a:pPr>
            <a:r>
              <a:rPr lang="en-US" altLang="en-US" sz="2400" dirty="0"/>
              <a:t>An Imperative-Based </a:t>
            </a:r>
            <a:r>
              <a:rPr lang="en-US" altLang="en-US" sz="2400" dirty="0" smtClean="0"/>
              <a:t>OO </a:t>
            </a:r>
            <a:r>
              <a:rPr lang="en-US" altLang="en-US" sz="2400" dirty="0"/>
              <a:t>Language: Java</a:t>
            </a:r>
          </a:p>
          <a:p>
            <a:pPr marL="533400" indent="-533400" eaLnBrk="1" hangingPunct="1">
              <a:lnSpc>
                <a:spcPct val="90000"/>
              </a:lnSpc>
            </a:pPr>
            <a:r>
              <a:rPr lang="en-US" altLang="en-US" sz="2400" dirty="0"/>
              <a:t>Scripting Languages</a:t>
            </a:r>
          </a:p>
          <a:p>
            <a:pPr marL="533400" indent="-533400" eaLnBrk="1" hangingPunct="1">
              <a:lnSpc>
                <a:spcPct val="90000"/>
              </a:lnSpc>
            </a:pPr>
            <a:r>
              <a:rPr lang="en-US" altLang="en-US" sz="2400" dirty="0"/>
              <a:t>The Flagship .NET Language: C#</a:t>
            </a:r>
          </a:p>
          <a:p>
            <a:pPr marL="533400" indent="-533400" eaLnBrk="1" hangingPunct="1">
              <a:lnSpc>
                <a:spcPct val="90000"/>
              </a:lnSpc>
            </a:pPr>
            <a:r>
              <a:rPr lang="en-US" altLang="en-US" sz="2400" dirty="0"/>
              <a:t>Markup/Programming Hybrid Languages</a:t>
            </a:r>
            <a:endParaRPr lang="en-US" altLang="en-US" sz="2400" dirty="0" smtClean="0"/>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Genealogy of Common Languages</a:t>
            </a:r>
            <a:endParaRPr lang="en-ZA" dirty="0"/>
          </a:p>
        </p:txBody>
      </p:sp>
      <p:sp>
        <p:nvSpPr>
          <p:cNvPr id="3" name="Footer Placeholder 2"/>
          <p:cNvSpPr>
            <a:spLocks noGrp="1"/>
          </p:cNvSpPr>
          <p:nvPr>
            <p:ph type="ftr" sz="quarter" idx="10"/>
          </p:nvPr>
        </p:nvSpPr>
        <p:spPr/>
        <p:txBody>
          <a:bodyPr/>
          <a:lstStyle/>
          <a:p>
            <a:pPr>
              <a:defRPr/>
            </a:pPr>
            <a:r>
              <a:rPr lang="en-US" dirty="0" smtClean="0"/>
              <a:t>Copyright © 2023 Pearson Education, Ltd. All rights reserved.</a:t>
            </a:r>
            <a:endParaRPr lang="en-US" dirty="0"/>
          </a:p>
        </p:txBody>
      </p:sp>
      <p:sp>
        <p:nvSpPr>
          <p:cNvPr id="4" name="Slide Number Placeholder 3"/>
          <p:cNvSpPr>
            <a:spLocks noGrp="1"/>
          </p:cNvSpPr>
          <p:nvPr>
            <p:ph type="sldNum" sz="quarter" idx="11"/>
          </p:nvPr>
        </p:nvSpPr>
        <p:spPr/>
        <p:txBody>
          <a:bodyPr/>
          <a:lstStyle/>
          <a:p>
            <a:pPr>
              <a:defRPr/>
            </a:pPr>
            <a:r>
              <a:rPr lang="en-US" altLang="en-US" smtClean="0"/>
              <a:t>1-</a:t>
            </a:r>
            <a:fld id="{E71443BC-02B8-4462-90C2-32D7E4229D90}" type="slidenum">
              <a:rPr lang="en-US" altLang="en-US" smtClean="0"/>
              <a:pPr>
                <a:defRPr/>
              </a:pPr>
              <a:t>3</a:t>
            </a:fld>
            <a:endParaRPr lang="en-US" altLang="en-US"/>
          </a:p>
        </p:txBody>
      </p:sp>
      <p:pic>
        <p:nvPicPr>
          <p:cNvPr id="5" name="Picture 1"/>
          <p:cNvPicPr>
            <a:picLocks noChangeAspect="1"/>
          </p:cNvPicPr>
          <p:nvPr/>
        </p:nvPicPr>
        <p:blipFill>
          <a:blip r:embed="rId2">
            <a:extLst>
              <a:ext uri="{28A0092B-C50C-407E-A947-70E740481C1C}">
                <a14:useLocalDpi xmlns:a14="http://schemas.microsoft.com/office/drawing/2010/main" val="0"/>
              </a:ext>
            </a:extLst>
          </a:blip>
          <a:srcRect l="584" r="18565" b="36552"/>
          <a:stretch>
            <a:fillRect/>
          </a:stretch>
        </p:blipFill>
        <p:spPr bwMode="auto">
          <a:xfrm>
            <a:off x="2017713" y="1371600"/>
            <a:ext cx="4992687"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p:cNvCxnSpPr/>
          <p:nvPr/>
        </p:nvCxnSpPr>
        <p:spPr bwMode="auto">
          <a:xfrm>
            <a:off x="3220720" y="2651760"/>
            <a:ext cx="22860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9" name="Straight Connector 8"/>
          <p:cNvCxnSpPr/>
          <p:nvPr/>
        </p:nvCxnSpPr>
        <p:spPr bwMode="auto">
          <a:xfrm>
            <a:off x="2519680" y="2834640"/>
            <a:ext cx="22860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10" name="Straight Connector 9"/>
          <p:cNvCxnSpPr/>
          <p:nvPr/>
        </p:nvCxnSpPr>
        <p:spPr bwMode="auto">
          <a:xfrm>
            <a:off x="3510280" y="2402840"/>
            <a:ext cx="41656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11" name="Straight Connector 10"/>
          <p:cNvCxnSpPr/>
          <p:nvPr/>
        </p:nvCxnSpPr>
        <p:spPr bwMode="auto">
          <a:xfrm>
            <a:off x="3642360" y="3657600"/>
            <a:ext cx="28448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12" name="Straight Connector 11"/>
          <p:cNvCxnSpPr/>
          <p:nvPr/>
        </p:nvCxnSpPr>
        <p:spPr bwMode="auto">
          <a:xfrm>
            <a:off x="4033520" y="3413760"/>
            <a:ext cx="45212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13" name="Straight Connector 12"/>
          <p:cNvCxnSpPr/>
          <p:nvPr/>
        </p:nvCxnSpPr>
        <p:spPr bwMode="auto">
          <a:xfrm>
            <a:off x="4836160" y="2682240"/>
            <a:ext cx="7620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14" name="Straight Connector 13"/>
          <p:cNvCxnSpPr/>
          <p:nvPr/>
        </p:nvCxnSpPr>
        <p:spPr bwMode="auto">
          <a:xfrm>
            <a:off x="4826000" y="3835400"/>
            <a:ext cx="15240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15" name="Straight Connector 14"/>
          <p:cNvCxnSpPr/>
          <p:nvPr/>
        </p:nvCxnSpPr>
        <p:spPr bwMode="auto">
          <a:xfrm>
            <a:off x="4216400" y="3947160"/>
            <a:ext cx="17780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16" name="Straight Connector 15"/>
          <p:cNvCxnSpPr/>
          <p:nvPr/>
        </p:nvCxnSpPr>
        <p:spPr bwMode="auto">
          <a:xfrm>
            <a:off x="5252720" y="4196080"/>
            <a:ext cx="47244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17" name="Straight Connector 16"/>
          <p:cNvCxnSpPr/>
          <p:nvPr/>
        </p:nvCxnSpPr>
        <p:spPr bwMode="auto">
          <a:xfrm>
            <a:off x="5430520" y="4414520"/>
            <a:ext cx="30480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18" name="Straight Connector 17"/>
          <p:cNvCxnSpPr/>
          <p:nvPr/>
        </p:nvCxnSpPr>
        <p:spPr bwMode="auto">
          <a:xfrm>
            <a:off x="5958840" y="5120640"/>
            <a:ext cx="38100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19" name="Straight Connector 18"/>
          <p:cNvCxnSpPr/>
          <p:nvPr/>
        </p:nvCxnSpPr>
        <p:spPr bwMode="auto">
          <a:xfrm>
            <a:off x="5273040" y="5034280"/>
            <a:ext cx="15240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20" name="Straight Connector 19"/>
          <p:cNvCxnSpPr/>
          <p:nvPr/>
        </p:nvCxnSpPr>
        <p:spPr bwMode="auto">
          <a:xfrm>
            <a:off x="5181600" y="5135880"/>
            <a:ext cx="10160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21" name="Straight Connector 20"/>
          <p:cNvCxnSpPr/>
          <p:nvPr/>
        </p:nvCxnSpPr>
        <p:spPr bwMode="auto">
          <a:xfrm>
            <a:off x="4800600" y="4632960"/>
            <a:ext cx="17780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22" name="Straight Connector 21"/>
          <p:cNvCxnSpPr/>
          <p:nvPr/>
        </p:nvCxnSpPr>
        <p:spPr bwMode="auto">
          <a:xfrm>
            <a:off x="4409440" y="4688840"/>
            <a:ext cx="17780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23" name="Straight Connector 22"/>
          <p:cNvCxnSpPr/>
          <p:nvPr/>
        </p:nvCxnSpPr>
        <p:spPr bwMode="auto">
          <a:xfrm>
            <a:off x="3952240" y="4607560"/>
            <a:ext cx="18796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24" name="Straight Connector 23"/>
          <p:cNvCxnSpPr/>
          <p:nvPr/>
        </p:nvCxnSpPr>
        <p:spPr bwMode="auto">
          <a:xfrm>
            <a:off x="3942080" y="4866640"/>
            <a:ext cx="33528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25" name="Straight Connector 24"/>
          <p:cNvCxnSpPr/>
          <p:nvPr/>
        </p:nvCxnSpPr>
        <p:spPr bwMode="auto">
          <a:xfrm>
            <a:off x="3637280" y="4693920"/>
            <a:ext cx="28448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26" name="Straight Connector 25"/>
          <p:cNvCxnSpPr/>
          <p:nvPr/>
        </p:nvCxnSpPr>
        <p:spPr bwMode="auto">
          <a:xfrm>
            <a:off x="3423920" y="4597400"/>
            <a:ext cx="16764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30" name="Straight Connector 29"/>
          <p:cNvCxnSpPr/>
          <p:nvPr/>
        </p:nvCxnSpPr>
        <p:spPr bwMode="auto">
          <a:xfrm>
            <a:off x="3622040" y="5593080"/>
            <a:ext cx="37592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31" name="Straight Connector 30"/>
          <p:cNvCxnSpPr/>
          <p:nvPr/>
        </p:nvCxnSpPr>
        <p:spPr bwMode="auto">
          <a:xfrm>
            <a:off x="3616960" y="6207760"/>
            <a:ext cx="37592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32" name="Straight Connector 31"/>
          <p:cNvCxnSpPr/>
          <p:nvPr/>
        </p:nvCxnSpPr>
        <p:spPr bwMode="auto">
          <a:xfrm>
            <a:off x="4384040" y="5450840"/>
            <a:ext cx="33528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33" name="Straight Connector 32"/>
          <p:cNvCxnSpPr/>
          <p:nvPr/>
        </p:nvCxnSpPr>
        <p:spPr bwMode="auto">
          <a:xfrm>
            <a:off x="4378960" y="5847080"/>
            <a:ext cx="33528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34" name="Straight Connector 33"/>
          <p:cNvCxnSpPr/>
          <p:nvPr/>
        </p:nvCxnSpPr>
        <p:spPr bwMode="auto">
          <a:xfrm>
            <a:off x="5019040" y="5476240"/>
            <a:ext cx="30480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35" name="Straight Connector 34"/>
          <p:cNvCxnSpPr/>
          <p:nvPr/>
        </p:nvCxnSpPr>
        <p:spPr bwMode="auto">
          <a:xfrm>
            <a:off x="5019040" y="5679440"/>
            <a:ext cx="30480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36" name="Straight Connector 35"/>
          <p:cNvCxnSpPr/>
          <p:nvPr/>
        </p:nvCxnSpPr>
        <p:spPr bwMode="auto">
          <a:xfrm>
            <a:off x="5013960" y="5963920"/>
            <a:ext cx="30480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37" name="Straight Connector 36"/>
          <p:cNvCxnSpPr/>
          <p:nvPr/>
        </p:nvCxnSpPr>
        <p:spPr bwMode="auto">
          <a:xfrm>
            <a:off x="5013960" y="6405880"/>
            <a:ext cx="30480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38" name="Straight Connector 37"/>
          <p:cNvCxnSpPr/>
          <p:nvPr/>
        </p:nvCxnSpPr>
        <p:spPr bwMode="auto">
          <a:xfrm>
            <a:off x="5974080" y="5715000"/>
            <a:ext cx="38100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39" name="Straight Connector 38"/>
          <p:cNvCxnSpPr/>
          <p:nvPr/>
        </p:nvCxnSpPr>
        <p:spPr bwMode="auto">
          <a:xfrm>
            <a:off x="5455920" y="5669280"/>
            <a:ext cx="27940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41" name="Straight Connector 40"/>
          <p:cNvCxnSpPr/>
          <p:nvPr/>
        </p:nvCxnSpPr>
        <p:spPr bwMode="auto">
          <a:xfrm>
            <a:off x="5455920" y="5775960"/>
            <a:ext cx="27940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42" name="Straight Connector 41"/>
          <p:cNvCxnSpPr/>
          <p:nvPr/>
        </p:nvCxnSpPr>
        <p:spPr bwMode="auto">
          <a:xfrm>
            <a:off x="5461000" y="5897880"/>
            <a:ext cx="27940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43" name="Straight Connector 42"/>
          <p:cNvCxnSpPr/>
          <p:nvPr/>
        </p:nvCxnSpPr>
        <p:spPr bwMode="auto">
          <a:xfrm>
            <a:off x="5461000" y="6197600"/>
            <a:ext cx="279400"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443781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6E9C3338-3FD6-4225-92AB-FA7DB03682C8}" type="slidenum">
              <a:rPr lang="en-US" altLang="en-US" sz="1000" smtClean="0">
                <a:solidFill>
                  <a:schemeClr val="tx1"/>
                </a:solidFill>
                <a:latin typeface="Arial" panose="020B0604020202020204" pitchFamily="34" charset="0"/>
              </a:rPr>
              <a:pPr>
                <a:spcBef>
                  <a:spcPct val="0"/>
                </a:spcBef>
                <a:buFontTx/>
                <a:buNone/>
              </a:pPr>
              <a:t>4</a:t>
            </a:fld>
            <a:endParaRPr lang="en-US" altLang="en-US" sz="1000" smtClean="0">
              <a:solidFill>
                <a:schemeClr val="tx1"/>
              </a:solidFill>
              <a:latin typeface="Arial" panose="020B0604020202020204" pitchFamily="34" charset="0"/>
            </a:endParaRPr>
          </a:p>
        </p:txBody>
      </p:sp>
      <p:sp>
        <p:nvSpPr>
          <p:cNvPr id="102403" name="Rectangle 2"/>
          <p:cNvSpPr>
            <a:spLocks noGrp="1" noChangeArrowheads="1"/>
          </p:cNvSpPr>
          <p:nvPr>
            <p:ph type="title"/>
          </p:nvPr>
        </p:nvSpPr>
        <p:spPr/>
        <p:txBody>
          <a:bodyPr/>
          <a:lstStyle/>
          <a:p>
            <a:pPr eaLnBrk="1" hangingPunct="1"/>
            <a:r>
              <a:rPr lang="en-US" altLang="en-US" smtClean="0"/>
              <a:t>Orthogonal Design: ALGOL 68</a:t>
            </a:r>
          </a:p>
        </p:txBody>
      </p:sp>
      <p:sp>
        <p:nvSpPr>
          <p:cNvPr id="102404" name="Rectangle 3"/>
          <p:cNvSpPr>
            <a:spLocks noGrp="1" noChangeArrowheads="1"/>
          </p:cNvSpPr>
          <p:nvPr>
            <p:ph type="body" idx="1"/>
          </p:nvPr>
        </p:nvSpPr>
        <p:spPr/>
        <p:txBody>
          <a:bodyPr/>
          <a:lstStyle/>
          <a:p>
            <a:pPr eaLnBrk="1" hangingPunct="1"/>
            <a:r>
              <a:rPr lang="en-US" altLang="en-US" dirty="0" smtClean="0"/>
              <a:t>From continued development of ALGOL 60</a:t>
            </a:r>
          </a:p>
          <a:p>
            <a:pPr lvl="1" eaLnBrk="1" hangingPunct="1"/>
            <a:r>
              <a:rPr lang="en-US" altLang="en-US" dirty="0" smtClean="0"/>
              <a:t>Recall, aim of ALGOL 60: machine independence</a:t>
            </a:r>
          </a:p>
          <a:p>
            <a:pPr lvl="1" eaLnBrk="1" hangingPunct="1"/>
            <a:r>
              <a:rPr lang="en-US" altLang="en-US" dirty="0" smtClean="0"/>
              <a:t>But ALGOL 68 was very </a:t>
            </a:r>
            <a:r>
              <a:rPr lang="en-US" altLang="en-US" dirty="0" smtClean="0"/>
              <a:t>different from </a:t>
            </a:r>
            <a:r>
              <a:rPr lang="en-US" altLang="en-US" dirty="0" smtClean="0"/>
              <a:t>ALGOL 60</a:t>
            </a:r>
            <a:endParaRPr lang="en-US" altLang="en-US" dirty="0" smtClean="0"/>
          </a:p>
          <a:p>
            <a:pPr eaLnBrk="1" hangingPunct="1"/>
            <a:r>
              <a:rPr lang="en-US" altLang="en-US" dirty="0" smtClean="0"/>
              <a:t>Never achieved widespread use</a:t>
            </a:r>
          </a:p>
          <a:p>
            <a:pPr lvl="1" eaLnBrk="1" hangingPunct="1"/>
            <a:r>
              <a:rPr lang="en-US" altLang="en-US" dirty="0" smtClean="0"/>
              <a:t>But the source of several new ideas</a:t>
            </a:r>
          </a:p>
          <a:p>
            <a:pPr eaLnBrk="1" hangingPunct="1"/>
            <a:r>
              <a:rPr lang="en-US" altLang="en-US" dirty="0" smtClean="0"/>
              <a:t>Design is based on </a:t>
            </a:r>
            <a:r>
              <a:rPr lang="en-US" altLang="en-US" u="sng" dirty="0" smtClean="0"/>
              <a:t>orthogonality</a:t>
            </a:r>
          </a:p>
          <a:p>
            <a:pPr lvl="1" eaLnBrk="1" hangingPunct="1"/>
            <a:r>
              <a:rPr lang="en-US" altLang="en-US" dirty="0"/>
              <a:t>F</a:t>
            </a:r>
            <a:r>
              <a:rPr lang="en-US" altLang="en-US" dirty="0" smtClean="0"/>
              <a:t>ew </a:t>
            </a:r>
            <a:r>
              <a:rPr lang="en-US" altLang="en-US" dirty="0" smtClean="0"/>
              <a:t>basic </a:t>
            </a:r>
            <a:r>
              <a:rPr lang="en-US" altLang="en-US" dirty="0" smtClean="0"/>
              <a:t>concepts and combining mechanisms</a:t>
            </a:r>
          </a:p>
          <a:p>
            <a:pPr lvl="1" eaLnBrk="1" hangingPunct="1"/>
            <a:r>
              <a:rPr lang="en-US" altLang="en-US" dirty="0" smtClean="0"/>
              <a:t>Allowed for user-defined data structures</a:t>
            </a:r>
            <a:endParaRPr lang="en-US" altLang="en-US" dirty="0" smtClean="0"/>
          </a:p>
          <a:p>
            <a:pPr lvl="1" eaLnBrk="1" hangingPunct="1"/>
            <a:r>
              <a:rPr lang="en-US" altLang="en-US" dirty="0" smtClean="0"/>
              <a:t>How does this contrast to the PL/I approach to support general purpose data structures?</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290ABACF-9CF2-4C64-B529-7F42A9CE4445}" type="slidenum">
              <a:rPr lang="en-US" altLang="en-US" sz="1000" smtClean="0">
                <a:solidFill>
                  <a:schemeClr val="tx1"/>
                </a:solidFill>
                <a:latin typeface="Arial" panose="020B0604020202020204" pitchFamily="34" charset="0"/>
              </a:rPr>
              <a:pPr>
                <a:spcBef>
                  <a:spcPct val="0"/>
                </a:spcBef>
                <a:buFontTx/>
                <a:buNone/>
              </a:pPr>
              <a:t>5</a:t>
            </a:fld>
            <a:endParaRPr lang="en-US" altLang="en-US" sz="1000" smtClean="0">
              <a:solidFill>
                <a:schemeClr val="tx1"/>
              </a:solidFill>
              <a:latin typeface="Arial" panose="020B0604020202020204" pitchFamily="34" charset="0"/>
            </a:endParaRPr>
          </a:p>
        </p:txBody>
      </p:sp>
      <p:sp>
        <p:nvSpPr>
          <p:cNvPr id="104451" name="Rectangle 2"/>
          <p:cNvSpPr>
            <a:spLocks noGrp="1" noChangeArrowheads="1"/>
          </p:cNvSpPr>
          <p:nvPr>
            <p:ph type="title"/>
          </p:nvPr>
        </p:nvSpPr>
        <p:spPr/>
        <p:txBody>
          <a:bodyPr/>
          <a:lstStyle/>
          <a:p>
            <a:pPr eaLnBrk="1" hangingPunct="1"/>
            <a:r>
              <a:rPr lang="en-US" altLang="en-US" smtClean="0"/>
              <a:t>ALGOL 68 Evaluation</a:t>
            </a:r>
          </a:p>
        </p:txBody>
      </p:sp>
      <p:sp>
        <p:nvSpPr>
          <p:cNvPr id="104452" name="Rectangle 3"/>
          <p:cNvSpPr>
            <a:spLocks noGrp="1" noChangeArrowheads="1"/>
          </p:cNvSpPr>
          <p:nvPr>
            <p:ph type="body" idx="1"/>
          </p:nvPr>
        </p:nvSpPr>
        <p:spPr>
          <a:xfrm>
            <a:off x="609600" y="1600200"/>
            <a:ext cx="8305800" cy="4572000"/>
          </a:xfrm>
        </p:spPr>
        <p:txBody>
          <a:bodyPr/>
          <a:lstStyle/>
          <a:p>
            <a:pPr eaLnBrk="1" hangingPunct="1"/>
            <a:r>
              <a:rPr lang="en-US" altLang="en-US" dirty="0" smtClean="0"/>
              <a:t>Contributions</a:t>
            </a:r>
          </a:p>
          <a:p>
            <a:pPr lvl="1" eaLnBrk="1" hangingPunct="1"/>
            <a:r>
              <a:rPr lang="en-US" altLang="en-US" dirty="0" smtClean="0"/>
              <a:t>User-defined data structures</a:t>
            </a:r>
          </a:p>
          <a:p>
            <a:pPr lvl="1" eaLnBrk="1" hangingPunct="1"/>
            <a:r>
              <a:rPr lang="en-US" altLang="en-US" dirty="0" smtClean="0"/>
              <a:t>Reference types</a:t>
            </a:r>
          </a:p>
          <a:p>
            <a:pPr lvl="1" eaLnBrk="1" hangingPunct="1"/>
            <a:r>
              <a:rPr lang="en-US" altLang="en-US" dirty="0" smtClean="0"/>
              <a:t>Implicit heap-dynamic arrays (</a:t>
            </a:r>
            <a:r>
              <a:rPr lang="en-US" altLang="en-US" b="1" dirty="0" smtClean="0">
                <a:latin typeface="Courier New" panose="02070309020205020404" pitchFamily="49" charset="0"/>
                <a:cs typeface="Courier New" panose="02070309020205020404" pitchFamily="49" charset="0"/>
              </a:rPr>
              <a:t>flex</a:t>
            </a:r>
            <a:r>
              <a:rPr lang="en-US" altLang="en-US" dirty="0" smtClean="0"/>
              <a:t> arrays)</a:t>
            </a:r>
          </a:p>
          <a:p>
            <a:pPr eaLnBrk="1" hangingPunct="1"/>
            <a:r>
              <a:rPr lang="en-US" altLang="en-US" dirty="0" smtClean="0"/>
              <a:t>Comments</a:t>
            </a:r>
          </a:p>
          <a:p>
            <a:pPr lvl="1" eaLnBrk="1" hangingPunct="1"/>
            <a:r>
              <a:rPr lang="en-US" altLang="en-US" dirty="0" smtClean="0"/>
              <a:t>Less usage than ALGOL 60 and PL/I</a:t>
            </a:r>
          </a:p>
          <a:p>
            <a:pPr lvl="1" eaLnBrk="1" hangingPunct="1"/>
            <a:r>
              <a:rPr lang="en-US" altLang="en-US" dirty="0"/>
              <a:t>Too orthogonal in some </a:t>
            </a:r>
            <a:r>
              <a:rPr lang="en-US" altLang="en-US" dirty="0" smtClean="0"/>
              <a:t>ways</a:t>
            </a:r>
          </a:p>
          <a:p>
            <a:pPr lvl="1" eaLnBrk="1" hangingPunct="1"/>
            <a:r>
              <a:rPr lang="en-US" altLang="en-US" dirty="0" smtClean="0"/>
              <a:t>Language description in unknown</a:t>
            </a:r>
            <a:r>
              <a:rPr lang="en-US" altLang="en-US" dirty="0"/>
              <a:t> </a:t>
            </a:r>
            <a:r>
              <a:rPr lang="en-US" altLang="en-US" dirty="0" smtClean="0"/>
              <a:t>meta-language</a:t>
            </a:r>
          </a:p>
          <a:p>
            <a:pPr lvl="2" eaLnBrk="1" hangingPunct="1"/>
            <a:r>
              <a:rPr lang="en-US" altLang="en-US" dirty="0" smtClean="0"/>
              <a:t>Van </a:t>
            </a:r>
            <a:r>
              <a:rPr lang="en-US" altLang="en-US" dirty="0" err="1" smtClean="0"/>
              <a:t>Wijngaarden</a:t>
            </a:r>
            <a:r>
              <a:rPr lang="en-US" altLang="en-US" dirty="0" smtClean="0"/>
              <a:t> grammar</a:t>
            </a:r>
          </a:p>
          <a:p>
            <a:pPr lvl="1" eaLnBrk="1" hangingPunct="1"/>
            <a:r>
              <a:rPr lang="en-US" altLang="en-US" dirty="0" smtClean="0"/>
              <a:t>Had strong influence on subsequent languages</a:t>
            </a:r>
          </a:p>
          <a:p>
            <a:pPr lvl="2" eaLnBrk="1" hangingPunct="1"/>
            <a:r>
              <a:rPr lang="en-US" altLang="en-US" dirty="0"/>
              <a:t>E</a:t>
            </a:r>
            <a:r>
              <a:rPr lang="en-US" altLang="en-US" dirty="0" smtClean="0"/>
              <a:t>specially Pascal, C, and Ada</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803FFC7D-BFCE-4057-B91B-E0F0E0C5E54B}" type="slidenum">
              <a:rPr lang="en-US" altLang="en-US" sz="1000" smtClean="0">
                <a:solidFill>
                  <a:schemeClr val="tx1"/>
                </a:solidFill>
                <a:latin typeface="Arial" panose="020B0604020202020204" pitchFamily="34" charset="0"/>
              </a:rPr>
              <a:pPr>
                <a:spcBef>
                  <a:spcPct val="0"/>
                </a:spcBef>
                <a:buFontTx/>
                <a:buNone/>
              </a:pPr>
              <a:t>6</a:t>
            </a:fld>
            <a:endParaRPr lang="en-US" altLang="en-US" sz="1000" smtClean="0">
              <a:solidFill>
                <a:schemeClr val="tx1"/>
              </a:solidFill>
              <a:latin typeface="Arial" panose="020B0604020202020204" pitchFamily="34" charset="0"/>
            </a:endParaRPr>
          </a:p>
        </p:txBody>
      </p:sp>
      <p:sp>
        <p:nvSpPr>
          <p:cNvPr id="106499" name="Rectangle 2"/>
          <p:cNvSpPr>
            <a:spLocks noGrp="1" noChangeArrowheads="1"/>
          </p:cNvSpPr>
          <p:nvPr>
            <p:ph type="title"/>
          </p:nvPr>
        </p:nvSpPr>
        <p:spPr/>
        <p:txBody>
          <a:bodyPr/>
          <a:lstStyle/>
          <a:p>
            <a:pPr eaLnBrk="1" hangingPunct="1"/>
            <a:r>
              <a:rPr lang="en-US" altLang="en-US" smtClean="0"/>
              <a:t>Pascal</a:t>
            </a:r>
          </a:p>
        </p:txBody>
      </p:sp>
      <p:sp>
        <p:nvSpPr>
          <p:cNvPr id="106500" name="Rectangle 3"/>
          <p:cNvSpPr>
            <a:spLocks noGrp="1" noChangeArrowheads="1"/>
          </p:cNvSpPr>
          <p:nvPr>
            <p:ph type="body" idx="1"/>
          </p:nvPr>
        </p:nvSpPr>
        <p:spPr/>
        <p:txBody>
          <a:bodyPr/>
          <a:lstStyle/>
          <a:p>
            <a:pPr eaLnBrk="1" hangingPunct="1"/>
            <a:r>
              <a:rPr lang="en-US" altLang="en-US" dirty="0" smtClean="0"/>
              <a:t>Developed in 1971 by Wirth</a:t>
            </a:r>
          </a:p>
          <a:p>
            <a:pPr lvl="1" eaLnBrk="1" hangingPunct="1"/>
            <a:r>
              <a:rPr lang="en-US" altLang="en-US" dirty="0" smtClean="0"/>
              <a:t>A former member of the ALGOL 68 committee</a:t>
            </a:r>
          </a:p>
          <a:p>
            <a:pPr eaLnBrk="1" hangingPunct="1"/>
            <a:r>
              <a:rPr lang="en-US" altLang="en-US" dirty="0" smtClean="0"/>
              <a:t>Characteristics</a:t>
            </a:r>
          </a:p>
          <a:p>
            <a:pPr lvl="1" eaLnBrk="1" hangingPunct="1"/>
            <a:r>
              <a:rPr lang="en-US" altLang="en-US" dirty="0" smtClean="0"/>
              <a:t>Small and simple</a:t>
            </a:r>
          </a:p>
          <a:p>
            <a:pPr lvl="1" eaLnBrk="1" hangingPunct="1"/>
            <a:r>
              <a:rPr lang="en-US" altLang="en-US" dirty="0" smtClean="0"/>
              <a:t>Nothing really new</a:t>
            </a:r>
          </a:p>
          <a:p>
            <a:pPr lvl="1" eaLnBrk="1" hangingPunct="1"/>
            <a:r>
              <a:rPr lang="en-US" altLang="en-US" dirty="0" smtClean="0"/>
              <a:t>For teaching structured programming</a:t>
            </a:r>
          </a:p>
          <a:p>
            <a:pPr lvl="2" eaLnBrk="1" hangingPunct="1"/>
            <a:r>
              <a:rPr lang="en-US" altLang="en-US" dirty="0" smtClean="0"/>
              <a:t>From mid-1970s until the late 1990s, the most widely used language for teaching programming</a:t>
            </a:r>
          </a:p>
          <a:p>
            <a:pPr lvl="2" eaLnBrk="1" hangingPunct="1"/>
            <a:r>
              <a:rPr lang="en-US" altLang="en-US" dirty="0" smtClean="0"/>
              <a:t>Still used in South African schools in the early 2000s</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02114AF0-CFAB-4FD3-8D66-AC04115B8444}" type="slidenum">
              <a:rPr lang="en-US" altLang="en-US" sz="1000" smtClean="0">
                <a:solidFill>
                  <a:schemeClr val="tx1"/>
                </a:solidFill>
                <a:latin typeface="Arial" panose="020B0604020202020204" pitchFamily="34" charset="0"/>
              </a:rPr>
              <a:pPr>
                <a:spcBef>
                  <a:spcPct val="0"/>
                </a:spcBef>
                <a:buFontTx/>
                <a:buNone/>
              </a:pPr>
              <a:t>7</a:t>
            </a:fld>
            <a:endParaRPr lang="en-US" altLang="en-US" sz="1000" smtClean="0">
              <a:solidFill>
                <a:schemeClr val="tx1"/>
              </a:solidFill>
              <a:latin typeface="Arial" panose="020B0604020202020204" pitchFamily="34" charset="0"/>
            </a:endParaRPr>
          </a:p>
        </p:txBody>
      </p:sp>
      <p:sp>
        <p:nvSpPr>
          <p:cNvPr id="108547" name="Rectangle 2"/>
          <p:cNvSpPr>
            <a:spLocks noGrp="1" noChangeArrowheads="1"/>
          </p:cNvSpPr>
          <p:nvPr>
            <p:ph type="title"/>
          </p:nvPr>
        </p:nvSpPr>
        <p:spPr/>
        <p:txBody>
          <a:bodyPr/>
          <a:lstStyle/>
          <a:p>
            <a:pPr eaLnBrk="1" hangingPunct="1"/>
            <a:r>
              <a:rPr lang="en-US" altLang="en-US" smtClean="0"/>
              <a:t>C</a:t>
            </a:r>
          </a:p>
        </p:txBody>
      </p:sp>
      <p:sp>
        <p:nvSpPr>
          <p:cNvPr id="108548" name="Rectangle 3"/>
          <p:cNvSpPr>
            <a:spLocks noGrp="1" noChangeArrowheads="1"/>
          </p:cNvSpPr>
          <p:nvPr>
            <p:ph type="body" idx="1"/>
          </p:nvPr>
        </p:nvSpPr>
        <p:spPr/>
        <p:txBody>
          <a:bodyPr/>
          <a:lstStyle/>
          <a:p>
            <a:pPr eaLnBrk="1" hangingPunct="1"/>
            <a:r>
              <a:rPr lang="en-US" altLang="en-US" dirty="0" smtClean="0"/>
              <a:t>Developed in 1972 by Dennis Richie</a:t>
            </a:r>
          </a:p>
          <a:p>
            <a:pPr lvl="1" eaLnBrk="1" hangingPunct="1"/>
            <a:r>
              <a:rPr lang="en-US" altLang="en-US" dirty="0" smtClean="0"/>
              <a:t>For systems programming at Bell Labs</a:t>
            </a:r>
          </a:p>
          <a:p>
            <a:pPr lvl="1" eaLnBrk="1" hangingPunct="1"/>
            <a:r>
              <a:rPr lang="en-US" altLang="en-US" dirty="0" smtClean="0"/>
              <a:t>Evolved from several languages</a:t>
            </a:r>
          </a:p>
          <a:p>
            <a:pPr lvl="2" eaLnBrk="1" hangingPunct="1"/>
            <a:r>
              <a:rPr lang="en-US" altLang="en-US" dirty="0" smtClean="0"/>
              <a:t>Primarily CPL, BCPL and B</a:t>
            </a:r>
          </a:p>
          <a:p>
            <a:pPr lvl="2" eaLnBrk="1" hangingPunct="1"/>
            <a:r>
              <a:rPr lang="en-US" altLang="en-US" dirty="0"/>
              <a:t>B</a:t>
            </a:r>
            <a:r>
              <a:rPr lang="en-US" altLang="en-US" dirty="0" smtClean="0"/>
              <a:t>ut also from ALGOL 68</a:t>
            </a:r>
          </a:p>
          <a:p>
            <a:pPr lvl="1" eaLnBrk="1" hangingPunct="1"/>
            <a:r>
              <a:rPr lang="en-US" altLang="en-US" dirty="0" smtClean="0"/>
              <a:t>Powerful set of operators and functions</a:t>
            </a:r>
          </a:p>
          <a:p>
            <a:pPr lvl="1" eaLnBrk="1" hangingPunct="1"/>
            <a:r>
              <a:rPr lang="en-US" altLang="en-US" dirty="0" smtClean="0"/>
              <a:t>Poor type checking and other unsafe features</a:t>
            </a:r>
          </a:p>
          <a:p>
            <a:pPr lvl="1" eaLnBrk="1" hangingPunct="1"/>
            <a:r>
              <a:rPr lang="en-US" altLang="en-US" dirty="0" smtClean="0"/>
              <a:t>Initially spread through UNIX</a:t>
            </a:r>
          </a:p>
          <a:p>
            <a:pPr lvl="1" eaLnBrk="1" hangingPunct="1"/>
            <a:r>
              <a:rPr lang="en-US" altLang="en-US" dirty="0" smtClean="0"/>
              <a:t>Many areas of application</a:t>
            </a:r>
          </a:p>
          <a:p>
            <a:pPr lvl="1" eaLnBrk="1" hangingPunct="1"/>
            <a:r>
              <a:rPr lang="en-US" altLang="en-US" dirty="0" smtClean="0"/>
              <a:t>ANSI standard only in 1989, updated in 1999</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4EF20C3E-B649-4C21-AF7B-BE4B04BC7536}" type="slidenum">
              <a:rPr lang="en-US" altLang="en-US" sz="1000" smtClean="0">
                <a:solidFill>
                  <a:schemeClr val="tx1"/>
                </a:solidFill>
                <a:latin typeface="Arial" panose="020B0604020202020204" pitchFamily="34" charset="0"/>
              </a:rPr>
              <a:pPr>
                <a:spcBef>
                  <a:spcPct val="0"/>
                </a:spcBef>
                <a:buFontTx/>
                <a:buNone/>
              </a:pPr>
              <a:t>8</a:t>
            </a:fld>
            <a:endParaRPr lang="en-US" altLang="en-US" sz="1000" smtClean="0">
              <a:solidFill>
                <a:schemeClr val="tx1"/>
              </a:solidFill>
              <a:latin typeface="Arial" panose="020B0604020202020204" pitchFamily="34" charset="0"/>
            </a:endParaRPr>
          </a:p>
        </p:txBody>
      </p:sp>
      <p:sp>
        <p:nvSpPr>
          <p:cNvPr id="110595" name="Rectangle 2"/>
          <p:cNvSpPr>
            <a:spLocks noGrp="1" noChangeArrowheads="1"/>
          </p:cNvSpPr>
          <p:nvPr>
            <p:ph type="title"/>
          </p:nvPr>
        </p:nvSpPr>
        <p:spPr>
          <a:xfrm>
            <a:off x="609600" y="381000"/>
            <a:ext cx="8534400" cy="1143000"/>
          </a:xfrm>
        </p:spPr>
        <p:txBody>
          <a:bodyPr/>
          <a:lstStyle/>
          <a:p>
            <a:pPr eaLnBrk="1" hangingPunct="1"/>
            <a:r>
              <a:rPr lang="en-US" altLang="en-US" smtClean="0"/>
              <a:t>Programming Based on Logic: Prolog</a:t>
            </a:r>
          </a:p>
        </p:txBody>
      </p:sp>
      <p:sp>
        <p:nvSpPr>
          <p:cNvPr id="110596" name="Rectangle 3"/>
          <p:cNvSpPr>
            <a:spLocks noGrp="1" noChangeArrowheads="1"/>
          </p:cNvSpPr>
          <p:nvPr>
            <p:ph type="body" idx="1"/>
          </p:nvPr>
        </p:nvSpPr>
        <p:spPr/>
        <p:txBody>
          <a:bodyPr/>
          <a:lstStyle/>
          <a:p>
            <a:pPr eaLnBrk="1" hangingPunct="1"/>
            <a:r>
              <a:rPr lang="en-US" altLang="en-US" u="sng" dirty="0" err="1" smtClean="0"/>
              <a:t>Pro</a:t>
            </a:r>
            <a:r>
              <a:rPr lang="en-US" altLang="en-US" dirty="0" err="1" smtClean="0"/>
              <a:t>grammation</a:t>
            </a:r>
            <a:r>
              <a:rPr lang="en-US" altLang="en-US" dirty="0" smtClean="0"/>
              <a:t> </a:t>
            </a:r>
            <a:r>
              <a:rPr lang="en-US" altLang="en-US" dirty="0" err="1" smtClean="0"/>
              <a:t>en</a:t>
            </a:r>
            <a:r>
              <a:rPr lang="en-US" altLang="en-US" dirty="0" smtClean="0"/>
              <a:t> </a:t>
            </a:r>
            <a:r>
              <a:rPr lang="en-US" altLang="en-US" u="sng" dirty="0" err="1" smtClean="0"/>
              <a:t>log</a:t>
            </a:r>
            <a:r>
              <a:rPr lang="en-US" altLang="en-US" dirty="0" err="1" smtClean="0"/>
              <a:t>ique</a:t>
            </a:r>
            <a:endParaRPr lang="en-US" altLang="en-US" dirty="0" smtClean="0"/>
          </a:p>
          <a:p>
            <a:pPr eaLnBrk="1" hangingPunct="1"/>
            <a:r>
              <a:rPr lang="en-US" altLang="en-US" dirty="0" smtClean="0"/>
              <a:t>Collaborative developed</a:t>
            </a:r>
          </a:p>
          <a:p>
            <a:pPr lvl="1" eaLnBrk="1" hangingPunct="1"/>
            <a:r>
              <a:rPr lang="en-US" altLang="en-US" sz="2000" dirty="0" err="1" smtClean="0"/>
              <a:t>Comerauer</a:t>
            </a:r>
            <a:r>
              <a:rPr lang="en-US" altLang="en-US" sz="2000" dirty="0" smtClean="0"/>
              <a:t> </a:t>
            </a:r>
            <a:r>
              <a:rPr lang="en-US" altLang="en-US" sz="2000" dirty="0" smtClean="0"/>
              <a:t>and </a:t>
            </a:r>
            <a:r>
              <a:rPr lang="en-US" altLang="en-US" sz="2000" dirty="0" err="1" smtClean="0"/>
              <a:t>Roussel</a:t>
            </a:r>
            <a:r>
              <a:rPr lang="en-US" altLang="en-US" sz="2000" dirty="0" smtClean="0"/>
              <a:t> (University of Aix-Marseille)</a:t>
            </a:r>
          </a:p>
          <a:p>
            <a:pPr lvl="1" eaLnBrk="1" hangingPunct="1"/>
            <a:r>
              <a:rPr lang="en-US" altLang="en-US" sz="2000" dirty="0" smtClean="0"/>
              <a:t>Help from Kowalski (University of Edinburgh)</a:t>
            </a:r>
          </a:p>
          <a:p>
            <a:pPr eaLnBrk="1" hangingPunct="1"/>
            <a:r>
              <a:rPr lang="en-US" altLang="en-US" dirty="0" smtClean="0"/>
              <a:t>Overview</a:t>
            </a:r>
          </a:p>
          <a:p>
            <a:pPr lvl="1" eaLnBrk="1" hangingPunct="1"/>
            <a:r>
              <a:rPr lang="en-US" altLang="en-US" sz="2000" dirty="0" smtClean="0"/>
              <a:t>Based on formal logic</a:t>
            </a:r>
          </a:p>
          <a:p>
            <a:pPr lvl="1" eaLnBrk="1" hangingPunct="1"/>
            <a:r>
              <a:rPr lang="en-US" altLang="en-US" sz="2000" dirty="0" smtClean="0"/>
              <a:t>Non-procedural</a:t>
            </a:r>
          </a:p>
          <a:p>
            <a:pPr lvl="2" eaLnBrk="1" hangingPunct="1"/>
            <a:r>
              <a:rPr lang="en-US" altLang="en-US" sz="1700" dirty="0" smtClean="0"/>
              <a:t>Database of facts, combined with rules</a:t>
            </a:r>
          </a:p>
          <a:p>
            <a:pPr lvl="2" eaLnBrk="1" hangingPunct="1"/>
            <a:r>
              <a:rPr lang="en-US" altLang="en-US" sz="1700" dirty="0" smtClean="0"/>
              <a:t>Uses </a:t>
            </a:r>
            <a:r>
              <a:rPr lang="en-US" altLang="en-US" sz="1700" dirty="0" smtClean="0"/>
              <a:t>built-in</a:t>
            </a:r>
            <a:r>
              <a:rPr lang="en-US" altLang="en-US" sz="1700" dirty="0" smtClean="0"/>
              <a:t> </a:t>
            </a:r>
            <a:r>
              <a:rPr lang="en-US" altLang="en-US" sz="1700" dirty="0" smtClean="0"/>
              <a:t>inferencing process to infer the truth of queries</a:t>
            </a:r>
          </a:p>
          <a:p>
            <a:pPr lvl="1" eaLnBrk="1" hangingPunct="1"/>
            <a:r>
              <a:rPr lang="en-US" altLang="en-US" sz="2000" dirty="0" smtClean="0"/>
              <a:t>Highly inefficient</a:t>
            </a:r>
          </a:p>
          <a:p>
            <a:pPr lvl="1" eaLnBrk="1" hangingPunct="1"/>
            <a:r>
              <a:rPr lang="en-US" altLang="en-US" sz="2000" dirty="0" smtClean="0"/>
              <a:t>Few application areas</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0600DB64-2CC1-4857-B9A8-F80B5E872863}" type="slidenum">
              <a:rPr lang="en-US" altLang="en-US" sz="1000" smtClean="0">
                <a:solidFill>
                  <a:schemeClr val="tx1"/>
                </a:solidFill>
                <a:latin typeface="Arial" panose="020B0604020202020204" pitchFamily="34" charset="0"/>
              </a:rPr>
              <a:pPr>
                <a:spcBef>
                  <a:spcPct val="0"/>
                </a:spcBef>
                <a:buFontTx/>
                <a:buNone/>
              </a:pPr>
              <a:t>9</a:t>
            </a:fld>
            <a:endParaRPr lang="en-US" altLang="en-US" sz="1000" smtClean="0">
              <a:solidFill>
                <a:schemeClr val="tx1"/>
              </a:solidFill>
              <a:latin typeface="Arial" panose="020B0604020202020204" pitchFamily="34" charset="0"/>
            </a:endParaRPr>
          </a:p>
        </p:txBody>
      </p:sp>
      <p:sp>
        <p:nvSpPr>
          <p:cNvPr id="112643" name="Rectangle 2"/>
          <p:cNvSpPr>
            <a:spLocks noGrp="1" noChangeArrowheads="1"/>
          </p:cNvSpPr>
          <p:nvPr>
            <p:ph type="title"/>
          </p:nvPr>
        </p:nvSpPr>
        <p:spPr>
          <a:xfrm>
            <a:off x="609600" y="381000"/>
            <a:ext cx="8305800" cy="1143000"/>
          </a:xfrm>
        </p:spPr>
        <p:txBody>
          <a:bodyPr/>
          <a:lstStyle/>
          <a:p>
            <a:pPr eaLnBrk="1" hangingPunct="1"/>
            <a:r>
              <a:rPr lang="en-US" altLang="en-US" smtClean="0"/>
              <a:t>History’s Largest Design Effort: Ada</a:t>
            </a:r>
          </a:p>
        </p:txBody>
      </p:sp>
      <p:sp>
        <p:nvSpPr>
          <p:cNvPr id="112644" name="Rectangle 3"/>
          <p:cNvSpPr>
            <a:spLocks noGrp="1" noChangeArrowheads="1"/>
          </p:cNvSpPr>
          <p:nvPr>
            <p:ph type="body" idx="1"/>
          </p:nvPr>
        </p:nvSpPr>
        <p:spPr>
          <a:xfrm>
            <a:off x="609600" y="1600200"/>
            <a:ext cx="7772400" cy="4724400"/>
          </a:xfrm>
        </p:spPr>
        <p:txBody>
          <a:bodyPr/>
          <a:lstStyle/>
          <a:p>
            <a:pPr eaLnBrk="1" hangingPunct="1"/>
            <a:r>
              <a:rPr lang="en-US" altLang="en-US" sz="2000" dirty="0" smtClean="0"/>
              <a:t>Developed for the US DoD</a:t>
            </a:r>
          </a:p>
          <a:p>
            <a:pPr lvl="1" eaLnBrk="1" hangingPunct="1"/>
            <a:r>
              <a:rPr lang="en-US" altLang="en-US" sz="1800" dirty="0" smtClean="0"/>
              <a:t>More than 450 languages were in use for DoD projects</a:t>
            </a:r>
          </a:p>
          <a:p>
            <a:pPr lvl="1" eaLnBrk="1" hangingPunct="1"/>
            <a:r>
              <a:rPr lang="en-US" altLang="en-US" sz="1800" dirty="0" smtClean="0"/>
              <a:t>They needed a standardized programming language</a:t>
            </a:r>
          </a:p>
          <a:p>
            <a:pPr lvl="1" eaLnBrk="1" hangingPunct="1"/>
            <a:r>
              <a:rPr lang="en-US" altLang="en-US" sz="1800" dirty="0" smtClean="0"/>
              <a:t>Initially intended for embedded system development</a:t>
            </a:r>
          </a:p>
          <a:p>
            <a:pPr eaLnBrk="1" hangingPunct="1"/>
            <a:r>
              <a:rPr lang="en-US" altLang="en-US" sz="2000" dirty="0" smtClean="0"/>
              <a:t>Huge design effort</a:t>
            </a:r>
          </a:p>
          <a:p>
            <a:pPr lvl="1" eaLnBrk="1" hangingPunct="1"/>
            <a:r>
              <a:rPr lang="en-US" altLang="en-US" sz="1800" dirty="0"/>
              <a:t>I</a:t>
            </a:r>
            <a:r>
              <a:rPr lang="en-US" altLang="en-US" sz="1800" dirty="0" smtClean="0"/>
              <a:t>nvolving hundreds of people</a:t>
            </a:r>
          </a:p>
          <a:p>
            <a:pPr lvl="1" eaLnBrk="1" hangingPunct="1"/>
            <a:r>
              <a:rPr lang="en-US" altLang="en-US" sz="1800" dirty="0" smtClean="0"/>
              <a:t>A lot of money</a:t>
            </a:r>
          </a:p>
          <a:p>
            <a:pPr lvl="1" eaLnBrk="1" hangingPunct="1"/>
            <a:r>
              <a:rPr lang="en-US" altLang="en-US" sz="1800" dirty="0" smtClean="0"/>
              <a:t>About eight years</a:t>
            </a:r>
          </a:p>
          <a:p>
            <a:pPr eaLnBrk="1" hangingPunct="1"/>
            <a:r>
              <a:rPr lang="en-US" altLang="en-US" sz="2000" dirty="0" smtClean="0"/>
              <a:t>Named after Ada Lovelace, the first programmer</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48041FB1-A265-4434-AC5D-64A238DD9ACF}" type="slidenum">
              <a:rPr lang="en-US" altLang="en-US" sz="1000" smtClean="0">
                <a:solidFill>
                  <a:schemeClr val="tx1"/>
                </a:solidFill>
                <a:latin typeface="Arial" panose="020B0604020202020204" pitchFamily="34" charset="0"/>
              </a:rPr>
              <a:pPr>
                <a:spcBef>
                  <a:spcPct val="0"/>
                </a:spcBef>
                <a:buFontTx/>
                <a:buNone/>
              </a:pPr>
              <a:t>10</a:t>
            </a:fld>
            <a:endParaRPr lang="en-US" altLang="en-US" sz="1000" smtClean="0">
              <a:solidFill>
                <a:schemeClr val="tx1"/>
              </a:solidFill>
              <a:latin typeface="Arial" panose="020B0604020202020204" pitchFamily="34" charset="0"/>
            </a:endParaRPr>
          </a:p>
        </p:txBody>
      </p:sp>
      <p:sp>
        <p:nvSpPr>
          <p:cNvPr id="114691" name="Rectangle 2"/>
          <p:cNvSpPr>
            <a:spLocks noGrp="1" noChangeArrowheads="1"/>
          </p:cNvSpPr>
          <p:nvPr>
            <p:ph type="title"/>
          </p:nvPr>
        </p:nvSpPr>
        <p:spPr/>
        <p:txBody>
          <a:bodyPr/>
          <a:lstStyle/>
          <a:p>
            <a:pPr eaLnBrk="1" hangingPunct="1"/>
            <a:r>
              <a:rPr lang="en-US" altLang="en-US" smtClean="0"/>
              <a:t>Ada Evaluation</a:t>
            </a:r>
          </a:p>
        </p:txBody>
      </p:sp>
      <p:sp>
        <p:nvSpPr>
          <p:cNvPr id="114692" name="Rectangle 3"/>
          <p:cNvSpPr>
            <a:spLocks noGrp="1" noChangeArrowheads="1"/>
          </p:cNvSpPr>
          <p:nvPr>
            <p:ph type="body" idx="1"/>
          </p:nvPr>
        </p:nvSpPr>
        <p:spPr/>
        <p:txBody>
          <a:bodyPr/>
          <a:lstStyle/>
          <a:p>
            <a:pPr eaLnBrk="1" hangingPunct="1"/>
            <a:r>
              <a:rPr lang="en-US" altLang="en-US" sz="2000" dirty="0" smtClean="0"/>
              <a:t>Contributions</a:t>
            </a:r>
          </a:p>
          <a:p>
            <a:pPr lvl="1" eaLnBrk="1" hangingPunct="1"/>
            <a:r>
              <a:rPr lang="en-US" altLang="en-US" sz="1800" dirty="0" smtClean="0"/>
              <a:t>Packages: </a:t>
            </a:r>
            <a:r>
              <a:rPr lang="en-US" altLang="en-US" sz="1800" dirty="0"/>
              <a:t>S</a:t>
            </a:r>
            <a:r>
              <a:rPr lang="en-US" altLang="en-US" sz="1800" dirty="0" smtClean="0"/>
              <a:t>upport for data abstraction</a:t>
            </a:r>
          </a:p>
          <a:p>
            <a:pPr lvl="1" eaLnBrk="1" hangingPunct="1"/>
            <a:r>
              <a:rPr lang="en-US" altLang="en-US" sz="1800" dirty="0" smtClean="0"/>
              <a:t>Exception handling: A very elaborate system</a:t>
            </a:r>
          </a:p>
          <a:p>
            <a:pPr lvl="1" eaLnBrk="1" hangingPunct="1"/>
            <a:r>
              <a:rPr lang="en-US" altLang="en-US" sz="1800" dirty="0" smtClean="0"/>
              <a:t>Generic program units</a:t>
            </a:r>
          </a:p>
          <a:p>
            <a:pPr lvl="1" eaLnBrk="1" hangingPunct="1"/>
            <a:r>
              <a:rPr lang="en-US" altLang="en-US" sz="1800" dirty="0" smtClean="0"/>
              <a:t>Concurrency: Through the tasking and rendezvous model</a:t>
            </a:r>
          </a:p>
          <a:p>
            <a:pPr eaLnBrk="1" hangingPunct="1"/>
            <a:r>
              <a:rPr lang="en-US" altLang="en-US" sz="2000" dirty="0" smtClean="0"/>
              <a:t>Comments</a:t>
            </a:r>
          </a:p>
          <a:p>
            <a:pPr lvl="1" eaLnBrk="1" hangingPunct="1"/>
            <a:r>
              <a:rPr lang="en-US" altLang="en-US" sz="1800" dirty="0" smtClean="0"/>
              <a:t>Competitive design</a:t>
            </a:r>
          </a:p>
          <a:p>
            <a:pPr lvl="1" eaLnBrk="1" hangingPunct="1"/>
            <a:r>
              <a:rPr lang="en-US" altLang="en-US" sz="1800" dirty="0" smtClean="0"/>
              <a:t>Included everything known about software engineering and language design at the time</a:t>
            </a:r>
          </a:p>
          <a:p>
            <a:pPr lvl="1" eaLnBrk="1" hangingPunct="1"/>
            <a:r>
              <a:rPr lang="en-US" altLang="en-US" sz="1800" dirty="0" smtClean="0"/>
              <a:t>Usable compilers were not immediately available</a:t>
            </a:r>
          </a:p>
          <a:p>
            <a:pPr lvl="2" eaLnBrk="1" hangingPunct="1"/>
            <a:r>
              <a:rPr lang="en-US" altLang="en-US" sz="1600" dirty="0" smtClean="0"/>
              <a:t>Development of first compilers was very difficult</a:t>
            </a:r>
          </a:p>
          <a:p>
            <a:pPr lvl="2" eaLnBrk="1" hangingPunct="1"/>
            <a:r>
              <a:rPr lang="en-US" altLang="en-US" sz="1600" dirty="0"/>
              <a:t>F</a:t>
            </a:r>
            <a:r>
              <a:rPr lang="en-US" altLang="en-US" sz="1600" dirty="0" smtClean="0"/>
              <a:t>irst usable compiler nearly five years after language design</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0E52D467-B3FD-4E13-BB97-4776C97F2252}" type="slidenum">
              <a:rPr lang="en-US" altLang="en-US" sz="1000" smtClean="0">
                <a:solidFill>
                  <a:schemeClr val="tx1"/>
                </a:solidFill>
                <a:latin typeface="Arial" panose="020B0604020202020204" pitchFamily="34" charset="0"/>
              </a:rPr>
              <a:pPr>
                <a:spcBef>
                  <a:spcPct val="0"/>
                </a:spcBef>
                <a:buFontTx/>
                <a:buNone/>
              </a:pPr>
              <a:t>11</a:t>
            </a:fld>
            <a:endParaRPr lang="en-US" altLang="en-US" sz="1000" smtClean="0">
              <a:solidFill>
                <a:schemeClr val="tx1"/>
              </a:solidFill>
              <a:latin typeface="Arial" panose="020B0604020202020204" pitchFamily="34" charset="0"/>
            </a:endParaRPr>
          </a:p>
        </p:txBody>
      </p:sp>
      <p:sp>
        <p:nvSpPr>
          <p:cNvPr id="118787" name="Rectangle 2"/>
          <p:cNvSpPr>
            <a:spLocks noGrp="1" noChangeArrowheads="1"/>
          </p:cNvSpPr>
          <p:nvPr>
            <p:ph type="title"/>
          </p:nvPr>
        </p:nvSpPr>
        <p:spPr>
          <a:xfrm>
            <a:off x="609600" y="152400"/>
            <a:ext cx="8153400" cy="1143000"/>
          </a:xfrm>
        </p:spPr>
        <p:txBody>
          <a:bodyPr/>
          <a:lstStyle/>
          <a:p>
            <a:pPr eaLnBrk="1" hangingPunct="1"/>
            <a:r>
              <a:rPr lang="en-US" altLang="en-US" sz="3200" smtClean="0"/>
              <a:t>Object-Oriented Programming: Smalltalk</a:t>
            </a:r>
          </a:p>
        </p:txBody>
      </p:sp>
      <p:sp>
        <p:nvSpPr>
          <p:cNvPr id="118788" name="Rectangle 3"/>
          <p:cNvSpPr>
            <a:spLocks noGrp="1" noChangeArrowheads="1"/>
          </p:cNvSpPr>
          <p:nvPr>
            <p:ph type="body" idx="1"/>
          </p:nvPr>
        </p:nvSpPr>
        <p:spPr/>
        <p:txBody>
          <a:bodyPr/>
          <a:lstStyle/>
          <a:p>
            <a:pPr eaLnBrk="1" hangingPunct="1"/>
            <a:r>
              <a:rPr lang="en-US" altLang="en-US" dirty="0" smtClean="0"/>
              <a:t>Developed at Xerox PARC</a:t>
            </a:r>
          </a:p>
          <a:p>
            <a:pPr lvl="1" eaLnBrk="1" hangingPunct="1"/>
            <a:r>
              <a:rPr lang="en-US" altLang="en-US" dirty="0" smtClean="0"/>
              <a:t>Initially by Alan Kay</a:t>
            </a:r>
          </a:p>
          <a:p>
            <a:pPr lvl="1" eaLnBrk="1" hangingPunct="1"/>
            <a:r>
              <a:rPr lang="en-US" altLang="en-US" dirty="0" smtClean="0"/>
              <a:t>Later by Adele Goldberg</a:t>
            </a:r>
          </a:p>
          <a:p>
            <a:pPr eaLnBrk="1" hangingPunct="1"/>
            <a:r>
              <a:rPr lang="en-US" altLang="en-US" dirty="0" smtClean="0"/>
              <a:t>First full implementation of true </a:t>
            </a:r>
            <a:r>
              <a:rPr lang="en-US" altLang="en-US" dirty="0" smtClean="0"/>
              <a:t>OOP</a:t>
            </a:r>
            <a:endParaRPr lang="en-US" altLang="en-US" dirty="0" smtClean="0"/>
          </a:p>
          <a:p>
            <a:pPr lvl="1" eaLnBrk="1" hangingPunct="1"/>
            <a:r>
              <a:rPr lang="en-US" altLang="en-US" dirty="0" smtClean="0"/>
              <a:t>Data abstraction</a:t>
            </a:r>
          </a:p>
          <a:p>
            <a:pPr lvl="1" eaLnBrk="1" hangingPunct="1"/>
            <a:r>
              <a:rPr lang="en-US" altLang="en-US" dirty="0" smtClean="0"/>
              <a:t>Inheritance</a:t>
            </a:r>
          </a:p>
          <a:p>
            <a:pPr lvl="1" eaLnBrk="1" hangingPunct="1"/>
            <a:r>
              <a:rPr lang="en-US" altLang="en-US" dirty="0" smtClean="0"/>
              <a:t>Dynamic binding</a:t>
            </a:r>
          </a:p>
          <a:p>
            <a:pPr eaLnBrk="1" hangingPunct="1"/>
            <a:r>
              <a:rPr lang="en-US" altLang="en-US" dirty="0" smtClean="0"/>
              <a:t>Pioneered and promoted</a:t>
            </a:r>
          </a:p>
          <a:p>
            <a:pPr lvl="1" eaLnBrk="1" hangingPunct="1"/>
            <a:r>
              <a:rPr lang="en-US" altLang="en-US" dirty="0" smtClean="0"/>
              <a:t>Graphical user interface design</a:t>
            </a:r>
          </a:p>
          <a:p>
            <a:pPr lvl="1" eaLnBrk="1" hangingPunct="1"/>
            <a:r>
              <a:rPr lang="en-US" altLang="en-US" dirty="0" smtClean="0"/>
              <a:t>The OOP paradigm</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79FB41FE-CA31-4DBC-97EA-3DD7B719B089}" type="slidenum">
              <a:rPr lang="en-US" altLang="en-US" sz="1000" smtClean="0">
                <a:solidFill>
                  <a:schemeClr val="tx1"/>
                </a:solidFill>
                <a:latin typeface="Arial" panose="020B0604020202020204" pitchFamily="34" charset="0"/>
              </a:rPr>
              <a:pPr>
                <a:spcBef>
                  <a:spcPct val="0"/>
                </a:spcBef>
                <a:buFontTx/>
                <a:buNone/>
              </a:pPr>
              <a:t>12</a:t>
            </a:fld>
            <a:endParaRPr lang="en-US" altLang="en-US" sz="1000" smtClean="0">
              <a:solidFill>
                <a:schemeClr val="tx1"/>
              </a:solidFill>
              <a:latin typeface="Arial" panose="020B0604020202020204" pitchFamily="34" charset="0"/>
            </a:endParaRPr>
          </a:p>
        </p:txBody>
      </p:sp>
      <p:sp>
        <p:nvSpPr>
          <p:cNvPr id="120835" name="Rectangle 2"/>
          <p:cNvSpPr>
            <a:spLocks noGrp="1" noChangeArrowheads="1"/>
          </p:cNvSpPr>
          <p:nvPr>
            <p:ph type="title"/>
          </p:nvPr>
        </p:nvSpPr>
        <p:spPr>
          <a:xfrm>
            <a:off x="533400" y="152400"/>
            <a:ext cx="8153400" cy="1143000"/>
          </a:xfrm>
        </p:spPr>
        <p:txBody>
          <a:bodyPr/>
          <a:lstStyle/>
          <a:p>
            <a:pPr eaLnBrk="1" hangingPunct="1"/>
            <a:r>
              <a:rPr lang="en-US" altLang="en-US" sz="3200" dirty="0" smtClean="0"/>
              <a:t>Combining Imperative and</a:t>
            </a:r>
            <a:br>
              <a:rPr lang="en-US" altLang="en-US" sz="3200" dirty="0" smtClean="0"/>
            </a:br>
            <a:r>
              <a:rPr lang="en-US" altLang="en-US" sz="3200" dirty="0" smtClean="0"/>
              <a:t>Object-Oriented Programming: C++</a:t>
            </a:r>
          </a:p>
        </p:txBody>
      </p:sp>
      <p:sp>
        <p:nvSpPr>
          <p:cNvPr id="120836" name="Rectangle 3"/>
          <p:cNvSpPr>
            <a:spLocks noGrp="1" noChangeArrowheads="1"/>
          </p:cNvSpPr>
          <p:nvPr>
            <p:ph type="body" idx="1"/>
          </p:nvPr>
        </p:nvSpPr>
        <p:spPr>
          <a:xfrm>
            <a:off x="609600" y="1524000"/>
            <a:ext cx="8153400" cy="4572000"/>
          </a:xfrm>
        </p:spPr>
        <p:txBody>
          <a:bodyPr/>
          <a:lstStyle/>
          <a:p>
            <a:pPr eaLnBrk="1" hangingPunct="1">
              <a:lnSpc>
                <a:spcPct val="90000"/>
              </a:lnSpc>
            </a:pPr>
            <a:r>
              <a:rPr lang="en-US" altLang="en-US" sz="2400" dirty="0" smtClean="0"/>
              <a:t>Developed at Bell Labs by </a:t>
            </a:r>
            <a:r>
              <a:rPr lang="en-US" altLang="en-US" sz="2400" dirty="0" err="1" smtClean="0"/>
              <a:t>Stroustrup</a:t>
            </a:r>
            <a:r>
              <a:rPr lang="en-US" altLang="en-US" sz="2400" dirty="0" smtClean="0"/>
              <a:t> in 1980</a:t>
            </a:r>
          </a:p>
          <a:p>
            <a:pPr lvl="1" eaLnBrk="1" hangingPunct="1">
              <a:lnSpc>
                <a:spcPct val="90000"/>
              </a:lnSpc>
            </a:pPr>
            <a:r>
              <a:rPr lang="en-US" altLang="en-US" sz="2000" dirty="0" smtClean="0"/>
              <a:t>Evolved from C and SIMULA 67 </a:t>
            </a:r>
          </a:p>
          <a:p>
            <a:pPr eaLnBrk="1" hangingPunct="1">
              <a:lnSpc>
                <a:spcPct val="90000"/>
              </a:lnSpc>
            </a:pPr>
            <a:r>
              <a:rPr lang="en-US" altLang="en-US" sz="2400" dirty="0" smtClean="0"/>
              <a:t>A large and complex language</a:t>
            </a:r>
          </a:p>
          <a:p>
            <a:pPr lvl="1" eaLnBrk="1" hangingPunct="1">
              <a:lnSpc>
                <a:spcPct val="90000"/>
              </a:lnSpc>
            </a:pPr>
            <a:r>
              <a:rPr lang="en-US" altLang="en-US" sz="2000" dirty="0" smtClean="0"/>
              <a:t>Procedural (from C) and OOP (partially from SIMULA 67)</a:t>
            </a:r>
          </a:p>
          <a:p>
            <a:pPr lvl="1" eaLnBrk="1" hangingPunct="1">
              <a:lnSpc>
                <a:spcPct val="90000"/>
              </a:lnSpc>
            </a:pPr>
            <a:r>
              <a:rPr lang="en-US" altLang="en-US" sz="2000" dirty="0" smtClean="0"/>
              <a:t>Exception handling, operator overloading, pointers, references, template functions, and classes</a:t>
            </a:r>
          </a:p>
          <a:p>
            <a:pPr eaLnBrk="1" hangingPunct="1">
              <a:lnSpc>
                <a:spcPct val="90000"/>
              </a:lnSpc>
            </a:pPr>
            <a:r>
              <a:rPr lang="en-US" altLang="en-US" sz="2400" dirty="0" smtClean="0"/>
              <a:t>Rapidly grew in popularity</a:t>
            </a:r>
          </a:p>
          <a:p>
            <a:pPr lvl="1" eaLnBrk="1" hangingPunct="1">
              <a:lnSpc>
                <a:spcPct val="90000"/>
              </a:lnSpc>
            </a:pPr>
            <a:r>
              <a:rPr lang="en-US" altLang="en-US" sz="2000" dirty="0" smtClean="0"/>
              <a:t>Good, cheap compilers</a:t>
            </a:r>
          </a:p>
          <a:p>
            <a:pPr lvl="1" eaLnBrk="1" hangingPunct="1">
              <a:lnSpc>
                <a:spcPct val="90000"/>
              </a:lnSpc>
            </a:pPr>
            <a:r>
              <a:rPr lang="en-US" altLang="en-US" sz="2000" dirty="0" smtClean="0"/>
              <a:t>Backward-compatible with C</a:t>
            </a:r>
          </a:p>
          <a:p>
            <a:pPr lvl="1" eaLnBrk="1" hangingPunct="1">
              <a:lnSpc>
                <a:spcPct val="90000"/>
              </a:lnSpc>
            </a:pPr>
            <a:r>
              <a:rPr lang="en-US" altLang="en-US" sz="2000" dirty="0" smtClean="0"/>
              <a:t>Only OO language at the time suitable for large projects</a:t>
            </a:r>
          </a:p>
          <a:p>
            <a:pPr eaLnBrk="1" hangingPunct="1">
              <a:lnSpc>
                <a:spcPct val="90000"/>
              </a:lnSpc>
            </a:pPr>
            <a:r>
              <a:rPr lang="en-US" altLang="en-US" sz="2400" dirty="0" smtClean="0"/>
              <a:t>ANSI standard approved in November 1997</a:t>
            </a:r>
          </a:p>
          <a:p>
            <a:pPr eaLnBrk="1" hangingPunct="1">
              <a:lnSpc>
                <a:spcPct val="90000"/>
              </a:lnSpc>
            </a:pPr>
            <a:r>
              <a:rPr lang="en-US" altLang="en-US" sz="2400" dirty="0" smtClean="0"/>
              <a:t>Microsoft’s Managed C++</a:t>
            </a:r>
          </a:p>
          <a:p>
            <a:pPr lvl="1" eaLnBrk="1" hangingPunct="1">
              <a:lnSpc>
                <a:spcPct val="90000"/>
              </a:lnSpc>
            </a:pPr>
            <a:r>
              <a:rPr lang="en-US" altLang="en-US" sz="2000" dirty="0" smtClean="0"/>
              <a:t>Included with .NET in 2002</a:t>
            </a:r>
          </a:p>
          <a:p>
            <a:pPr lvl="1" eaLnBrk="1" hangingPunct="1">
              <a:lnSpc>
                <a:spcPct val="90000"/>
              </a:lnSpc>
            </a:pPr>
            <a:r>
              <a:rPr lang="en-US" altLang="en-US" sz="2000" dirty="0" smtClean="0"/>
              <a:t>Properties, delegates, interfaces, no multiple inheritance</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FC182DCF-6006-430E-91F0-EE18E5F65BF9}" type="slidenum">
              <a:rPr lang="en-US" altLang="en-US" sz="1000" smtClean="0">
                <a:solidFill>
                  <a:schemeClr val="tx1"/>
                </a:solidFill>
                <a:latin typeface="Arial" panose="020B0604020202020204" pitchFamily="34" charset="0"/>
              </a:rPr>
              <a:pPr>
                <a:spcBef>
                  <a:spcPct val="0"/>
                </a:spcBef>
                <a:buFontTx/>
                <a:buNone/>
              </a:pPr>
              <a:t>13</a:t>
            </a:fld>
            <a:endParaRPr lang="en-US" altLang="en-US" sz="1000" smtClean="0">
              <a:solidFill>
                <a:schemeClr val="tx1"/>
              </a:solidFill>
              <a:latin typeface="Arial" panose="020B0604020202020204" pitchFamily="34" charset="0"/>
            </a:endParaRPr>
          </a:p>
        </p:txBody>
      </p:sp>
      <p:sp>
        <p:nvSpPr>
          <p:cNvPr id="122883" name="Rectangle 2"/>
          <p:cNvSpPr>
            <a:spLocks noGrp="1" noChangeArrowheads="1"/>
          </p:cNvSpPr>
          <p:nvPr>
            <p:ph type="title"/>
          </p:nvPr>
        </p:nvSpPr>
        <p:spPr/>
        <p:txBody>
          <a:bodyPr/>
          <a:lstStyle/>
          <a:p>
            <a:pPr eaLnBrk="1" hangingPunct="1"/>
            <a:r>
              <a:rPr lang="en-US" altLang="en-US" smtClean="0"/>
              <a:t>Related OOP Languages</a:t>
            </a:r>
          </a:p>
        </p:txBody>
      </p:sp>
      <p:sp>
        <p:nvSpPr>
          <p:cNvPr id="122884" name="Rectangle 3"/>
          <p:cNvSpPr>
            <a:spLocks noGrp="1" noChangeArrowheads="1"/>
          </p:cNvSpPr>
          <p:nvPr>
            <p:ph type="body" idx="1"/>
          </p:nvPr>
        </p:nvSpPr>
        <p:spPr>
          <a:xfrm>
            <a:off x="609600" y="1371600"/>
            <a:ext cx="8153400" cy="4876800"/>
          </a:xfrm>
        </p:spPr>
        <p:txBody>
          <a:bodyPr/>
          <a:lstStyle/>
          <a:p>
            <a:pPr eaLnBrk="1" hangingPunct="1"/>
            <a:r>
              <a:rPr lang="en-US" altLang="en-US" sz="2000" dirty="0" smtClean="0"/>
              <a:t>Swift</a:t>
            </a:r>
          </a:p>
          <a:p>
            <a:pPr lvl="1" eaLnBrk="1" hangingPunct="1"/>
            <a:r>
              <a:rPr lang="en-US" altLang="en-US" sz="1800" dirty="0" smtClean="0"/>
              <a:t>Replacement for Objective-C released in 2014</a:t>
            </a:r>
          </a:p>
          <a:p>
            <a:pPr lvl="1" eaLnBrk="1" hangingPunct="1"/>
            <a:r>
              <a:rPr lang="en-US" altLang="en-US" sz="1800" dirty="0" smtClean="0"/>
              <a:t>Used by Apple for systems programs</a:t>
            </a:r>
          </a:p>
          <a:p>
            <a:pPr eaLnBrk="1" hangingPunct="1"/>
            <a:r>
              <a:rPr lang="en-US" altLang="en-US" sz="2000" dirty="0" smtClean="0"/>
              <a:t>Delphi</a:t>
            </a:r>
          </a:p>
          <a:p>
            <a:pPr lvl="1" eaLnBrk="1" hangingPunct="1"/>
            <a:r>
              <a:rPr lang="en-US" altLang="en-US" sz="1800" dirty="0" smtClean="0"/>
              <a:t>Developed by Anders Hejlsberg</a:t>
            </a:r>
          </a:p>
          <a:p>
            <a:pPr lvl="2" eaLnBrk="1" hangingPunct="1"/>
            <a:r>
              <a:rPr lang="en-US" altLang="en-US" sz="1600" dirty="0" smtClean="0"/>
              <a:t>He also designed Turbo Pascal</a:t>
            </a:r>
          </a:p>
          <a:p>
            <a:pPr lvl="2" eaLnBrk="1" hangingPunct="1"/>
            <a:r>
              <a:rPr lang="en-US" altLang="en-US" sz="1600" dirty="0" smtClean="0"/>
              <a:t>Later, the lead architect of C#</a:t>
            </a:r>
          </a:p>
          <a:p>
            <a:pPr lvl="1" eaLnBrk="1" hangingPunct="1"/>
            <a:r>
              <a:rPr lang="en-US" altLang="en-US" sz="1800" dirty="0" smtClean="0"/>
              <a:t>Pascal with features to support OOP</a:t>
            </a:r>
          </a:p>
          <a:p>
            <a:pPr lvl="1" eaLnBrk="1" hangingPunct="1"/>
            <a:r>
              <a:rPr lang="en-US" altLang="en-US" sz="1800" dirty="0" smtClean="0"/>
              <a:t>More elegant and safer than C++</a:t>
            </a:r>
          </a:p>
          <a:p>
            <a:pPr eaLnBrk="1" hangingPunct="1"/>
            <a:r>
              <a:rPr lang="en-US" altLang="en-US" sz="2000" dirty="0" smtClean="0"/>
              <a:t>Go</a:t>
            </a:r>
          </a:p>
          <a:p>
            <a:pPr lvl="1" eaLnBrk="1" hangingPunct="1"/>
            <a:r>
              <a:rPr lang="en-US" altLang="en-US" sz="1800" dirty="0" smtClean="0"/>
              <a:t>Designed at Google in 2009</a:t>
            </a:r>
          </a:p>
          <a:p>
            <a:pPr lvl="1" eaLnBrk="1" hangingPunct="1"/>
            <a:r>
              <a:rPr lang="en-US" altLang="en-US" sz="1800" dirty="0" smtClean="0"/>
              <a:t>Loosely based on C, but also quite different</a:t>
            </a:r>
          </a:p>
          <a:p>
            <a:pPr lvl="1" eaLnBrk="1" hangingPunct="1"/>
            <a:r>
              <a:rPr lang="en-US" altLang="en-US" sz="1800" dirty="0" smtClean="0"/>
              <a:t>Allows an object-oriented style of programming</a:t>
            </a:r>
          </a:p>
          <a:p>
            <a:pPr lvl="1" eaLnBrk="1" hangingPunct="1"/>
            <a:r>
              <a:rPr lang="en-US" altLang="en-US" sz="1800" dirty="0"/>
              <a:t>B</a:t>
            </a:r>
            <a:r>
              <a:rPr lang="en-US" altLang="en-US" sz="1800" dirty="0" smtClean="0"/>
              <a:t>ut does not support traditional OOP</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6DBFD5BF-DF4D-4C9A-B934-95FB504F4ED4}" type="slidenum">
              <a:rPr lang="en-US" altLang="en-US" sz="1000" smtClean="0">
                <a:solidFill>
                  <a:schemeClr val="tx1"/>
                </a:solidFill>
                <a:latin typeface="Arial" panose="020B0604020202020204" pitchFamily="34" charset="0"/>
              </a:rPr>
              <a:pPr>
                <a:spcBef>
                  <a:spcPct val="0"/>
                </a:spcBef>
                <a:buFontTx/>
                <a:buNone/>
              </a:pPr>
              <a:t>14</a:t>
            </a:fld>
            <a:endParaRPr lang="en-US" altLang="en-US" sz="1000" smtClean="0">
              <a:solidFill>
                <a:schemeClr val="tx1"/>
              </a:solidFill>
              <a:latin typeface="Arial" panose="020B0604020202020204" pitchFamily="34" charset="0"/>
            </a:endParaRPr>
          </a:p>
        </p:txBody>
      </p:sp>
      <p:sp>
        <p:nvSpPr>
          <p:cNvPr id="124931" name="Rectangle 2"/>
          <p:cNvSpPr>
            <a:spLocks noGrp="1" noChangeArrowheads="1"/>
          </p:cNvSpPr>
          <p:nvPr>
            <p:ph type="title"/>
          </p:nvPr>
        </p:nvSpPr>
        <p:spPr>
          <a:xfrm>
            <a:off x="609600" y="152400"/>
            <a:ext cx="8153400" cy="1143000"/>
          </a:xfrm>
        </p:spPr>
        <p:txBody>
          <a:bodyPr/>
          <a:lstStyle/>
          <a:p>
            <a:pPr eaLnBrk="1" hangingPunct="1"/>
            <a:r>
              <a:rPr lang="en-US" altLang="en-US" sz="3200" smtClean="0"/>
              <a:t>An Imperative-Based Object-Oriented Language: Java</a:t>
            </a:r>
          </a:p>
        </p:txBody>
      </p:sp>
      <p:sp>
        <p:nvSpPr>
          <p:cNvPr id="124932" name="Rectangle 3"/>
          <p:cNvSpPr>
            <a:spLocks noGrp="1" noChangeArrowheads="1"/>
          </p:cNvSpPr>
          <p:nvPr>
            <p:ph type="body" idx="1"/>
          </p:nvPr>
        </p:nvSpPr>
        <p:spPr>
          <a:xfrm>
            <a:off x="609600" y="1447800"/>
            <a:ext cx="8153400" cy="4572000"/>
          </a:xfrm>
        </p:spPr>
        <p:txBody>
          <a:bodyPr/>
          <a:lstStyle/>
          <a:p>
            <a:pPr eaLnBrk="1" hangingPunct="1">
              <a:lnSpc>
                <a:spcPct val="90000"/>
              </a:lnSpc>
            </a:pPr>
            <a:r>
              <a:rPr lang="en-US" altLang="en-US" dirty="0" smtClean="0"/>
              <a:t>Developed at Sun in the early 1990s</a:t>
            </a:r>
          </a:p>
          <a:p>
            <a:pPr lvl="1" eaLnBrk="1" hangingPunct="1">
              <a:lnSpc>
                <a:spcPct val="90000"/>
              </a:lnSpc>
            </a:pPr>
            <a:r>
              <a:rPr lang="en-US" altLang="en-US" dirty="0" smtClean="0"/>
              <a:t>Initially for embedded electronic devices</a:t>
            </a:r>
          </a:p>
          <a:p>
            <a:pPr lvl="1" eaLnBrk="1" hangingPunct="1">
              <a:lnSpc>
                <a:spcPct val="90000"/>
              </a:lnSpc>
            </a:pPr>
            <a:r>
              <a:rPr lang="en-US" altLang="en-US" dirty="0" smtClean="0"/>
              <a:t>C and C++ not suited to this task (unreliable)</a:t>
            </a:r>
          </a:p>
          <a:p>
            <a:pPr eaLnBrk="1" hangingPunct="1">
              <a:lnSpc>
                <a:spcPct val="90000"/>
              </a:lnSpc>
            </a:pPr>
            <a:endParaRPr lang="en-US" altLang="en-US" sz="900" dirty="0" smtClean="0"/>
          </a:p>
          <a:p>
            <a:pPr eaLnBrk="1" hangingPunct="1">
              <a:lnSpc>
                <a:spcPct val="90000"/>
              </a:lnSpc>
            </a:pPr>
            <a:r>
              <a:rPr lang="en-US" altLang="en-US" dirty="0" smtClean="0"/>
              <a:t>Based on C++</a:t>
            </a:r>
          </a:p>
          <a:p>
            <a:pPr lvl="1" eaLnBrk="1" hangingPunct="1">
              <a:lnSpc>
                <a:spcPct val="90000"/>
              </a:lnSpc>
            </a:pPr>
            <a:r>
              <a:rPr lang="en-US" altLang="en-US" dirty="0" smtClean="0"/>
              <a:t>Significantly simplified and more reliable</a:t>
            </a:r>
          </a:p>
          <a:p>
            <a:pPr lvl="1" eaLnBrk="1" hangingPunct="1">
              <a:lnSpc>
                <a:spcPct val="90000"/>
              </a:lnSpc>
            </a:pPr>
            <a:r>
              <a:rPr lang="en-US" altLang="en-US" dirty="0" smtClean="0"/>
              <a:t>Discards C++ features</a:t>
            </a:r>
          </a:p>
          <a:p>
            <a:pPr lvl="2" eaLnBrk="1" hangingPunct="1">
              <a:lnSpc>
                <a:spcPct val="90000"/>
              </a:lnSpc>
            </a:pPr>
            <a:r>
              <a:rPr lang="en-US" altLang="en-US" dirty="0" smtClean="0"/>
              <a:t>Removes </a:t>
            </a:r>
            <a:r>
              <a:rPr lang="en-US" altLang="en-US" b="1" dirty="0" err="1" smtClean="0">
                <a:latin typeface="Courier New" panose="02070309020205020404" pitchFamily="49" charset="0"/>
              </a:rPr>
              <a:t>struct</a:t>
            </a:r>
            <a:r>
              <a:rPr lang="en-US" altLang="en-US" dirty="0" smtClean="0"/>
              <a:t>, </a:t>
            </a:r>
            <a:r>
              <a:rPr lang="en-US" altLang="en-US" b="1" dirty="0" smtClean="0">
                <a:latin typeface="Courier New" panose="02070309020205020404" pitchFamily="49" charset="0"/>
              </a:rPr>
              <a:t>union</a:t>
            </a:r>
            <a:r>
              <a:rPr lang="en-US" altLang="en-US" dirty="0" smtClean="0"/>
              <a:t>, and </a:t>
            </a:r>
            <a:r>
              <a:rPr lang="en-US" altLang="en-US" b="1" dirty="0" err="1" smtClean="0">
                <a:latin typeface="Courier New" panose="02070309020205020404" pitchFamily="49" charset="0"/>
              </a:rPr>
              <a:t>enum</a:t>
            </a:r>
            <a:endParaRPr lang="en-US" altLang="en-US" dirty="0" smtClean="0"/>
          </a:p>
          <a:p>
            <a:pPr lvl="2" eaLnBrk="1" hangingPunct="1">
              <a:lnSpc>
                <a:spcPct val="90000"/>
              </a:lnSpc>
            </a:pPr>
            <a:r>
              <a:rPr lang="en-US" altLang="en-US" dirty="0" smtClean="0"/>
              <a:t>No pointers &amp; pointer arithmetic (references only)</a:t>
            </a:r>
          </a:p>
          <a:p>
            <a:pPr lvl="2" eaLnBrk="1" hangingPunct="1">
              <a:lnSpc>
                <a:spcPct val="90000"/>
              </a:lnSpc>
            </a:pPr>
            <a:r>
              <a:rPr lang="en-US" altLang="en-US" dirty="0"/>
              <a:t>Half the assignment </a:t>
            </a:r>
            <a:r>
              <a:rPr lang="en-US" altLang="en-US" dirty="0" smtClean="0"/>
              <a:t>coercions</a:t>
            </a:r>
          </a:p>
          <a:p>
            <a:pPr lvl="1" eaLnBrk="1" hangingPunct="1">
              <a:lnSpc>
                <a:spcPct val="90000"/>
              </a:lnSpc>
            </a:pPr>
            <a:r>
              <a:rPr lang="en-US" altLang="en-US" dirty="0" smtClean="0"/>
              <a:t>Supports </a:t>
            </a:r>
            <a:r>
              <a:rPr lang="en-US" altLang="en-US" u="sng" dirty="0" smtClean="0"/>
              <a:t>only</a:t>
            </a:r>
            <a:r>
              <a:rPr lang="en-US" altLang="en-US" dirty="0" smtClean="0"/>
              <a:t> OOP</a:t>
            </a:r>
          </a:p>
          <a:p>
            <a:pPr lvl="1" eaLnBrk="1" hangingPunct="1">
              <a:lnSpc>
                <a:spcPct val="90000"/>
              </a:lnSpc>
            </a:pPr>
            <a:r>
              <a:rPr lang="en-US" altLang="en-US" dirty="0" smtClean="0"/>
              <a:t>Supports </a:t>
            </a:r>
            <a:r>
              <a:rPr lang="en-US" altLang="en-US" dirty="0" smtClean="0"/>
              <a:t>applets, concurrency</a:t>
            </a:r>
            <a:r>
              <a:rPr lang="en-US" altLang="en-US" smtClean="0"/>
              <a:t>, </a:t>
            </a:r>
            <a:r>
              <a:rPr lang="en-US" altLang="en-US" smtClean="0"/>
              <a:t> </a:t>
            </a:r>
            <a:r>
              <a:rPr lang="en-US" altLang="en-US" dirty="0" smtClean="0"/>
              <a:t>GUI design</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B8B81F30-E0DE-4416-960C-BC28A6F499B6}" type="slidenum">
              <a:rPr lang="en-US" altLang="en-US" sz="1000" smtClean="0">
                <a:solidFill>
                  <a:schemeClr val="tx1"/>
                </a:solidFill>
                <a:latin typeface="Arial" panose="020B0604020202020204" pitchFamily="34" charset="0"/>
              </a:rPr>
              <a:pPr>
                <a:spcBef>
                  <a:spcPct val="0"/>
                </a:spcBef>
                <a:buFontTx/>
                <a:buNone/>
              </a:pPr>
              <a:t>15</a:t>
            </a:fld>
            <a:endParaRPr lang="en-US" altLang="en-US" sz="1000" smtClean="0">
              <a:solidFill>
                <a:schemeClr val="tx1"/>
              </a:solidFill>
              <a:latin typeface="Arial" panose="020B0604020202020204" pitchFamily="34" charset="0"/>
            </a:endParaRPr>
          </a:p>
        </p:txBody>
      </p:sp>
      <p:sp>
        <p:nvSpPr>
          <p:cNvPr id="126979" name="Rectangle 2"/>
          <p:cNvSpPr>
            <a:spLocks noGrp="1" noChangeArrowheads="1"/>
          </p:cNvSpPr>
          <p:nvPr>
            <p:ph type="title"/>
          </p:nvPr>
        </p:nvSpPr>
        <p:spPr/>
        <p:txBody>
          <a:bodyPr/>
          <a:lstStyle/>
          <a:p>
            <a:pPr eaLnBrk="1" hangingPunct="1"/>
            <a:r>
              <a:rPr lang="en-US" altLang="en-US" smtClean="0"/>
              <a:t>Java Evaluation</a:t>
            </a:r>
          </a:p>
        </p:txBody>
      </p:sp>
      <p:sp>
        <p:nvSpPr>
          <p:cNvPr id="126980" name="Rectangle 3"/>
          <p:cNvSpPr>
            <a:spLocks noGrp="1" noChangeArrowheads="1"/>
          </p:cNvSpPr>
          <p:nvPr>
            <p:ph type="body" idx="1"/>
          </p:nvPr>
        </p:nvSpPr>
        <p:spPr>
          <a:xfrm>
            <a:off x="609600" y="1417320"/>
            <a:ext cx="8153400" cy="4572000"/>
          </a:xfrm>
        </p:spPr>
        <p:txBody>
          <a:bodyPr/>
          <a:lstStyle/>
          <a:p>
            <a:pPr eaLnBrk="1" hangingPunct="1"/>
            <a:r>
              <a:rPr lang="en-US" altLang="en-US" dirty="0" smtClean="0"/>
              <a:t>Eliminated many unsafe features of C++</a:t>
            </a:r>
          </a:p>
          <a:p>
            <a:pPr lvl="1" eaLnBrk="1" hangingPunct="1"/>
            <a:r>
              <a:rPr lang="en-US" altLang="en-US" dirty="0" smtClean="0"/>
              <a:t>Less powerful and flexible than C++</a:t>
            </a:r>
          </a:p>
          <a:p>
            <a:pPr eaLnBrk="1" hangingPunct="1"/>
            <a:r>
              <a:rPr lang="en-US" altLang="en-US" dirty="0" smtClean="0"/>
              <a:t>Many built-in libraries</a:t>
            </a:r>
          </a:p>
          <a:p>
            <a:pPr lvl="1" eaLnBrk="1" hangingPunct="1"/>
            <a:r>
              <a:rPr lang="en-US" altLang="en-US" dirty="0" smtClean="0"/>
              <a:t>Concurrency, applets, GUIs, database access</a:t>
            </a:r>
          </a:p>
          <a:p>
            <a:pPr eaLnBrk="1" hangingPunct="1"/>
            <a:r>
              <a:rPr lang="en-US" altLang="en-US" dirty="0" smtClean="0"/>
              <a:t>Portable</a:t>
            </a:r>
          </a:p>
          <a:p>
            <a:pPr lvl="1" eaLnBrk="1" hangingPunct="1"/>
            <a:r>
              <a:rPr lang="en-US" altLang="en-US" dirty="0" smtClean="0"/>
              <a:t>Java Virtual Machine, JIT compilers</a:t>
            </a:r>
          </a:p>
          <a:p>
            <a:pPr eaLnBrk="1" hangingPunct="1"/>
            <a:r>
              <a:rPr lang="en-US" altLang="en-US" dirty="0" smtClean="0"/>
              <a:t>Widely used for Web programming</a:t>
            </a:r>
          </a:p>
          <a:p>
            <a:pPr eaLnBrk="1" hangingPunct="1"/>
            <a:r>
              <a:rPr lang="en-US" altLang="en-US" dirty="0" smtClean="0"/>
              <a:t>Use increased incredibly quickly</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Title 1"/>
          <p:cNvSpPr>
            <a:spLocks noGrp="1"/>
          </p:cNvSpPr>
          <p:nvPr>
            <p:ph type="title"/>
          </p:nvPr>
        </p:nvSpPr>
        <p:spPr/>
        <p:txBody>
          <a:bodyPr/>
          <a:lstStyle/>
          <a:p>
            <a:r>
              <a:rPr lang="en-US" altLang="en-US" smtClean="0"/>
              <a:t>Scripting Languages for the Web</a:t>
            </a:r>
            <a:endParaRPr lang="en-ZA" altLang="en-US" smtClean="0"/>
          </a:p>
        </p:txBody>
      </p:sp>
      <p:sp>
        <p:nvSpPr>
          <p:cNvPr id="129027" name="Content Placeholder 2"/>
          <p:cNvSpPr>
            <a:spLocks noGrp="1"/>
          </p:cNvSpPr>
          <p:nvPr>
            <p:ph idx="1"/>
          </p:nvPr>
        </p:nvSpPr>
        <p:spPr>
          <a:xfrm>
            <a:off x="609600" y="1447800"/>
            <a:ext cx="8153400" cy="4572000"/>
          </a:xfrm>
        </p:spPr>
        <p:txBody>
          <a:bodyPr/>
          <a:lstStyle/>
          <a:p>
            <a:r>
              <a:rPr lang="en-ZA" altLang="en-US" sz="2400" dirty="0" smtClean="0"/>
              <a:t>In general, scripting languages are imperative</a:t>
            </a:r>
          </a:p>
          <a:p>
            <a:r>
              <a:rPr lang="en-ZA" altLang="en-US" sz="2400" dirty="0" smtClean="0"/>
              <a:t>Differences from normal imperative languages</a:t>
            </a:r>
          </a:p>
          <a:p>
            <a:pPr lvl="1"/>
            <a:r>
              <a:rPr lang="en-ZA" altLang="en-US" sz="2000" dirty="0" smtClean="0"/>
              <a:t>Intended purpose</a:t>
            </a:r>
          </a:p>
          <a:p>
            <a:pPr lvl="2"/>
            <a:r>
              <a:rPr lang="en-ZA" altLang="en-US" sz="2000" dirty="0" smtClean="0"/>
              <a:t>Scripting languages: Smaller tasks</a:t>
            </a:r>
          </a:p>
          <a:p>
            <a:pPr lvl="2"/>
            <a:r>
              <a:rPr lang="en-ZA" altLang="en-US" sz="2000" dirty="0" smtClean="0"/>
              <a:t>Full imperative languages: Larger tasks</a:t>
            </a:r>
          </a:p>
          <a:p>
            <a:pPr lvl="1"/>
            <a:r>
              <a:rPr lang="en-ZA" altLang="en-US" sz="2000" dirty="0" smtClean="0"/>
              <a:t>Implementation system</a:t>
            </a:r>
          </a:p>
          <a:p>
            <a:pPr lvl="2"/>
            <a:r>
              <a:rPr lang="en-ZA" altLang="en-US" sz="2000" dirty="0" smtClean="0"/>
              <a:t>Scripting languages: Usually interpreted</a:t>
            </a:r>
          </a:p>
          <a:p>
            <a:pPr lvl="2"/>
            <a:r>
              <a:rPr lang="en-ZA" altLang="en-US" sz="2000" dirty="0" smtClean="0"/>
              <a:t>Full imperative languages: Usually compiled</a:t>
            </a:r>
          </a:p>
          <a:p>
            <a:pPr lvl="1"/>
            <a:r>
              <a:rPr lang="en-ZA" altLang="en-US" sz="2000" dirty="0" smtClean="0"/>
              <a:t>Constructs</a:t>
            </a:r>
          </a:p>
          <a:p>
            <a:pPr lvl="2"/>
            <a:r>
              <a:rPr lang="en-ZA" altLang="en-US" sz="2000" dirty="0" smtClean="0"/>
              <a:t>Scripting languages: Usually mostly dynamic</a:t>
            </a:r>
          </a:p>
          <a:p>
            <a:pPr lvl="2"/>
            <a:r>
              <a:rPr lang="en-ZA" altLang="en-US" sz="2000" dirty="0" smtClean="0"/>
              <a:t>Full imperative languages: More static features</a:t>
            </a:r>
          </a:p>
        </p:txBody>
      </p:sp>
      <p:sp>
        <p:nvSpPr>
          <p:cNvPr id="12902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982297AA-395C-4A40-B7FD-DCEB7954F8F5}" type="slidenum">
              <a:rPr lang="en-US" altLang="en-US" sz="1000" smtClean="0">
                <a:solidFill>
                  <a:schemeClr val="tx1"/>
                </a:solidFill>
                <a:latin typeface="Arial" panose="020B0604020202020204" pitchFamily="34" charset="0"/>
              </a:rPr>
              <a:pPr>
                <a:spcBef>
                  <a:spcPct val="0"/>
                </a:spcBef>
                <a:buFontTx/>
                <a:buNone/>
              </a:pPr>
              <a:t>16</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extLst>
      <p:ext uri="{BB962C8B-B14F-4D97-AF65-F5344CB8AC3E}">
        <p14:creationId xmlns:p14="http://schemas.microsoft.com/office/powerpoint/2010/main" val="20016798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Title 1"/>
          <p:cNvSpPr>
            <a:spLocks noGrp="1"/>
          </p:cNvSpPr>
          <p:nvPr>
            <p:ph type="title"/>
          </p:nvPr>
        </p:nvSpPr>
        <p:spPr/>
        <p:txBody>
          <a:bodyPr/>
          <a:lstStyle/>
          <a:p>
            <a:r>
              <a:rPr lang="en-US" altLang="en-US" smtClean="0"/>
              <a:t>Scripting Languages for the Web</a:t>
            </a:r>
            <a:endParaRPr lang="en-ZA" altLang="en-US" smtClean="0"/>
          </a:p>
        </p:txBody>
      </p:sp>
      <p:sp>
        <p:nvSpPr>
          <p:cNvPr id="129027" name="Content Placeholder 2"/>
          <p:cNvSpPr>
            <a:spLocks noGrp="1"/>
          </p:cNvSpPr>
          <p:nvPr>
            <p:ph idx="1"/>
          </p:nvPr>
        </p:nvSpPr>
        <p:spPr>
          <a:xfrm>
            <a:off x="609600" y="1447800"/>
            <a:ext cx="8153400" cy="4572000"/>
          </a:xfrm>
        </p:spPr>
        <p:txBody>
          <a:bodyPr/>
          <a:lstStyle/>
          <a:p>
            <a:r>
              <a:rPr lang="en-ZA" altLang="en-US" sz="2400" dirty="0" smtClean="0"/>
              <a:t>Perl</a:t>
            </a:r>
          </a:p>
          <a:p>
            <a:pPr lvl="1"/>
            <a:r>
              <a:rPr lang="en-ZA" altLang="en-US" sz="2000" dirty="0" smtClean="0"/>
              <a:t>Designed by Larry Wall in 1987</a:t>
            </a:r>
          </a:p>
          <a:p>
            <a:pPr lvl="1"/>
            <a:r>
              <a:rPr lang="en-ZA" altLang="en-US" sz="2000" dirty="0" smtClean="0"/>
              <a:t>Variables statically typed but implicitly declared</a:t>
            </a:r>
          </a:p>
          <a:p>
            <a:pPr lvl="2"/>
            <a:r>
              <a:rPr lang="en-ZA" altLang="en-US" sz="2000" dirty="0" smtClean="0"/>
              <a:t>Denoted by first character of a variable’s name</a:t>
            </a:r>
          </a:p>
          <a:p>
            <a:pPr lvl="2"/>
            <a:r>
              <a:rPr lang="en-ZA" altLang="en-US" sz="2000" dirty="0" smtClean="0"/>
              <a:t>Scalars: </a:t>
            </a:r>
            <a:r>
              <a:rPr lang="en-ZA" altLang="en-US" sz="2000" dirty="0" smtClean="0">
                <a:latin typeface="Courier New" panose="02070309020205020404" pitchFamily="49" charset="0"/>
                <a:cs typeface="Courier New" panose="02070309020205020404" pitchFamily="49" charset="0"/>
              </a:rPr>
              <a:t>$</a:t>
            </a:r>
            <a:r>
              <a:rPr lang="en-ZA" altLang="en-US" sz="2000" dirty="0" smtClean="0"/>
              <a:t>, arrays: </a:t>
            </a:r>
            <a:r>
              <a:rPr lang="en-ZA" altLang="en-US" sz="2000" dirty="0" smtClean="0">
                <a:latin typeface="Courier New" panose="02070309020205020404" pitchFamily="49" charset="0"/>
                <a:cs typeface="Courier New" panose="02070309020205020404" pitchFamily="49" charset="0"/>
              </a:rPr>
              <a:t>@</a:t>
            </a:r>
            <a:r>
              <a:rPr lang="en-ZA" altLang="en-US" sz="2000" dirty="0" smtClean="0"/>
              <a:t>, hashes: </a:t>
            </a:r>
            <a:r>
              <a:rPr lang="en-ZA" altLang="en-US" sz="2000" dirty="0" smtClean="0">
                <a:latin typeface="Courier New" panose="02070309020205020404" pitchFamily="49" charset="0"/>
                <a:cs typeface="Courier New" panose="02070309020205020404" pitchFamily="49" charset="0"/>
              </a:rPr>
              <a:t>%</a:t>
            </a:r>
            <a:endParaRPr lang="en-ZA" altLang="en-US" sz="2000" dirty="0" smtClean="0"/>
          </a:p>
          <a:p>
            <a:pPr lvl="1"/>
            <a:r>
              <a:rPr lang="en-ZA" altLang="en-US" sz="2000" dirty="0" smtClean="0"/>
              <a:t>Powerful, but somewhat dangerous</a:t>
            </a:r>
          </a:p>
          <a:p>
            <a:pPr lvl="2"/>
            <a:r>
              <a:rPr lang="en-ZA" altLang="en-US" sz="2000" dirty="0" smtClean="0"/>
              <a:t>Dynamic length, sparse arrays</a:t>
            </a:r>
          </a:p>
          <a:p>
            <a:pPr lvl="2"/>
            <a:r>
              <a:rPr lang="en-ZA" altLang="en-US" sz="2000" dirty="0" smtClean="0"/>
              <a:t>Coercions between strings and numbers</a:t>
            </a:r>
          </a:p>
          <a:p>
            <a:pPr lvl="2"/>
            <a:r>
              <a:rPr lang="en-ZA" altLang="en-US" sz="2000" dirty="0" smtClean="0"/>
              <a:t>No error detection for array access</a:t>
            </a:r>
          </a:p>
          <a:p>
            <a:pPr lvl="1"/>
            <a:r>
              <a:rPr lang="en-ZA" altLang="en-US" sz="2000" dirty="0" smtClean="0"/>
              <a:t>Language uses</a:t>
            </a:r>
          </a:p>
          <a:p>
            <a:pPr lvl="2"/>
            <a:r>
              <a:rPr lang="en-ZA" altLang="en-US" sz="2000" dirty="0" smtClean="0"/>
              <a:t>Initially for UNIX system text file processing</a:t>
            </a:r>
          </a:p>
          <a:p>
            <a:pPr lvl="2"/>
            <a:r>
              <a:rPr lang="en-ZA" altLang="en-US" sz="2000" dirty="0" smtClean="0"/>
              <a:t>Widespread use for CGI programming on the Web</a:t>
            </a:r>
          </a:p>
          <a:p>
            <a:pPr lvl="2"/>
            <a:r>
              <a:rPr lang="en-ZA" altLang="en-US" sz="2000" dirty="0" smtClean="0"/>
              <a:t>Still used for UNIX general system administration</a:t>
            </a:r>
          </a:p>
        </p:txBody>
      </p:sp>
      <p:sp>
        <p:nvSpPr>
          <p:cNvPr id="12902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982297AA-395C-4A40-B7FD-DCEB7954F8F5}" type="slidenum">
              <a:rPr lang="en-US" altLang="en-US" sz="1000" smtClean="0">
                <a:solidFill>
                  <a:schemeClr val="tx1"/>
                </a:solidFill>
                <a:latin typeface="Arial" panose="020B0604020202020204" pitchFamily="34" charset="0"/>
              </a:rPr>
              <a:pPr>
                <a:spcBef>
                  <a:spcPct val="0"/>
                </a:spcBef>
                <a:buFontTx/>
                <a:buNone/>
              </a:pPr>
              <a:t>17</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Title 1"/>
          <p:cNvSpPr>
            <a:spLocks noGrp="1"/>
          </p:cNvSpPr>
          <p:nvPr>
            <p:ph type="title"/>
          </p:nvPr>
        </p:nvSpPr>
        <p:spPr/>
        <p:txBody>
          <a:bodyPr/>
          <a:lstStyle/>
          <a:p>
            <a:r>
              <a:rPr lang="en-US" altLang="en-US" smtClean="0"/>
              <a:t>Scripting Languages for the Web</a:t>
            </a:r>
            <a:endParaRPr lang="en-ZA" altLang="en-US" smtClean="0"/>
          </a:p>
        </p:txBody>
      </p:sp>
      <p:sp>
        <p:nvSpPr>
          <p:cNvPr id="131075" name="Content Placeholder 2"/>
          <p:cNvSpPr>
            <a:spLocks noGrp="1"/>
          </p:cNvSpPr>
          <p:nvPr>
            <p:ph idx="1"/>
          </p:nvPr>
        </p:nvSpPr>
        <p:spPr>
          <a:xfrm>
            <a:off x="609600" y="1447800"/>
            <a:ext cx="8153400" cy="4572000"/>
          </a:xfrm>
        </p:spPr>
        <p:txBody>
          <a:bodyPr/>
          <a:lstStyle/>
          <a:p>
            <a:r>
              <a:rPr lang="en-ZA" altLang="en-US" sz="2400" dirty="0" smtClean="0"/>
              <a:t>PHP</a:t>
            </a:r>
          </a:p>
          <a:p>
            <a:pPr lvl="1"/>
            <a:r>
              <a:rPr lang="en-ZA" altLang="en-US" sz="2000" dirty="0" smtClean="0"/>
              <a:t>Designed by </a:t>
            </a:r>
            <a:r>
              <a:rPr lang="en-ZA" altLang="en-US" sz="2000" dirty="0" err="1" smtClean="0"/>
              <a:t>Rasmus</a:t>
            </a:r>
            <a:r>
              <a:rPr lang="en-ZA" altLang="en-US" sz="2000" dirty="0" smtClean="0"/>
              <a:t> </a:t>
            </a:r>
            <a:r>
              <a:rPr lang="en-ZA" altLang="en-US" sz="2000" dirty="0" err="1" smtClean="0"/>
              <a:t>Lerdorf</a:t>
            </a:r>
            <a:endParaRPr lang="en-ZA" altLang="en-US" sz="2000" dirty="0" smtClean="0"/>
          </a:p>
          <a:p>
            <a:pPr lvl="1"/>
            <a:r>
              <a:rPr lang="en-ZA" altLang="en-US" sz="2000" dirty="0" smtClean="0"/>
              <a:t>Language name</a:t>
            </a:r>
          </a:p>
          <a:p>
            <a:pPr lvl="2"/>
            <a:r>
              <a:rPr lang="en-ZA" altLang="en-US" sz="2000" dirty="0" smtClean="0"/>
              <a:t>Originally </a:t>
            </a:r>
            <a:r>
              <a:rPr lang="en-ZA" altLang="en-US" sz="2000" u="sng" dirty="0" smtClean="0"/>
              <a:t>P</a:t>
            </a:r>
            <a:r>
              <a:rPr lang="en-ZA" altLang="en-US" sz="2000" dirty="0" smtClean="0"/>
              <a:t>ersonal </a:t>
            </a:r>
            <a:r>
              <a:rPr lang="en-ZA" altLang="en-US" sz="2000" u="sng" dirty="0" smtClean="0"/>
              <a:t>H</a:t>
            </a:r>
            <a:r>
              <a:rPr lang="en-ZA" altLang="en-US" sz="2000" dirty="0" smtClean="0"/>
              <a:t>ome </a:t>
            </a:r>
            <a:r>
              <a:rPr lang="en-ZA" altLang="en-US" sz="2000" u="sng" dirty="0" smtClean="0"/>
              <a:t>P</a:t>
            </a:r>
            <a:r>
              <a:rPr lang="en-ZA" altLang="en-US" sz="2000" dirty="0" smtClean="0"/>
              <a:t>age</a:t>
            </a:r>
          </a:p>
          <a:p>
            <a:pPr lvl="2"/>
            <a:r>
              <a:rPr lang="en-ZA" altLang="en-US" sz="2000" dirty="0" smtClean="0"/>
              <a:t>Later the recursive name </a:t>
            </a:r>
            <a:r>
              <a:rPr lang="en-ZA" altLang="en-US" sz="2000" u="sng" dirty="0" smtClean="0"/>
              <a:t>P</a:t>
            </a:r>
            <a:r>
              <a:rPr lang="en-ZA" altLang="en-US" sz="2000" dirty="0" smtClean="0"/>
              <a:t>HP: </a:t>
            </a:r>
            <a:r>
              <a:rPr lang="en-ZA" altLang="en-US" sz="2000" u="sng" dirty="0" smtClean="0"/>
              <a:t>H</a:t>
            </a:r>
            <a:r>
              <a:rPr lang="en-ZA" altLang="en-US" sz="2000" dirty="0" smtClean="0"/>
              <a:t>ypertext </a:t>
            </a:r>
            <a:r>
              <a:rPr lang="en-ZA" altLang="en-US" sz="2000" u="sng" dirty="0" err="1" smtClean="0"/>
              <a:t>P</a:t>
            </a:r>
            <a:r>
              <a:rPr lang="en-ZA" altLang="en-US" sz="2000" dirty="0" err="1" smtClean="0"/>
              <a:t>reprocessor</a:t>
            </a:r>
            <a:endParaRPr lang="en-ZA" altLang="en-US" sz="2000" dirty="0" smtClean="0"/>
          </a:p>
          <a:p>
            <a:pPr lvl="1"/>
            <a:r>
              <a:rPr lang="en-ZA" altLang="en-US" sz="2000" dirty="0" smtClean="0"/>
              <a:t>Server-side, HTML-embedded scripting language</a:t>
            </a:r>
          </a:p>
          <a:p>
            <a:pPr lvl="2"/>
            <a:r>
              <a:rPr lang="en-ZA" altLang="en-US" sz="2000" dirty="0" smtClean="0"/>
              <a:t>Often used for form processing</a:t>
            </a:r>
          </a:p>
          <a:p>
            <a:pPr lvl="2"/>
            <a:r>
              <a:rPr lang="en-ZA" altLang="en-US" sz="2000" dirty="0" smtClean="0"/>
              <a:t>Also database access via the Web</a:t>
            </a:r>
          </a:p>
          <a:p>
            <a:pPr lvl="1"/>
            <a:r>
              <a:rPr lang="en-ZA" altLang="en-US" sz="2000" dirty="0" smtClean="0"/>
              <a:t>Purely interpreted</a:t>
            </a:r>
          </a:p>
        </p:txBody>
      </p:sp>
      <p:sp>
        <p:nvSpPr>
          <p:cNvPr id="13107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6B9877F5-0F2A-4836-A5B9-FAA5E230015F}" type="slidenum">
              <a:rPr lang="en-US" altLang="en-US" sz="1000" smtClean="0">
                <a:solidFill>
                  <a:schemeClr val="tx1"/>
                </a:solidFill>
                <a:latin typeface="Arial" panose="020B0604020202020204" pitchFamily="34" charset="0"/>
              </a:rPr>
              <a:pPr>
                <a:spcBef>
                  <a:spcPct val="0"/>
                </a:spcBef>
                <a:buFontTx/>
                <a:buNone/>
              </a:pPr>
              <a:t>18</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itle 1"/>
          <p:cNvSpPr>
            <a:spLocks noGrp="1"/>
          </p:cNvSpPr>
          <p:nvPr>
            <p:ph type="title"/>
          </p:nvPr>
        </p:nvSpPr>
        <p:spPr/>
        <p:txBody>
          <a:bodyPr/>
          <a:lstStyle/>
          <a:p>
            <a:r>
              <a:rPr lang="en-US" altLang="en-US" smtClean="0"/>
              <a:t>Scripting Languages for the Web</a:t>
            </a:r>
            <a:endParaRPr lang="en-ZA" altLang="en-US" smtClean="0"/>
          </a:p>
        </p:txBody>
      </p:sp>
      <p:sp>
        <p:nvSpPr>
          <p:cNvPr id="130051" name="Content Placeholder 2"/>
          <p:cNvSpPr>
            <a:spLocks noGrp="1"/>
          </p:cNvSpPr>
          <p:nvPr>
            <p:ph idx="1"/>
          </p:nvPr>
        </p:nvSpPr>
        <p:spPr>
          <a:xfrm>
            <a:off x="609600" y="1447800"/>
            <a:ext cx="8153400" cy="4572000"/>
          </a:xfrm>
        </p:spPr>
        <p:txBody>
          <a:bodyPr/>
          <a:lstStyle/>
          <a:p>
            <a:r>
              <a:rPr lang="en-ZA" altLang="en-US" sz="2400" dirty="0" smtClean="0"/>
              <a:t>JavaScript</a:t>
            </a:r>
          </a:p>
          <a:p>
            <a:pPr lvl="1"/>
            <a:r>
              <a:rPr lang="en-ZA" altLang="en-US" sz="2000" dirty="0" smtClean="0"/>
              <a:t>Began at Netscape</a:t>
            </a:r>
          </a:p>
          <a:p>
            <a:pPr lvl="2"/>
            <a:r>
              <a:rPr lang="en-ZA" altLang="en-US" sz="2000" dirty="0" smtClean="0"/>
              <a:t>Then joint venture of Netscape &amp; Sun Microsystems</a:t>
            </a:r>
          </a:p>
          <a:p>
            <a:pPr lvl="1"/>
            <a:r>
              <a:rPr lang="en-ZA" altLang="en-US" sz="2000" dirty="0" smtClean="0"/>
              <a:t>Language characteristics</a:t>
            </a:r>
          </a:p>
          <a:p>
            <a:pPr lvl="2"/>
            <a:r>
              <a:rPr lang="en-ZA" altLang="en-US" sz="2000" dirty="0" smtClean="0"/>
              <a:t>A client-side, HTML-embedded</a:t>
            </a:r>
          </a:p>
          <a:p>
            <a:pPr lvl="2"/>
            <a:r>
              <a:rPr lang="en-ZA" altLang="en-US" sz="2000" dirty="0" smtClean="0"/>
              <a:t>Often for dynamic HTML documents</a:t>
            </a:r>
          </a:p>
          <a:p>
            <a:pPr lvl="1"/>
            <a:r>
              <a:rPr lang="en-ZA" altLang="en-US" sz="2000" dirty="0" smtClean="0"/>
              <a:t>Purely interpreted</a:t>
            </a:r>
          </a:p>
          <a:p>
            <a:pPr lvl="1"/>
            <a:r>
              <a:rPr lang="en-ZA" altLang="en-US" sz="2000" dirty="0" smtClean="0"/>
              <a:t>Related to Java only through similar syntax</a:t>
            </a:r>
          </a:p>
        </p:txBody>
      </p:sp>
      <p:sp>
        <p:nvSpPr>
          <p:cNvPr id="13005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A0335AC4-E2A3-4275-B12B-C6CB7963DDF5}" type="slidenum">
              <a:rPr lang="en-US" altLang="en-US" sz="1000" smtClean="0">
                <a:solidFill>
                  <a:schemeClr val="tx1"/>
                </a:solidFill>
                <a:latin typeface="Arial" panose="020B0604020202020204" pitchFamily="34" charset="0"/>
              </a:rPr>
              <a:pPr>
                <a:spcBef>
                  <a:spcPct val="0"/>
                </a:spcBef>
                <a:buFontTx/>
                <a:buNone/>
              </a:pPr>
              <a:t>19</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itle 1"/>
          <p:cNvSpPr>
            <a:spLocks noGrp="1"/>
          </p:cNvSpPr>
          <p:nvPr>
            <p:ph type="title"/>
          </p:nvPr>
        </p:nvSpPr>
        <p:spPr/>
        <p:txBody>
          <a:bodyPr/>
          <a:lstStyle/>
          <a:p>
            <a:r>
              <a:rPr lang="en-US" altLang="en-US" smtClean="0"/>
              <a:t>Scripting Languages for the Web</a:t>
            </a:r>
            <a:endParaRPr lang="en-ZA" altLang="en-US" smtClean="0"/>
          </a:p>
        </p:txBody>
      </p:sp>
      <p:sp>
        <p:nvSpPr>
          <p:cNvPr id="132099" name="Content Placeholder 2"/>
          <p:cNvSpPr>
            <a:spLocks noGrp="1"/>
          </p:cNvSpPr>
          <p:nvPr>
            <p:ph idx="1"/>
          </p:nvPr>
        </p:nvSpPr>
        <p:spPr>
          <a:xfrm>
            <a:off x="609600" y="1447800"/>
            <a:ext cx="8153400" cy="4572000"/>
          </a:xfrm>
        </p:spPr>
        <p:txBody>
          <a:bodyPr/>
          <a:lstStyle/>
          <a:p>
            <a:r>
              <a:rPr lang="en-ZA" altLang="en-US" sz="2400" dirty="0" smtClean="0"/>
              <a:t>Python</a:t>
            </a:r>
          </a:p>
          <a:p>
            <a:pPr lvl="1"/>
            <a:r>
              <a:rPr lang="en-ZA" altLang="en-US" sz="2000" dirty="0" smtClean="0"/>
              <a:t>An OO interpreted scripting language</a:t>
            </a:r>
          </a:p>
          <a:p>
            <a:pPr lvl="1"/>
            <a:r>
              <a:rPr lang="en-ZA" altLang="en-US" sz="2000" dirty="0" smtClean="0"/>
              <a:t>Similar applications as Perl</a:t>
            </a:r>
          </a:p>
          <a:p>
            <a:pPr lvl="2"/>
            <a:r>
              <a:rPr lang="en-ZA" altLang="en-US" sz="2000" dirty="0" smtClean="0"/>
              <a:t>CGI programming and form processing</a:t>
            </a:r>
          </a:p>
          <a:p>
            <a:pPr lvl="2"/>
            <a:r>
              <a:rPr lang="en-ZA" altLang="en-US" sz="2000" dirty="0" smtClean="0"/>
              <a:t>System administration</a:t>
            </a:r>
          </a:p>
          <a:p>
            <a:pPr lvl="2"/>
            <a:r>
              <a:rPr lang="en-ZA" altLang="en-US" sz="2000" dirty="0" smtClean="0"/>
              <a:t>More recent use in data science</a:t>
            </a:r>
          </a:p>
          <a:p>
            <a:pPr lvl="1"/>
            <a:r>
              <a:rPr lang="en-ZA" altLang="en-US" sz="2000" dirty="0" smtClean="0"/>
              <a:t>Type checked, but dynamically typed</a:t>
            </a:r>
          </a:p>
          <a:p>
            <a:pPr lvl="1"/>
            <a:r>
              <a:rPr lang="en-ZA" altLang="en-US" sz="2000" dirty="0" smtClean="0"/>
              <a:t>Language features</a:t>
            </a:r>
          </a:p>
          <a:p>
            <a:pPr lvl="2"/>
            <a:r>
              <a:rPr lang="en-ZA" altLang="en-US" sz="2000" dirty="0" smtClean="0"/>
              <a:t>Pattern matching facilities</a:t>
            </a:r>
          </a:p>
          <a:p>
            <a:pPr lvl="2"/>
            <a:r>
              <a:rPr lang="en-ZA" altLang="en-US" sz="2000" dirty="0" smtClean="0"/>
              <a:t>Exception handling</a:t>
            </a:r>
          </a:p>
          <a:p>
            <a:pPr lvl="2"/>
            <a:r>
              <a:rPr lang="en-ZA" altLang="en-US" sz="2000" dirty="0"/>
              <a:t>G</a:t>
            </a:r>
            <a:r>
              <a:rPr lang="en-ZA" altLang="en-US" sz="2000" dirty="0" smtClean="0"/>
              <a:t>arbage collection</a:t>
            </a:r>
          </a:p>
          <a:p>
            <a:pPr lvl="2"/>
            <a:r>
              <a:rPr lang="en-ZA" altLang="en-US" sz="2000" dirty="0" smtClean="0"/>
              <a:t>Supports lists, tuples, and hashes</a:t>
            </a:r>
          </a:p>
          <a:p>
            <a:pPr lvl="1"/>
            <a:r>
              <a:rPr lang="en-ZA" altLang="en-US" sz="2000" dirty="0" smtClean="0"/>
              <a:t>A large number of external libraries</a:t>
            </a:r>
          </a:p>
        </p:txBody>
      </p:sp>
      <p:sp>
        <p:nvSpPr>
          <p:cNvPr id="13210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E2C42623-19F3-4C7D-B213-C6CD01E87551}" type="slidenum">
              <a:rPr lang="en-US" altLang="en-US" sz="1000" smtClean="0">
                <a:solidFill>
                  <a:schemeClr val="tx1"/>
                </a:solidFill>
                <a:latin typeface="Arial" panose="020B0604020202020204" pitchFamily="34" charset="0"/>
              </a:rPr>
              <a:pPr>
                <a:spcBef>
                  <a:spcPct val="0"/>
                </a:spcBef>
                <a:buFontTx/>
                <a:buNone/>
              </a:pPr>
              <a:t>20</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22A45F55-CC59-434F-BEF1-AAA78589F074}" type="slidenum">
              <a:rPr lang="en-US" altLang="en-US" sz="1000" smtClean="0">
                <a:solidFill>
                  <a:schemeClr val="tx1"/>
                </a:solidFill>
                <a:latin typeface="Arial" panose="020B0604020202020204" pitchFamily="34" charset="0"/>
              </a:rPr>
              <a:pPr>
                <a:spcBef>
                  <a:spcPct val="0"/>
                </a:spcBef>
                <a:buFontTx/>
                <a:buNone/>
              </a:pPr>
              <a:t>21</a:t>
            </a:fld>
            <a:endParaRPr lang="en-US" altLang="en-US" sz="1000" smtClean="0">
              <a:solidFill>
                <a:schemeClr val="tx1"/>
              </a:solidFill>
              <a:latin typeface="Arial" panose="020B0604020202020204" pitchFamily="34" charset="0"/>
            </a:endParaRPr>
          </a:p>
        </p:txBody>
      </p:sp>
      <p:sp>
        <p:nvSpPr>
          <p:cNvPr id="133123" name="Rectangle 2"/>
          <p:cNvSpPr>
            <a:spLocks noGrp="1" noChangeArrowheads="1"/>
          </p:cNvSpPr>
          <p:nvPr>
            <p:ph type="title"/>
          </p:nvPr>
        </p:nvSpPr>
        <p:spPr/>
        <p:txBody>
          <a:bodyPr/>
          <a:lstStyle/>
          <a:p>
            <a:pPr eaLnBrk="1" hangingPunct="1"/>
            <a:r>
              <a:rPr lang="en-US" altLang="en-US" smtClean="0"/>
              <a:t>Scripting Languages for the Web</a:t>
            </a:r>
            <a:endParaRPr lang="es-MX" altLang="en-US" smtClean="0"/>
          </a:p>
        </p:txBody>
      </p:sp>
      <p:sp>
        <p:nvSpPr>
          <p:cNvPr id="133124" name="Rectangle 3"/>
          <p:cNvSpPr>
            <a:spLocks noGrp="1" noChangeArrowheads="1"/>
          </p:cNvSpPr>
          <p:nvPr>
            <p:ph type="body" idx="1"/>
          </p:nvPr>
        </p:nvSpPr>
        <p:spPr>
          <a:xfrm>
            <a:off x="609600" y="1447800"/>
            <a:ext cx="8153400" cy="4572000"/>
          </a:xfrm>
        </p:spPr>
        <p:txBody>
          <a:bodyPr/>
          <a:lstStyle/>
          <a:p>
            <a:pPr eaLnBrk="1" hangingPunct="1"/>
            <a:r>
              <a:rPr lang="en-US" altLang="en-US" sz="2400" dirty="0" smtClean="0"/>
              <a:t>Ruby</a:t>
            </a:r>
          </a:p>
          <a:p>
            <a:pPr lvl="1" eaLnBrk="1" hangingPunct="1"/>
            <a:r>
              <a:rPr lang="en-US" altLang="en-US" sz="2000" dirty="0" smtClean="0"/>
              <a:t>Designed by Yukihiro Matsumoto (a.k.a. “</a:t>
            </a:r>
            <a:r>
              <a:rPr lang="en-US" altLang="en-US" sz="2000" dirty="0" err="1" smtClean="0"/>
              <a:t>Matz</a:t>
            </a:r>
            <a:r>
              <a:rPr lang="en-US" altLang="en-US" sz="2000" dirty="0" smtClean="0"/>
              <a:t>”)</a:t>
            </a:r>
          </a:p>
          <a:p>
            <a:pPr lvl="1" eaLnBrk="1" hangingPunct="1"/>
            <a:r>
              <a:rPr lang="en-US" altLang="en-US" sz="2000" dirty="0" smtClean="0"/>
              <a:t>First Japanese language to be widely used in US</a:t>
            </a:r>
          </a:p>
          <a:p>
            <a:pPr lvl="1" eaLnBrk="1" hangingPunct="1"/>
            <a:r>
              <a:rPr lang="en-US" altLang="en-US" sz="2000" dirty="0" smtClean="0"/>
              <a:t>Began as a replacement for Perl and Python</a:t>
            </a:r>
          </a:p>
          <a:p>
            <a:pPr lvl="1" eaLnBrk="1" hangingPunct="1"/>
            <a:r>
              <a:rPr lang="en-US" altLang="en-US" sz="2000" dirty="0" smtClean="0"/>
              <a:t>Purely interpreted</a:t>
            </a:r>
          </a:p>
          <a:p>
            <a:pPr lvl="1" eaLnBrk="1" hangingPunct="1"/>
            <a:endParaRPr lang="en-US" altLang="en-US" sz="500" dirty="0" smtClean="0"/>
          </a:p>
          <a:p>
            <a:pPr lvl="1" eaLnBrk="1" hangingPunct="1"/>
            <a:r>
              <a:rPr lang="en-US" altLang="en-US" sz="2000" dirty="0" smtClean="0"/>
              <a:t>A very pure object-orientation design</a:t>
            </a:r>
          </a:p>
          <a:p>
            <a:pPr lvl="2" eaLnBrk="1" hangingPunct="1"/>
            <a:r>
              <a:rPr lang="en-US" altLang="en-US" sz="2000" dirty="0" smtClean="0"/>
              <a:t>All data are objects</a:t>
            </a:r>
          </a:p>
          <a:p>
            <a:pPr lvl="2" eaLnBrk="1" hangingPunct="1"/>
            <a:r>
              <a:rPr lang="en-US" altLang="en-US" sz="2000" dirty="0" smtClean="0"/>
              <a:t>Most operators are implemented as methods</a:t>
            </a:r>
          </a:p>
          <a:p>
            <a:pPr lvl="3" eaLnBrk="1" hangingPunct="1"/>
            <a:r>
              <a:rPr lang="en-US" altLang="en-US" sz="1900" dirty="0" smtClean="0"/>
              <a:t>User code can redefine operators</a:t>
            </a:r>
          </a:p>
          <a:p>
            <a:pPr lvl="2" eaLnBrk="1" hangingPunct="1"/>
            <a:r>
              <a:rPr lang="en-US" altLang="en-US" sz="2000" dirty="0" smtClean="0"/>
              <a:t>Classes and objects are dynamic</a:t>
            </a:r>
          </a:p>
          <a:p>
            <a:pPr lvl="3" eaLnBrk="1" hangingPunct="1"/>
            <a:r>
              <a:rPr lang="en-US" altLang="en-US" sz="1900" dirty="0"/>
              <a:t>T</a:t>
            </a:r>
            <a:r>
              <a:rPr lang="en-US" altLang="en-US" sz="1900" dirty="0" smtClean="0"/>
              <a:t>hey can have different methods at different times</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9216A4C7-76F2-470A-838D-A6A542A24BA5}" type="slidenum">
              <a:rPr lang="en-US" altLang="en-US" sz="1000" smtClean="0">
                <a:solidFill>
                  <a:schemeClr val="tx1"/>
                </a:solidFill>
                <a:latin typeface="Arial" panose="020B0604020202020204" pitchFamily="34" charset="0"/>
              </a:rPr>
              <a:pPr>
                <a:spcBef>
                  <a:spcPct val="0"/>
                </a:spcBef>
                <a:buFontTx/>
                <a:buNone/>
              </a:pPr>
              <a:t>22</a:t>
            </a:fld>
            <a:endParaRPr lang="en-US" altLang="en-US" sz="1000" smtClean="0">
              <a:solidFill>
                <a:schemeClr val="tx1"/>
              </a:solidFill>
              <a:latin typeface="Arial" panose="020B0604020202020204" pitchFamily="34" charset="0"/>
            </a:endParaRPr>
          </a:p>
        </p:txBody>
      </p:sp>
      <p:sp>
        <p:nvSpPr>
          <p:cNvPr id="136195" name="Rectangle 2"/>
          <p:cNvSpPr>
            <a:spLocks noGrp="1" noChangeArrowheads="1"/>
          </p:cNvSpPr>
          <p:nvPr>
            <p:ph type="title"/>
          </p:nvPr>
        </p:nvSpPr>
        <p:spPr/>
        <p:txBody>
          <a:bodyPr/>
          <a:lstStyle/>
          <a:p>
            <a:pPr eaLnBrk="1" hangingPunct="1"/>
            <a:r>
              <a:rPr lang="en-US" altLang="en-US" smtClean="0"/>
              <a:t>The Flagship .NET Language: C#</a:t>
            </a:r>
          </a:p>
        </p:txBody>
      </p:sp>
      <p:sp>
        <p:nvSpPr>
          <p:cNvPr id="136196" name="Rectangle 3"/>
          <p:cNvSpPr>
            <a:spLocks noGrp="1" noChangeArrowheads="1"/>
          </p:cNvSpPr>
          <p:nvPr>
            <p:ph type="body" idx="1"/>
          </p:nvPr>
        </p:nvSpPr>
        <p:spPr>
          <a:xfrm>
            <a:off x="609600" y="1447800"/>
            <a:ext cx="8153400" cy="4572000"/>
          </a:xfrm>
        </p:spPr>
        <p:txBody>
          <a:bodyPr/>
          <a:lstStyle/>
          <a:p>
            <a:pPr eaLnBrk="1" hangingPunct="1"/>
            <a:r>
              <a:rPr lang="en-US" altLang="en-US" sz="2400" dirty="0" smtClean="0"/>
              <a:t>Part of the .NET development platform</a:t>
            </a:r>
          </a:p>
          <a:p>
            <a:pPr lvl="1" eaLnBrk="1" hangingPunct="1"/>
            <a:r>
              <a:rPr lang="en-US" altLang="en-US" sz="2000" dirty="0" smtClean="0"/>
              <a:t>Announced in 2000, released in 2002</a:t>
            </a:r>
          </a:p>
          <a:p>
            <a:pPr eaLnBrk="1" hangingPunct="1"/>
            <a:r>
              <a:rPr lang="en-US" altLang="en-US" sz="2400" dirty="0" smtClean="0"/>
              <a:t>Based on C++, Java, and Delphi</a:t>
            </a:r>
          </a:p>
          <a:p>
            <a:pPr lvl="1" eaLnBrk="1" hangingPunct="1"/>
            <a:r>
              <a:rPr lang="en-US" altLang="en-US" sz="2000" dirty="0" smtClean="0"/>
              <a:t>Improved many C++ features</a:t>
            </a:r>
          </a:p>
          <a:p>
            <a:pPr lvl="1" eaLnBrk="1" hangingPunct="1"/>
            <a:r>
              <a:rPr lang="en-US" altLang="en-US" sz="2000" dirty="0" smtClean="0"/>
              <a:t>Added some novel features for the time</a:t>
            </a:r>
          </a:p>
          <a:p>
            <a:pPr lvl="1" eaLnBrk="1" hangingPunct="1"/>
            <a:r>
              <a:rPr lang="en-US" altLang="en-US" sz="2000" dirty="0" smtClean="0"/>
              <a:t>Pointers, delegates, properties, enumeration types, limited dynamic typing, and anonymous types</a:t>
            </a:r>
          </a:p>
          <a:p>
            <a:pPr eaLnBrk="1" hangingPunct="1"/>
            <a:r>
              <a:rPr lang="en-US" altLang="en-US" sz="2400" dirty="0" smtClean="0"/>
              <a:t>Supports component-based development</a:t>
            </a:r>
          </a:p>
          <a:p>
            <a:pPr lvl="1" eaLnBrk="1" hangingPunct="1"/>
            <a:r>
              <a:rPr lang="en-US" altLang="en-US" sz="2000" dirty="0" smtClean="0"/>
              <a:t>Common Type System for .NET languages</a:t>
            </a:r>
          </a:p>
          <a:p>
            <a:pPr lvl="2" eaLnBrk="1" hangingPunct="1"/>
            <a:r>
              <a:rPr lang="en-US" altLang="en-US" sz="1700" dirty="0" smtClean="0"/>
              <a:t>Provides common class library and interoperability</a:t>
            </a:r>
          </a:p>
          <a:p>
            <a:pPr lvl="1" eaLnBrk="1" hangingPunct="1"/>
            <a:r>
              <a:rPr lang="en-US" altLang="en-US" sz="2000" dirty="0" smtClean="0"/>
              <a:t>Intermediate Language (IL) and JIT </a:t>
            </a:r>
            <a:r>
              <a:rPr lang="en-US" altLang="en-US" sz="2000" dirty="0" smtClean="0"/>
              <a:t>compiler</a:t>
            </a:r>
          </a:p>
          <a:p>
            <a:pPr lvl="2" eaLnBrk="1" hangingPunct="1"/>
            <a:r>
              <a:rPr lang="en-US" altLang="en-US" sz="1700" dirty="0" smtClean="0"/>
              <a:t>All .NET languages compile to IL</a:t>
            </a:r>
            <a:endParaRPr lang="en-US" altLang="en-US" sz="1700" dirty="0" smtClean="0"/>
          </a:p>
          <a:p>
            <a:pPr eaLnBrk="1" hangingPunct="1"/>
            <a:r>
              <a:rPr lang="en-US" altLang="en-US" sz="2400" dirty="0" smtClean="0"/>
              <a:t>Evolving very rapidly</a:t>
            </a:r>
            <a:endParaRPr lang="en-US" altLang="en-US" dirty="0" smtClean="0"/>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rgbClr val="333399"/>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D6402BCF-4ACB-4E5B-B901-BC19A68689D0}" type="slidenum">
              <a:rPr lang="en-US" altLang="en-US" sz="1000" smtClean="0">
                <a:solidFill>
                  <a:schemeClr val="tx1"/>
                </a:solidFill>
                <a:latin typeface="Arial" panose="020B0604020202020204" pitchFamily="34" charset="0"/>
              </a:rPr>
              <a:pPr>
                <a:spcBef>
                  <a:spcPct val="0"/>
                </a:spcBef>
                <a:buFontTx/>
                <a:buNone/>
              </a:pPr>
              <a:t>23</a:t>
            </a:fld>
            <a:endParaRPr lang="en-US" altLang="en-US" sz="1000" smtClean="0">
              <a:solidFill>
                <a:schemeClr val="tx1"/>
              </a:solidFill>
              <a:latin typeface="Arial" panose="020B0604020202020204" pitchFamily="34" charset="0"/>
            </a:endParaRPr>
          </a:p>
        </p:txBody>
      </p:sp>
      <p:sp>
        <p:nvSpPr>
          <p:cNvPr id="138243" name="Rectangle 2"/>
          <p:cNvSpPr>
            <a:spLocks noGrp="1" noChangeArrowheads="1"/>
          </p:cNvSpPr>
          <p:nvPr>
            <p:ph type="title"/>
          </p:nvPr>
        </p:nvSpPr>
        <p:spPr>
          <a:xfrm>
            <a:off x="609600" y="152400"/>
            <a:ext cx="8153400" cy="1143000"/>
          </a:xfrm>
        </p:spPr>
        <p:txBody>
          <a:bodyPr/>
          <a:lstStyle/>
          <a:p>
            <a:pPr eaLnBrk="1" hangingPunct="1"/>
            <a:r>
              <a:rPr lang="en-US" altLang="en-US" sz="3200" dirty="0" smtClean="0"/>
              <a:t>Markup and Programming Hybrid Languages</a:t>
            </a:r>
          </a:p>
        </p:txBody>
      </p:sp>
      <p:sp>
        <p:nvSpPr>
          <p:cNvPr id="138244" name="Rectangle 3"/>
          <p:cNvSpPr>
            <a:spLocks noGrp="1" noChangeArrowheads="1"/>
          </p:cNvSpPr>
          <p:nvPr>
            <p:ph type="body" idx="1"/>
          </p:nvPr>
        </p:nvSpPr>
        <p:spPr>
          <a:xfrm>
            <a:off x="609600" y="1503680"/>
            <a:ext cx="8153400" cy="4572000"/>
          </a:xfrm>
        </p:spPr>
        <p:txBody>
          <a:bodyPr/>
          <a:lstStyle/>
          <a:p>
            <a:pPr eaLnBrk="1" hangingPunct="1">
              <a:lnSpc>
                <a:spcPct val="80000"/>
              </a:lnSpc>
            </a:pPr>
            <a:r>
              <a:rPr lang="en-US" altLang="en-US" sz="2400" dirty="0" smtClean="0"/>
              <a:t>XSLT and JSP</a:t>
            </a:r>
          </a:p>
          <a:p>
            <a:pPr lvl="1" eaLnBrk="1" hangingPunct="1">
              <a:lnSpc>
                <a:spcPct val="80000"/>
              </a:lnSpc>
            </a:pPr>
            <a:r>
              <a:rPr lang="en-US" altLang="en-US" sz="2000" dirty="0" smtClean="0"/>
              <a:t>Both are based on markup languages</a:t>
            </a:r>
          </a:p>
          <a:p>
            <a:pPr lvl="2" eaLnBrk="1" hangingPunct="1">
              <a:lnSpc>
                <a:spcPct val="80000"/>
              </a:lnSpc>
            </a:pPr>
            <a:r>
              <a:rPr lang="en-US" altLang="en-US" sz="1700" dirty="0" smtClean="0"/>
              <a:t>Markup languages define document structure</a:t>
            </a:r>
          </a:p>
          <a:p>
            <a:pPr lvl="1" eaLnBrk="1" hangingPunct="1">
              <a:lnSpc>
                <a:spcPct val="80000"/>
              </a:lnSpc>
            </a:pPr>
            <a:r>
              <a:rPr lang="en-US" altLang="en-US" sz="2000" dirty="0" smtClean="0"/>
              <a:t>Extended with programming features</a:t>
            </a:r>
          </a:p>
          <a:p>
            <a:pPr lvl="2" eaLnBrk="1" hangingPunct="1">
              <a:lnSpc>
                <a:spcPct val="80000"/>
              </a:lnSpc>
            </a:pPr>
            <a:r>
              <a:rPr lang="en-US" altLang="en-US" sz="1700" dirty="0" smtClean="0"/>
              <a:t>For example, loops, if blocks, and sorting</a:t>
            </a:r>
          </a:p>
        </p:txBody>
      </p:sp>
      <p:sp>
        <p:nvSpPr>
          <p:cNvPr id="6" name="Footer Placeholder 3"/>
          <p:cNvSpPr>
            <a:spLocks noGrp="1"/>
          </p:cNvSpPr>
          <p:nvPr>
            <p:ph type="ftr" sz="quarter" idx="10"/>
          </p:nvPr>
        </p:nvSpPr>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1_sebesta">
  <a:themeElements>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sebesta">
      <a:majorFont>
        <a:latin typeface="Lucida Sans Unicode"/>
        <a:ea typeface="Lucida Sans Unicode"/>
        <a:cs typeface="Lucida Sans Unicode"/>
      </a:majorFont>
      <a:minorFont>
        <a:latin typeface="Lucida Sans Unicode"/>
        <a:ea typeface="Lucida Sans Unicode"/>
        <a:cs typeface="Lucida Sans Unicod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sebesta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sebesta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sebesta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sebesta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sebesta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sebesta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sebesta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sebesta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sebesta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sebesta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sebesta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sebesta2</Template>
  <TotalTime>14669</TotalTime>
  <Words>2047</Words>
  <Application>Microsoft Office PowerPoint</Application>
  <PresentationFormat>On-screen Show (4:3)</PresentationFormat>
  <Paragraphs>320</Paragraphs>
  <Slides>23</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Courier</vt:lpstr>
      <vt:lpstr>Courier New</vt:lpstr>
      <vt:lpstr>Lucida Sans Unicode</vt:lpstr>
      <vt:lpstr>Times</vt:lpstr>
      <vt:lpstr>1_sebesta</vt:lpstr>
      <vt:lpstr>Chapter 2 Part 3</vt:lpstr>
      <vt:lpstr>Chapter 2 Topics</vt:lpstr>
      <vt:lpstr>Genealogy of Common Languages</vt:lpstr>
      <vt:lpstr>Orthogonal Design: ALGOL 68</vt:lpstr>
      <vt:lpstr>ALGOL 68 Evaluation</vt:lpstr>
      <vt:lpstr>Pascal</vt:lpstr>
      <vt:lpstr>C</vt:lpstr>
      <vt:lpstr>Programming Based on Logic: Prolog</vt:lpstr>
      <vt:lpstr>History’s Largest Design Effort: Ada</vt:lpstr>
      <vt:lpstr>Ada Evaluation</vt:lpstr>
      <vt:lpstr>Object-Oriented Programming: Smalltalk</vt:lpstr>
      <vt:lpstr>Combining Imperative and Object-Oriented Programming: C++</vt:lpstr>
      <vt:lpstr>Related OOP Languages</vt:lpstr>
      <vt:lpstr>An Imperative-Based Object-Oriented Language: Java</vt:lpstr>
      <vt:lpstr>Java Evaluation</vt:lpstr>
      <vt:lpstr>Scripting Languages for the Web</vt:lpstr>
      <vt:lpstr>Scripting Languages for the Web</vt:lpstr>
      <vt:lpstr>Scripting Languages for the Web</vt:lpstr>
      <vt:lpstr>Scripting Languages for the Web</vt:lpstr>
      <vt:lpstr>Scripting Languages for the Web</vt:lpstr>
      <vt:lpstr>Scripting Languages for the Web</vt:lpstr>
      <vt:lpstr>The Flagship .NET Language: C#</vt:lpstr>
      <vt:lpstr>Markup and Programming Hybrid Languages</vt:lpstr>
    </vt:vector>
  </TitlesOfParts>
  <Company>Pearson Education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David Garrett</dc:creator>
  <cp:lastModifiedBy>Willem S. van Heerden</cp:lastModifiedBy>
  <cp:revision>331</cp:revision>
  <dcterms:created xsi:type="dcterms:W3CDTF">2003-08-01T12:29:19Z</dcterms:created>
  <dcterms:modified xsi:type="dcterms:W3CDTF">2026-02-26T21:16:59Z</dcterms:modified>
</cp:coreProperties>
</file>