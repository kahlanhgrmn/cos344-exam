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2" r:id="rId1"/>
  </p:sldMasterIdLst>
  <p:notesMasterIdLst>
    <p:notesMasterId r:id="rId30"/>
  </p:notesMasterIdLst>
  <p:sldIdLst>
    <p:sldId id="384" r:id="rId2"/>
    <p:sldId id="412" r:id="rId3"/>
    <p:sldId id="411" r:id="rId4"/>
    <p:sldId id="386" r:id="rId5"/>
    <p:sldId id="387" r:id="rId6"/>
    <p:sldId id="388" r:id="rId7"/>
    <p:sldId id="389" r:id="rId8"/>
    <p:sldId id="390" r:id="rId9"/>
    <p:sldId id="391" r:id="rId10"/>
    <p:sldId id="392" r:id="rId11"/>
    <p:sldId id="393" r:id="rId12"/>
    <p:sldId id="394" r:id="rId13"/>
    <p:sldId id="395" r:id="rId14"/>
    <p:sldId id="402" r:id="rId15"/>
    <p:sldId id="414" r:id="rId16"/>
    <p:sldId id="403" r:id="rId17"/>
    <p:sldId id="415" r:id="rId18"/>
    <p:sldId id="405" r:id="rId19"/>
    <p:sldId id="406" r:id="rId20"/>
    <p:sldId id="407" r:id="rId21"/>
    <p:sldId id="408" r:id="rId22"/>
    <p:sldId id="416" r:id="rId23"/>
    <p:sldId id="417" r:id="rId24"/>
    <p:sldId id="418" r:id="rId25"/>
    <p:sldId id="419" r:id="rId26"/>
    <p:sldId id="420" r:id="rId27"/>
    <p:sldId id="421" r:id="rId28"/>
    <p:sldId id="422" r:id="rId29"/>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4572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9144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3716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1828800" algn="l" rtl="0" eaLnBrk="0" fontAlgn="base" hangingPunct="0">
      <a:spcBef>
        <a:spcPct val="0"/>
      </a:spcBef>
      <a:spcAft>
        <a:spcPct val="0"/>
      </a:spcAft>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2860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7432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2004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657600" algn="l" defTabSz="914400" rtl="0" eaLnBrk="1" latinLnBrk="0" hangingPunct="1">
      <a:defRPr sz="2400" kern="12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6699"/>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7743" autoAdjust="0"/>
    <p:restoredTop sz="86788" autoAdjust="0"/>
  </p:normalViewPr>
  <p:slideViewPr>
    <p:cSldViewPr>
      <p:cViewPr varScale="1">
        <p:scale>
          <a:sx n="74" d="100"/>
          <a:sy n="74" d="100"/>
        </p:scale>
        <p:origin x="1085"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70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mn-cs"/>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mn-cs"/>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mn-cs"/>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Lucida Sans Unicode" panose="020B0602030504020204" pitchFamily="34" charset="0"/>
                <a:cs typeface="Lucida Sans Unicode" panose="020B0602030504020204" pitchFamily="34" charset="0"/>
              </a:defRPr>
            </a:lvl1pPr>
          </a:lstStyle>
          <a:p>
            <a:pPr>
              <a:defRPr/>
            </a:pPr>
            <a:fld id="{C13607B7-F5DE-41A0-AAC7-F585AED426A3}" type="slidenum">
              <a:rPr lang="en-US" altLang="en-US"/>
              <a:pPr>
                <a:defRPr/>
              </a:pPr>
              <a:t>‹#›</a:t>
            </a:fld>
            <a:endParaRPr lang="en-US" altLang="en-US"/>
          </a:p>
        </p:txBody>
      </p:sp>
    </p:spTree>
    <p:extLst>
      <p:ext uri="{BB962C8B-B14F-4D97-AF65-F5344CB8AC3E}">
        <p14:creationId xmlns:p14="http://schemas.microsoft.com/office/powerpoint/2010/main" val="276401393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77EC7970-8251-4C5B-B33F-12B0A99119FE}" type="slidenum">
              <a:rPr lang="en-US" altLang="en-US" sz="1200" smtClean="0"/>
              <a:pPr/>
              <a:t>1</a:t>
            </a:fld>
            <a:endParaRPr lang="en-US" altLang="en-US" sz="1200" smtClean="0"/>
          </a:p>
        </p:txBody>
      </p:sp>
      <p:sp>
        <p:nvSpPr>
          <p:cNvPr id="5123" name="Rectangle 2"/>
          <p:cNvSpPr>
            <a:spLocks noGrp="1" noRot="1" noChangeAspect="1" noChangeArrowheads="1" noTextEdit="1"/>
          </p:cNvSpPr>
          <p:nvPr>
            <p:ph type="sldImg"/>
          </p:nvPr>
        </p:nvSpPr>
        <p:spPr>
          <a:ln/>
        </p:spPr>
      </p:sp>
      <p:sp>
        <p:nvSpPr>
          <p:cNvPr id="51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5258113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BAAD222-3EBB-4F22-BF4F-9638230909E2}" type="slidenum">
              <a:rPr lang="en-US" altLang="en-US" sz="1300" smtClean="0"/>
              <a:pPr/>
              <a:t>2</a:t>
            </a:fld>
            <a:endParaRPr lang="en-US" altLang="en-US" sz="1300" smtClean="0"/>
          </a:p>
        </p:txBody>
      </p:sp>
      <p:sp>
        <p:nvSpPr>
          <p:cNvPr id="11267" name="Rectangle 2"/>
          <p:cNvSpPr>
            <a:spLocks noGrp="1" noRot="1" noChangeAspect="1" noChangeArrowheads="1" noTextEdit="1"/>
          </p:cNvSpPr>
          <p:nvPr>
            <p:ph type="sldImg"/>
          </p:nvPr>
        </p:nvSpPr>
        <p:spPr>
          <a:xfrm>
            <a:off x="992188" y="768350"/>
            <a:ext cx="5114925" cy="3836988"/>
          </a:xfrm>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565916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BAAD222-3EBB-4F22-BF4F-9638230909E2}" type="slidenum">
              <a:rPr lang="en-US" altLang="en-US" sz="1300" smtClean="0"/>
              <a:pPr/>
              <a:t>3</a:t>
            </a:fld>
            <a:endParaRPr lang="en-US" altLang="en-US" sz="1300" smtClean="0"/>
          </a:p>
        </p:txBody>
      </p:sp>
      <p:sp>
        <p:nvSpPr>
          <p:cNvPr id="11267" name="Rectangle 2"/>
          <p:cNvSpPr>
            <a:spLocks noGrp="1" noRot="1" noChangeAspect="1" noChangeArrowheads="1" noTextEdit="1"/>
          </p:cNvSpPr>
          <p:nvPr>
            <p:ph type="sldImg"/>
          </p:nvPr>
        </p:nvSpPr>
        <p:spPr>
          <a:xfrm>
            <a:off x="992188" y="768350"/>
            <a:ext cx="5114925" cy="3836988"/>
          </a:xfrm>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dirty="0" smtClean="0"/>
          </a:p>
        </p:txBody>
      </p:sp>
    </p:spTree>
    <p:extLst>
      <p:ext uri="{BB962C8B-B14F-4D97-AF65-F5344CB8AC3E}">
        <p14:creationId xmlns:p14="http://schemas.microsoft.com/office/powerpoint/2010/main" val="2880049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BAAD222-3EBB-4F22-BF4F-9638230909E2}" type="slidenum">
              <a:rPr lang="en-US" altLang="en-US" sz="1300" smtClean="0"/>
              <a:pPr/>
              <a:t>4</a:t>
            </a:fld>
            <a:endParaRPr lang="en-US" altLang="en-US" sz="1300" smtClean="0"/>
          </a:p>
        </p:txBody>
      </p:sp>
      <p:sp>
        <p:nvSpPr>
          <p:cNvPr id="11267" name="Rectangle 2"/>
          <p:cNvSpPr>
            <a:spLocks noGrp="1" noRot="1" noChangeAspect="1" noChangeArrowheads="1" noTextEdit="1"/>
          </p:cNvSpPr>
          <p:nvPr>
            <p:ph type="sldImg"/>
          </p:nvPr>
        </p:nvSpPr>
        <p:spPr>
          <a:xfrm>
            <a:off x="992188" y="768350"/>
            <a:ext cx="5114925" cy="3836988"/>
          </a:xfrm>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8765292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E4CDFE0-0C0A-4BB6-94B0-F1D2DDECE0F9}" type="slidenum">
              <a:rPr lang="en-US" altLang="en-US" sz="1300" smtClean="0"/>
              <a:pPr/>
              <a:t>5</a:t>
            </a:fld>
            <a:endParaRPr lang="en-US" altLang="en-US" sz="1300" smtClean="0"/>
          </a:p>
        </p:txBody>
      </p:sp>
      <p:sp>
        <p:nvSpPr>
          <p:cNvPr id="13315" name="Rectangle 2"/>
          <p:cNvSpPr>
            <a:spLocks noGrp="1" noRot="1" noChangeAspect="1" noChangeArrowheads="1" noTextEdit="1"/>
          </p:cNvSpPr>
          <p:nvPr>
            <p:ph type="sldImg"/>
          </p:nvPr>
        </p:nvSpPr>
        <p:spPr>
          <a:xfrm>
            <a:off x="992188" y="768350"/>
            <a:ext cx="5114925" cy="3836988"/>
          </a:xfrm>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9765164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07D5BB3-4068-4DB0-A787-74FEF1F50DB1}" type="slidenum">
              <a:rPr lang="en-US" altLang="en-US" sz="1300" smtClean="0"/>
              <a:pPr/>
              <a:t>6</a:t>
            </a:fld>
            <a:endParaRPr lang="en-US" altLang="en-US" sz="1300" smtClean="0"/>
          </a:p>
        </p:txBody>
      </p:sp>
      <p:sp>
        <p:nvSpPr>
          <p:cNvPr id="15363" name="Rectangle 2"/>
          <p:cNvSpPr>
            <a:spLocks noGrp="1" noRot="1" noChangeAspect="1" noChangeArrowheads="1" noTextEdit="1"/>
          </p:cNvSpPr>
          <p:nvPr>
            <p:ph type="sldImg"/>
          </p:nvPr>
        </p:nvSpPr>
        <p:spPr>
          <a:xfrm>
            <a:off x="992188" y="768350"/>
            <a:ext cx="5114925" cy="3836988"/>
          </a:xfrm>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41479352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2421A1F7-56E6-4D21-97C2-15EAF79DE84F}" type="slidenum">
              <a:rPr lang="en-US" altLang="en-US" sz="1300" smtClean="0"/>
              <a:pPr/>
              <a:t>8</a:t>
            </a:fld>
            <a:endParaRPr lang="en-US" altLang="en-US" sz="1300" smtClean="0"/>
          </a:p>
        </p:txBody>
      </p:sp>
      <p:sp>
        <p:nvSpPr>
          <p:cNvPr id="18435" name="Rectangle 2"/>
          <p:cNvSpPr>
            <a:spLocks noGrp="1" noRot="1" noChangeAspect="1" noChangeArrowheads="1" noTextEdit="1"/>
          </p:cNvSpPr>
          <p:nvPr>
            <p:ph type="sldImg"/>
          </p:nvPr>
        </p:nvSpPr>
        <p:spPr>
          <a:xfrm>
            <a:off x="992188" y="768350"/>
            <a:ext cx="5114925" cy="3836988"/>
          </a:xfrm>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8936472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93300354-EBBD-4167-8F08-CA9A09E6AAE9}" type="slidenum">
              <a:rPr lang="en-US" altLang="en-US" sz="1300" smtClean="0"/>
              <a:pPr/>
              <a:t>9</a:t>
            </a:fld>
            <a:endParaRPr lang="en-US" altLang="en-US" sz="1300" smtClean="0"/>
          </a:p>
        </p:txBody>
      </p:sp>
      <p:sp>
        <p:nvSpPr>
          <p:cNvPr id="20483" name="Rectangle 2"/>
          <p:cNvSpPr>
            <a:spLocks noGrp="1" noRot="1" noChangeAspect="1" noChangeArrowheads="1" noTextEdit="1"/>
          </p:cNvSpPr>
          <p:nvPr>
            <p:ph type="sldImg"/>
          </p:nvPr>
        </p:nvSpPr>
        <p:spPr>
          <a:xfrm>
            <a:off x="992188" y="768350"/>
            <a:ext cx="5114925" cy="3836988"/>
          </a:xfrm>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2969160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942EA240-0E7A-41C4-A46A-087A7EAF08CC}" type="slidenum">
              <a:rPr lang="en-US" altLang="en-US" sz="1300" smtClean="0"/>
              <a:pPr/>
              <a:t>10</a:t>
            </a:fld>
            <a:endParaRPr lang="en-US" altLang="en-US" sz="1300" smtClean="0"/>
          </a:p>
        </p:txBody>
      </p:sp>
      <p:sp>
        <p:nvSpPr>
          <p:cNvPr id="22531" name="Rectangle 2"/>
          <p:cNvSpPr>
            <a:spLocks noGrp="1" noRot="1" noChangeAspect="1" noChangeArrowheads="1" noTextEdit="1"/>
          </p:cNvSpPr>
          <p:nvPr>
            <p:ph type="sldImg"/>
          </p:nvPr>
        </p:nvSpPr>
        <p:spPr>
          <a:xfrm>
            <a:off x="992188" y="768350"/>
            <a:ext cx="5114925" cy="3836988"/>
          </a:xfrm>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noProof="0" dirty="0" smtClean="0"/>
              <a:t>UCS stands for Universal Coded Character Set. UCS-2 uses 2 bytes to represent each character, and UCS-4 uses 4 bytes per character. UCS has largely been replaced by an updated specification called UTF (Unicode Transformation Format), with UTF-16 using 2 bytes</a:t>
            </a:r>
            <a:r>
              <a:rPr lang="en-ZA" altLang="en-US" baseline="0" noProof="0" dirty="0" smtClean="0"/>
              <a:t> per character, and UTF-32 using 4 bytes.</a:t>
            </a:r>
            <a:endParaRPr lang="en-ZA" altLang="en-US" noProof="0" dirty="0" smtClean="0"/>
          </a:p>
        </p:txBody>
      </p:sp>
    </p:spTree>
    <p:extLst>
      <p:ext uri="{BB962C8B-B14F-4D97-AF65-F5344CB8AC3E}">
        <p14:creationId xmlns:p14="http://schemas.microsoft.com/office/powerpoint/2010/main" val="23617744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6641484-8A36-4F7C-BC89-299BED7F4198}" type="slidenum">
              <a:rPr lang="en-US" altLang="en-US" sz="1300" smtClean="0"/>
              <a:pPr/>
              <a:t>11</a:t>
            </a:fld>
            <a:endParaRPr lang="en-US" altLang="en-US" sz="1300" smtClean="0"/>
          </a:p>
        </p:txBody>
      </p:sp>
      <p:sp>
        <p:nvSpPr>
          <p:cNvPr id="24579" name="Rectangle 2"/>
          <p:cNvSpPr>
            <a:spLocks noGrp="1" noRot="1" noChangeAspect="1" noChangeArrowheads="1" noTextEdit="1"/>
          </p:cNvSpPr>
          <p:nvPr>
            <p:ph type="sldImg"/>
          </p:nvPr>
        </p:nvSpPr>
        <p:spPr>
          <a:xfrm>
            <a:off x="992188" y="768350"/>
            <a:ext cx="5114925" cy="3836988"/>
          </a:xfrm>
          <a:ln/>
        </p:spPr>
      </p:sp>
      <p:sp>
        <p:nvSpPr>
          <p:cNvPr id="245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5333291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D24D7EE-AFDF-4C5F-BBA5-7C03010232ED}" type="slidenum">
              <a:rPr lang="en-US" altLang="en-US" sz="1300" smtClean="0"/>
              <a:pPr/>
              <a:t>12</a:t>
            </a:fld>
            <a:endParaRPr lang="en-US" altLang="en-US" sz="1300" smtClean="0"/>
          </a:p>
        </p:txBody>
      </p:sp>
      <p:sp>
        <p:nvSpPr>
          <p:cNvPr id="28675" name="Rectangle 2"/>
          <p:cNvSpPr>
            <a:spLocks noGrp="1" noRot="1" noChangeAspect="1" noChangeArrowheads="1" noTextEdit="1"/>
          </p:cNvSpPr>
          <p:nvPr>
            <p:ph type="sldImg"/>
          </p:nvPr>
        </p:nvSpPr>
        <p:spPr>
          <a:xfrm>
            <a:off x="992188" y="768350"/>
            <a:ext cx="5114925" cy="3836988"/>
          </a:xfrm>
          <a:ln/>
        </p:spPr>
      </p:sp>
      <p:sp>
        <p:nvSpPr>
          <p:cNvPr id="286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dirty="0" smtClean="0"/>
              <a:t>Java String objects are immutable. This means that string manipulation creates a new String object, and discards the old string for garbage collection. This is very expensive in</a:t>
            </a:r>
            <a:r>
              <a:rPr lang="en-ZA" altLang="en-US" baseline="0" dirty="0" smtClean="0"/>
              <a:t> terms of performance.</a:t>
            </a:r>
          </a:p>
          <a:p>
            <a:pPr eaLnBrk="1" hangingPunct="1"/>
            <a:endParaRPr lang="en-ZA" altLang="en-US" baseline="0" dirty="0" smtClean="0"/>
          </a:p>
          <a:p>
            <a:pPr eaLnBrk="1" hangingPunct="1"/>
            <a:r>
              <a:rPr lang="en-ZA" altLang="en-US" baseline="0" dirty="0" err="1" smtClean="0"/>
              <a:t>StringBuffer</a:t>
            </a:r>
            <a:r>
              <a:rPr lang="en-ZA" altLang="en-US" baseline="0" dirty="0" smtClean="0"/>
              <a:t> objects are mutable. This means that string manipulations modify the existing </a:t>
            </a:r>
            <a:r>
              <a:rPr lang="en-ZA" altLang="en-US" baseline="0" dirty="0" err="1" smtClean="0"/>
              <a:t>StringBuffer</a:t>
            </a:r>
            <a:r>
              <a:rPr lang="en-ZA" altLang="en-US" baseline="0" dirty="0" smtClean="0"/>
              <a:t> object, improving runtime performance.</a:t>
            </a:r>
          </a:p>
          <a:p>
            <a:pPr eaLnBrk="1" hangingPunct="1"/>
            <a:endParaRPr lang="en-ZA" altLang="en-US" baseline="0" dirty="0" smtClean="0"/>
          </a:p>
          <a:p>
            <a:pPr eaLnBrk="1" hangingPunct="1"/>
            <a:r>
              <a:rPr lang="en-ZA" altLang="en-US" baseline="0" dirty="0" smtClean="0"/>
              <a:t>There is also a </a:t>
            </a:r>
            <a:r>
              <a:rPr lang="en-ZA" altLang="en-US" baseline="0" dirty="0" err="1" smtClean="0"/>
              <a:t>StringBuilder</a:t>
            </a:r>
            <a:r>
              <a:rPr lang="en-ZA" altLang="en-US" baseline="0" dirty="0" smtClean="0"/>
              <a:t> class, which is similar to the </a:t>
            </a:r>
            <a:r>
              <a:rPr lang="en-ZA" altLang="en-US" baseline="0" dirty="0" err="1" smtClean="0"/>
              <a:t>StringBuffer</a:t>
            </a:r>
            <a:r>
              <a:rPr lang="en-ZA" altLang="en-US" baseline="0" dirty="0" smtClean="0"/>
              <a:t> class. </a:t>
            </a:r>
            <a:r>
              <a:rPr lang="en-ZA" altLang="en-US" baseline="0" dirty="0" err="1" smtClean="0"/>
              <a:t>StringBuilder</a:t>
            </a:r>
            <a:r>
              <a:rPr lang="en-ZA" altLang="en-US" baseline="0" dirty="0" smtClean="0"/>
              <a:t> objects are not thread safe, while </a:t>
            </a:r>
            <a:r>
              <a:rPr lang="en-ZA" altLang="en-US" baseline="0" dirty="0" err="1" smtClean="0"/>
              <a:t>StringBuffer</a:t>
            </a:r>
            <a:r>
              <a:rPr lang="en-ZA" altLang="en-US" baseline="0" dirty="0" smtClean="0"/>
              <a:t> objects are. This makes </a:t>
            </a:r>
            <a:r>
              <a:rPr lang="en-ZA" altLang="en-US" baseline="0" dirty="0" err="1" smtClean="0"/>
              <a:t>StringBuilder</a:t>
            </a:r>
            <a:r>
              <a:rPr lang="en-ZA" altLang="en-US" baseline="0" dirty="0" smtClean="0"/>
              <a:t> objects more efficient than </a:t>
            </a:r>
            <a:r>
              <a:rPr lang="en-ZA" altLang="en-US" baseline="0" dirty="0" err="1" smtClean="0"/>
              <a:t>StringBuffer</a:t>
            </a:r>
            <a:r>
              <a:rPr lang="en-ZA" altLang="en-US" baseline="0" dirty="0" smtClean="0"/>
              <a:t> objects.</a:t>
            </a:r>
            <a:endParaRPr lang="en-ZA" altLang="en-US" dirty="0" smtClean="0"/>
          </a:p>
        </p:txBody>
      </p:sp>
    </p:spTree>
    <p:extLst>
      <p:ext uri="{BB962C8B-B14F-4D97-AF65-F5344CB8AC3E}">
        <p14:creationId xmlns:p14="http://schemas.microsoft.com/office/powerpoint/2010/main" val="194579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A75CFA8-0551-4629-A861-B6A9448F1CEE}" type="slidenum">
              <a:rPr lang="en-US" altLang="en-US" sz="1300" smtClean="0"/>
              <a:pPr/>
              <a:t>13</a:t>
            </a:fld>
            <a:endParaRPr lang="en-US" altLang="en-US" sz="1300" smtClean="0"/>
          </a:p>
        </p:txBody>
      </p:sp>
      <p:sp>
        <p:nvSpPr>
          <p:cNvPr id="30723" name="Rectangle 2"/>
          <p:cNvSpPr>
            <a:spLocks noGrp="1" noRot="1" noChangeAspect="1" noChangeArrowheads="1" noTextEdit="1"/>
          </p:cNvSpPr>
          <p:nvPr>
            <p:ph type="sldImg"/>
          </p:nvPr>
        </p:nvSpPr>
        <p:spPr>
          <a:xfrm>
            <a:off x="992188" y="768350"/>
            <a:ext cx="5114925" cy="3836988"/>
          </a:xfrm>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253265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B4DAFE8F-70FC-4C1D-84BF-B94E694B354F}" type="slidenum">
              <a:rPr lang="en-US" altLang="en-US" sz="1300" smtClean="0"/>
              <a:pPr/>
              <a:t>14</a:t>
            </a:fld>
            <a:endParaRPr lang="en-US" altLang="en-US" sz="1300" smtClean="0"/>
          </a:p>
        </p:txBody>
      </p:sp>
      <p:sp>
        <p:nvSpPr>
          <p:cNvPr id="40963" name="Rectangle 2"/>
          <p:cNvSpPr>
            <a:spLocks noGrp="1" noRot="1" noChangeAspect="1" noChangeArrowheads="1" noTextEdit="1"/>
          </p:cNvSpPr>
          <p:nvPr>
            <p:ph type="sldImg"/>
          </p:nvPr>
        </p:nvSpPr>
        <p:spPr>
          <a:xfrm>
            <a:off x="992188" y="768350"/>
            <a:ext cx="5114925" cy="3836988"/>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5310957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B4DAFE8F-70FC-4C1D-84BF-B94E694B354F}" type="slidenum">
              <a:rPr lang="en-US" altLang="en-US" sz="1300" smtClean="0"/>
              <a:pPr/>
              <a:t>15</a:t>
            </a:fld>
            <a:endParaRPr lang="en-US" altLang="en-US" sz="1300" smtClean="0"/>
          </a:p>
        </p:txBody>
      </p:sp>
      <p:sp>
        <p:nvSpPr>
          <p:cNvPr id="40963" name="Rectangle 2"/>
          <p:cNvSpPr>
            <a:spLocks noGrp="1" noRot="1" noChangeAspect="1" noChangeArrowheads="1" noTextEdit="1"/>
          </p:cNvSpPr>
          <p:nvPr>
            <p:ph type="sldImg"/>
          </p:nvPr>
        </p:nvSpPr>
        <p:spPr>
          <a:xfrm>
            <a:off x="992188" y="768350"/>
            <a:ext cx="5114925" cy="3836988"/>
          </a:xfrm>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7523606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53B2919-B145-48EF-B323-D7E3BC98961A}" type="slidenum">
              <a:rPr lang="en-US" altLang="en-US" sz="1300" smtClean="0"/>
              <a:pPr/>
              <a:t>16</a:t>
            </a:fld>
            <a:endParaRPr lang="en-US" altLang="en-US" sz="1300" smtClean="0"/>
          </a:p>
        </p:txBody>
      </p:sp>
      <p:sp>
        <p:nvSpPr>
          <p:cNvPr id="45059" name="Rectangle 2"/>
          <p:cNvSpPr>
            <a:spLocks noGrp="1" noRot="1" noChangeAspect="1" noChangeArrowheads="1" noTextEdit="1"/>
          </p:cNvSpPr>
          <p:nvPr>
            <p:ph type="sldImg"/>
          </p:nvPr>
        </p:nvSpPr>
        <p:spPr>
          <a:xfrm>
            <a:off x="992188" y="768350"/>
            <a:ext cx="5114925" cy="3836988"/>
          </a:xfrm>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2396877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0B01AFCA-62BA-4369-BECE-3C3F7162E168}" type="slidenum">
              <a:rPr lang="en-US" altLang="en-US" sz="1300" smtClean="0"/>
              <a:pPr/>
              <a:t>17</a:t>
            </a:fld>
            <a:endParaRPr lang="en-US" altLang="en-US" sz="1300" smtClean="0"/>
          </a:p>
        </p:txBody>
      </p:sp>
      <p:sp>
        <p:nvSpPr>
          <p:cNvPr id="47107" name="Rectangle 2"/>
          <p:cNvSpPr>
            <a:spLocks noGrp="1" noRot="1" noChangeAspect="1" noChangeArrowheads="1" noTextEdit="1"/>
          </p:cNvSpPr>
          <p:nvPr>
            <p:ph type="sldImg"/>
          </p:nvPr>
        </p:nvSpPr>
        <p:spPr>
          <a:xfrm>
            <a:off x="992188" y="768350"/>
            <a:ext cx="5114925" cy="3836988"/>
          </a:xfrm>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ZA" altLang="en-US" dirty="0" smtClean="0"/>
          </a:p>
        </p:txBody>
      </p:sp>
    </p:spTree>
    <p:extLst>
      <p:ext uri="{BB962C8B-B14F-4D97-AF65-F5344CB8AC3E}">
        <p14:creationId xmlns:p14="http://schemas.microsoft.com/office/powerpoint/2010/main" val="24471190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B0F9E734-20D1-45A2-A394-47A5F50F3294}" type="slidenum">
              <a:rPr lang="en-US" altLang="en-US" sz="1300" smtClean="0"/>
              <a:pPr/>
              <a:t>18</a:t>
            </a:fld>
            <a:endParaRPr lang="en-US" altLang="en-US" sz="1300" smtClean="0"/>
          </a:p>
        </p:txBody>
      </p:sp>
      <p:sp>
        <p:nvSpPr>
          <p:cNvPr id="49155" name="Rectangle 2"/>
          <p:cNvSpPr>
            <a:spLocks noGrp="1" noRot="1" noChangeAspect="1" noChangeArrowheads="1" noTextEdit="1"/>
          </p:cNvSpPr>
          <p:nvPr>
            <p:ph type="sldImg"/>
          </p:nvPr>
        </p:nvSpPr>
        <p:spPr>
          <a:xfrm>
            <a:off x="992188" y="768350"/>
            <a:ext cx="5114925" cy="3836988"/>
          </a:xfrm>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5206918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D3ADC307-1204-45FF-B20B-6E41D26724E2}" type="slidenum">
              <a:rPr lang="en-US" altLang="en-US" sz="1300" smtClean="0"/>
              <a:pPr/>
              <a:t>19</a:t>
            </a:fld>
            <a:endParaRPr lang="en-US" altLang="en-US" sz="1300" smtClean="0"/>
          </a:p>
        </p:txBody>
      </p:sp>
      <p:sp>
        <p:nvSpPr>
          <p:cNvPr id="51203" name="Rectangle 2"/>
          <p:cNvSpPr>
            <a:spLocks noGrp="1" noRot="1" noChangeAspect="1" noChangeArrowheads="1" noTextEdit="1"/>
          </p:cNvSpPr>
          <p:nvPr>
            <p:ph type="sldImg"/>
          </p:nvPr>
        </p:nvSpPr>
        <p:spPr>
          <a:xfrm>
            <a:off x="992188" y="768350"/>
            <a:ext cx="5114925" cy="3836988"/>
          </a:xfrm>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42443441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A1783810-D3E6-47D9-A5B3-DC693BFB7BF7}" type="slidenum">
              <a:rPr lang="en-US" altLang="en-US" sz="1300" smtClean="0"/>
              <a:pPr/>
              <a:t>20</a:t>
            </a:fld>
            <a:endParaRPr lang="en-US" altLang="en-US" sz="1300" smtClean="0"/>
          </a:p>
        </p:txBody>
      </p:sp>
      <p:sp>
        <p:nvSpPr>
          <p:cNvPr id="53251" name="Rectangle 2"/>
          <p:cNvSpPr>
            <a:spLocks noGrp="1" noRot="1" noChangeAspect="1" noChangeArrowheads="1" noTextEdit="1"/>
          </p:cNvSpPr>
          <p:nvPr>
            <p:ph type="sldImg"/>
          </p:nvPr>
        </p:nvSpPr>
        <p:spPr>
          <a:xfrm>
            <a:off x="992188" y="768350"/>
            <a:ext cx="5114925" cy="3836988"/>
          </a:xfrm>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5120320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BD020188-1045-47B9-8C86-29465EF1596E}" type="slidenum">
              <a:rPr lang="en-US" altLang="en-US" sz="1300" smtClean="0"/>
              <a:pPr/>
              <a:t>21</a:t>
            </a:fld>
            <a:endParaRPr lang="en-US" altLang="en-US" sz="1300" smtClean="0"/>
          </a:p>
        </p:txBody>
      </p:sp>
      <p:sp>
        <p:nvSpPr>
          <p:cNvPr id="55299" name="Rectangle 2"/>
          <p:cNvSpPr>
            <a:spLocks noGrp="1" noRot="1" noChangeAspect="1" noChangeArrowheads="1" noTextEdit="1"/>
          </p:cNvSpPr>
          <p:nvPr>
            <p:ph type="sldImg"/>
          </p:nvPr>
        </p:nvSpPr>
        <p:spPr>
          <a:xfrm>
            <a:off x="992188" y="768350"/>
            <a:ext cx="5114925" cy="3836988"/>
          </a:xfrm>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7648927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B4226330-7749-42FC-8693-90F97C5C82DA}" type="slidenum">
              <a:rPr lang="en-US" altLang="en-US" sz="1300" smtClean="0"/>
              <a:pPr/>
              <a:t>22</a:t>
            </a:fld>
            <a:endParaRPr lang="en-US" altLang="en-US" sz="1300" smtClean="0"/>
          </a:p>
        </p:txBody>
      </p:sp>
      <p:sp>
        <p:nvSpPr>
          <p:cNvPr id="60419" name="Rectangle 2"/>
          <p:cNvSpPr>
            <a:spLocks noGrp="1" noRot="1" noChangeAspect="1" noChangeArrowheads="1" noTextEdit="1"/>
          </p:cNvSpPr>
          <p:nvPr>
            <p:ph type="sldImg"/>
          </p:nvPr>
        </p:nvSpPr>
        <p:spPr>
          <a:xfrm>
            <a:off x="992188" y="768350"/>
            <a:ext cx="5114925" cy="3836988"/>
          </a:xfrm>
          <a:ln/>
        </p:spPr>
      </p:sp>
      <p:sp>
        <p:nvSpPr>
          <p:cNvPr id="604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6243350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2007578-8CA7-492F-95E6-CD0DAB4D4A45}" type="slidenum">
              <a:rPr lang="en-US" altLang="en-US" sz="1300" smtClean="0"/>
              <a:pPr/>
              <a:t>23</a:t>
            </a:fld>
            <a:endParaRPr lang="en-US" altLang="en-US" sz="1300" smtClean="0"/>
          </a:p>
        </p:txBody>
      </p:sp>
      <p:sp>
        <p:nvSpPr>
          <p:cNvPr id="62467" name="Rectangle 2"/>
          <p:cNvSpPr>
            <a:spLocks noGrp="1" noRot="1" noChangeAspect="1" noChangeArrowheads="1" noTextEdit="1"/>
          </p:cNvSpPr>
          <p:nvPr>
            <p:ph type="sldImg"/>
          </p:nvPr>
        </p:nvSpPr>
        <p:spPr>
          <a:xfrm>
            <a:off x="992188" y="768350"/>
            <a:ext cx="5114925" cy="3836988"/>
          </a:xfrm>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ZA" altLang="en-US" dirty="0" smtClean="0"/>
              <a:t>Consider</a:t>
            </a:r>
            <a:r>
              <a:rPr lang="en-ZA" altLang="en-US" baseline="0" dirty="0" smtClean="0"/>
              <a:t> the following code in </a:t>
            </a:r>
            <a:r>
              <a:rPr lang="en-ZA" altLang="en-US" dirty="0" smtClean="0"/>
              <a:t>Python:</a:t>
            </a:r>
          </a:p>
          <a:p>
            <a:pPr eaLnBrk="1" hangingPunct="1"/>
            <a:endParaRPr lang="en-ZA" altLang="en-US" dirty="0" smtClean="0"/>
          </a:p>
          <a:p>
            <a:pPr eaLnBrk="1" hangingPunct="1"/>
            <a:r>
              <a:rPr lang="en-ZA" altLang="en-US" dirty="0" smtClean="0"/>
              <a:t>cars = ["Ford", "Volvo", "BMW"]</a:t>
            </a:r>
          </a:p>
          <a:p>
            <a:pPr eaLnBrk="1" hangingPunct="1"/>
            <a:r>
              <a:rPr lang="en-ZA" altLang="en-US" dirty="0" smtClean="0"/>
              <a:t>countries = ["USA", "Germany", "France"]</a:t>
            </a:r>
          </a:p>
          <a:p>
            <a:pPr eaLnBrk="1" hangingPunct="1"/>
            <a:r>
              <a:rPr lang="en-ZA" altLang="en-US" dirty="0" smtClean="0"/>
              <a:t>countries = cars</a:t>
            </a:r>
          </a:p>
          <a:p>
            <a:pPr eaLnBrk="1" hangingPunct="1"/>
            <a:endParaRPr lang="en-ZA" altLang="en-US" dirty="0" smtClean="0"/>
          </a:p>
          <a:p>
            <a:pPr eaLnBrk="1" hangingPunct="1"/>
            <a:r>
              <a:rPr lang="en-ZA" altLang="en-US" dirty="0" smtClean="0"/>
              <a:t>Here, a copy is not performed. Instead, a reference change results in the countries array referring to the cars array. Any change to the cars array will affect countries, and any change to the countries array will affect cars.</a:t>
            </a:r>
          </a:p>
        </p:txBody>
      </p:sp>
    </p:spTree>
    <p:extLst>
      <p:ext uri="{BB962C8B-B14F-4D97-AF65-F5344CB8AC3E}">
        <p14:creationId xmlns:p14="http://schemas.microsoft.com/office/powerpoint/2010/main" val="11356336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F2007578-8CA7-492F-95E6-CD0DAB4D4A45}" type="slidenum">
              <a:rPr lang="en-US" altLang="en-US" sz="1300" smtClean="0"/>
              <a:pPr/>
              <a:t>24</a:t>
            </a:fld>
            <a:endParaRPr lang="en-US" altLang="en-US" sz="1300" smtClean="0"/>
          </a:p>
        </p:txBody>
      </p:sp>
      <p:sp>
        <p:nvSpPr>
          <p:cNvPr id="62467" name="Rectangle 2"/>
          <p:cNvSpPr>
            <a:spLocks noGrp="1" noRot="1" noChangeAspect="1" noChangeArrowheads="1" noTextEdit="1"/>
          </p:cNvSpPr>
          <p:nvPr>
            <p:ph type="sldImg"/>
          </p:nvPr>
        </p:nvSpPr>
        <p:spPr>
          <a:xfrm>
            <a:off x="992188" y="768350"/>
            <a:ext cx="5114925" cy="3836988"/>
          </a:xfrm>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ZA" altLang="en-US" dirty="0" smtClean="0"/>
          </a:p>
        </p:txBody>
      </p:sp>
    </p:spTree>
    <p:extLst>
      <p:ext uri="{BB962C8B-B14F-4D97-AF65-F5344CB8AC3E}">
        <p14:creationId xmlns:p14="http://schemas.microsoft.com/office/powerpoint/2010/main" val="182150425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BE06851-79BA-40B4-8003-29E6306D53EC}" type="slidenum">
              <a:rPr lang="en-US" altLang="en-US" sz="1300" smtClean="0"/>
              <a:pPr/>
              <a:t>25</a:t>
            </a:fld>
            <a:endParaRPr lang="en-US" altLang="en-US" sz="1300" smtClean="0"/>
          </a:p>
        </p:txBody>
      </p:sp>
      <p:sp>
        <p:nvSpPr>
          <p:cNvPr id="64515" name="Rectangle 2"/>
          <p:cNvSpPr>
            <a:spLocks noGrp="1" noRot="1" noChangeAspect="1" noChangeArrowheads="1" noTextEdit="1"/>
          </p:cNvSpPr>
          <p:nvPr>
            <p:ph type="sldImg"/>
          </p:nvPr>
        </p:nvSpPr>
        <p:spPr>
          <a:xfrm>
            <a:off x="992188" y="768350"/>
            <a:ext cx="5114925" cy="3836988"/>
          </a:xfrm>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9203203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156FF43-84C2-41A9-9C98-A76F045BFDE5}" type="slidenum">
              <a:rPr lang="en-US" altLang="en-US" sz="1300" smtClean="0"/>
              <a:pPr/>
              <a:t>26</a:t>
            </a:fld>
            <a:endParaRPr lang="en-US" altLang="en-US" sz="1300" smtClean="0"/>
          </a:p>
        </p:txBody>
      </p:sp>
      <p:sp>
        <p:nvSpPr>
          <p:cNvPr id="66563" name="Rectangle 2"/>
          <p:cNvSpPr>
            <a:spLocks noGrp="1" noRot="1" noChangeAspect="1" noChangeArrowheads="1" noTextEdit="1"/>
          </p:cNvSpPr>
          <p:nvPr>
            <p:ph type="sldImg"/>
          </p:nvPr>
        </p:nvSpPr>
        <p:spPr>
          <a:xfrm>
            <a:off x="992188" y="768350"/>
            <a:ext cx="5114925" cy="3836988"/>
          </a:xfrm>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265588754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C518C6CE-08DF-45BA-8B4E-1E2ED6D1239E}" type="slidenum">
              <a:rPr lang="en-US" altLang="en-US" sz="1300" smtClean="0"/>
              <a:pPr/>
              <a:t>27</a:t>
            </a:fld>
            <a:endParaRPr lang="en-US" altLang="en-US" sz="1300" smtClean="0"/>
          </a:p>
        </p:txBody>
      </p:sp>
      <p:sp>
        <p:nvSpPr>
          <p:cNvPr id="68611" name="Rectangle 2"/>
          <p:cNvSpPr>
            <a:spLocks noGrp="1" noRot="1" noChangeAspect="1" noChangeArrowheads="1" noTextEdit="1"/>
          </p:cNvSpPr>
          <p:nvPr>
            <p:ph type="sldImg"/>
          </p:nvPr>
        </p:nvSpPr>
        <p:spPr>
          <a:xfrm>
            <a:off x="992188" y="768350"/>
            <a:ext cx="5114925" cy="3836988"/>
          </a:xfrm>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37689950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defTabSz="990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defTabSz="990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fld id="{5156FF43-84C2-41A9-9C98-A76F045BFDE5}" type="slidenum">
              <a:rPr lang="en-US" altLang="en-US" sz="1300" smtClean="0"/>
              <a:pPr/>
              <a:t>28</a:t>
            </a:fld>
            <a:endParaRPr lang="en-US" altLang="en-US" sz="1300" smtClean="0"/>
          </a:p>
        </p:txBody>
      </p:sp>
      <p:sp>
        <p:nvSpPr>
          <p:cNvPr id="66563" name="Rectangle 2"/>
          <p:cNvSpPr>
            <a:spLocks noGrp="1" noRot="1" noChangeAspect="1" noChangeArrowheads="1" noTextEdit="1"/>
          </p:cNvSpPr>
          <p:nvPr>
            <p:ph type="sldImg"/>
          </p:nvPr>
        </p:nvSpPr>
        <p:spPr>
          <a:xfrm>
            <a:off x="992188" y="768350"/>
            <a:ext cx="5114925" cy="3836988"/>
          </a:xfrm>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s-MX" altLang="en-US" smtClean="0"/>
          </a:p>
        </p:txBody>
      </p:sp>
    </p:spTree>
    <p:extLst>
      <p:ext uri="{BB962C8B-B14F-4D97-AF65-F5344CB8AC3E}">
        <p14:creationId xmlns:p14="http://schemas.microsoft.com/office/powerpoint/2010/main" val="18984474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Text Box 4"/>
          <p:cNvSpPr txBox="1">
            <a:spLocks noChangeArrowheads="1"/>
          </p:cNvSpPr>
          <p:nvPr/>
        </p:nvSpPr>
        <p:spPr bwMode="auto">
          <a:xfrm>
            <a:off x="7448550" y="6583363"/>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1pPr>
            <a:lvl2pPr marL="742950" indent="-28575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2pPr>
            <a:lvl3pPr marL="11430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3pPr>
            <a:lvl4pPr marL="16002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4pPr>
            <a:lvl5pPr marL="2057400" indent="-228600">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anose="02020603050405020304" pitchFamily="18" charset="0"/>
                <a:ea typeface="Lucida Sans Unicode" panose="020B0602030504020204" pitchFamily="34" charset="0"/>
                <a:cs typeface="Lucida Sans Unicode" panose="020B0602030504020204" pitchFamily="34" charset="0"/>
              </a:defRPr>
            </a:lvl9pPr>
          </a:lstStyle>
          <a:p>
            <a:pPr algn="r">
              <a:defRPr/>
            </a:pPr>
            <a:endParaRPr lang="en-US" altLang="en-US" sz="1200" smtClean="0">
              <a:latin typeface="Courier" pitchFamily="49" charset="0"/>
            </a:endParaRPr>
          </a:p>
        </p:txBody>
      </p:sp>
      <p:sp>
        <p:nvSpPr>
          <p:cNvPr id="120834" name="Rectangle 2"/>
          <p:cNvSpPr>
            <a:spLocks noGrp="1" noChangeArrowheads="1"/>
          </p:cNvSpPr>
          <p:nvPr>
            <p:ph type="ctrTitle"/>
          </p:nvPr>
        </p:nvSpPr>
        <p:spPr>
          <a:xfrm>
            <a:off x="381000" y="1371600"/>
            <a:ext cx="3657600" cy="1143000"/>
          </a:xfrm>
        </p:spPr>
        <p:txBody>
          <a:bodyPr/>
          <a:lstStyle>
            <a:lvl1pPr>
              <a:defRPr b="1">
                <a:solidFill>
                  <a:schemeClr val="accent2"/>
                </a:solidFill>
              </a:defRPr>
            </a:lvl1pPr>
          </a:lstStyle>
          <a:p>
            <a:r>
              <a:rPr lang="en-US"/>
              <a:t>Click to edit Master title style</a:t>
            </a:r>
          </a:p>
        </p:txBody>
      </p:sp>
      <p:sp>
        <p:nvSpPr>
          <p:cNvPr id="120835" name="Rectangle 3"/>
          <p:cNvSpPr>
            <a:spLocks noGrp="1" noChangeArrowheads="1"/>
          </p:cNvSpPr>
          <p:nvPr>
            <p:ph type="subTitle" idx="1"/>
          </p:nvPr>
        </p:nvSpPr>
        <p:spPr>
          <a:xfrm>
            <a:off x="381000" y="3276600"/>
            <a:ext cx="3657600" cy="1752600"/>
          </a:xfrm>
        </p:spPr>
        <p:txBody>
          <a:bodyPr/>
          <a:lstStyle>
            <a:lvl1pPr marL="0" indent="0">
              <a:buFontTx/>
              <a:buNone/>
              <a:defRPr>
                <a:solidFill>
                  <a:srgbClr val="CC3300"/>
                </a:solidFill>
              </a:defRPr>
            </a:lvl1pPr>
          </a:lstStyle>
          <a:p>
            <a:r>
              <a:rPr lang="en-US"/>
              <a:t>Click to edit Master subtitle style</a:t>
            </a:r>
          </a:p>
        </p:txBody>
      </p:sp>
      <p:pic>
        <p:nvPicPr>
          <p:cNvPr id="6" name="Picture 8" descr="Front Cover: Concepts of Programming Languages, Global Edition, by Robert W Sebesta&#10;"/>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343400" y="0"/>
            <a:ext cx="4800600" cy="60769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27617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2017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758206BA-BBBB-45AB-B6AF-30BC5A379056}" type="slidenum">
              <a:rPr lang="en-US" altLang="en-US"/>
              <a:pPr>
                <a:defRPr/>
              </a:pPr>
              <a:t>‹#›</a:t>
            </a:fld>
            <a:endParaRPr lang="en-US" altLang="en-US"/>
          </a:p>
        </p:txBody>
      </p:sp>
    </p:spTree>
    <p:extLst>
      <p:ext uri="{BB962C8B-B14F-4D97-AF65-F5344CB8AC3E}">
        <p14:creationId xmlns:p14="http://schemas.microsoft.com/office/powerpoint/2010/main" val="920761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2017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EB733DF0-028F-4B11-99BE-EA5D7C13C8BE}" type="slidenum">
              <a:rPr lang="en-US" altLang="en-US"/>
              <a:pPr>
                <a:defRPr/>
              </a:pPr>
              <a:t>‹#›</a:t>
            </a:fld>
            <a:endParaRPr lang="en-US" altLang="en-US"/>
          </a:p>
        </p:txBody>
      </p:sp>
    </p:spTree>
    <p:extLst>
      <p:ext uri="{BB962C8B-B14F-4D97-AF65-F5344CB8AC3E}">
        <p14:creationId xmlns:p14="http://schemas.microsoft.com/office/powerpoint/2010/main" val="20408199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2500" y="1600200"/>
            <a:ext cx="4000500" cy="4572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2017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B4F1E652-B30B-42A2-B801-2B45049CB5B1}" type="slidenum">
              <a:rPr lang="en-US" altLang="en-US"/>
              <a:pPr>
                <a:defRPr/>
              </a:pPr>
              <a:t>‹#›</a:t>
            </a:fld>
            <a:endParaRPr lang="en-US" altLang="en-US"/>
          </a:p>
        </p:txBody>
      </p:sp>
    </p:spTree>
    <p:extLst>
      <p:ext uri="{BB962C8B-B14F-4D97-AF65-F5344CB8AC3E}">
        <p14:creationId xmlns:p14="http://schemas.microsoft.com/office/powerpoint/2010/main" val="3338135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ftr" sz="quarter" idx="10"/>
          </p:nvPr>
        </p:nvSpPr>
        <p:spPr>
          <a:ln/>
        </p:spPr>
        <p:txBody>
          <a:bodyPr/>
          <a:lstStyle>
            <a:lvl1pPr>
              <a:defRPr/>
            </a:lvl1pPr>
          </a:lstStyle>
          <a:p>
            <a:pPr>
              <a:defRPr/>
            </a:pPr>
            <a:r>
              <a:rPr lang="en-US"/>
              <a:t>Copyright © 2017 Addison-Wesley. All rights reserved.</a:t>
            </a:r>
          </a:p>
        </p:txBody>
      </p:sp>
      <p:sp>
        <p:nvSpPr>
          <p:cNvPr id="8" name="Rectangle 5"/>
          <p:cNvSpPr>
            <a:spLocks noGrp="1" noChangeArrowheads="1"/>
          </p:cNvSpPr>
          <p:nvPr>
            <p:ph type="sldNum" sz="quarter" idx="11"/>
          </p:nvPr>
        </p:nvSpPr>
        <p:spPr>
          <a:ln/>
        </p:spPr>
        <p:txBody>
          <a:bodyPr/>
          <a:lstStyle>
            <a:lvl1pPr>
              <a:defRPr/>
            </a:lvl1pPr>
          </a:lstStyle>
          <a:p>
            <a:pPr>
              <a:defRPr/>
            </a:pPr>
            <a:r>
              <a:rPr lang="en-US" altLang="en-US"/>
              <a:t>1-</a:t>
            </a:r>
            <a:fld id="{2D4CE6CE-EC61-443F-BDCB-FD9B2540C249}" type="slidenum">
              <a:rPr lang="en-US" altLang="en-US"/>
              <a:pPr>
                <a:defRPr/>
              </a:pPr>
              <a:t>‹#›</a:t>
            </a:fld>
            <a:endParaRPr lang="en-US" altLang="en-US"/>
          </a:p>
        </p:txBody>
      </p:sp>
    </p:spTree>
    <p:extLst>
      <p:ext uri="{BB962C8B-B14F-4D97-AF65-F5344CB8AC3E}">
        <p14:creationId xmlns:p14="http://schemas.microsoft.com/office/powerpoint/2010/main" val="35920514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ftr" sz="quarter" idx="10"/>
          </p:nvPr>
        </p:nvSpPr>
        <p:spPr>
          <a:ln/>
        </p:spPr>
        <p:txBody>
          <a:bodyPr/>
          <a:lstStyle>
            <a:lvl1pPr>
              <a:defRPr/>
            </a:lvl1pPr>
          </a:lstStyle>
          <a:p>
            <a:pPr>
              <a:defRPr/>
            </a:pPr>
            <a:r>
              <a:rPr lang="en-US"/>
              <a:t>Copyright © 2017 Addison-Wesley. All rights reserved.</a:t>
            </a:r>
          </a:p>
        </p:txBody>
      </p:sp>
      <p:sp>
        <p:nvSpPr>
          <p:cNvPr id="4" name="Rectangle 5"/>
          <p:cNvSpPr>
            <a:spLocks noGrp="1" noChangeArrowheads="1"/>
          </p:cNvSpPr>
          <p:nvPr>
            <p:ph type="sldNum" sz="quarter" idx="11"/>
          </p:nvPr>
        </p:nvSpPr>
        <p:spPr>
          <a:ln/>
        </p:spPr>
        <p:txBody>
          <a:bodyPr/>
          <a:lstStyle>
            <a:lvl1pPr>
              <a:defRPr/>
            </a:lvl1pPr>
          </a:lstStyle>
          <a:p>
            <a:pPr>
              <a:defRPr/>
            </a:pPr>
            <a:r>
              <a:rPr lang="en-US" altLang="en-US"/>
              <a:t>1-</a:t>
            </a:r>
            <a:fld id="{6EF7C87E-07FD-4F0F-BE61-AB3BCCDF931C}" type="slidenum">
              <a:rPr lang="en-US" altLang="en-US"/>
              <a:pPr>
                <a:defRPr/>
              </a:pPr>
              <a:t>‹#›</a:t>
            </a:fld>
            <a:endParaRPr lang="en-US" altLang="en-US"/>
          </a:p>
        </p:txBody>
      </p:sp>
    </p:spTree>
    <p:extLst>
      <p:ext uri="{BB962C8B-B14F-4D97-AF65-F5344CB8AC3E}">
        <p14:creationId xmlns:p14="http://schemas.microsoft.com/office/powerpoint/2010/main" val="29547094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ftr" sz="quarter" idx="10"/>
          </p:nvPr>
        </p:nvSpPr>
        <p:spPr>
          <a:ln/>
        </p:spPr>
        <p:txBody>
          <a:bodyPr/>
          <a:lstStyle>
            <a:lvl1pPr>
              <a:defRPr/>
            </a:lvl1pPr>
          </a:lstStyle>
          <a:p>
            <a:pPr>
              <a:defRPr/>
            </a:pPr>
            <a:r>
              <a:rPr lang="en-US"/>
              <a:t>Copyright © 2017 Addison-Wesley. All rights reserved.</a:t>
            </a:r>
          </a:p>
        </p:txBody>
      </p:sp>
      <p:sp>
        <p:nvSpPr>
          <p:cNvPr id="3" name="Rectangle 5"/>
          <p:cNvSpPr>
            <a:spLocks noGrp="1" noChangeArrowheads="1"/>
          </p:cNvSpPr>
          <p:nvPr>
            <p:ph type="sldNum" sz="quarter" idx="11"/>
          </p:nvPr>
        </p:nvSpPr>
        <p:spPr>
          <a:ln/>
        </p:spPr>
        <p:txBody>
          <a:bodyPr/>
          <a:lstStyle>
            <a:lvl1pPr>
              <a:defRPr/>
            </a:lvl1pPr>
          </a:lstStyle>
          <a:p>
            <a:pPr>
              <a:defRPr/>
            </a:pPr>
            <a:r>
              <a:rPr lang="en-US" altLang="en-US"/>
              <a:t>1-</a:t>
            </a:r>
            <a:fld id="{7F5C674A-681B-47D1-B2FC-CC6BB9FB64C7}" type="slidenum">
              <a:rPr lang="en-US" altLang="en-US"/>
              <a:pPr>
                <a:defRPr/>
              </a:pPr>
              <a:t>‹#›</a:t>
            </a:fld>
            <a:endParaRPr lang="en-US" altLang="en-US"/>
          </a:p>
        </p:txBody>
      </p:sp>
    </p:spTree>
    <p:extLst>
      <p:ext uri="{BB962C8B-B14F-4D97-AF65-F5344CB8AC3E}">
        <p14:creationId xmlns:p14="http://schemas.microsoft.com/office/powerpoint/2010/main" val="2031730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2017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F5E95C22-65E3-4A0A-83C0-1D85248CC2DC}" type="slidenum">
              <a:rPr lang="en-US" altLang="en-US"/>
              <a:pPr>
                <a:defRPr/>
              </a:pPr>
              <a:t>‹#›</a:t>
            </a:fld>
            <a:endParaRPr lang="en-US" altLang="en-US"/>
          </a:p>
        </p:txBody>
      </p:sp>
    </p:spTree>
    <p:extLst>
      <p:ext uri="{BB962C8B-B14F-4D97-AF65-F5344CB8AC3E}">
        <p14:creationId xmlns:p14="http://schemas.microsoft.com/office/powerpoint/2010/main" val="3929153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ftr" sz="quarter" idx="10"/>
          </p:nvPr>
        </p:nvSpPr>
        <p:spPr>
          <a:ln/>
        </p:spPr>
        <p:txBody>
          <a:bodyPr/>
          <a:lstStyle>
            <a:lvl1pPr>
              <a:defRPr/>
            </a:lvl1pPr>
          </a:lstStyle>
          <a:p>
            <a:pPr>
              <a:defRPr/>
            </a:pPr>
            <a:r>
              <a:rPr lang="en-US"/>
              <a:t>Copyright © 2017 Addison-Wesley. All rights reserved.</a:t>
            </a:r>
          </a:p>
        </p:txBody>
      </p:sp>
      <p:sp>
        <p:nvSpPr>
          <p:cNvPr id="6" name="Rectangle 5"/>
          <p:cNvSpPr>
            <a:spLocks noGrp="1" noChangeArrowheads="1"/>
          </p:cNvSpPr>
          <p:nvPr>
            <p:ph type="sldNum" sz="quarter" idx="11"/>
          </p:nvPr>
        </p:nvSpPr>
        <p:spPr>
          <a:ln/>
        </p:spPr>
        <p:txBody>
          <a:bodyPr/>
          <a:lstStyle>
            <a:lvl1pPr>
              <a:defRPr/>
            </a:lvl1pPr>
          </a:lstStyle>
          <a:p>
            <a:pPr>
              <a:defRPr/>
            </a:pPr>
            <a:r>
              <a:rPr lang="en-US" altLang="en-US"/>
              <a:t>1-</a:t>
            </a:r>
            <a:fld id="{C6665124-C59B-456C-A150-3C84BFDFE30D}" type="slidenum">
              <a:rPr lang="en-US" altLang="en-US"/>
              <a:pPr>
                <a:defRPr/>
              </a:pPr>
              <a:t>‹#›</a:t>
            </a:fld>
            <a:endParaRPr lang="en-US" altLang="en-US"/>
          </a:p>
        </p:txBody>
      </p:sp>
    </p:spTree>
    <p:extLst>
      <p:ext uri="{BB962C8B-B14F-4D97-AF65-F5344CB8AC3E}">
        <p14:creationId xmlns:p14="http://schemas.microsoft.com/office/powerpoint/2010/main" val="3265623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2017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D371D2EE-36B0-47D0-8EC6-2F0879030174}" type="slidenum">
              <a:rPr lang="en-US" altLang="en-US"/>
              <a:pPr>
                <a:defRPr/>
              </a:pPr>
              <a:t>‹#›</a:t>
            </a:fld>
            <a:endParaRPr lang="en-US" altLang="en-US"/>
          </a:p>
        </p:txBody>
      </p:sp>
    </p:spTree>
    <p:extLst>
      <p:ext uri="{BB962C8B-B14F-4D97-AF65-F5344CB8AC3E}">
        <p14:creationId xmlns:p14="http://schemas.microsoft.com/office/powerpoint/2010/main" val="1199924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24650" y="381000"/>
            <a:ext cx="2038350" cy="57912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381000"/>
            <a:ext cx="5962650" cy="57912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ftr" sz="quarter" idx="10"/>
          </p:nvPr>
        </p:nvSpPr>
        <p:spPr>
          <a:ln/>
        </p:spPr>
        <p:txBody>
          <a:bodyPr/>
          <a:lstStyle>
            <a:lvl1pPr>
              <a:defRPr/>
            </a:lvl1pPr>
          </a:lstStyle>
          <a:p>
            <a:pPr>
              <a:defRPr/>
            </a:pPr>
            <a:r>
              <a:rPr lang="en-US"/>
              <a:t>Copyright © 2017 Addison-Wesley. All rights reserved.</a:t>
            </a:r>
          </a:p>
        </p:txBody>
      </p:sp>
      <p:sp>
        <p:nvSpPr>
          <p:cNvPr id="5" name="Rectangle 5"/>
          <p:cNvSpPr>
            <a:spLocks noGrp="1" noChangeArrowheads="1"/>
          </p:cNvSpPr>
          <p:nvPr>
            <p:ph type="sldNum" sz="quarter" idx="11"/>
          </p:nvPr>
        </p:nvSpPr>
        <p:spPr>
          <a:ln/>
        </p:spPr>
        <p:txBody>
          <a:bodyPr/>
          <a:lstStyle>
            <a:lvl1pPr>
              <a:defRPr/>
            </a:lvl1pPr>
          </a:lstStyle>
          <a:p>
            <a:pPr>
              <a:defRPr/>
            </a:pPr>
            <a:r>
              <a:rPr lang="en-US" altLang="en-US"/>
              <a:t>1-</a:t>
            </a:r>
            <a:fld id="{3FC11C87-959C-4BB7-BEE1-0FAF688CA295}" type="slidenum">
              <a:rPr lang="en-US" altLang="en-US"/>
              <a:pPr>
                <a:defRPr/>
              </a:pPr>
              <a:t>‹#›</a:t>
            </a:fld>
            <a:endParaRPr lang="en-US" altLang="en-US"/>
          </a:p>
        </p:txBody>
      </p:sp>
    </p:spTree>
    <p:extLst>
      <p:ext uri="{BB962C8B-B14F-4D97-AF65-F5344CB8AC3E}">
        <p14:creationId xmlns:p14="http://schemas.microsoft.com/office/powerpoint/2010/main" val="3111575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381000"/>
            <a:ext cx="8153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609600" y="1600200"/>
            <a:ext cx="8153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19812" name="Rectangle 4"/>
          <p:cNvSpPr>
            <a:spLocks noGrp="1" noChangeArrowheads="1"/>
          </p:cNvSpPr>
          <p:nvPr>
            <p:ph type="ftr" sz="quarter" idx="3"/>
          </p:nvPr>
        </p:nvSpPr>
        <p:spPr bwMode="auto">
          <a:xfrm>
            <a:off x="685800" y="6248400"/>
            <a:ext cx="4191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000">
                <a:latin typeface="Arial" charset="0"/>
                <a:ea typeface="+mn-ea"/>
                <a:cs typeface="+mn-cs"/>
              </a:defRPr>
            </a:lvl1pPr>
          </a:lstStyle>
          <a:p>
            <a:pPr>
              <a:defRPr/>
            </a:pPr>
            <a:r>
              <a:rPr lang="en-US"/>
              <a:t>Copyright © 2017 Addison-Wesley. All rights reserved.</a:t>
            </a:r>
          </a:p>
        </p:txBody>
      </p:sp>
      <p:sp>
        <p:nvSpPr>
          <p:cNvPr id="119813" name="Rectangle 5"/>
          <p:cNvSpPr>
            <a:spLocks noGrp="1" noChangeArrowheads="1"/>
          </p:cNvSpPr>
          <p:nvPr>
            <p:ph type="sldNum" sz="quarter" idx="4"/>
          </p:nvPr>
        </p:nvSpPr>
        <p:spPr bwMode="auto">
          <a:xfrm>
            <a:off x="6934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000">
                <a:latin typeface="Arial" panose="020B0604020202020204" pitchFamily="34" charset="0"/>
                <a:ea typeface="+mn-ea"/>
                <a:cs typeface="+mn-cs"/>
              </a:defRPr>
            </a:lvl1pPr>
          </a:lstStyle>
          <a:p>
            <a:pPr>
              <a:defRPr/>
            </a:pPr>
            <a:r>
              <a:rPr lang="en-US" altLang="en-US"/>
              <a:t>1-</a:t>
            </a:r>
            <a:fld id="{127924CD-7928-4C5D-AF84-7BD40A7ADE3D}" type="slidenum">
              <a:rPr lang="en-US" altLang="en-US"/>
              <a:pPr>
                <a:defRPr/>
              </a:pPr>
              <a:t>‹#›</a:t>
            </a:fld>
            <a:endParaRPr lang="en-US" altLang="en-US"/>
          </a:p>
        </p:txBody>
      </p:sp>
      <p:sp>
        <p:nvSpPr>
          <p:cNvPr id="1030" name="Line 6"/>
          <p:cNvSpPr>
            <a:spLocks noChangeShapeType="1"/>
          </p:cNvSpPr>
          <p:nvPr/>
        </p:nvSpPr>
        <p:spPr bwMode="auto">
          <a:xfrm>
            <a:off x="609600" y="1524000"/>
            <a:ext cx="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ZA"/>
          </a:p>
        </p:txBody>
      </p:sp>
      <p:sp>
        <p:nvSpPr>
          <p:cNvPr id="1031" name="Line 7"/>
          <p:cNvSpPr>
            <a:spLocks noChangeShapeType="1"/>
          </p:cNvSpPr>
          <p:nvPr/>
        </p:nvSpPr>
        <p:spPr bwMode="auto">
          <a:xfrm>
            <a:off x="609600" y="1219200"/>
            <a:ext cx="8153400" cy="0"/>
          </a:xfrm>
          <a:prstGeom prst="line">
            <a:avLst/>
          </a:prstGeom>
          <a:noFill/>
          <a:ln w="57150">
            <a:solidFill>
              <a:srgbClr val="CC3300"/>
            </a:solidFill>
            <a:round/>
            <a:headEnd/>
            <a:tailEnd/>
          </a:ln>
          <a:extLst>
            <a:ext uri="{909E8E84-426E-40DD-AFC4-6F175D3DCCD1}">
              <a14:hiddenFill xmlns:a14="http://schemas.microsoft.com/office/drawing/2010/main">
                <a:noFill/>
              </a14:hiddenFill>
            </a:ext>
          </a:extLst>
        </p:spPr>
        <p:txBody>
          <a:bodyPr/>
          <a:lstStyle/>
          <a:p>
            <a:endParaRPr lang="en-ZA"/>
          </a:p>
        </p:txBody>
      </p:sp>
    </p:spTree>
  </p:cSld>
  <p:clrMap bg1="lt1" tx1="dk1" bg2="lt2" tx2="dk2" accent1="accent1" accent2="accent2" accent3="accent3" accent4="accent4" accent5="accent5" accent6="accent6" hlink="hlink" folHlink="folHlink"/>
  <p:sldLayoutIdLst>
    <p:sldLayoutId id="2147483939" r:id="rId1"/>
    <p:sldLayoutId id="2147483929" r:id="rId2"/>
    <p:sldLayoutId id="2147483930" r:id="rId3"/>
    <p:sldLayoutId id="2147483931" r:id="rId4"/>
    <p:sldLayoutId id="2147483932" r:id="rId5"/>
    <p:sldLayoutId id="2147483933" r:id="rId6"/>
    <p:sldLayoutId id="2147483934" r:id="rId7"/>
    <p:sldLayoutId id="2147483935" r:id="rId8"/>
    <p:sldLayoutId id="2147483936" r:id="rId9"/>
    <p:sldLayoutId id="2147483937" r:id="rId10"/>
    <p:sldLayoutId id="2147483938" r:id="rId11"/>
  </p:sldLayoutIdLst>
  <p:hf hdr="0" dt="0"/>
  <p:txStyles>
    <p:titleStyle>
      <a:lvl1pPr algn="l" rtl="0" eaLnBrk="0" fontAlgn="base" hangingPunct="0">
        <a:spcBef>
          <a:spcPct val="0"/>
        </a:spcBef>
        <a:spcAft>
          <a:spcPct val="0"/>
        </a:spcAft>
        <a:defRPr sz="3600">
          <a:solidFill>
            <a:srgbClr val="666699"/>
          </a:solidFill>
          <a:latin typeface="+mj-lt"/>
          <a:ea typeface="+mj-ea"/>
          <a:cs typeface="+mj-cs"/>
        </a:defRPr>
      </a:lvl1pPr>
      <a:lvl2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2pPr>
      <a:lvl3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3pPr>
      <a:lvl4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4pPr>
      <a:lvl5pPr algn="l" rtl="0" eaLnBrk="0" fontAlgn="base" hangingPunct="0">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5pPr>
      <a:lvl6pPr marL="4572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6pPr>
      <a:lvl7pPr marL="9144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7pPr>
      <a:lvl8pPr marL="13716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8pPr>
      <a:lvl9pPr marL="1828800" algn="l" rtl="0" fontAlgn="base">
        <a:spcBef>
          <a:spcPct val="0"/>
        </a:spcBef>
        <a:spcAft>
          <a:spcPct val="0"/>
        </a:spcAft>
        <a:defRPr sz="3600">
          <a:solidFill>
            <a:srgbClr val="666699"/>
          </a:solidFill>
          <a:latin typeface="Lucida Sans Unicode" pitchFamily="34" charset="0"/>
          <a:ea typeface="Lucida Sans Unicode" pitchFamily="34" charset="0"/>
          <a:cs typeface="Lucida Sans Unicode" pitchFamily="34" charset="0"/>
        </a:defRPr>
      </a:lvl9pPr>
    </p:titleStyle>
    <p:bodyStyle>
      <a:lvl1pPr marL="342900" indent="-342900" algn="l" rtl="0" eaLnBrk="0" fontAlgn="base" hangingPunct="0">
        <a:spcBef>
          <a:spcPct val="20000"/>
        </a:spcBef>
        <a:spcAft>
          <a:spcPct val="0"/>
        </a:spcAft>
        <a:buChar char="•"/>
        <a:defRPr sz="2800">
          <a:solidFill>
            <a:schemeClr val="accent2"/>
          </a:solidFill>
          <a:latin typeface="+mn-lt"/>
          <a:ea typeface="+mn-ea"/>
          <a:cs typeface="+mn-cs"/>
        </a:defRPr>
      </a:lvl1pPr>
      <a:lvl2pPr marL="742950" indent="-285750" algn="l" rtl="0" eaLnBrk="0" fontAlgn="base" hangingPunct="0">
        <a:spcBef>
          <a:spcPct val="20000"/>
        </a:spcBef>
        <a:spcAft>
          <a:spcPct val="0"/>
        </a:spcAft>
        <a:buChar char="–"/>
        <a:defRPr sz="2400">
          <a:solidFill>
            <a:schemeClr val="accent2"/>
          </a:solidFill>
          <a:latin typeface="+mn-lt"/>
          <a:ea typeface="+mn-ea"/>
          <a:cs typeface="+mn-cs"/>
        </a:defRPr>
      </a:lvl2pPr>
      <a:lvl3pPr marL="1143000" indent="-228600" algn="l" rtl="0" eaLnBrk="0" fontAlgn="base" hangingPunct="0">
        <a:spcBef>
          <a:spcPct val="20000"/>
        </a:spcBef>
        <a:spcAft>
          <a:spcPct val="0"/>
        </a:spcAft>
        <a:buChar char="•"/>
        <a:defRPr sz="2100">
          <a:solidFill>
            <a:srgbClr val="666699"/>
          </a:solidFill>
          <a:latin typeface="+mn-lt"/>
          <a:ea typeface="+mn-ea"/>
          <a:cs typeface="+mn-cs"/>
        </a:defRPr>
      </a:lvl3pPr>
      <a:lvl4pPr marL="1600200" indent="-228600" algn="l" rtl="0" eaLnBrk="0" fontAlgn="base" hangingPunct="0">
        <a:spcBef>
          <a:spcPct val="20000"/>
        </a:spcBef>
        <a:spcAft>
          <a:spcPct val="0"/>
        </a:spcAft>
        <a:buChar char="–"/>
        <a:defRPr sz="2000">
          <a:solidFill>
            <a:schemeClr val="accent2"/>
          </a:solidFill>
          <a:latin typeface="+mn-lt"/>
          <a:ea typeface="+mn-ea"/>
          <a:cs typeface="+mn-cs"/>
        </a:defRPr>
      </a:lvl4pPr>
      <a:lvl5pPr marL="2057400" indent="-228600" algn="l" rtl="0" eaLnBrk="0" fontAlgn="base" hangingPunct="0">
        <a:spcBef>
          <a:spcPct val="20000"/>
        </a:spcBef>
        <a:spcAft>
          <a:spcPct val="0"/>
        </a:spcAft>
        <a:buChar char="»"/>
        <a:defRPr sz="2000">
          <a:solidFill>
            <a:srgbClr val="666699"/>
          </a:solidFill>
          <a:latin typeface="+mn-lt"/>
          <a:ea typeface="+mn-ea"/>
          <a:cs typeface="+mn-cs"/>
        </a:defRPr>
      </a:lvl5pPr>
      <a:lvl6pPr marL="2514600" indent="-228600" algn="l" rtl="0" fontAlgn="base">
        <a:spcBef>
          <a:spcPct val="20000"/>
        </a:spcBef>
        <a:spcAft>
          <a:spcPct val="0"/>
        </a:spcAft>
        <a:buChar char="»"/>
        <a:defRPr>
          <a:solidFill>
            <a:srgbClr val="666699"/>
          </a:solidFill>
          <a:latin typeface="+mn-lt"/>
          <a:ea typeface="+mn-ea"/>
          <a:cs typeface="+mn-cs"/>
        </a:defRPr>
      </a:lvl6pPr>
      <a:lvl7pPr marL="2971800" indent="-228600" algn="l" rtl="0" fontAlgn="base">
        <a:spcBef>
          <a:spcPct val="20000"/>
        </a:spcBef>
        <a:spcAft>
          <a:spcPct val="0"/>
        </a:spcAft>
        <a:buChar char="»"/>
        <a:defRPr>
          <a:solidFill>
            <a:srgbClr val="666699"/>
          </a:solidFill>
          <a:latin typeface="+mn-lt"/>
          <a:ea typeface="+mn-ea"/>
          <a:cs typeface="+mn-cs"/>
        </a:defRPr>
      </a:lvl7pPr>
      <a:lvl8pPr marL="3429000" indent="-228600" algn="l" rtl="0" fontAlgn="base">
        <a:spcBef>
          <a:spcPct val="20000"/>
        </a:spcBef>
        <a:spcAft>
          <a:spcPct val="0"/>
        </a:spcAft>
        <a:buChar char="»"/>
        <a:defRPr>
          <a:solidFill>
            <a:srgbClr val="666699"/>
          </a:solidFill>
          <a:latin typeface="+mn-lt"/>
          <a:ea typeface="+mn-ea"/>
          <a:cs typeface="+mn-cs"/>
        </a:defRPr>
      </a:lvl8pPr>
      <a:lvl9pPr marL="3886200" indent="-228600" algn="l" rtl="0" fontAlgn="base">
        <a:spcBef>
          <a:spcPct val="20000"/>
        </a:spcBef>
        <a:spcAft>
          <a:spcPct val="0"/>
        </a:spcAft>
        <a:buChar char="»"/>
        <a:defRPr>
          <a:solidFill>
            <a:srgbClr val="666699"/>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Grp="1" noChangeArrowheads="1"/>
          </p:cNvSpPr>
          <p:nvPr>
            <p:ph type="ctrTitle"/>
          </p:nvPr>
        </p:nvSpPr>
        <p:spPr/>
        <p:txBody>
          <a:bodyPr/>
          <a:lstStyle/>
          <a:p>
            <a:pPr eaLnBrk="1" hangingPunct="1"/>
            <a:r>
              <a:rPr lang="en-US" altLang="en-US" dirty="0" smtClean="0"/>
              <a:t>Chapter 6</a:t>
            </a:r>
            <a:br>
              <a:rPr lang="en-US" altLang="en-US" dirty="0" smtClean="0"/>
            </a:br>
            <a:r>
              <a:rPr lang="en-US" altLang="en-US" sz="2800" dirty="0" smtClean="0"/>
              <a:t>Part 1</a:t>
            </a:r>
            <a:endParaRPr lang="en-US" altLang="en-US" dirty="0" smtClean="0"/>
          </a:p>
        </p:txBody>
      </p:sp>
      <p:sp>
        <p:nvSpPr>
          <p:cNvPr id="4099" name="Rectangle 5"/>
          <p:cNvSpPr>
            <a:spLocks noGrp="1" noChangeArrowheads="1"/>
          </p:cNvSpPr>
          <p:nvPr>
            <p:ph type="subTitle" idx="1"/>
          </p:nvPr>
        </p:nvSpPr>
        <p:spPr/>
        <p:txBody>
          <a:bodyPr/>
          <a:lstStyle/>
          <a:p>
            <a:pPr eaLnBrk="1" hangingPunct="1"/>
            <a:r>
              <a:rPr lang="en-US" altLang="en-US" smtClean="0"/>
              <a:t>Data Types</a:t>
            </a:r>
          </a:p>
          <a:p>
            <a:pPr eaLnBrk="1" hangingPunct="1"/>
            <a:endParaRPr lang="en-US" altLang="en-US" smtClean="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102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6517C16-243F-4595-8454-F472DD369069}" type="slidenum">
              <a:rPr lang="en-US" altLang="en-US" sz="1000" smtClean="0">
                <a:solidFill>
                  <a:schemeClr val="tx1"/>
                </a:solidFill>
                <a:latin typeface="Arial" panose="020B0604020202020204" pitchFamily="34" charset="0"/>
              </a:rPr>
              <a:pPr>
                <a:spcBef>
                  <a:spcPct val="0"/>
                </a:spcBef>
                <a:buFontTx/>
                <a:buNone/>
              </a:pPr>
              <a:t>2</a:t>
            </a:fld>
            <a:endParaRPr lang="en-US" altLang="en-US" sz="1000" smtClean="0">
              <a:solidFill>
                <a:schemeClr val="tx1"/>
              </a:solidFill>
              <a:latin typeface="Arial" panose="020B0604020202020204" pitchFamily="34" charset="0"/>
            </a:endParaRPr>
          </a:p>
        </p:txBody>
      </p:sp>
      <p:sp>
        <p:nvSpPr>
          <p:cNvPr id="10244" name="Rectangle 2"/>
          <p:cNvSpPr>
            <a:spLocks noGrp="1" noChangeArrowheads="1"/>
          </p:cNvSpPr>
          <p:nvPr>
            <p:ph type="title"/>
          </p:nvPr>
        </p:nvSpPr>
        <p:spPr/>
        <p:txBody>
          <a:bodyPr/>
          <a:lstStyle/>
          <a:p>
            <a:pPr eaLnBrk="1" hangingPunct="1"/>
            <a:r>
              <a:rPr lang="en-US" altLang="en-US" dirty="0" smtClean="0"/>
              <a:t>Chapter 6 Topics</a:t>
            </a:r>
          </a:p>
        </p:txBody>
      </p:sp>
      <p:sp>
        <p:nvSpPr>
          <p:cNvPr id="10245" name="Rectangle 3"/>
          <p:cNvSpPr>
            <a:spLocks noGrp="1" noChangeArrowheads="1"/>
          </p:cNvSpPr>
          <p:nvPr>
            <p:ph type="body" idx="1"/>
          </p:nvPr>
        </p:nvSpPr>
        <p:spPr/>
        <p:txBody>
          <a:bodyPr/>
          <a:lstStyle/>
          <a:p>
            <a:pPr eaLnBrk="1" hangingPunct="1"/>
            <a:r>
              <a:rPr lang="en-US" altLang="en-US" sz="2400" dirty="0" smtClean="0"/>
              <a:t>Introduction</a:t>
            </a:r>
          </a:p>
          <a:p>
            <a:pPr eaLnBrk="1" hangingPunct="1"/>
            <a:r>
              <a:rPr lang="en-US" altLang="en-US" sz="2400" dirty="0" smtClean="0"/>
              <a:t>Primitive Data Types</a:t>
            </a:r>
          </a:p>
          <a:p>
            <a:pPr eaLnBrk="1" hangingPunct="1"/>
            <a:r>
              <a:rPr lang="en-US" altLang="en-US" sz="2400" dirty="0" smtClean="0"/>
              <a:t>Character String Types</a:t>
            </a:r>
          </a:p>
          <a:p>
            <a:pPr eaLnBrk="1" hangingPunct="1"/>
            <a:r>
              <a:rPr lang="en-US" altLang="en-US" sz="2400" dirty="0" smtClean="0"/>
              <a:t>User-Defined Ordinal Types</a:t>
            </a:r>
          </a:p>
          <a:p>
            <a:pPr eaLnBrk="1" hangingPunct="1"/>
            <a:r>
              <a:rPr lang="en-US" altLang="en-US" sz="2400" dirty="0" smtClean="0"/>
              <a:t>Array Types</a:t>
            </a:r>
            <a:endParaRPr lang="en-US" altLang="en-US" sz="2000" dirty="0" smtClean="0"/>
          </a:p>
        </p:txBody>
      </p:sp>
    </p:spTree>
    <p:extLst>
      <p:ext uri="{BB962C8B-B14F-4D97-AF65-F5344CB8AC3E}">
        <p14:creationId xmlns:p14="http://schemas.microsoft.com/office/powerpoint/2010/main" val="53252193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102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6517C16-243F-4595-8454-F472DD369069}" type="slidenum">
              <a:rPr lang="en-US" altLang="en-US" sz="1000" smtClean="0">
                <a:solidFill>
                  <a:schemeClr val="tx1"/>
                </a:solidFill>
                <a:latin typeface="Arial" panose="020B0604020202020204" pitchFamily="34" charset="0"/>
              </a:rPr>
              <a:pPr>
                <a:spcBef>
                  <a:spcPct val="0"/>
                </a:spcBef>
                <a:buFontTx/>
                <a:buNone/>
              </a:pPr>
              <a:t>3</a:t>
            </a:fld>
            <a:endParaRPr lang="en-US" altLang="en-US" sz="1000" smtClean="0">
              <a:solidFill>
                <a:schemeClr val="tx1"/>
              </a:solidFill>
              <a:latin typeface="Arial" panose="020B0604020202020204" pitchFamily="34" charset="0"/>
            </a:endParaRPr>
          </a:p>
        </p:txBody>
      </p:sp>
      <p:sp>
        <p:nvSpPr>
          <p:cNvPr id="10244" name="Rectangle 2"/>
          <p:cNvSpPr>
            <a:spLocks noGrp="1" noChangeArrowheads="1"/>
          </p:cNvSpPr>
          <p:nvPr>
            <p:ph type="title"/>
          </p:nvPr>
        </p:nvSpPr>
        <p:spPr/>
        <p:txBody>
          <a:bodyPr/>
          <a:lstStyle/>
          <a:p>
            <a:pPr eaLnBrk="1" hangingPunct="1"/>
            <a:r>
              <a:rPr lang="en-US" altLang="en-US" dirty="0" smtClean="0"/>
              <a:t>Introduction</a:t>
            </a:r>
          </a:p>
        </p:txBody>
      </p:sp>
      <p:sp>
        <p:nvSpPr>
          <p:cNvPr id="10245" name="Rectangle 3"/>
          <p:cNvSpPr>
            <a:spLocks noGrp="1" noChangeArrowheads="1"/>
          </p:cNvSpPr>
          <p:nvPr>
            <p:ph type="body" idx="1"/>
          </p:nvPr>
        </p:nvSpPr>
        <p:spPr/>
        <p:txBody>
          <a:bodyPr/>
          <a:lstStyle/>
          <a:p>
            <a:pPr eaLnBrk="1" hangingPunct="1"/>
            <a:r>
              <a:rPr lang="en-US" altLang="en-US" sz="2400" dirty="0" smtClean="0"/>
              <a:t>A </a:t>
            </a:r>
            <a:r>
              <a:rPr lang="en-US" altLang="en-US" sz="2400" u="sng" dirty="0" smtClean="0"/>
              <a:t>data type</a:t>
            </a:r>
            <a:r>
              <a:rPr lang="en-US" altLang="en-US" sz="2400" dirty="0" smtClean="0"/>
              <a:t> defines</a:t>
            </a:r>
            <a:endParaRPr lang="en-US" altLang="en-US" sz="2400" u="sng" dirty="0" smtClean="0"/>
          </a:p>
          <a:p>
            <a:pPr lvl="1" eaLnBrk="1" hangingPunct="1"/>
            <a:r>
              <a:rPr lang="en-US" altLang="en-US" sz="2000" dirty="0" smtClean="0"/>
              <a:t>A collection of data </a:t>
            </a:r>
            <a:r>
              <a:rPr lang="en-US" altLang="en-US" sz="2000" u="sng" dirty="0" smtClean="0"/>
              <a:t>values</a:t>
            </a:r>
            <a:r>
              <a:rPr lang="en-US" altLang="en-US" sz="2000" dirty="0" smtClean="0"/>
              <a:t> with a range of values</a:t>
            </a:r>
          </a:p>
          <a:p>
            <a:pPr lvl="1" eaLnBrk="1" hangingPunct="1"/>
            <a:r>
              <a:rPr lang="en-US" altLang="en-US" sz="2000" dirty="0" smtClean="0"/>
              <a:t>How the data </a:t>
            </a:r>
            <a:r>
              <a:rPr lang="en-US" altLang="en-US" sz="2000" u="sng" dirty="0" smtClean="0"/>
              <a:t>values</a:t>
            </a:r>
            <a:r>
              <a:rPr lang="en-US" altLang="en-US" sz="2000" dirty="0" smtClean="0"/>
              <a:t> are stored in memory</a:t>
            </a:r>
          </a:p>
          <a:p>
            <a:pPr lvl="1" eaLnBrk="1" hangingPunct="1"/>
            <a:r>
              <a:rPr lang="en-US" altLang="en-US" sz="2000" dirty="0" smtClean="0"/>
              <a:t>A set of predefined operations on the </a:t>
            </a:r>
            <a:r>
              <a:rPr lang="en-US" altLang="en-US" sz="2000" u="sng" dirty="0" smtClean="0"/>
              <a:t>values</a:t>
            </a:r>
            <a:endParaRPr lang="en-US" altLang="en-US" sz="2000" dirty="0"/>
          </a:p>
          <a:p>
            <a:pPr eaLnBrk="1" hangingPunct="1"/>
            <a:r>
              <a:rPr lang="en-US" altLang="en-US" sz="2400" dirty="0" smtClean="0"/>
              <a:t>Design issues for all data types</a:t>
            </a:r>
          </a:p>
          <a:p>
            <a:pPr lvl="1" eaLnBrk="1" hangingPunct="1"/>
            <a:r>
              <a:rPr lang="en-US" altLang="en-US" sz="2000" dirty="0" smtClean="0"/>
              <a:t>Which operations are defined?</a:t>
            </a:r>
          </a:p>
          <a:p>
            <a:pPr lvl="1" eaLnBrk="1" hangingPunct="1"/>
            <a:r>
              <a:rPr lang="en-US" altLang="en-US" sz="2000" dirty="0" smtClean="0"/>
              <a:t>How are data types specified?</a:t>
            </a:r>
          </a:p>
        </p:txBody>
      </p:sp>
    </p:spTree>
    <p:extLst>
      <p:ext uri="{BB962C8B-B14F-4D97-AF65-F5344CB8AC3E}">
        <p14:creationId xmlns:p14="http://schemas.microsoft.com/office/powerpoint/2010/main" val="19664975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102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6517C16-243F-4595-8454-F472DD369069}" type="slidenum">
              <a:rPr lang="en-US" altLang="en-US" sz="1000" smtClean="0">
                <a:solidFill>
                  <a:schemeClr val="tx1"/>
                </a:solidFill>
                <a:latin typeface="Arial" panose="020B0604020202020204" pitchFamily="34" charset="0"/>
              </a:rPr>
              <a:pPr>
                <a:spcBef>
                  <a:spcPct val="0"/>
                </a:spcBef>
                <a:buFontTx/>
                <a:buNone/>
              </a:pPr>
              <a:t>4</a:t>
            </a:fld>
            <a:endParaRPr lang="en-US" altLang="en-US" sz="1000" smtClean="0">
              <a:solidFill>
                <a:schemeClr val="tx1"/>
              </a:solidFill>
              <a:latin typeface="Arial" panose="020B0604020202020204" pitchFamily="34" charset="0"/>
            </a:endParaRPr>
          </a:p>
        </p:txBody>
      </p:sp>
      <p:sp>
        <p:nvSpPr>
          <p:cNvPr id="10244" name="Rectangle 2"/>
          <p:cNvSpPr>
            <a:spLocks noGrp="1" noChangeArrowheads="1"/>
          </p:cNvSpPr>
          <p:nvPr>
            <p:ph type="title"/>
          </p:nvPr>
        </p:nvSpPr>
        <p:spPr/>
        <p:txBody>
          <a:bodyPr/>
          <a:lstStyle/>
          <a:p>
            <a:pPr eaLnBrk="1" hangingPunct="1"/>
            <a:r>
              <a:rPr lang="en-US" altLang="en-US" smtClean="0"/>
              <a:t>Primitive Data Types</a:t>
            </a:r>
          </a:p>
        </p:txBody>
      </p:sp>
      <p:sp>
        <p:nvSpPr>
          <p:cNvPr id="10245" name="Rectangle 3"/>
          <p:cNvSpPr>
            <a:spLocks noGrp="1" noChangeArrowheads="1"/>
          </p:cNvSpPr>
          <p:nvPr>
            <p:ph type="body" idx="1"/>
          </p:nvPr>
        </p:nvSpPr>
        <p:spPr/>
        <p:txBody>
          <a:bodyPr/>
          <a:lstStyle/>
          <a:p>
            <a:pPr eaLnBrk="1" hangingPunct="1"/>
            <a:r>
              <a:rPr lang="en-US" altLang="en-US" sz="2400" dirty="0" smtClean="0"/>
              <a:t>Almost all languages provide </a:t>
            </a:r>
            <a:r>
              <a:rPr lang="en-US" altLang="en-US" sz="2400" u="sng" dirty="0" smtClean="0"/>
              <a:t>primitive data types</a:t>
            </a:r>
          </a:p>
          <a:p>
            <a:pPr lvl="1" eaLnBrk="1" hangingPunct="1"/>
            <a:r>
              <a:rPr lang="en-US" altLang="en-US" sz="2000" dirty="0" smtClean="0"/>
              <a:t>Those not defined in terms of other data types</a:t>
            </a:r>
          </a:p>
          <a:p>
            <a:pPr lvl="1" eaLnBrk="1" hangingPunct="1"/>
            <a:r>
              <a:rPr lang="en-US" altLang="en-US" sz="2000" dirty="0" smtClean="0"/>
              <a:t>Some are merely reflections of the hardware</a:t>
            </a:r>
          </a:p>
          <a:p>
            <a:pPr lvl="1" eaLnBrk="1" hangingPunct="1"/>
            <a:r>
              <a:rPr lang="en-US" altLang="en-US" sz="2000" dirty="0" smtClean="0"/>
              <a:t>Others require only a little non-hardware support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1229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283D2DD-C91A-481D-83CD-9B105E7622DF}" type="slidenum">
              <a:rPr lang="en-US" altLang="en-US" sz="1000" smtClean="0">
                <a:solidFill>
                  <a:schemeClr val="tx1"/>
                </a:solidFill>
                <a:latin typeface="Arial" panose="020B0604020202020204" pitchFamily="34" charset="0"/>
              </a:rPr>
              <a:pPr>
                <a:spcBef>
                  <a:spcPct val="0"/>
                </a:spcBef>
                <a:buFontTx/>
                <a:buNone/>
              </a:pPr>
              <a:t>5</a:t>
            </a:fld>
            <a:endParaRPr lang="en-US" altLang="en-US" sz="1000" smtClean="0">
              <a:solidFill>
                <a:schemeClr val="tx1"/>
              </a:solidFill>
              <a:latin typeface="Arial" panose="020B0604020202020204" pitchFamily="34" charset="0"/>
            </a:endParaRPr>
          </a:p>
        </p:txBody>
      </p:sp>
      <p:sp>
        <p:nvSpPr>
          <p:cNvPr id="12292" name="Rectangle 2"/>
          <p:cNvSpPr>
            <a:spLocks noGrp="1" noChangeArrowheads="1"/>
          </p:cNvSpPr>
          <p:nvPr>
            <p:ph type="title"/>
          </p:nvPr>
        </p:nvSpPr>
        <p:spPr/>
        <p:txBody>
          <a:bodyPr/>
          <a:lstStyle/>
          <a:p>
            <a:pPr eaLnBrk="1" hangingPunct="1"/>
            <a:r>
              <a:rPr lang="en-US" altLang="en-US" smtClean="0"/>
              <a:t>Primitive Data Types: Integer</a:t>
            </a:r>
          </a:p>
        </p:txBody>
      </p:sp>
      <p:sp>
        <p:nvSpPr>
          <p:cNvPr id="12293" name="Rectangle 3"/>
          <p:cNvSpPr>
            <a:spLocks noGrp="1" noChangeArrowheads="1"/>
          </p:cNvSpPr>
          <p:nvPr>
            <p:ph type="body" idx="1"/>
          </p:nvPr>
        </p:nvSpPr>
        <p:spPr/>
        <p:txBody>
          <a:bodyPr/>
          <a:lstStyle/>
          <a:p>
            <a:pPr eaLnBrk="1" hangingPunct="1"/>
            <a:r>
              <a:rPr lang="en-US" altLang="en-US" sz="2400" dirty="0" smtClean="0"/>
              <a:t>May be as many as eight different integer types</a:t>
            </a:r>
          </a:p>
          <a:p>
            <a:pPr eaLnBrk="1" hangingPunct="1"/>
            <a:r>
              <a:rPr lang="en-US" altLang="en-US" sz="2400" dirty="0" smtClean="0"/>
              <a:t>For example, Java has signed integer sizes</a:t>
            </a:r>
          </a:p>
          <a:p>
            <a:pPr lvl="1" eaLnBrk="1" hangingPunct="1"/>
            <a:r>
              <a:rPr lang="en-US" altLang="en-US" sz="2000" dirty="0" smtClean="0">
                <a:latin typeface="Courier New" panose="02070309020205020404" pitchFamily="49" charset="0"/>
                <a:cs typeface="Courier New" panose="02070309020205020404" pitchFamily="49" charset="0"/>
              </a:rPr>
              <a:t>byte</a:t>
            </a:r>
          </a:p>
          <a:p>
            <a:pPr lvl="1" eaLnBrk="1" hangingPunct="1"/>
            <a:r>
              <a:rPr lang="en-US" altLang="en-US" sz="2000" dirty="0" smtClean="0">
                <a:latin typeface="Courier New" panose="02070309020205020404" pitchFamily="49" charset="0"/>
                <a:cs typeface="Courier New" panose="02070309020205020404" pitchFamily="49" charset="0"/>
              </a:rPr>
              <a:t>short</a:t>
            </a:r>
          </a:p>
          <a:p>
            <a:pPr lvl="1" eaLnBrk="1" hangingPunct="1"/>
            <a:r>
              <a:rPr lang="en-US" altLang="en-US" sz="2000" dirty="0" err="1" smtClean="0">
                <a:latin typeface="Courier New" panose="02070309020205020404" pitchFamily="49" charset="0"/>
                <a:cs typeface="Courier New" panose="02070309020205020404" pitchFamily="49" charset="0"/>
              </a:rPr>
              <a:t>int</a:t>
            </a:r>
            <a:endParaRPr lang="en-US" altLang="en-US" sz="2000" dirty="0" smtClean="0">
              <a:latin typeface="Courier New" panose="02070309020205020404" pitchFamily="49" charset="0"/>
              <a:cs typeface="Courier New" panose="02070309020205020404" pitchFamily="49" charset="0"/>
            </a:endParaRPr>
          </a:p>
          <a:p>
            <a:pPr lvl="1" eaLnBrk="1" hangingPunct="1"/>
            <a:r>
              <a:rPr lang="en-US" altLang="en-US" sz="2000" dirty="0" smtClean="0">
                <a:latin typeface="Courier New" panose="02070309020205020404" pitchFamily="49" charset="0"/>
                <a:cs typeface="Courier New" panose="02070309020205020404" pitchFamily="49" charset="0"/>
              </a:rPr>
              <a:t>long</a:t>
            </a:r>
          </a:p>
          <a:p>
            <a:pPr eaLnBrk="1" hangingPunct="1"/>
            <a:r>
              <a:rPr lang="en-US" altLang="en-US" sz="2400" dirty="0" smtClean="0">
                <a:latin typeface="+mj-lt"/>
                <a:cs typeface="Courier New" panose="02070309020205020404" pitchFamily="49" charset="0"/>
              </a:rPr>
              <a:t>Some languages also have unsigned integers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1433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5C6DBD1B-58F3-4E32-937A-F354E6DE67E7}" type="slidenum">
              <a:rPr lang="en-US" altLang="en-US" sz="1000" smtClean="0">
                <a:solidFill>
                  <a:schemeClr val="tx1"/>
                </a:solidFill>
                <a:latin typeface="Arial" panose="020B0604020202020204" pitchFamily="34" charset="0"/>
              </a:rPr>
              <a:pPr>
                <a:spcBef>
                  <a:spcPct val="0"/>
                </a:spcBef>
                <a:buFontTx/>
                <a:buNone/>
              </a:pPr>
              <a:t>6</a:t>
            </a:fld>
            <a:endParaRPr lang="en-US" altLang="en-US" sz="1000" smtClean="0">
              <a:solidFill>
                <a:schemeClr val="tx1"/>
              </a:solidFill>
              <a:latin typeface="Arial" panose="020B0604020202020204" pitchFamily="34" charset="0"/>
            </a:endParaRPr>
          </a:p>
        </p:txBody>
      </p:sp>
      <p:sp>
        <p:nvSpPr>
          <p:cNvPr id="14340" name="Rectangle 2"/>
          <p:cNvSpPr>
            <a:spLocks noGrp="1" noChangeArrowheads="1"/>
          </p:cNvSpPr>
          <p:nvPr>
            <p:ph type="title"/>
          </p:nvPr>
        </p:nvSpPr>
        <p:spPr/>
        <p:txBody>
          <a:bodyPr/>
          <a:lstStyle/>
          <a:p>
            <a:pPr eaLnBrk="1" hangingPunct="1"/>
            <a:r>
              <a:rPr lang="en-US" altLang="en-US" smtClean="0"/>
              <a:t>Primitive Data Types: Floating Point</a:t>
            </a:r>
          </a:p>
        </p:txBody>
      </p:sp>
      <p:sp>
        <p:nvSpPr>
          <p:cNvPr id="14341" name="Rectangle 3"/>
          <p:cNvSpPr>
            <a:spLocks noGrp="1" noChangeArrowheads="1"/>
          </p:cNvSpPr>
          <p:nvPr>
            <p:ph type="body" idx="1"/>
          </p:nvPr>
        </p:nvSpPr>
        <p:spPr/>
        <p:txBody>
          <a:bodyPr/>
          <a:lstStyle/>
          <a:p>
            <a:pPr eaLnBrk="1" hangingPunct="1"/>
            <a:r>
              <a:rPr lang="en-US" altLang="en-US" sz="2400" dirty="0" smtClean="0"/>
              <a:t>Model real numbers, but only as approximations</a:t>
            </a:r>
          </a:p>
          <a:p>
            <a:pPr eaLnBrk="1" hangingPunct="1"/>
            <a:r>
              <a:rPr lang="en-US" altLang="en-US" sz="2400" dirty="0" smtClean="0"/>
              <a:t>Languages for scientific use</a:t>
            </a:r>
          </a:p>
          <a:p>
            <a:pPr lvl="1" eaLnBrk="1" hangingPunct="1"/>
            <a:r>
              <a:rPr lang="en-US" altLang="en-US" sz="2000" dirty="0" smtClean="0"/>
              <a:t>At least two floating-point types (e.g. </a:t>
            </a:r>
            <a:r>
              <a:rPr lang="en-US" altLang="en-US" sz="2000" dirty="0" smtClean="0">
                <a:latin typeface="Courier New" panose="02070309020205020404" pitchFamily="49" charset="0"/>
                <a:cs typeface="Courier New" panose="02070309020205020404" pitchFamily="49" charset="0"/>
              </a:rPr>
              <a:t>float</a:t>
            </a:r>
            <a:r>
              <a:rPr lang="en-US" altLang="en-US" sz="2000" dirty="0" smtClean="0"/>
              <a:t> and </a:t>
            </a:r>
            <a:r>
              <a:rPr lang="en-US" altLang="en-US" sz="2000" dirty="0" smtClean="0">
                <a:latin typeface="Courier New" panose="02070309020205020404" pitchFamily="49" charset="0"/>
                <a:cs typeface="Courier New" panose="02070309020205020404" pitchFamily="49" charset="0"/>
              </a:rPr>
              <a:t>double</a:t>
            </a:r>
            <a:r>
              <a:rPr lang="en-US" altLang="en-US" sz="2000" dirty="0" smtClean="0"/>
              <a:t>)</a:t>
            </a:r>
          </a:p>
          <a:p>
            <a:pPr lvl="1" eaLnBrk="1" hangingPunct="1"/>
            <a:r>
              <a:rPr lang="en-US" altLang="en-US" sz="2000" dirty="0"/>
              <a:t>S</a:t>
            </a:r>
            <a:r>
              <a:rPr lang="en-US" altLang="en-US" sz="2000" dirty="0" smtClean="0"/>
              <a:t>ometimes more floating-point types are supported</a:t>
            </a:r>
          </a:p>
          <a:p>
            <a:pPr eaLnBrk="1" hangingPunct="1"/>
            <a:r>
              <a:rPr lang="en-US" altLang="en-US" sz="2400" dirty="0" smtClean="0"/>
              <a:t>IEEE Floating-Point Standard 754 is common</a:t>
            </a:r>
          </a:p>
          <a:p>
            <a:pPr lvl="1" eaLnBrk="1" hangingPunct="1"/>
            <a:r>
              <a:rPr lang="en-US" altLang="en-US" sz="2000" dirty="0" smtClean="0"/>
              <a:t>Precision</a:t>
            </a:r>
          </a:p>
          <a:p>
            <a:pPr lvl="2" eaLnBrk="1" hangingPunct="1"/>
            <a:r>
              <a:rPr lang="en-US" altLang="en-US" sz="1700" dirty="0" smtClean="0"/>
              <a:t>Accuracy of the number’s</a:t>
            </a:r>
            <a:br>
              <a:rPr lang="en-US" altLang="en-US" sz="1700" dirty="0" smtClean="0"/>
            </a:br>
            <a:r>
              <a:rPr lang="en-US" altLang="en-US" sz="1700" dirty="0" smtClean="0"/>
              <a:t>fractional part</a:t>
            </a:r>
          </a:p>
          <a:p>
            <a:pPr lvl="1" eaLnBrk="1" hangingPunct="1"/>
            <a:r>
              <a:rPr lang="en-US" altLang="en-US" sz="2000" dirty="0" smtClean="0"/>
              <a:t>Range</a:t>
            </a:r>
          </a:p>
          <a:p>
            <a:pPr lvl="2" eaLnBrk="1" hangingPunct="1"/>
            <a:r>
              <a:rPr lang="en-US" altLang="en-US" sz="1700" dirty="0" smtClean="0"/>
              <a:t>Defines minimum and</a:t>
            </a:r>
            <a:br>
              <a:rPr lang="en-US" altLang="en-US" sz="1700" dirty="0" smtClean="0"/>
            </a:br>
            <a:r>
              <a:rPr lang="en-US" altLang="en-US" sz="1700" dirty="0" smtClean="0"/>
              <a:t>maximum values</a:t>
            </a:r>
          </a:p>
        </p:txBody>
      </p:sp>
      <p:pic>
        <p:nvPicPr>
          <p:cNvPr id="14342"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45182" y="4151312"/>
            <a:ext cx="3972367" cy="2173288"/>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r>
              <a:rPr lang="en-US" altLang="en-US" smtClean="0"/>
              <a:t>Primitive Data Types: Complex</a:t>
            </a:r>
            <a:endParaRPr lang="en-ZA" altLang="en-US" smtClean="0"/>
          </a:p>
        </p:txBody>
      </p:sp>
      <p:sp>
        <p:nvSpPr>
          <p:cNvPr id="16387" name="Content Placeholder 2"/>
          <p:cNvSpPr>
            <a:spLocks noGrp="1"/>
          </p:cNvSpPr>
          <p:nvPr>
            <p:ph idx="1"/>
          </p:nvPr>
        </p:nvSpPr>
        <p:spPr/>
        <p:txBody>
          <a:bodyPr/>
          <a:lstStyle/>
          <a:p>
            <a:r>
              <a:rPr lang="en-ZA" altLang="en-US" sz="2400" dirty="0" smtClean="0"/>
              <a:t>Some languages support a complex type</a:t>
            </a:r>
          </a:p>
          <a:p>
            <a:pPr lvl="1"/>
            <a:r>
              <a:rPr lang="en-ZA" altLang="en-US" sz="2000" dirty="0" smtClean="0"/>
              <a:t>For example, C99, Fortran and Python</a:t>
            </a:r>
          </a:p>
          <a:p>
            <a:r>
              <a:rPr lang="en-ZA" altLang="en-US" sz="2400" dirty="0" smtClean="0"/>
              <a:t>Each value consists of two floats</a:t>
            </a:r>
          </a:p>
          <a:p>
            <a:pPr lvl="1"/>
            <a:r>
              <a:rPr lang="en-ZA" altLang="en-US" sz="2000" dirty="0" smtClean="0"/>
              <a:t>The real part</a:t>
            </a:r>
          </a:p>
          <a:p>
            <a:pPr lvl="1"/>
            <a:r>
              <a:rPr lang="en-ZA" altLang="en-US" sz="2000" dirty="0"/>
              <a:t>T</a:t>
            </a:r>
            <a:r>
              <a:rPr lang="en-ZA" altLang="en-US" sz="2000" dirty="0" smtClean="0"/>
              <a:t>he imaginary part</a:t>
            </a:r>
          </a:p>
          <a:p>
            <a:r>
              <a:rPr lang="en-ZA" altLang="en-US" sz="2400" dirty="0" smtClean="0"/>
              <a:t>Literal form of a complex value, in Python</a:t>
            </a:r>
          </a:p>
          <a:p>
            <a:pPr lvl="1"/>
            <a:r>
              <a:rPr lang="en-ZA" altLang="en-US" sz="2000" dirty="0" smtClean="0"/>
              <a:t>For example: </a:t>
            </a:r>
            <a:r>
              <a:rPr lang="en-ZA" altLang="en-US" sz="2000" dirty="0" smtClean="0">
                <a:latin typeface="Courier New" panose="02070309020205020404" pitchFamily="49" charset="0"/>
                <a:cs typeface="Courier New" panose="02070309020205020404" pitchFamily="49" charset="0"/>
              </a:rPr>
              <a:t>(7 + 3j)</a:t>
            </a:r>
          </a:p>
          <a:p>
            <a:pPr lvl="1"/>
            <a:r>
              <a:rPr lang="en-ZA" altLang="en-US" sz="2000" dirty="0" smtClean="0"/>
              <a:t>Where </a:t>
            </a:r>
            <a:r>
              <a:rPr lang="en-ZA" altLang="en-US" sz="2000" dirty="0" smtClean="0">
                <a:latin typeface="Courier New" panose="02070309020205020404" pitchFamily="49" charset="0"/>
                <a:cs typeface="Courier New" panose="02070309020205020404" pitchFamily="49" charset="0"/>
              </a:rPr>
              <a:t>7</a:t>
            </a:r>
            <a:r>
              <a:rPr lang="en-ZA" altLang="en-US" sz="2000" dirty="0" smtClean="0"/>
              <a:t> is the real part, </a:t>
            </a:r>
            <a:r>
              <a:rPr lang="en-ZA" altLang="en-US" sz="2000" dirty="0" smtClean="0">
                <a:latin typeface="Courier New" panose="02070309020205020404" pitchFamily="49" charset="0"/>
                <a:cs typeface="Courier New" panose="02070309020205020404" pitchFamily="49" charset="0"/>
              </a:rPr>
              <a:t>3</a:t>
            </a:r>
            <a:r>
              <a:rPr lang="en-ZA" altLang="en-US" sz="2000" dirty="0" smtClean="0"/>
              <a:t> is the imaginary part</a:t>
            </a:r>
          </a:p>
        </p:txBody>
      </p:sp>
      <p:sp>
        <p:nvSpPr>
          <p:cNvPr id="1638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1638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5D358AB-F0A5-40D9-BBB0-82DBA87ACEA6}" type="slidenum">
              <a:rPr lang="en-US" altLang="en-US" sz="1000" smtClean="0">
                <a:solidFill>
                  <a:schemeClr val="tx1"/>
                </a:solidFill>
                <a:latin typeface="Arial" panose="020B0604020202020204" pitchFamily="34" charset="0"/>
              </a:rPr>
              <a:pPr>
                <a:spcBef>
                  <a:spcPct val="0"/>
                </a:spcBef>
                <a:buFontTx/>
                <a:buNone/>
              </a:pPr>
              <a:t>7</a:t>
            </a:fld>
            <a:endParaRPr lang="en-US" altLang="en-US" sz="1000" smtClean="0">
              <a:solidFill>
                <a:schemeClr val="tx1"/>
              </a:solidFill>
              <a:latin typeface="Arial" panose="020B0604020202020204" pitchFamily="34"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1741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1F2817F-24CF-4576-AF98-84160F3C368D}" type="slidenum">
              <a:rPr lang="en-US" altLang="en-US" sz="1000" smtClean="0">
                <a:solidFill>
                  <a:schemeClr val="tx1"/>
                </a:solidFill>
                <a:latin typeface="Arial" panose="020B0604020202020204" pitchFamily="34" charset="0"/>
              </a:rPr>
              <a:pPr>
                <a:spcBef>
                  <a:spcPct val="0"/>
                </a:spcBef>
                <a:buFontTx/>
                <a:buNone/>
              </a:pPr>
              <a:t>8</a:t>
            </a:fld>
            <a:endParaRPr lang="en-US" altLang="en-US" sz="1000" smtClean="0">
              <a:solidFill>
                <a:schemeClr val="tx1"/>
              </a:solidFill>
              <a:latin typeface="Arial" panose="020B0604020202020204" pitchFamily="34" charset="0"/>
            </a:endParaRPr>
          </a:p>
        </p:txBody>
      </p:sp>
      <p:sp>
        <p:nvSpPr>
          <p:cNvPr id="17412" name="Rectangle 2"/>
          <p:cNvSpPr>
            <a:spLocks noGrp="1" noChangeArrowheads="1"/>
          </p:cNvSpPr>
          <p:nvPr>
            <p:ph type="title"/>
          </p:nvPr>
        </p:nvSpPr>
        <p:spPr/>
        <p:txBody>
          <a:bodyPr/>
          <a:lstStyle/>
          <a:p>
            <a:pPr eaLnBrk="1" hangingPunct="1"/>
            <a:r>
              <a:rPr lang="en-US" altLang="en-US" smtClean="0"/>
              <a:t>Primitive Data Types: Decimal</a:t>
            </a:r>
          </a:p>
        </p:txBody>
      </p:sp>
      <p:sp>
        <p:nvSpPr>
          <p:cNvPr id="17413" name="Rectangle 3"/>
          <p:cNvSpPr>
            <a:spLocks noGrp="1" noChangeArrowheads="1"/>
          </p:cNvSpPr>
          <p:nvPr>
            <p:ph type="body" idx="1"/>
          </p:nvPr>
        </p:nvSpPr>
        <p:spPr/>
        <p:txBody>
          <a:bodyPr/>
          <a:lstStyle/>
          <a:p>
            <a:pPr eaLnBrk="1" hangingPunct="1"/>
            <a:r>
              <a:rPr lang="en-US" altLang="en-US" sz="2400" dirty="0" smtClean="0"/>
              <a:t>For business applications (often monetary values)</a:t>
            </a:r>
          </a:p>
          <a:p>
            <a:pPr lvl="1" eaLnBrk="1" hangingPunct="1"/>
            <a:r>
              <a:rPr lang="en-US" altLang="en-US" sz="2000" dirty="0" smtClean="0"/>
              <a:t>Essential to COBOL</a:t>
            </a:r>
          </a:p>
          <a:p>
            <a:pPr lvl="1" eaLnBrk="1" hangingPunct="1"/>
            <a:r>
              <a:rPr lang="en-US" altLang="en-US" sz="2000" dirty="0" smtClean="0"/>
              <a:t>C# offers a decimal data type</a:t>
            </a:r>
          </a:p>
          <a:p>
            <a:pPr eaLnBrk="1" hangingPunct="1"/>
            <a:r>
              <a:rPr lang="en-US" altLang="en-US" sz="2400" dirty="0" smtClean="0"/>
              <a:t>Store a fixed number of decimal digits</a:t>
            </a:r>
          </a:p>
          <a:p>
            <a:pPr lvl="1" eaLnBrk="1" hangingPunct="1"/>
            <a:r>
              <a:rPr lang="en-US" altLang="en-US" sz="2000" dirty="0" smtClean="0"/>
              <a:t>Use coded representation (binary coded decimal, or BCD)</a:t>
            </a:r>
          </a:p>
          <a:p>
            <a:pPr eaLnBrk="1" hangingPunct="1"/>
            <a:r>
              <a:rPr lang="en-US" altLang="en-US" sz="2400" dirty="0" smtClean="0"/>
              <a:t>Advantage</a:t>
            </a:r>
          </a:p>
          <a:p>
            <a:pPr lvl="1" eaLnBrk="1" hangingPunct="1"/>
            <a:r>
              <a:rPr lang="en-US" altLang="en-US" sz="2000" dirty="0" smtClean="0"/>
              <a:t>Accuracy</a:t>
            </a:r>
          </a:p>
          <a:p>
            <a:pPr eaLnBrk="1" hangingPunct="1"/>
            <a:r>
              <a:rPr lang="en-US" altLang="en-US" sz="2400" dirty="0" smtClean="0"/>
              <a:t>Disadvantages</a:t>
            </a:r>
          </a:p>
          <a:p>
            <a:pPr lvl="1" eaLnBrk="1" hangingPunct="1"/>
            <a:r>
              <a:rPr lang="en-US" altLang="en-US" sz="2000" dirty="0" smtClean="0"/>
              <a:t>Wastes memory</a:t>
            </a:r>
          </a:p>
          <a:p>
            <a:pPr lvl="1" eaLnBrk="1" hangingPunct="1"/>
            <a:r>
              <a:rPr lang="en-US" altLang="en-US" sz="2000" dirty="0" smtClean="0"/>
              <a:t>Limited range</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1945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9A83C571-EE5E-42D2-B047-D432E9525BD4}" type="slidenum">
              <a:rPr lang="en-US" altLang="en-US" sz="1000" smtClean="0">
                <a:solidFill>
                  <a:schemeClr val="tx1"/>
                </a:solidFill>
                <a:latin typeface="Arial" panose="020B0604020202020204" pitchFamily="34" charset="0"/>
              </a:rPr>
              <a:pPr>
                <a:spcBef>
                  <a:spcPct val="0"/>
                </a:spcBef>
                <a:buFontTx/>
                <a:buNone/>
              </a:pPr>
              <a:t>9</a:t>
            </a:fld>
            <a:endParaRPr lang="en-US" altLang="en-US" sz="1000" smtClean="0">
              <a:solidFill>
                <a:schemeClr val="tx1"/>
              </a:solidFill>
              <a:latin typeface="Arial" panose="020B0604020202020204" pitchFamily="34" charset="0"/>
            </a:endParaRPr>
          </a:p>
        </p:txBody>
      </p:sp>
      <p:sp>
        <p:nvSpPr>
          <p:cNvPr id="19460" name="Rectangle 2"/>
          <p:cNvSpPr>
            <a:spLocks noGrp="1" noChangeArrowheads="1"/>
          </p:cNvSpPr>
          <p:nvPr>
            <p:ph type="title"/>
          </p:nvPr>
        </p:nvSpPr>
        <p:spPr/>
        <p:txBody>
          <a:bodyPr/>
          <a:lstStyle/>
          <a:p>
            <a:pPr eaLnBrk="1" hangingPunct="1"/>
            <a:r>
              <a:rPr lang="en-US" altLang="en-US" smtClean="0"/>
              <a:t>Primitive Data Types: Boolean</a:t>
            </a:r>
          </a:p>
        </p:txBody>
      </p:sp>
      <p:sp>
        <p:nvSpPr>
          <p:cNvPr id="19461" name="Rectangle 3"/>
          <p:cNvSpPr>
            <a:spLocks noGrp="1" noChangeArrowheads="1"/>
          </p:cNvSpPr>
          <p:nvPr>
            <p:ph type="body" idx="1"/>
          </p:nvPr>
        </p:nvSpPr>
        <p:spPr/>
        <p:txBody>
          <a:bodyPr/>
          <a:lstStyle/>
          <a:p>
            <a:pPr eaLnBrk="1" hangingPunct="1"/>
            <a:r>
              <a:rPr lang="en-US" altLang="en-US" sz="2400" dirty="0" smtClean="0"/>
              <a:t>Simplest data type of all</a:t>
            </a:r>
          </a:p>
          <a:p>
            <a:pPr eaLnBrk="1" hangingPunct="1"/>
            <a:r>
              <a:rPr lang="en-US" altLang="en-US" sz="2400" dirty="0" smtClean="0"/>
              <a:t>Range of values is only two elements</a:t>
            </a:r>
          </a:p>
          <a:p>
            <a:pPr lvl="1" eaLnBrk="1" hangingPunct="1"/>
            <a:r>
              <a:rPr lang="en-US" altLang="en-US" sz="2000" dirty="0" smtClean="0"/>
              <a:t>One for “true”</a:t>
            </a:r>
          </a:p>
          <a:p>
            <a:pPr lvl="1" eaLnBrk="1" hangingPunct="1"/>
            <a:r>
              <a:rPr lang="en-US" altLang="en-US" sz="2000" dirty="0" smtClean="0"/>
              <a:t>One for “false”</a:t>
            </a:r>
          </a:p>
          <a:p>
            <a:pPr eaLnBrk="1" hangingPunct="1"/>
            <a:r>
              <a:rPr lang="en-US" altLang="en-US" sz="2400" dirty="0" smtClean="0"/>
              <a:t>Could be implemented as bits</a:t>
            </a:r>
          </a:p>
          <a:p>
            <a:pPr lvl="1" eaLnBrk="1" hangingPunct="1"/>
            <a:r>
              <a:rPr lang="en-US" altLang="en-US" sz="2000" dirty="0" smtClean="0"/>
              <a:t>But addressing limitations usually don’t allow bit retrieval</a:t>
            </a:r>
          </a:p>
          <a:p>
            <a:pPr lvl="1" eaLnBrk="1" hangingPunct="1"/>
            <a:r>
              <a:rPr lang="en-US" altLang="en-US" sz="2000" dirty="0" smtClean="0"/>
              <a:t>Therefore bytes are often used (disadvantage?)</a:t>
            </a:r>
          </a:p>
          <a:p>
            <a:pPr eaLnBrk="1" hangingPunct="1"/>
            <a:r>
              <a:rPr lang="en-US" altLang="en-US" sz="2400" dirty="0" smtClean="0"/>
              <a:t>Advantage</a:t>
            </a:r>
          </a:p>
          <a:p>
            <a:pPr lvl="1" eaLnBrk="1" hangingPunct="1"/>
            <a:r>
              <a:rPr lang="en-US" altLang="en-US" sz="2000" dirty="0" smtClean="0"/>
              <a:t>Readability (why?)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2150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3B63B245-4A21-409B-9B40-9CC9E4AD2EAD}" type="slidenum">
              <a:rPr lang="en-US" altLang="en-US" sz="1000" smtClean="0">
                <a:solidFill>
                  <a:schemeClr val="tx1"/>
                </a:solidFill>
                <a:latin typeface="Arial" panose="020B0604020202020204" pitchFamily="34" charset="0"/>
              </a:rPr>
              <a:pPr>
                <a:spcBef>
                  <a:spcPct val="0"/>
                </a:spcBef>
                <a:buFontTx/>
                <a:buNone/>
              </a:pPr>
              <a:t>10</a:t>
            </a:fld>
            <a:endParaRPr lang="en-US" altLang="en-US" sz="1000" smtClean="0">
              <a:solidFill>
                <a:schemeClr val="tx1"/>
              </a:solidFill>
              <a:latin typeface="Arial" panose="020B0604020202020204" pitchFamily="34" charset="0"/>
            </a:endParaRPr>
          </a:p>
        </p:txBody>
      </p:sp>
      <p:sp>
        <p:nvSpPr>
          <p:cNvPr id="21508" name="Rectangle 2"/>
          <p:cNvSpPr>
            <a:spLocks noGrp="1" noChangeArrowheads="1"/>
          </p:cNvSpPr>
          <p:nvPr>
            <p:ph type="title"/>
          </p:nvPr>
        </p:nvSpPr>
        <p:spPr/>
        <p:txBody>
          <a:bodyPr/>
          <a:lstStyle/>
          <a:p>
            <a:pPr eaLnBrk="1" hangingPunct="1"/>
            <a:r>
              <a:rPr lang="en-US" altLang="en-US" smtClean="0"/>
              <a:t>Primitive Data Types: Character</a:t>
            </a:r>
          </a:p>
        </p:txBody>
      </p:sp>
      <p:sp>
        <p:nvSpPr>
          <p:cNvPr id="21509" name="Rectangle 3"/>
          <p:cNvSpPr>
            <a:spLocks noGrp="1" noChangeArrowheads="1"/>
          </p:cNvSpPr>
          <p:nvPr>
            <p:ph type="body" idx="1"/>
          </p:nvPr>
        </p:nvSpPr>
        <p:spPr/>
        <p:txBody>
          <a:bodyPr/>
          <a:lstStyle/>
          <a:p>
            <a:pPr eaLnBrk="1" hangingPunct="1"/>
            <a:r>
              <a:rPr lang="en-US" altLang="en-US" sz="2400" dirty="0" smtClean="0"/>
              <a:t>Stored as numeric </a:t>
            </a:r>
            <a:r>
              <a:rPr lang="en-US" altLang="en-US" sz="2400" dirty="0" err="1" smtClean="0"/>
              <a:t>codings</a:t>
            </a:r>
            <a:endParaRPr lang="en-US" altLang="en-US" sz="2400" dirty="0" smtClean="0"/>
          </a:p>
          <a:p>
            <a:pPr eaLnBrk="1" hangingPunct="1"/>
            <a:r>
              <a:rPr lang="en-US" altLang="en-US" sz="2400" dirty="0" smtClean="0"/>
              <a:t>Most commonly used coding: ASCII</a:t>
            </a:r>
          </a:p>
          <a:p>
            <a:pPr eaLnBrk="1" hangingPunct="1"/>
            <a:r>
              <a:rPr lang="en-US" altLang="en-US" sz="2400" dirty="0" smtClean="0"/>
              <a:t>Alternative, 16-bit coding: Unicode (UCS-2)</a:t>
            </a:r>
          </a:p>
          <a:p>
            <a:pPr lvl="1" eaLnBrk="1" hangingPunct="1"/>
            <a:r>
              <a:rPr lang="en-US" altLang="en-US" sz="2000" dirty="0" smtClean="0"/>
              <a:t>Characters from most natural languages</a:t>
            </a:r>
          </a:p>
          <a:p>
            <a:pPr eaLnBrk="1" hangingPunct="1"/>
            <a:r>
              <a:rPr lang="en-US" altLang="en-US" sz="2400" dirty="0" smtClean="0"/>
              <a:t>32-bit Unicode (UCS-4)</a:t>
            </a:r>
          </a:p>
          <a:p>
            <a:pPr lvl="1" eaLnBrk="1" hangingPunct="1"/>
            <a:r>
              <a:rPr lang="en-US" altLang="en-US" sz="2000" dirty="0" smtClean="0"/>
              <a:t>Supported by Fortran (starting with 2003)</a:t>
            </a:r>
          </a:p>
          <a:p>
            <a:pPr lvl="1" eaLnBrk="1" hangingPunct="1"/>
            <a:r>
              <a:rPr lang="en-US" altLang="en-US" sz="2000" dirty="0" smtClean="0"/>
              <a:t>The newer UTF-32 standard is used in Java and C#</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2355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88AFB98-F38C-4F8B-A172-52CC9DDC5F55}" type="slidenum">
              <a:rPr lang="en-US" altLang="en-US" sz="1000" smtClean="0">
                <a:solidFill>
                  <a:schemeClr val="tx1"/>
                </a:solidFill>
                <a:latin typeface="Arial" panose="020B0604020202020204" pitchFamily="34" charset="0"/>
              </a:rPr>
              <a:pPr>
                <a:spcBef>
                  <a:spcPct val="0"/>
                </a:spcBef>
                <a:buFontTx/>
                <a:buNone/>
              </a:pPr>
              <a:t>11</a:t>
            </a:fld>
            <a:endParaRPr lang="en-US" altLang="en-US" sz="1000" smtClean="0">
              <a:solidFill>
                <a:schemeClr val="tx1"/>
              </a:solidFill>
              <a:latin typeface="Arial" panose="020B0604020202020204" pitchFamily="34" charset="0"/>
            </a:endParaRPr>
          </a:p>
        </p:txBody>
      </p:sp>
      <p:sp>
        <p:nvSpPr>
          <p:cNvPr id="23556" name="Rectangle 2"/>
          <p:cNvSpPr>
            <a:spLocks noGrp="1" noChangeArrowheads="1"/>
          </p:cNvSpPr>
          <p:nvPr>
            <p:ph type="title"/>
          </p:nvPr>
        </p:nvSpPr>
        <p:spPr/>
        <p:txBody>
          <a:bodyPr/>
          <a:lstStyle/>
          <a:p>
            <a:pPr eaLnBrk="1" hangingPunct="1"/>
            <a:r>
              <a:rPr lang="en-US" altLang="en-US" smtClean="0"/>
              <a:t>Character String Types </a:t>
            </a:r>
          </a:p>
        </p:txBody>
      </p:sp>
      <p:sp>
        <p:nvSpPr>
          <p:cNvPr id="23557" name="Rectangle 3"/>
          <p:cNvSpPr>
            <a:spLocks noGrp="1" noChangeArrowheads="1"/>
          </p:cNvSpPr>
          <p:nvPr>
            <p:ph type="body" idx="1"/>
          </p:nvPr>
        </p:nvSpPr>
        <p:spPr/>
        <p:txBody>
          <a:bodyPr/>
          <a:lstStyle/>
          <a:p>
            <a:pPr eaLnBrk="1" hangingPunct="1"/>
            <a:r>
              <a:rPr lang="en-US" altLang="en-US" sz="2400" dirty="0" smtClean="0"/>
              <a:t>Values are sequences of characters</a:t>
            </a:r>
          </a:p>
          <a:p>
            <a:pPr eaLnBrk="1" hangingPunct="1"/>
            <a:r>
              <a:rPr lang="en-US" altLang="en-US" sz="2400" dirty="0" smtClean="0"/>
              <a:t>Design issues</a:t>
            </a:r>
          </a:p>
          <a:p>
            <a:pPr lvl="1" eaLnBrk="1" hangingPunct="1"/>
            <a:r>
              <a:rPr lang="en-US" altLang="en-US" sz="2000" dirty="0" smtClean="0"/>
              <a:t>A primitive type or just a special kind of array?</a:t>
            </a:r>
          </a:p>
          <a:p>
            <a:pPr lvl="1" eaLnBrk="1" hangingPunct="1"/>
            <a:r>
              <a:rPr lang="en-US" altLang="en-US" sz="2000" dirty="0" smtClean="0"/>
              <a:t>Should the string length be static or dynamic?</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2765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FC5F1D2C-30FB-4F4A-B70A-85807E9C1E6B}" type="slidenum">
              <a:rPr lang="en-US" altLang="en-US" sz="1000" smtClean="0">
                <a:solidFill>
                  <a:schemeClr val="tx1"/>
                </a:solidFill>
                <a:latin typeface="Arial" panose="020B0604020202020204" pitchFamily="34" charset="0"/>
              </a:rPr>
              <a:pPr>
                <a:spcBef>
                  <a:spcPct val="0"/>
                </a:spcBef>
                <a:buFontTx/>
                <a:buNone/>
              </a:pPr>
              <a:t>12</a:t>
            </a:fld>
            <a:endParaRPr lang="en-US" altLang="en-US" sz="1000" smtClean="0">
              <a:solidFill>
                <a:schemeClr val="tx1"/>
              </a:solidFill>
              <a:latin typeface="Arial" panose="020B0604020202020204" pitchFamily="34" charset="0"/>
            </a:endParaRPr>
          </a:p>
        </p:txBody>
      </p:sp>
      <p:sp>
        <p:nvSpPr>
          <p:cNvPr id="27652" name="Rectangle 2"/>
          <p:cNvSpPr>
            <a:spLocks noGrp="1" noChangeArrowheads="1"/>
          </p:cNvSpPr>
          <p:nvPr>
            <p:ph type="title"/>
          </p:nvPr>
        </p:nvSpPr>
        <p:spPr>
          <a:xfrm>
            <a:off x="609600" y="381000"/>
            <a:ext cx="8153400" cy="1143000"/>
          </a:xfrm>
        </p:spPr>
        <p:txBody>
          <a:bodyPr/>
          <a:lstStyle/>
          <a:p>
            <a:pPr eaLnBrk="1" hangingPunct="1"/>
            <a:r>
              <a:rPr lang="en-US" altLang="en-US" dirty="0" smtClean="0"/>
              <a:t>Character String Type By Language</a:t>
            </a:r>
          </a:p>
        </p:txBody>
      </p:sp>
      <p:sp>
        <p:nvSpPr>
          <p:cNvPr id="27653" name="Rectangle 3"/>
          <p:cNvSpPr>
            <a:spLocks noGrp="1" noChangeArrowheads="1"/>
          </p:cNvSpPr>
          <p:nvPr>
            <p:ph type="body" idx="1"/>
          </p:nvPr>
        </p:nvSpPr>
        <p:spPr>
          <a:xfrm>
            <a:off x="609600" y="1600200"/>
            <a:ext cx="8153400" cy="4572000"/>
          </a:xfrm>
        </p:spPr>
        <p:txBody>
          <a:bodyPr/>
          <a:lstStyle/>
          <a:p>
            <a:pPr eaLnBrk="1" hangingPunct="1"/>
            <a:r>
              <a:rPr lang="en-US" altLang="en-US" sz="2400" dirty="0" smtClean="0"/>
              <a:t>C and C++</a:t>
            </a:r>
          </a:p>
          <a:p>
            <a:pPr lvl="1" eaLnBrk="1" hangingPunct="1"/>
            <a:r>
              <a:rPr lang="en-US" altLang="en-US" sz="2000" dirty="0" smtClean="0"/>
              <a:t>No primitive strings are directly supported</a:t>
            </a:r>
          </a:p>
          <a:p>
            <a:pPr lvl="1" eaLnBrk="1" hangingPunct="1"/>
            <a:r>
              <a:rPr lang="en-US" altLang="en-US" sz="2000" dirty="0" smtClean="0"/>
              <a:t>Use </a:t>
            </a:r>
            <a:r>
              <a:rPr lang="en-US" altLang="en-US" sz="2000" b="1" dirty="0" smtClean="0">
                <a:latin typeface="Courier New" panose="02070309020205020404" pitchFamily="49" charset="0"/>
              </a:rPr>
              <a:t>char</a:t>
            </a:r>
            <a:r>
              <a:rPr lang="en-US" altLang="en-US" sz="2000" dirty="0" smtClean="0"/>
              <a:t> arrays and operations in a library of functions</a:t>
            </a:r>
          </a:p>
          <a:p>
            <a:pPr eaLnBrk="1" hangingPunct="1"/>
            <a:r>
              <a:rPr lang="en-US" altLang="en-US" sz="2400" dirty="0" smtClean="0"/>
              <a:t>Fortran and Python</a:t>
            </a:r>
          </a:p>
          <a:p>
            <a:pPr lvl="1" eaLnBrk="1" hangingPunct="1"/>
            <a:r>
              <a:rPr lang="en-US" altLang="en-US" sz="2000" dirty="0" smtClean="0"/>
              <a:t>Primitive type with assignment and several operations</a:t>
            </a:r>
          </a:p>
          <a:p>
            <a:pPr eaLnBrk="1" hangingPunct="1"/>
            <a:r>
              <a:rPr lang="en-US" altLang="en-US" sz="2400" dirty="0" smtClean="0"/>
              <a:t>Java</a:t>
            </a:r>
          </a:p>
          <a:p>
            <a:pPr lvl="1" eaLnBrk="1" hangingPunct="1"/>
            <a:r>
              <a:rPr lang="en-US" altLang="en-US" sz="2000" dirty="0" smtClean="0"/>
              <a:t>Primitive type via the </a:t>
            </a:r>
            <a:r>
              <a:rPr lang="en-US" altLang="en-US" sz="2000" dirty="0" smtClean="0">
                <a:latin typeface="Courier New" panose="02070309020205020404" pitchFamily="49" charset="0"/>
                <a:cs typeface="Courier New" panose="02070309020205020404" pitchFamily="49" charset="0"/>
              </a:rPr>
              <a:t>String</a:t>
            </a:r>
            <a:r>
              <a:rPr lang="en-US" altLang="en-US" sz="2000" dirty="0" smtClean="0"/>
              <a:t> class</a:t>
            </a:r>
          </a:p>
          <a:p>
            <a:pPr lvl="1" eaLnBrk="1" hangingPunct="1"/>
            <a:r>
              <a:rPr lang="en-US" altLang="en-US" sz="2000" dirty="0" smtClean="0"/>
              <a:t>The </a:t>
            </a:r>
            <a:r>
              <a:rPr lang="en-US" altLang="en-US" sz="2000" dirty="0" err="1" smtClean="0">
                <a:latin typeface="Courier New" panose="02070309020205020404" pitchFamily="49" charset="0"/>
                <a:cs typeface="Courier New" panose="02070309020205020404" pitchFamily="49" charset="0"/>
              </a:rPr>
              <a:t>StringBuffer</a:t>
            </a:r>
            <a:r>
              <a:rPr lang="en-US" altLang="en-US" sz="2000" dirty="0" smtClean="0"/>
              <a:t> class is similar to a character array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dirty="0" smtClean="0">
                <a:solidFill>
                  <a:schemeClr val="tx1"/>
                </a:solidFill>
                <a:latin typeface="Arial" panose="020B0604020202020204" pitchFamily="34" charset="0"/>
              </a:rPr>
              <a:t>Copyright © 2023 Addison-Wesley. All rights reserved.</a:t>
            </a:r>
          </a:p>
        </p:txBody>
      </p:sp>
      <p:sp>
        <p:nvSpPr>
          <p:cNvPr id="2969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DA7E8867-12CC-4764-8817-7B5E92A0E461}" type="slidenum">
              <a:rPr lang="en-US" altLang="en-US" sz="1000" smtClean="0">
                <a:solidFill>
                  <a:schemeClr val="tx1"/>
                </a:solidFill>
                <a:latin typeface="Arial" panose="020B0604020202020204" pitchFamily="34" charset="0"/>
              </a:rPr>
              <a:pPr>
                <a:spcBef>
                  <a:spcPct val="0"/>
                </a:spcBef>
                <a:buFontTx/>
                <a:buNone/>
              </a:pPr>
              <a:t>13</a:t>
            </a:fld>
            <a:endParaRPr lang="en-US" altLang="en-US" sz="1000" smtClean="0">
              <a:solidFill>
                <a:schemeClr val="tx1"/>
              </a:solidFill>
              <a:latin typeface="Arial" panose="020B0604020202020204" pitchFamily="34" charset="0"/>
            </a:endParaRPr>
          </a:p>
        </p:txBody>
      </p:sp>
      <p:sp>
        <p:nvSpPr>
          <p:cNvPr id="29700" name="Rectangle 2"/>
          <p:cNvSpPr>
            <a:spLocks noGrp="1" noChangeArrowheads="1"/>
          </p:cNvSpPr>
          <p:nvPr>
            <p:ph type="title"/>
          </p:nvPr>
        </p:nvSpPr>
        <p:spPr/>
        <p:txBody>
          <a:bodyPr/>
          <a:lstStyle/>
          <a:p>
            <a:pPr eaLnBrk="1" hangingPunct="1"/>
            <a:r>
              <a:rPr lang="en-US" altLang="en-US" smtClean="0"/>
              <a:t>Character String Length Options</a:t>
            </a:r>
          </a:p>
        </p:txBody>
      </p:sp>
      <p:sp>
        <p:nvSpPr>
          <p:cNvPr id="29701" name="Rectangle 3"/>
          <p:cNvSpPr>
            <a:spLocks noGrp="1" noChangeArrowheads="1"/>
          </p:cNvSpPr>
          <p:nvPr>
            <p:ph type="body" idx="1"/>
          </p:nvPr>
        </p:nvSpPr>
        <p:spPr/>
        <p:txBody>
          <a:bodyPr/>
          <a:lstStyle/>
          <a:p>
            <a:pPr eaLnBrk="1" hangingPunct="1"/>
            <a:r>
              <a:rPr lang="en-US" altLang="en-US" sz="2400" u="sng" dirty="0" smtClean="0"/>
              <a:t>Static length strings</a:t>
            </a:r>
            <a:endParaRPr lang="en-US" altLang="en-US" sz="2400" dirty="0" smtClean="0"/>
          </a:p>
          <a:p>
            <a:pPr lvl="1" eaLnBrk="1" hangingPunct="1"/>
            <a:r>
              <a:rPr lang="en-US" altLang="en-US" sz="2000" dirty="0" smtClean="0"/>
              <a:t>COBOL, and Java’s </a:t>
            </a:r>
            <a:r>
              <a:rPr lang="en-US" altLang="en-US" sz="2000" dirty="0" smtClean="0">
                <a:latin typeface="Courier New" panose="02070309020205020404" pitchFamily="49" charset="0"/>
                <a:cs typeface="Courier New" panose="02070309020205020404" pitchFamily="49" charset="0"/>
              </a:rPr>
              <a:t>String</a:t>
            </a:r>
            <a:r>
              <a:rPr lang="en-US" altLang="en-US" sz="2000" dirty="0" smtClean="0"/>
              <a:t> class</a:t>
            </a:r>
            <a:endParaRPr lang="en-US" altLang="en-US" sz="2000" b="1" dirty="0" smtClean="0">
              <a:latin typeface="Courier New" panose="02070309020205020404" pitchFamily="49" charset="0"/>
            </a:endParaRPr>
          </a:p>
          <a:p>
            <a:pPr eaLnBrk="1" hangingPunct="1"/>
            <a:r>
              <a:rPr lang="en-US" altLang="en-US" sz="2400" u="sng" dirty="0" smtClean="0"/>
              <a:t>Limited dynamic length strings</a:t>
            </a:r>
            <a:endParaRPr lang="en-US" altLang="en-US" sz="2400" dirty="0" smtClean="0"/>
          </a:p>
          <a:p>
            <a:pPr lvl="1" eaLnBrk="1" hangingPunct="1"/>
            <a:r>
              <a:rPr lang="en-US" altLang="en-US" sz="2000" dirty="0" smtClean="0"/>
              <a:t>C and C++</a:t>
            </a:r>
          </a:p>
          <a:p>
            <a:pPr lvl="1" eaLnBrk="1" hangingPunct="1"/>
            <a:r>
              <a:rPr lang="en-US" altLang="en-US" sz="2000" dirty="0" smtClean="0"/>
              <a:t>Special character used to indicate the end of a string</a:t>
            </a:r>
          </a:p>
          <a:p>
            <a:pPr lvl="1" eaLnBrk="1" hangingPunct="1"/>
            <a:r>
              <a:rPr lang="en-US" altLang="en-US" sz="2000" dirty="0" smtClean="0"/>
              <a:t>Length is not maintained explicitly</a:t>
            </a:r>
          </a:p>
          <a:p>
            <a:pPr eaLnBrk="1" hangingPunct="1"/>
            <a:r>
              <a:rPr lang="en-US" altLang="en-US" sz="2400" u="sng" dirty="0" smtClean="0"/>
              <a:t>Dynamic length strings</a:t>
            </a:r>
            <a:endParaRPr lang="en-US" altLang="en-US" sz="2400" dirty="0" smtClean="0"/>
          </a:p>
          <a:p>
            <a:pPr lvl="1" eaLnBrk="1" hangingPunct="1"/>
            <a:r>
              <a:rPr lang="en-US" altLang="en-US" sz="2000" dirty="0" smtClean="0"/>
              <a:t>Variable length</a:t>
            </a:r>
          </a:p>
          <a:p>
            <a:pPr lvl="1" eaLnBrk="1" hangingPunct="1"/>
            <a:r>
              <a:rPr lang="en-US" altLang="en-US" sz="2000" dirty="0" smtClean="0"/>
              <a:t>No maximum length</a:t>
            </a:r>
          </a:p>
          <a:p>
            <a:pPr lvl="1" eaLnBrk="1" hangingPunct="1"/>
            <a:r>
              <a:rPr lang="en-US" altLang="en-US" sz="2000" dirty="0" smtClean="0"/>
              <a:t>Perl, JavaScript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p:cNvSpPr>
            <a:spLocks noGrp="1"/>
          </p:cNvSpPr>
          <p:nvPr>
            <p:ph type="ftr" sz="quarter" idx="10"/>
          </p:nvPr>
        </p:nvSpPr>
        <p:spPr/>
        <p:txBody>
          <a:bodyPr/>
          <a:lstStyle/>
          <a:p>
            <a:pPr>
              <a:defRPr/>
            </a:pPr>
            <a:r>
              <a:rPr lang="en-US" dirty="0"/>
              <a:t>Copyright © </a:t>
            </a:r>
            <a:r>
              <a:rPr lang="en-US" dirty="0" smtClean="0"/>
              <a:t>2023 </a:t>
            </a:r>
            <a:r>
              <a:rPr lang="en-US" dirty="0"/>
              <a:t>Addison-Wesley. All rights reserved.</a:t>
            </a:r>
          </a:p>
        </p:txBody>
      </p:sp>
      <p:sp>
        <p:nvSpPr>
          <p:cNvPr id="3993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85DA4789-F18E-42C2-88ED-A7920F832A95}" type="slidenum">
              <a:rPr lang="en-US" altLang="en-US" sz="1000" smtClean="0">
                <a:solidFill>
                  <a:schemeClr val="tx1"/>
                </a:solidFill>
                <a:latin typeface="Arial" panose="020B0604020202020204" pitchFamily="34" charset="0"/>
              </a:rPr>
              <a:pPr>
                <a:spcBef>
                  <a:spcPct val="0"/>
                </a:spcBef>
                <a:buFontTx/>
                <a:buNone/>
              </a:pPr>
              <a:t>14</a:t>
            </a:fld>
            <a:endParaRPr lang="en-US" altLang="en-US" sz="1000" smtClean="0">
              <a:solidFill>
                <a:schemeClr val="tx1"/>
              </a:solidFill>
              <a:latin typeface="Arial" panose="020B0604020202020204" pitchFamily="34" charset="0"/>
            </a:endParaRPr>
          </a:p>
        </p:txBody>
      </p:sp>
      <p:sp>
        <p:nvSpPr>
          <p:cNvPr id="39940" name="Rectangle 2"/>
          <p:cNvSpPr>
            <a:spLocks noGrp="1" noChangeArrowheads="1"/>
          </p:cNvSpPr>
          <p:nvPr>
            <p:ph type="title"/>
          </p:nvPr>
        </p:nvSpPr>
        <p:spPr/>
        <p:txBody>
          <a:bodyPr/>
          <a:lstStyle/>
          <a:p>
            <a:pPr eaLnBrk="1" hangingPunct="1"/>
            <a:r>
              <a:rPr lang="en-US" altLang="en-US" smtClean="0"/>
              <a:t>Array Types</a:t>
            </a:r>
          </a:p>
        </p:txBody>
      </p:sp>
      <p:sp>
        <p:nvSpPr>
          <p:cNvPr id="39941" name="Rectangle 3"/>
          <p:cNvSpPr>
            <a:spLocks noGrp="1" noChangeArrowheads="1"/>
          </p:cNvSpPr>
          <p:nvPr>
            <p:ph type="body" idx="1"/>
          </p:nvPr>
        </p:nvSpPr>
        <p:spPr/>
        <p:txBody>
          <a:bodyPr/>
          <a:lstStyle/>
          <a:p>
            <a:pPr eaLnBrk="1" hangingPunct="1"/>
            <a:r>
              <a:rPr lang="en-US" altLang="en-US" sz="2400" dirty="0" smtClean="0"/>
              <a:t>An array</a:t>
            </a:r>
          </a:p>
          <a:p>
            <a:pPr lvl="1" eaLnBrk="1" hangingPunct="1"/>
            <a:r>
              <a:rPr lang="en-US" altLang="en-US" sz="2000" dirty="0" smtClean="0"/>
              <a:t>An aggregate of homogeneous data elements</a:t>
            </a:r>
          </a:p>
          <a:p>
            <a:pPr lvl="1" eaLnBrk="1" hangingPunct="1"/>
            <a:r>
              <a:rPr lang="en-US" altLang="en-US" sz="2000" dirty="0" smtClean="0"/>
              <a:t>An individual element is identified by its position, relative to the first element</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Footer Placeholder 3"/>
          <p:cNvSpPr>
            <a:spLocks noGrp="1"/>
          </p:cNvSpPr>
          <p:nvPr>
            <p:ph type="ftr" sz="quarter" idx="10"/>
          </p:nvPr>
        </p:nvSpPr>
        <p:spPr/>
        <p:txBody>
          <a:bodyPr/>
          <a:lstStyle/>
          <a:p>
            <a:pPr>
              <a:defRPr/>
            </a:pPr>
            <a:r>
              <a:rPr lang="en-US" dirty="0"/>
              <a:t>Copyright © </a:t>
            </a:r>
            <a:r>
              <a:rPr lang="en-US" dirty="0" smtClean="0"/>
              <a:t>2023 </a:t>
            </a:r>
            <a:r>
              <a:rPr lang="en-US" dirty="0"/>
              <a:t>Addison-Wesley. All rights reserved.</a:t>
            </a:r>
          </a:p>
        </p:txBody>
      </p:sp>
      <p:sp>
        <p:nvSpPr>
          <p:cNvPr id="3993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85DA4789-F18E-42C2-88ED-A7920F832A95}" type="slidenum">
              <a:rPr lang="en-US" altLang="en-US" sz="1000" smtClean="0">
                <a:solidFill>
                  <a:schemeClr val="tx1"/>
                </a:solidFill>
                <a:latin typeface="Arial" panose="020B0604020202020204" pitchFamily="34" charset="0"/>
              </a:rPr>
              <a:pPr>
                <a:spcBef>
                  <a:spcPct val="0"/>
                </a:spcBef>
                <a:buFontTx/>
                <a:buNone/>
              </a:pPr>
              <a:t>15</a:t>
            </a:fld>
            <a:endParaRPr lang="en-US" altLang="en-US" sz="1000" smtClean="0">
              <a:solidFill>
                <a:schemeClr val="tx1"/>
              </a:solidFill>
              <a:latin typeface="Arial" panose="020B0604020202020204" pitchFamily="34" charset="0"/>
            </a:endParaRPr>
          </a:p>
        </p:txBody>
      </p:sp>
      <p:sp>
        <p:nvSpPr>
          <p:cNvPr id="39940" name="Rectangle 2"/>
          <p:cNvSpPr>
            <a:spLocks noGrp="1" noChangeArrowheads="1"/>
          </p:cNvSpPr>
          <p:nvPr>
            <p:ph type="title"/>
          </p:nvPr>
        </p:nvSpPr>
        <p:spPr/>
        <p:txBody>
          <a:bodyPr/>
          <a:lstStyle/>
          <a:p>
            <a:pPr eaLnBrk="1" hangingPunct="1"/>
            <a:r>
              <a:rPr lang="en-US" altLang="en-US" dirty="0" smtClean="0"/>
              <a:t>Array Design Issues</a:t>
            </a:r>
          </a:p>
        </p:txBody>
      </p:sp>
      <p:sp>
        <p:nvSpPr>
          <p:cNvPr id="39941" name="Rectangle 3"/>
          <p:cNvSpPr>
            <a:spLocks noGrp="1" noChangeArrowheads="1"/>
          </p:cNvSpPr>
          <p:nvPr>
            <p:ph type="body" idx="1"/>
          </p:nvPr>
        </p:nvSpPr>
        <p:spPr/>
        <p:txBody>
          <a:bodyPr/>
          <a:lstStyle/>
          <a:p>
            <a:pPr eaLnBrk="1" hangingPunct="1"/>
            <a:r>
              <a:rPr lang="en-US" altLang="en-US" sz="2400" dirty="0" smtClean="0"/>
              <a:t>What types are legal for subscripts?</a:t>
            </a:r>
          </a:p>
          <a:p>
            <a:pPr eaLnBrk="1" hangingPunct="1"/>
            <a:r>
              <a:rPr lang="en-US" altLang="en-US" sz="2400" dirty="0" smtClean="0"/>
              <a:t>Are subscripting expressions in element</a:t>
            </a:r>
            <a:br>
              <a:rPr lang="en-US" altLang="en-US" sz="2400" dirty="0" smtClean="0"/>
            </a:br>
            <a:r>
              <a:rPr lang="en-US" altLang="en-US" sz="2400" dirty="0" smtClean="0"/>
              <a:t>references range checked?</a:t>
            </a:r>
          </a:p>
          <a:p>
            <a:pPr eaLnBrk="1" hangingPunct="1"/>
            <a:r>
              <a:rPr lang="en-US" altLang="en-US" sz="2400" dirty="0" smtClean="0"/>
              <a:t>When are subscript ranges bound?</a:t>
            </a:r>
          </a:p>
          <a:p>
            <a:pPr eaLnBrk="1" hangingPunct="1"/>
            <a:r>
              <a:rPr lang="en-US" altLang="en-US" sz="2400" dirty="0" smtClean="0"/>
              <a:t>When does allocation take place?</a:t>
            </a:r>
          </a:p>
          <a:p>
            <a:pPr eaLnBrk="1" hangingPunct="1"/>
            <a:r>
              <a:rPr lang="en-US" altLang="en-US" sz="2400" dirty="0" smtClean="0"/>
              <a:t>What is the maximum number of subscripts?</a:t>
            </a:r>
          </a:p>
          <a:p>
            <a:pPr eaLnBrk="1" hangingPunct="1"/>
            <a:r>
              <a:rPr lang="en-US" altLang="en-US" sz="2400" dirty="0" smtClean="0"/>
              <a:t>Are ragged and/or rectangular arrays allowed?</a:t>
            </a:r>
          </a:p>
          <a:p>
            <a:pPr eaLnBrk="1" hangingPunct="1"/>
            <a:r>
              <a:rPr lang="en-US" altLang="en-US" sz="2400" dirty="0" smtClean="0"/>
              <a:t>Can array objects be initialized?</a:t>
            </a:r>
          </a:p>
          <a:p>
            <a:pPr eaLnBrk="1" hangingPunct="1"/>
            <a:r>
              <a:rPr lang="en-US" altLang="en-US" sz="2400" dirty="0" smtClean="0"/>
              <a:t>Are any kind of slices supported?</a:t>
            </a:r>
          </a:p>
        </p:txBody>
      </p:sp>
    </p:spTree>
    <p:extLst>
      <p:ext uri="{BB962C8B-B14F-4D97-AF65-F5344CB8AC3E}">
        <p14:creationId xmlns:p14="http://schemas.microsoft.com/office/powerpoint/2010/main" val="419079784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Footer Placeholder 3"/>
          <p:cNvSpPr>
            <a:spLocks noGrp="1"/>
          </p:cNvSpPr>
          <p:nvPr>
            <p:ph type="ftr" sz="quarter" idx="10"/>
          </p:nvPr>
        </p:nvSpPr>
        <p:spPr/>
        <p:txBody>
          <a:bodyPr/>
          <a:lstStyle/>
          <a:p>
            <a:pPr>
              <a:defRPr/>
            </a:pPr>
            <a:r>
              <a:rPr lang="en-US" dirty="0"/>
              <a:t>Copyright © </a:t>
            </a:r>
            <a:r>
              <a:rPr lang="en-US" dirty="0" smtClean="0"/>
              <a:t>2023 </a:t>
            </a:r>
            <a:r>
              <a:rPr lang="en-US" dirty="0"/>
              <a:t>Addison-Wesley. All rights reserved.</a:t>
            </a:r>
          </a:p>
        </p:txBody>
      </p:sp>
      <p:sp>
        <p:nvSpPr>
          <p:cNvPr id="4403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C087BA67-C17D-44F7-AE6D-37C8FA81A987}" type="slidenum">
              <a:rPr lang="en-US" altLang="en-US" sz="1000" smtClean="0">
                <a:solidFill>
                  <a:schemeClr val="tx1"/>
                </a:solidFill>
                <a:latin typeface="Arial" panose="020B0604020202020204" pitchFamily="34" charset="0"/>
              </a:rPr>
              <a:pPr>
                <a:spcBef>
                  <a:spcPct val="0"/>
                </a:spcBef>
                <a:buFontTx/>
                <a:buNone/>
              </a:pPr>
              <a:t>16</a:t>
            </a:fld>
            <a:endParaRPr lang="en-US" altLang="en-US" sz="1000" smtClean="0">
              <a:solidFill>
                <a:schemeClr val="tx1"/>
              </a:solidFill>
              <a:latin typeface="Arial" panose="020B0604020202020204" pitchFamily="34" charset="0"/>
            </a:endParaRPr>
          </a:p>
        </p:txBody>
      </p:sp>
      <p:sp>
        <p:nvSpPr>
          <p:cNvPr id="44036" name="Rectangle 2"/>
          <p:cNvSpPr>
            <a:spLocks noGrp="1" noChangeArrowheads="1"/>
          </p:cNvSpPr>
          <p:nvPr>
            <p:ph type="title"/>
          </p:nvPr>
        </p:nvSpPr>
        <p:spPr/>
        <p:txBody>
          <a:bodyPr/>
          <a:lstStyle/>
          <a:p>
            <a:pPr eaLnBrk="1" hangingPunct="1"/>
            <a:r>
              <a:rPr lang="en-US" altLang="en-US" smtClean="0"/>
              <a:t>Array Indexing</a:t>
            </a:r>
          </a:p>
        </p:txBody>
      </p:sp>
      <p:sp>
        <p:nvSpPr>
          <p:cNvPr id="44037" name="Rectangle 3"/>
          <p:cNvSpPr>
            <a:spLocks noGrp="1" noChangeArrowheads="1"/>
          </p:cNvSpPr>
          <p:nvPr>
            <p:ph type="body" idx="1"/>
          </p:nvPr>
        </p:nvSpPr>
        <p:spPr/>
        <p:txBody>
          <a:bodyPr/>
          <a:lstStyle/>
          <a:p>
            <a:pPr eaLnBrk="1" hangingPunct="1"/>
            <a:r>
              <a:rPr lang="en-US" altLang="en-US" sz="2400" u="sng" dirty="0" smtClean="0"/>
              <a:t>Indexing</a:t>
            </a:r>
            <a:r>
              <a:rPr lang="en-US" altLang="en-US" sz="2400" dirty="0" smtClean="0"/>
              <a:t> (also called subscripting)</a:t>
            </a:r>
          </a:p>
          <a:p>
            <a:pPr lvl="1" eaLnBrk="1" hangingPunct="1"/>
            <a:r>
              <a:rPr lang="en-US" altLang="en-US" sz="2000" dirty="0" smtClean="0"/>
              <a:t>A mapping from indices to elements</a:t>
            </a:r>
          </a:p>
          <a:p>
            <a:pPr eaLnBrk="1" hangingPunct="1"/>
            <a:r>
              <a:rPr lang="en-US" altLang="en-US" sz="2400" dirty="0" smtClean="0"/>
              <a:t>Index Syntax</a:t>
            </a:r>
          </a:p>
          <a:p>
            <a:pPr lvl="1" eaLnBrk="1" hangingPunct="1"/>
            <a:r>
              <a:rPr lang="en-US" altLang="en-US" sz="2000" dirty="0" smtClean="0"/>
              <a:t>FORTRAN, PL/I, and Ada use parentheses</a:t>
            </a:r>
          </a:p>
          <a:p>
            <a:pPr lvl="2" eaLnBrk="1" hangingPunct="1"/>
            <a:r>
              <a:rPr lang="en-US" altLang="en-US" sz="2000" dirty="0" smtClean="0"/>
              <a:t>Ada uses parentheses for uniformity between array references and function calls (both are </a:t>
            </a:r>
            <a:r>
              <a:rPr lang="en-US" altLang="en-US" sz="2000" u="sng" dirty="0" smtClean="0"/>
              <a:t>mappings</a:t>
            </a:r>
            <a:r>
              <a:rPr lang="en-US" altLang="en-US" sz="2000" dirty="0" smtClean="0"/>
              <a:t>)</a:t>
            </a:r>
            <a:endParaRPr lang="en-US" altLang="en-US" sz="2000" u="sng" dirty="0" smtClean="0"/>
          </a:p>
          <a:p>
            <a:pPr lvl="1" eaLnBrk="1" hangingPunct="1"/>
            <a:r>
              <a:rPr lang="en-US" altLang="en-US" sz="2000" dirty="0" smtClean="0"/>
              <a:t>Most other languages use brackets</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Footer Placeholder 3"/>
          <p:cNvSpPr>
            <a:spLocks noGrp="1"/>
          </p:cNvSpPr>
          <p:nvPr>
            <p:ph type="ftr" sz="quarter" idx="10"/>
          </p:nvPr>
        </p:nvSpPr>
        <p:spPr/>
        <p:txBody>
          <a:bodyPr/>
          <a:lstStyle/>
          <a:p>
            <a:pPr>
              <a:defRPr/>
            </a:pPr>
            <a:r>
              <a:rPr lang="en-US" dirty="0"/>
              <a:t>Copyright © </a:t>
            </a:r>
            <a:r>
              <a:rPr lang="en-US" dirty="0" smtClean="0"/>
              <a:t>2023 </a:t>
            </a:r>
            <a:r>
              <a:rPr lang="en-US" dirty="0"/>
              <a:t>Addison-Wesley. All rights reserved.</a:t>
            </a:r>
          </a:p>
        </p:txBody>
      </p:sp>
      <p:sp>
        <p:nvSpPr>
          <p:cNvPr id="4608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5D58AA1-7047-4517-A8FE-9F1CFD03CEBB}" type="slidenum">
              <a:rPr lang="en-US" altLang="en-US" sz="1000" smtClean="0">
                <a:solidFill>
                  <a:schemeClr val="tx1"/>
                </a:solidFill>
                <a:latin typeface="Arial" panose="020B0604020202020204" pitchFamily="34" charset="0"/>
              </a:rPr>
              <a:pPr>
                <a:spcBef>
                  <a:spcPct val="0"/>
                </a:spcBef>
                <a:buFontTx/>
                <a:buNone/>
              </a:pPr>
              <a:t>17</a:t>
            </a:fld>
            <a:endParaRPr lang="en-US" altLang="en-US" sz="1000" smtClean="0">
              <a:solidFill>
                <a:schemeClr val="tx1"/>
              </a:solidFill>
              <a:latin typeface="Arial" panose="020B0604020202020204" pitchFamily="34" charset="0"/>
            </a:endParaRPr>
          </a:p>
        </p:txBody>
      </p:sp>
      <p:sp>
        <p:nvSpPr>
          <p:cNvPr id="46084" name="Rectangle 2"/>
          <p:cNvSpPr>
            <a:spLocks noGrp="1" noChangeArrowheads="1"/>
          </p:cNvSpPr>
          <p:nvPr>
            <p:ph type="title"/>
          </p:nvPr>
        </p:nvSpPr>
        <p:spPr/>
        <p:txBody>
          <a:bodyPr/>
          <a:lstStyle/>
          <a:p>
            <a:pPr eaLnBrk="1" hangingPunct="1"/>
            <a:r>
              <a:rPr lang="en-US" altLang="en-US" dirty="0" smtClean="0"/>
              <a:t>Array Index Range Checking</a:t>
            </a:r>
          </a:p>
        </p:txBody>
      </p:sp>
      <p:sp>
        <p:nvSpPr>
          <p:cNvPr id="46085" name="Rectangle 3"/>
          <p:cNvSpPr>
            <a:spLocks noGrp="1" noChangeArrowheads="1"/>
          </p:cNvSpPr>
          <p:nvPr>
            <p:ph type="body" idx="1"/>
          </p:nvPr>
        </p:nvSpPr>
        <p:spPr/>
        <p:txBody>
          <a:bodyPr/>
          <a:lstStyle/>
          <a:p>
            <a:pPr eaLnBrk="1" hangingPunct="1"/>
            <a:r>
              <a:rPr lang="en-US" altLang="en-US" sz="2400" dirty="0" smtClean="0"/>
              <a:t>C, C++, Perl, and Fortran</a:t>
            </a:r>
          </a:p>
          <a:p>
            <a:pPr lvl="1" eaLnBrk="1" hangingPunct="1"/>
            <a:r>
              <a:rPr lang="en-US" altLang="en-US" sz="2000" dirty="0" smtClean="0"/>
              <a:t>No index range checking</a:t>
            </a:r>
          </a:p>
          <a:p>
            <a:pPr lvl="1" eaLnBrk="1" hangingPunct="1"/>
            <a:r>
              <a:rPr lang="en-US" altLang="en-US" sz="2000" dirty="0" smtClean="0"/>
              <a:t>Advantage and drawback?</a:t>
            </a:r>
          </a:p>
          <a:p>
            <a:pPr eaLnBrk="1" hangingPunct="1"/>
            <a:r>
              <a:rPr lang="en-US" altLang="en-US" sz="2400" dirty="0" smtClean="0"/>
              <a:t>Java, ML, and C#</a:t>
            </a:r>
          </a:p>
          <a:p>
            <a:pPr lvl="1" eaLnBrk="1" hangingPunct="1"/>
            <a:r>
              <a:rPr lang="en-US" altLang="en-US" sz="2000" dirty="0" smtClean="0"/>
              <a:t>Have index range checking</a:t>
            </a:r>
          </a:p>
          <a:p>
            <a:pPr lvl="1" eaLnBrk="1" hangingPunct="1"/>
            <a:r>
              <a:rPr lang="en-US" altLang="en-US" sz="2000" dirty="0" smtClean="0"/>
              <a:t>Advantage and drawback?</a:t>
            </a:r>
          </a:p>
        </p:txBody>
      </p:sp>
    </p:spTree>
    <p:extLst>
      <p:ext uri="{BB962C8B-B14F-4D97-AF65-F5344CB8AC3E}">
        <p14:creationId xmlns:p14="http://schemas.microsoft.com/office/powerpoint/2010/main" val="42674271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Footer Placeholder 3"/>
          <p:cNvSpPr>
            <a:spLocks noGrp="1"/>
          </p:cNvSpPr>
          <p:nvPr>
            <p:ph type="ftr" sz="quarter" idx="10"/>
          </p:nvPr>
        </p:nvSpPr>
        <p:spPr/>
        <p:txBody>
          <a:bodyPr/>
          <a:lstStyle/>
          <a:p>
            <a:pPr>
              <a:defRPr/>
            </a:pPr>
            <a:r>
              <a:rPr lang="en-US" dirty="0"/>
              <a:t>Copyright © </a:t>
            </a:r>
            <a:r>
              <a:rPr lang="en-US" dirty="0" smtClean="0"/>
              <a:t>2023 </a:t>
            </a:r>
            <a:r>
              <a:rPr lang="en-US" dirty="0"/>
              <a:t>Addison-Wesley. All rights reserved.</a:t>
            </a:r>
          </a:p>
        </p:txBody>
      </p:sp>
      <p:sp>
        <p:nvSpPr>
          <p:cNvPr id="4813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1224318B-9380-4ED3-9319-89DB0839EBF8}" type="slidenum">
              <a:rPr lang="en-US" altLang="en-US" sz="1000" smtClean="0">
                <a:solidFill>
                  <a:schemeClr val="tx1"/>
                </a:solidFill>
                <a:latin typeface="Arial" panose="020B0604020202020204" pitchFamily="34" charset="0"/>
              </a:rPr>
              <a:pPr>
                <a:spcBef>
                  <a:spcPct val="0"/>
                </a:spcBef>
                <a:buFontTx/>
                <a:buNone/>
              </a:pPr>
              <a:t>18</a:t>
            </a:fld>
            <a:endParaRPr lang="en-US" altLang="en-US" sz="1000" smtClean="0">
              <a:solidFill>
                <a:schemeClr val="tx1"/>
              </a:solidFill>
              <a:latin typeface="Arial" panose="020B0604020202020204" pitchFamily="34" charset="0"/>
            </a:endParaRPr>
          </a:p>
        </p:txBody>
      </p:sp>
      <p:sp>
        <p:nvSpPr>
          <p:cNvPr id="48132" name="Rectangle 2"/>
          <p:cNvSpPr>
            <a:spLocks noGrp="1" noChangeArrowheads="1"/>
          </p:cNvSpPr>
          <p:nvPr>
            <p:ph type="title"/>
          </p:nvPr>
        </p:nvSpPr>
        <p:spPr/>
        <p:txBody>
          <a:bodyPr/>
          <a:lstStyle/>
          <a:p>
            <a:pPr eaLnBrk="1" hangingPunct="1"/>
            <a:r>
              <a:rPr lang="en-US" altLang="en-US" sz="3200" dirty="0" smtClean="0"/>
              <a:t>Subscript Binding and Storage Binding</a:t>
            </a:r>
          </a:p>
        </p:txBody>
      </p:sp>
      <p:sp>
        <p:nvSpPr>
          <p:cNvPr id="48133" name="Rectangle 3"/>
          <p:cNvSpPr>
            <a:spLocks noGrp="1" noChangeArrowheads="1"/>
          </p:cNvSpPr>
          <p:nvPr>
            <p:ph type="body" idx="1"/>
          </p:nvPr>
        </p:nvSpPr>
        <p:spPr>
          <a:xfrm>
            <a:off x="609600" y="1600200"/>
            <a:ext cx="8305800" cy="4572000"/>
          </a:xfrm>
        </p:spPr>
        <p:txBody>
          <a:bodyPr/>
          <a:lstStyle/>
          <a:p>
            <a:pPr eaLnBrk="1" hangingPunct="1"/>
            <a:r>
              <a:rPr lang="en-US" altLang="en-US" sz="2400" u="sng" dirty="0" smtClean="0"/>
              <a:t>Static</a:t>
            </a:r>
            <a:endParaRPr lang="en-US" altLang="en-US" sz="2400" dirty="0" smtClean="0"/>
          </a:p>
          <a:p>
            <a:pPr lvl="1" eaLnBrk="1" hangingPunct="1"/>
            <a:r>
              <a:rPr lang="en-US" altLang="en-US" sz="2000" dirty="0" smtClean="0"/>
              <a:t>A static local variable that is an array</a:t>
            </a:r>
          </a:p>
          <a:p>
            <a:pPr lvl="1" eaLnBrk="1" hangingPunct="1"/>
            <a:r>
              <a:rPr lang="en-US" altLang="en-US" sz="2000" dirty="0" smtClean="0"/>
              <a:t>Subscript range statically bound (length must be </a:t>
            </a:r>
            <a:r>
              <a:rPr lang="en-US" altLang="en-US" sz="2000" u="sng" dirty="0" smtClean="0"/>
              <a:t>constant</a:t>
            </a:r>
            <a:r>
              <a:rPr lang="en-US" altLang="en-US" sz="2000" dirty="0" smtClean="0"/>
              <a:t>)</a:t>
            </a:r>
          </a:p>
          <a:p>
            <a:pPr lvl="1" eaLnBrk="1" hangingPunct="1"/>
            <a:r>
              <a:rPr lang="en-US" altLang="en-US" sz="2000" dirty="0" smtClean="0"/>
              <a:t>Storage allocation also static</a:t>
            </a:r>
          </a:p>
          <a:p>
            <a:pPr lvl="1" eaLnBrk="1" hangingPunct="1"/>
            <a:r>
              <a:rPr lang="en-US" altLang="en-US" sz="2000" dirty="0" smtClean="0"/>
              <a:t>Advantage</a:t>
            </a:r>
          </a:p>
          <a:p>
            <a:pPr lvl="2" eaLnBrk="1" hangingPunct="1"/>
            <a:r>
              <a:rPr lang="en-US" altLang="en-US" sz="2000" dirty="0" smtClean="0"/>
              <a:t>Efficient execution (no dynamic allocation)</a:t>
            </a:r>
          </a:p>
          <a:p>
            <a:pPr eaLnBrk="1" hangingPunct="1"/>
            <a:r>
              <a:rPr lang="en-US" altLang="en-US" sz="2400" u="sng" dirty="0" smtClean="0"/>
              <a:t>Fixed stack-dynamic</a:t>
            </a:r>
            <a:endParaRPr lang="en-US" altLang="en-US" sz="2400" dirty="0" smtClean="0"/>
          </a:p>
          <a:p>
            <a:pPr lvl="1" eaLnBrk="1" hangingPunct="1"/>
            <a:r>
              <a:rPr lang="en-US" altLang="en-US" sz="2000" dirty="0" smtClean="0"/>
              <a:t>Subscript range statically bound (length must be </a:t>
            </a:r>
            <a:r>
              <a:rPr lang="en-US" altLang="en-US" sz="2000" u="sng" dirty="0" smtClean="0"/>
              <a:t>constant</a:t>
            </a:r>
            <a:r>
              <a:rPr lang="en-US" altLang="en-US" sz="2000" dirty="0" smtClean="0"/>
              <a:t>)</a:t>
            </a:r>
          </a:p>
          <a:p>
            <a:pPr lvl="1" eaLnBrk="1" hangingPunct="1"/>
            <a:r>
              <a:rPr lang="en-US" altLang="en-US" sz="2000" dirty="0" smtClean="0"/>
              <a:t>Allocation at declaration elaboration time, with deallocation usually at the end of the array’s scope</a:t>
            </a:r>
          </a:p>
          <a:p>
            <a:pPr lvl="1" eaLnBrk="1" hangingPunct="1"/>
            <a:r>
              <a:rPr lang="en-US" altLang="en-US" sz="2000" dirty="0" smtClean="0"/>
              <a:t>Advantage</a:t>
            </a:r>
          </a:p>
          <a:p>
            <a:pPr lvl="2" eaLnBrk="1" hangingPunct="1"/>
            <a:r>
              <a:rPr lang="en-US" altLang="en-US" sz="2000" dirty="0" smtClean="0"/>
              <a:t>Space efficiency (why?)</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Footer Placeholder 3"/>
          <p:cNvSpPr>
            <a:spLocks noGrp="1"/>
          </p:cNvSpPr>
          <p:nvPr>
            <p:ph type="ftr" sz="quarter" idx="10"/>
          </p:nvPr>
        </p:nvSpPr>
        <p:spPr/>
        <p:txBody>
          <a:bodyPr/>
          <a:lstStyle/>
          <a:p>
            <a:pPr>
              <a:defRPr/>
            </a:pPr>
            <a:r>
              <a:rPr lang="en-US" dirty="0"/>
              <a:t>Copyright © </a:t>
            </a:r>
            <a:r>
              <a:rPr lang="en-US" dirty="0" smtClean="0"/>
              <a:t>2023 </a:t>
            </a:r>
            <a:r>
              <a:rPr lang="en-US" dirty="0"/>
              <a:t>Addison-Wesley. All rights reserved.</a:t>
            </a:r>
          </a:p>
        </p:txBody>
      </p:sp>
      <p:sp>
        <p:nvSpPr>
          <p:cNvPr id="5017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F07BEB6-429D-497E-BB14-0B8E962C261D}" type="slidenum">
              <a:rPr lang="en-US" altLang="en-US" sz="1000" smtClean="0">
                <a:solidFill>
                  <a:schemeClr val="tx1"/>
                </a:solidFill>
                <a:latin typeface="Arial" panose="020B0604020202020204" pitchFamily="34" charset="0"/>
              </a:rPr>
              <a:pPr>
                <a:spcBef>
                  <a:spcPct val="0"/>
                </a:spcBef>
                <a:buFontTx/>
                <a:buNone/>
              </a:pPr>
              <a:t>19</a:t>
            </a:fld>
            <a:endParaRPr lang="en-US" altLang="en-US" sz="1000" smtClean="0">
              <a:solidFill>
                <a:schemeClr val="tx1"/>
              </a:solidFill>
              <a:latin typeface="Arial" panose="020B0604020202020204" pitchFamily="34" charset="0"/>
            </a:endParaRPr>
          </a:p>
        </p:txBody>
      </p:sp>
      <p:sp>
        <p:nvSpPr>
          <p:cNvPr id="50181" name="Rectangle 3"/>
          <p:cNvSpPr>
            <a:spLocks noGrp="1" noChangeArrowheads="1"/>
          </p:cNvSpPr>
          <p:nvPr>
            <p:ph type="body" idx="1"/>
          </p:nvPr>
        </p:nvSpPr>
        <p:spPr>
          <a:xfrm>
            <a:off x="609600" y="1600200"/>
            <a:ext cx="8382000" cy="4572000"/>
          </a:xfrm>
        </p:spPr>
        <p:txBody>
          <a:bodyPr/>
          <a:lstStyle/>
          <a:p>
            <a:pPr eaLnBrk="1" hangingPunct="1"/>
            <a:r>
              <a:rPr lang="en-US" altLang="en-US" sz="2400" u="sng" dirty="0" smtClean="0"/>
              <a:t>Stack-dynamic</a:t>
            </a:r>
            <a:endParaRPr lang="en-US" altLang="en-US" sz="2400" dirty="0" smtClean="0"/>
          </a:p>
          <a:p>
            <a:pPr lvl="1" eaLnBrk="1" hangingPunct="1"/>
            <a:r>
              <a:rPr lang="en-US" altLang="en-US" sz="2000" dirty="0" smtClean="0"/>
              <a:t>Subscript range dynamically bound (length can be </a:t>
            </a:r>
            <a:r>
              <a:rPr lang="en-US" altLang="en-US" sz="2000" u="sng" dirty="0" smtClean="0"/>
              <a:t>variable</a:t>
            </a:r>
            <a:r>
              <a:rPr lang="en-US" altLang="en-US" sz="2000" dirty="0" smtClean="0"/>
              <a:t>)</a:t>
            </a:r>
          </a:p>
          <a:p>
            <a:pPr lvl="1" eaLnBrk="1" hangingPunct="1"/>
            <a:r>
              <a:rPr lang="en-US" altLang="en-US" sz="2000" dirty="0" smtClean="0"/>
              <a:t>Storage also dynamically bound</a:t>
            </a:r>
          </a:p>
          <a:p>
            <a:pPr lvl="1" eaLnBrk="1" hangingPunct="1"/>
            <a:r>
              <a:rPr lang="en-US" altLang="en-US" sz="2000" dirty="0" smtClean="0"/>
              <a:t>Both subscript range and storage fixed after initial binding</a:t>
            </a:r>
          </a:p>
          <a:p>
            <a:pPr lvl="1" eaLnBrk="1" hangingPunct="1"/>
            <a:r>
              <a:rPr lang="en-US" altLang="en-US" sz="2000" dirty="0" smtClean="0"/>
              <a:t>Advantage</a:t>
            </a:r>
          </a:p>
          <a:p>
            <a:pPr lvl="2" eaLnBrk="1" hangingPunct="1"/>
            <a:r>
              <a:rPr lang="en-US" altLang="en-US" sz="2000" dirty="0" smtClean="0"/>
              <a:t>Flexibility (array size need not be known until used)</a:t>
            </a:r>
          </a:p>
          <a:p>
            <a:pPr eaLnBrk="1" hangingPunct="1"/>
            <a:r>
              <a:rPr lang="en-US" altLang="en-US" sz="2400" u="sng" dirty="0" smtClean="0"/>
              <a:t>Fixed heap-dynamic</a:t>
            </a:r>
            <a:endParaRPr lang="en-US" altLang="en-US" sz="2400" dirty="0" smtClean="0"/>
          </a:p>
          <a:p>
            <a:pPr lvl="1" eaLnBrk="1" hangingPunct="1"/>
            <a:r>
              <a:rPr lang="en-US" altLang="en-US" sz="2000" dirty="0" smtClean="0"/>
              <a:t>Subscript range and storage binding are dynamic</a:t>
            </a:r>
          </a:p>
          <a:p>
            <a:pPr lvl="1" eaLnBrk="1" hangingPunct="1"/>
            <a:r>
              <a:rPr lang="en-US" altLang="en-US" sz="2000" dirty="0" smtClean="0"/>
              <a:t>Both are fixed after allocation</a:t>
            </a:r>
          </a:p>
          <a:p>
            <a:pPr lvl="1" eaLnBrk="1" hangingPunct="1"/>
            <a:r>
              <a:rPr lang="en-US" altLang="en-US" sz="2000" dirty="0" smtClean="0"/>
              <a:t>Binding is done when requested (e.g. with </a:t>
            </a:r>
            <a:r>
              <a:rPr lang="en-US" altLang="en-US" sz="2000" b="1" dirty="0" smtClean="0">
                <a:latin typeface="Courier New" panose="02070309020205020404" pitchFamily="49" charset="0"/>
                <a:cs typeface="Courier New" panose="02070309020205020404" pitchFamily="49" charset="0"/>
              </a:rPr>
              <a:t>new</a:t>
            </a:r>
            <a:r>
              <a:rPr lang="en-US" altLang="en-US" sz="2000" dirty="0" smtClean="0"/>
              <a:t> and </a:t>
            </a:r>
            <a:r>
              <a:rPr lang="en-US" altLang="en-US" sz="2000" b="1" dirty="0" smtClean="0">
                <a:latin typeface="Courier New" panose="02070309020205020404" pitchFamily="49" charset="0"/>
                <a:cs typeface="Courier New" panose="02070309020205020404" pitchFamily="49" charset="0"/>
              </a:rPr>
              <a:t>delete</a:t>
            </a:r>
            <a:r>
              <a:rPr lang="en-US" altLang="en-US" sz="2000" dirty="0" smtClean="0"/>
              <a:t>)</a:t>
            </a:r>
          </a:p>
          <a:p>
            <a:pPr lvl="1" eaLnBrk="1" hangingPunct="1"/>
            <a:r>
              <a:rPr lang="en-US" altLang="en-US" sz="2000" dirty="0" smtClean="0"/>
              <a:t>For example, dynamic arrays in C++</a:t>
            </a:r>
          </a:p>
          <a:p>
            <a:pPr marL="457200" lvl="1" indent="0" eaLnBrk="1" hangingPunct="1">
              <a:buNone/>
            </a:pPr>
            <a:r>
              <a:rPr lang="en-US" altLang="en-US" sz="1800" dirty="0">
                <a:solidFill>
                  <a:srgbClr val="666699"/>
                </a:solidFill>
                <a:latin typeface="Courier New" panose="02070309020205020404" pitchFamily="49" charset="0"/>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 </a:t>
            </a:r>
            <a:r>
              <a:rPr lang="en-US" altLang="en-US" sz="1800" b="1" dirty="0" err="1" smtClean="0">
                <a:solidFill>
                  <a:srgbClr val="666699"/>
                </a:solidFill>
                <a:latin typeface="Courier New" panose="02070309020205020404" pitchFamily="49" charset="0"/>
                <a:cs typeface="Courier New" panose="02070309020205020404" pitchFamily="49" charset="0"/>
              </a:rPr>
              <a:t>int</a:t>
            </a:r>
            <a:r>
              <a:rPr lang="en-US" altLang="en-US" sz="1800" b="1" dirty="0" smtClean="0">
                <a:solidFill>
                  <a:srgbClr val="666699"/>
                </a:solidFill>
                <a:latin typeface="Courier New" panose="02070309020205020404" pitchFamily="49" charset="0"/>
                <a:cs typeface="Courier New" panose="02070309020205020404" pitchFamily="49" charset="0"/>
              </a:rPr>
              <a:t> </a:t>
            </a:r>
            <a:r>
              <a:rPr lang="en-US" altLang="en-US" sz="1800" dirty="0" smtClean="0">
                <a:solidFill>
                  <a:srgbClr val="666699"/>
                </a:solidFill>
                <a:latin typeface="Courier New" panose="02070309020205020404" pitchFamily="49" charset="0"/>
                <a:cs typeface="Courier New" panose="02070309020205020404" pitchFamily="49" charset="0"/>
              </a:rPr>
              <a:t>*p = </a:t>
            </a:r>
            <a:r>
              <a:rPr lang="en-US" altLang="en-US" sz="1800" b="1" dirty="0" smtClean="0">
                <a:solidFill>
                  <a:srgbClr val="666699"/>
                </a:solidFill>
                <a:latin typeface="Courier New" panose="02070309020205020404" pitchFamily="49" charset="0"/>
                <a:cs typeface="Courier New" panose="02070309020205020404" pitchFamily="49" charset="0"/>
              </a:rPr>
              <a:t>new </a:t>
            </a:r>
            <a:r>
              <a:rPr lang="en-US" altLang="en-US" sz="1800" b="1" dirty="0" err="1" smtClean="0">
                <a:solidFill>
                  <a:srgbClr val="666699"/>
                </a:solidFill>
                <a:latin typeface="Courier New" panose="02070309020205020404" pitchFamily="49" charset="0"/>
                <a:cs typeface="Courier New" panose="02070309020205020404" pitchFamily="49" charset="0"/>
              </a:rPr>
              <a:t>int</a:t>
            </a:r>
            <a:r>
              <a:rPr lang="en-US" altLang="en-US" sz="1800" dirty="0" smtClean="0">
                <a:solidFill>
                  <a:srgbClr val="666699"/>
                </a:solidFill>
                <a:latin typeface="Courier New" panose="02070309020205020404" pitchFamily="49" charset="0"/>
                <a:cs typeface="Courier New" panose="02070309020205020404" pitchFamily="49" charset="0"/>
              </a:rPr>
              <a:t>[size];</a:t>
            </a:r>
          </a:p>
          <a:p>
            <a:pPr lvl="1" eaLnBrk="1" hangingPunct="1"/>
            <a:r>
              <a:rPr lang="en-US" altLang="en-US" sz="2000" dirty="0" smtClean="0"/>
              <a:t>Storage is allocated from the heap, not the stack</a:t>
            </a:r>
          </a:p>
        </p:txBody>
      </p:sp>
      <p:sp>
        <p:nvSpPr>
          <p:cNvPr id="7" name="Rectangle 2"/>
          <p:cNvSpPr>
            <a:spLocks noGrp="1" noChangeArrowheads="1"/>
          </p:cNvSpPr>
          <p:nvPr>
            <p:ph type="title"/>
          </p:nvPr>
        </p:nvSpPr>
        <p:spPr/>
        <p:txBody>
          <a:bodyPr/>
          <a:lstStyle/>
          <a:p>
            <a:pPr eaLnBrk="1" hangingPunct="1"/>
            <a:r>
              <a:rPr lang="en-US" altLang="en-US" sz="3200" dirty="0" smtClean="0"/>
              <a:t>Subscript Binding and Storage Binding</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Footer Placeholder 3"/>
          <p:cNvSpPr>
            <a:spLocks noGrp="1"/>
          </p:cNvSpPr>
          <p:nvPr>
            <p:ph type="ftr" sz="quarter" idx="10"/>
          </p:nvPr>
        </p:nvSpPr>
        <p:spPr/>
        <p:txBody>
          <a:bodyPr/>
          <a:lstStyle/>
          <a:p>
            <a:pPr>
              <a:defRPr/>
            </a:pPr>
            <a:r>
              <a:rPr lang="en-US" dirty="0"/>
              <a:t>Copyright © </a:t>
            </a:r>
            <a:r>
              <a:rPr lang="en-US" dirty="0" smtClean="0"/>
              <a:t>2023 </a:t>
            </a:r>
            <a:r>
              <a:rPr lang="en-US" dirty="0"/>
              <a:t>Addison-Wesley. All rights reserved.</a:t>
            </a:r>
          </a:p>
        </p:txBody>
      </p:sp>
      <p:sp>
        <p:nvSpPr>
          <p:cNvPr id="5222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FEFE9681-F07F-43AA-BFF2-B4A3BCCC1DDC}" type="slidenum">
              <a:rPr lang="en-US" altLang="en-US" sz="1000" smtClean="0">
                <a:solidFill>
                  <a:schemeClr val="tx1"/>
                </a:solidFill>
                <a:latin typeface="Arial" panose="020B0604020202020204" pitchFamily="34" charset="0"/>
              </a:rPr>
              <a:pPr>
                <a:spcBef>
                  <a:spcPct val="0"/>
                </a:spcBef>
                <a:buFontTx/>
                <a:buNone/>
              </a:pPr>
              <a:t>20</a:t>
            </a:fld>
            <a:endParaRPr lang="en-US" altLang="en-US" sz="1000" smtClean="0">
              <a:solidFill>
                <a:schemeClr val="tx1"/>
              </a:solidFill>
              <a:latin typeface="Arial" panose="020B0604020202020204" pitchFamily="34" charset="0"/>
            </a:endParaRPr>
          </a:p>
        </p:txBody>
      </p:sp>
      <p:sp>
        <p:nvSpPr>
          <p:cNvPr id="52229" name="Rectangle 3"/>
          <p:cNvSpPr>
            <a:spLocks noGrp="1" noChangeArrowheads="1"/>
          </p:cNvSpPr>
          <p:nvPr>
            <p:ph type="body" idx="1"/>
          </p:nvPr>
        </p:nvSpPr>
        <p:spPr/>
        <p:txBody>
          <a:bodyPr/>
          <a:lstStyle/>
          <a:p>
            <a:pPr eaLnBrk="1" hangingPunct="1"/>
            <a:r>
              <a:rPr lang="en-US" altLang="en-US" sz="2400" u="sng" dirty="0" smtClean="0"/>
              <a:t>Heap-dynamic</a:t>
            </a:r>
            <a:endParaRPr lang="en-US" altLang="en-US" sz="2400" dirty="0" smtClean="0"/>
          </a:p>
          <a:p>
            <a:pPr lvl="1" eaLnBrk="1" hangingPunct="1"/>
            <a:r>
              <a:rPr lang="en-US" altLang="en-US" sz="2000" dirty="0" smtClean="0"/>
              <a:t>Binding of subscript ranges and storage are dynamic and can change any number of times</a:t>
            </a:r>
          </a:p>
          <a:p>
            <a:pPr lvl="1" eaLnBrk="1" hangingPunct="1"/>
            <a:r>
              <a:rPr lang="en-US" altLang="en-US" sz="2000" dirty="0" smtClean="0"/>
              <a:t>Storage is allocated from the heap, not the stack</a:t>
            </a:r>
          </a:p>
          <a:p>
            <a:pPr lvl="1" eaLnBrk="1" hangingPunct="1"/>
            <a:r>
              <a:rPr lang="en-US" altLang="en-US" sz="2000" dirty="0" smtClean="0"/>
              <a:t>Arrays that grow and shrink as items added and removed</a:t>
            </a:r>
          </a:p>
          <a:p>
            <a:pPr lvl="1" eaLnBrk="1" hangingPunct="1"/>
            <a:r>
              <a:rPr lang="en-US" altLang="en-US" sz="2000" dirty="0" smtClean="0"/>
              <a:t>Advantage</a:t>
            </a:r>
          </a:p>
          <a:p>
            <a:pPr lvl="2" eaLnBrk="1" hangingPunct="1"/>
            <a:r>
              <a:rPr lang="en-US" altLang="en-US" sz="2000" dirty="0" smtClean="0"/>
              <a:t>Flexibility (arrays are exactly the size they need to be)</a:t>
            </a:r>
          </a:p>
          <a:p>
            <a:pPr lvl="1" eaLnBrk="1" hangingPunct="1"/>
            <a:r>
              <a:rPr lang="en-US" altLang="en-US" sz="2000" dirty="0" smtClean="0"/>
              <a:t>Disadvantage?</a:t>
            </a:r>
          </a:p>
        </p:txBody>
      </p:sp>
      <p:sp>
        <p:nvSpPr>
          <p:cNvPr id="7" name="Rectangle 2"/>
          <p:cNvSpPr>
            <a:spLocks noGrp="1" noChangeArrowheads="1"/>
          </p:cNvSpPr>
          <p:nvPr>
            <p:ph type="title"/>
          </p:nvPr>
        </p:nvSpPr>
        <p:spPr/>
        <p:txBody>
          <a:bodyPr/>
          <a:lstStyle/>
          <a:p>
            <a:pPr eaLnBrk="1" hangingPunct="1"/>
            <a:r>
              <a:rPr lang="en-US" altLang="en-US" sz="3200" dirty="0" smtClean="0"/>
              <a:t>Subscript Binding and Storage Binding</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Footer Placeholder 3"/>
          <p:cNvSpPr>
            <a:spLocks noGrp="1"/>
          </p:cNvSpPr>
          <p:nvPr>
            <p:ph type="ftr" sz="quarter" idx="10"/>
          </p:nvPr>
        </p:nvSpPr>
        <p:spPr/>
        <p:txBody>
          <a:bodyPr/>
          <a:lstStyle/>
          <a:p>
            <a:pPr>
              <a:defRPr/>
            </a:pPr>
            <a:r>
              <a:rPr lang="en-US" dirty="0"/>
              <a:t>Copyright © </a:t>
            </a:r>
            <a:r>
              <a:rPr lang="en-US" dirty="0" smtClean="0"/>
              <a:t>2023 </a:t>
            </a:r>
            <a:r>
              <a:rPr lang="en-US" dirty="0"/>
              <a:t>Addison-Wesley. All rights reserved.</a:t>
            </a:r>
          </a:p>
        </p:txBody>
      </p:sp>
      <p:sp>
        <p:nvSpPr>
          <p:cNvPr id="5427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4CB485B8-8654-4FEA-86A9-0BCDDDA5AC39}" type="slidenum">
              <a:rPr lang="en-US" altLang="en-US" sz="1000" smtClean="0">
                <a:solidFill>
                  <a:schemeClr val="tx1"/>
                </a:solidFill>
                <a:latin typeface="Arial" panose="020B0604020202020204" pitchFamily="34" charset="0"/>
              </a:rPr>
              <a:pPr>
                <a:spcBef>
                  <a:spcPct val="0"/>
                </a:spcBef>
                <a:buFontTx/>
                <a:buNone/>
              </a:pPr>
              <a:t>21</a:t>
            </a:fld>
            <a:endParaRPr lang="en-US" altLang="en-US" sz="1000" smtClean="0">
              <a:solidFill>
                <a:schemeClr val="tx1"/>
              </a:solidFill>
              <a:latin typeface="Arial" panose="020B0604020202020204" pitchFamily="34" charset="0"/>
            </a:endParaRPr>
          </a:p>
        </p:txBody>
      </p:sp>
      <p:sp>
        <p:nvSpPr>
          <p:cNvPr id="54277" name="Rectangle 3"/>
          <p:cNvSpPr>
            <a:spLocks noGrp="1" noChangeArrowheads="1"/>
          </p:cNvSpPr>
          <p:nvPr>
            <p:ph type="body" idx="1"/>
          </p:nvPr>
        </p:nvSpPr>
        <p:spPr>
          <a:xfrm>
            <a:off x="609600" y="1600200"/>
            <a:ext cx="8382000" cy="4648200"/>
          </a:xfrm>
        </p:spPr>
        <p:txBody>
          <a:bodyPr/>
          <a:lstStyle/>
          <a:p>
            <a:pPr eaLnBrk="1" hangingPunct="1"/>
            <a:r>
              <a:rPr lang="en-US" altLang="en-US" sz="2400" dirty="0" smtClean="0"/>
              <a:t>In C and C++</a:t>
            </a:r>
          </a:p>
          <a:p>
            <a:pPr lvl="1" eaLnBrk="1" hangingPunct="1"/>
            <a:r>
              <a:rPr lang="en-US" altLang="en-US" sz="2000" dirty="0" smtClean="0"/>
              <a:t>Arrays that include </a:t>
            </a:r>
            <a:r>
              <a:rPr lang="en-US" altLang="en-US" sz="2000" b="1" dirty="0" smtClean="0">
                <a:latin typeface="Courier New" panose="02070309020205020404" pitchFamily="49" charset="0"/>
                <a:cs typeface="Courier New" panose="02070309020205020404" pitchFamily="49" charset="0"/>
              </a:rPr>
              <a:t>static</a:t>
            </a:r>
            <a:r>
              <a:rPr lang="en-US" altLang="en-US" sz="2000" dirty="0" smtClean="0"/>
              <a:t> modifier are static</a:t>
            </a:r>
          </a:p>
          <a:p>
            <a:pPr lvl="1" eaLnBrk="1" hangingPunct="1"/>
            <a:r>
              <a:rPr lang="en-US" altLang="en-US" sz="2000" dirty="0" smtClean="0"/>
              <a:t>Arrays without </a:t>
            </a:r>
            <a:r>
              <a:rPr lang="en-US" altLang="en-US" sz="2000" b="1" dirty="0" smtClean="0">
                <a:latin typeface="Courier New" panose="02070309020205020404" pitchFamily="49" charset="0"/>
                <a:cs typeface="Courier New" panose="02070309020205020404" pitchFamily="49" charset="0"/>
              </a:rPr>
              <a:t>static</a:t>
            </a:r>
            <a:r>
              <a:rPr lang="en-US" altLang="en-US" sz="2000" dirty="0" smtClean="0"/>
              <a:t> are fixed stack-dynamic</a:t>
            </a:r>
          </a:p>
          <a:p>
            <a:pPr lvl="1" eaLnBrk="1" hangingPunct="1"/>
            <a:r>
              <a:rPr lang="en-US" altLang="en-US" sz="2000" dirty="0" smtClean="0"/>
              <a:t>Provide fixed heap-dynamic arrays</a:t>
            </a:r>
          </a:p>
          <a:p>
            <a:pPr eaLnBrk="1" hangingPunct="1"/>
            <a:r>
              <a:rPr lang="en-US" altLang="en-US" sz="2400" dirty="0" smtClean="0"/>
              <a:t>In C#</a:t>
            </a:r>
          </a:p>
          <a:p>
            <a:pPr lvl="1" eaLnBrk="1" hangingPunct="1"/>
            <a:r>
              <a:rPr lang="en-US" altLang="en-US" sz="2000" dirty="0" smtClean="0"/>
              <a:t>Similar support to C++</a:t>
            </a:r>
          </a:p>
          <a:p>
            <a:pPr lvl="1" eaLnBrk="1" hangingPunct="1"/>
            <a:r>
              <a:rPr lang="en-US" altLang="en-US" sz="2000" dirty="0" smtClean="0"/>
              <a:t>Heap-dynamic </a:t>
            </a:r>
            <a:r>
              <a:rPr lang="en-US" altLang="en-US" sz="2000" dirty="0" err="1" smtClean="0">
                <a:latin typeface="Courier New" panose="02070309020205020404" pitchFamily="49" charset="0"/>
                <a:cs typeface="Courier New" panose="02070309020205020404" pitchFamily="49" charset="0"/>
              </a:rPr>
              <a:t>ArrayList</a:t>
            </a:r>
            <a:r>
              <a:rPr lang="en-US" altLang="en-US" sz="2000" dirty="0" smtClean="0"/>
              <a:t> class</a:t>
            </a:r>
          </a:p>
          <a:p>
            <a:pPr eaLnBrk="1" hangingPunct="1"/>
            <a:r>
              <a:rPr lang="en-US" altLang="en-US" sz="2400" dirty="0" smtClean="0"/>
              <a:t>In Java</a:t>
            </a:r>
          </a:p>
          <a:p>
            <a:pPr lvl="1" eaLnBrk="1" hangingPunct="1"/>
            <a:r>
              <a:rPr lang="en-US" altLang="en-US" sz="2000" dirty="0" smtClean="0"/>
              <a:t>All arrays are fixed heap-dynamic</a:t>
            </a:r>
          </a:p>
          <a:p>
            <a:pPr eaLnBrk="1" hangingPunct="1"/>
            <a:r>
              <a:rPr lang="en-US" altLang="en-US" sz="2400" dirty="0" smtClean="0"/>
              <a:t>Perl, JavaScript, Python, and Ruby</a:t>
            </a:r>
          </a:p>
          <a:p>
            <a:pPr lvl="1" eaLnBrk="1" hangingPunct="1"/>
            <a:r>
              <a:rPr lang="en-US" altLang="en-US" sz="2000" dirty="0" smtClean="0"/>
              <a:t>Support heap-dynamic arrays</a:t>
            </a:r>
          </a:p>
        </p:txBody>
      </p:sp>
      <p:sp>
        <p:nvSpPr>
          <p:cNvPr id="7" name="Rectangle 2"/>
          <p:cNvSpPr>
            <a:spLocks noGrp="1" noChangeArrowheads="1"/>
          </p:cNvSpPr>
          <p:nvPr>
            <p:ph type="title"/>
          </p:nvPr>
        </p:nvSpPr>
        <p:spPr/>
        <p:txBody>
          <a:bodyPr/>
          <a:lstStyle/>
          <a:p>
            <a:pPr eaLnBrk="1" hangingPunct="1"/>
            <a:r>
              <a:rPr lang="en-US" altLang="en-US" sz="3200" dirty="0" smtClean="0"/>
              <a:t>Subscript Binding and Storage Binding</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Footer Placeholder 3"/>
          <p:cNvSpPr>
            <a:spLocks noGrp="1"/>
          </p:cNvSpPr>
          <p:nvPr>
            <p:ph type="ftr" sz="quarter" idx="10"/>
          </p:nvPr>
        </p:nvSpPr>
        <p:spPr/>
        <p:txBody>
          <a:bodyPr/>
          <a:lstStyle/>
          <a:p>
            <a:pPr>
              <a:defRPr/>
            </a:pPr>
            <a:r>
              <a:rPr lang="en-US" dirty="0"/>
              <a:t>Copyright © </a:t>
            </a:r>
            <a:r>
              <a:rPr lang="en-US" dirty="0" smtClean="0"/>
              <a:t>2023 </a:t>
            </a:r>
            <a:r>
              <a:rPr lang="en-US" dirty="0"/>
              <a:t>Addison-Wesley. All rights reserved.</a:t>
            </a:r>
          </a:p>
        </p:txBody>
      </p:sp>
      <p:sp>
        <p:nvSpPr>
          <p:cNvPr id="59395"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7E4299EB-DD3C-4480-B959-2F382AEC76B3}" type="slidenum">
              <a:rPr lang="en-US" altLang="en-US" sz="1000" smtClean="0">
                <a:solidFill>
                  <a:schemeClr val="tx1"/>
                </a:solidFill>
                <a:latin typeface="Arial" panose="020B0604020202020204" pitchFamily="34" charset="0"/>
              </a:rPr>
              <a:pPr>
                <a:spcBef>
                  <a:spcPct val="0"/>
                </a:spcBef>
                <a:buFontTx/>
                <a:buNone/>
              </a:pPr>
              <a:t>22</a:t>
            </a:fld>
            <a:endParaRPr lang="en-US" altLang="en-US" sz="1000" smtClean="0">
              <a:solidFill>
                <a:schemeClr val="tx1"/>
              </a:solidFill>
              <a:latin typeface="Arial" panose="020B0604020202020204" pitchFamily="34" charset="0"/>
            </a:endParaRPr>
          </a:p>
        </p:txBody>
      </p:sp>
      <p:sp>
        <p:nvSpPr>
          <p:cNvPr id="59396" name="Rectangle 2"/>
          <p:cNvSpPr>
            <a:spLocks noGrp="1" noChangeArrowheads="1"/>
          </p:cNvSpPr>
          <p:nvPr>
            <p:ph type="title"/>
          </p:nvPr>
        </p:nvSpPr>
        <p:spPr/>
        <p:txBody>
          <a:bodyPr/>
          <a:lstStyle/>
          <a:p>
            <a:pPr eaLnBrk="1" hangingPunct="1"/>
            <a:r>
              <a:rPr lang="en-US" altLang="en-US" smtClean="0"/>
              <a:t>Heterogeneous Arrays</a:t>
            </a:r>
          </a:p>
        </p:txBody>
      </p:sp>
      <p:sp>
        <p:nvSpPr>
          <p:cNvPr id="59397" name="Rectangle 3"/>
          <p:cNvSpPr>
            <a:spLocks noGrp="1" noChangeArrowheads="1"/>
          </p:cNvSpPr>
          <p:nvPr>
            <p:ph type="body" idx="1"/>
          </p:nvPr>
        </p:nvSpPr>
        <p:spPr/>
        <p:txBody>
          <a:bodyPr/>
          <a:lstStyle/>
          <a:p>
            <a:pPr eaLnBrk="1" hangingPunct="1"/>
            <a:r>
              <a:rPr lang="en-US" altLang="en-US" sz="2400" dirty="0" smtClean="0"/>
              <a:t>A </a:t>
            </a:r>
            <a:r>
              <a:rPr lang="en-US" altLang="en-US" sz="2400" u="sng" dirty="0" smtClean="0"/>
              <a:t>heterogeneous array</a:t>
            </a:r>
            <a:endParaRPr lang="en-US" altLang="en-US" sz="2400" dirty="0" smtClean="0"/>
          </a:p>
          <a:p>
            <a:pPr lvl="1" eaLnBrk="1" hangingPunct="1"/>
            <a:r>
              <a:rPr lang="en-US" altLang="en-US" sz="2000" dirty="0" smtClean="0"/>
              <a:t>Array in which the elements need not be of the same type</a:t>
            </a:r>
          </a:p>
          <a:p>
            <a:pPr eaLnBrk="1" hangingPunct="1"/>
            <a:r>
              <a:rPr lang="en-US" altLang="en-US" sz="2400" dirty="0" smtClean="0"/>
              <a:t>Supported by</a:t>
            </a:r>
          </a:p>
          <a:p>
            <a:pPr lvl="1" eaLnBrk="1" hangingPunct="1"/>
            <a:r>
              <a:rPr lang="en-US" altLang="en-US" sz="2000" dirty="0" smtClean="0"/>
              <a:t>Perl, Python, JavaScript, and Ruby</a:t>
            </a:r>
          </a:p>
          <a:p>
            <a:pPr eaLnBrk="1" hangingPunct="1"/>
            <a:r>
              <a:rPr lang="en-US" altLang="en-US" sz="2400" dirty="0" smtClean="0"/>
              <a:t>Actually </a:t>
            </a:r>
            <a:r>
              <a:rPr lang="en-US" altLang="en-US" sz="2400" dirty="0" smtClean="0"/>
              <a:t>implemented as</a:t>
            </a:r>
          </a:p>
          <a:p>
            <a:pPr lvl="1" eaLnBrk="1" hangingPunct="1"/>
            <a:r>
              <a:rPr lang="en-US" altLang="en-US" sz="2000" dirty="0"/>
              <a:t>H</a:t>
            </a:r>
            <a:r>
              <a:rPr lang="en-US" altLang="en-US" sz="2000" dirty="0" smtClean="0"/>
              <a:t>omogenous arrays containing a generic data value</a:t>
            </a:r>
          </a:p>
          <a:p>
            <a:pPr lvl="1" eaLnBrk="1" hangingPunct="1"/>
            <a:r>
              <a:rPr lang="en-US" altLang="en-US" sz="2000" dirty="0" smtClean="0"/>
              <a:t>For example, an array containing Object</a:t>
            </a:r>
            <a:r>
              <a:rPr lang="en-US" altLang="en-US" sz="2000" dirty="0"/>
              <a:t> </a:t>
            </a:r>
            <a:r>
              <a:rPr lang="en-US" altLang="en-US" sz="2000" dirty="0" smtClean="0"/>
              <a:t>values</a:t>
            </a:r>
          </a:p>
        </p:txBody>
      </p:sp>
    </p:spTree>
    <p:extLst>
      <p:ext uri="{BB962C8B-B14F-4D97-AF65-F5344CB8AC3E}">
        <p14:creationId xmlns:p14="http://schemas.microsoft.com/office/powerpoint/2010/main" val="18150288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p:cNvSpPr>
            <a:spLocks noGrp="1"/>
          </p:cNvSpPr>
          <p:nvPr>
            <p:ph type="ftr" sz="quarter" idx="10"/>
          </p:nvPr>
        </p:nvSpPr>
        <p:spPr/>
        <p:txBody>
          <a:bodyPr/>
          <a:lstStyle/>
          <a:p>
            <a:pPr>
              <a:defRPr/>
            </a:pPr>
            <a:r>
              <a:rPr lang="en-US" dirty="0"/>
              <a:t>Copyright © </a:t>
            </a:r>
            <a:r>
              <a:rPr lang="en-US" dirty="0" smtClean="0"/>
              <a:t>2023 </a:t>
            </a:r>
            <a:r>
              <a:rPr lang="en-US" dirty="0"/>
              <a:t>Addison-Wesley. All rights reserved.</a:t>
            </a:r>
          </a:p>
        </p:txBody>
      </p:sp>
      <p:sp>
        <p:nvSpPr>
          <p:cNvPr id="614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8073E23-9246-44D6-B58E-57AD3221DB5F}" type="slidenum">
              <a:rPr lang="en-US" altLang="en-US" sz="1000" smtClean="0">
                <a:solidFill>
                  <a:schemeClr val="tx1"/>
                </a:solidFill>
                <a:latin typeface="Arial" panose="020B0604020202020204" pitchFamily="34" charset="0"/>
              </a:rPr>
              <a:pPr>
                <a:spcBef>
                  <a:spcPct val="0"/>
                </a:spcBef>
                <a:buFontTx/>
                <a:buNone/>
              </a:pPr>
              <a:t>23</a:t>
            </a:fld>
            <a:endParaRPr lang="en-US" altLang="en-US" sz="1000" smtClean="0">
              <a:solidFill>
                <a:schemeClr val="tx1"/>
              </a:solidFill>
              <a:latin typeface="Arial" panose="020B0604020202020204" pitchFamily="34" charset="0"/>
            </a:endParaRPr>
          </a:p>
        </p:txBody>
      </p:sp>
      <p:sp>
        <p:nvSpPr>
          <p:cNvPr id="61444" name="Rectangle 2"/>
          <p:cNvSpPr>
            <a:spLocks noGrp="1" noChangeArrowheads="1"/>
          </p:cNvSpPr>
          <p:nvPr>
            <p:ph type="title"/>
          </p:nvPr>
        </p:nvSpPr>
        <p:spPr/>
        <p:txBody>
          <a:bodyPr/>
          <a:lstStyle/>
          <a:p>
            <a:pPr eaLnBrk="1" hangingPunct="1"/>
            <a:r>
              <a:rPr lang="en-US" altLang="en-US" dirty="0" smtClean="0"/>
              <a:t>Array Operations</a:t>
            </a:r>
          </a:p>
        </p:txBody>
      </p:sp>
      <p:sp>
        <p:nvSpPr>
          <p:cNvPr id="61445" name="Rectangle 3"/>
          <p:cNvSpPr>
            <a:spLocks noGrp="1" noChangeArrowheads="1"/>
          </p:cNvSpPr>
          <p:nvPr>
            <p:ph type="body" idx="1"/>
          </p:nvPr>
        </p:nvSpPr>
        <p:spPr>
          <a:xfrm>
            <a:off x="609600" y="1600200"/>
            <a:ext cx="8153400" cy="4876800"/>
          </a:xfrm>
        </p:spPr>
        <p:txBody>
          <a:bodyPr/>
          <a:lstStyle/>
          <a:p>
            <a:pPr eaLnBrk="1" hangingPunct="1"/>
            <a:r>
              <a:rPr lang="en-US" altLang="en-US" sz="2400" dirty="0" smtClean="0"/>
              <a:t>APL</a:t>
            </a:r>
          </a:p>
          <a:p>
            <a:pPr lvl="1" eaLnBrk="1" hangingPunct="1"/>
            <a:r>
              <a:rPr lang="en-US" altLang="en-US" sz="2000" dirty="0" smtClean="0"/>
              <a:t>Powerful array operations for vectors, matrices &amp; scalars</a:t>
            </a:r>
          </a:p>
          <a:p>
            <a:pPr lvl="1" eaLnBrk="1" hangingPunct="1"/>
            <a:r>
              <a:rPr lang="en-US" altLang="en-US" sz="2000" dirty="0" smtClean="0"/>
              <a:t>For example, to reverse column elements</a:t>
            </a:r>
          </a:p>
          <a:p>
            <a:pPr eaLnBrk="1" hangingPunct="1"/>
            <a:r>
              <a:rPr lang="en-US" altLang="en-US" sz="2400" dirty="0" smtClean="0"/>
              <a:t>Python</a:t>
            </a:r>
          </a:p>
          <a:p>
            <a:pPr lvl="1" eaLnBrk="1" hangingPunct="1"/>
            <a:r>
              <a:rPr lang="en-US" altLang="en-US" sz="2000" dirty="0" smtClean="0"/>
              <a:t>Array assignments are only reference changes</a:t>
            </a:r>
          </a:p>
          <a:p>
            <a:pPr lvl="1" eaLnBrk="1" hangingPunct="1"/>
            <a:r>
              <a:rPr lang="en-US" altLang="en-US" sz="2000" dirty="0" smtClean="0"/>
              <a:t>Array catenation and element membership operations</a:t>
            </a:r>
          </a:p>
          <a:p>
            <a:pPr eaLnBrk="1" hangingPunct="1"/>
            <a:r>
              <a:rPr lang="en-US" altLang="en-US" sz="2400" dirty="0"/>
              <a:t>Java</a:t>
            </a:r>
          </a:p>
          <a:p>
            <a:pPr lvl="1" eaLnBrk="1" hangingPunct="1"/>
            <a:r>
              <a:rPr lang="en-US" altLang="en-US" sz="2000" dirty="0"/>
              <a:t>Array assignments are also reference changes</a:t>
            </a:r>
          </a:p>
          <a:p>
            <a:pPr lvl="1" eaLnBrk="1" hangingPunct="1"/>
            <a:r>
              <a:rPr lang="en-US" altLang="en-US" sz="2000" dirty="0"/>
              <a:t>A </a:t>
            </a:r>
            <a:r>
              <a:rPr lang="en-US" altLang="en-US" sz="2000" dirty="0">
                <a:latin typeface="Courier"/>
              </a:rPr>
              <a:t>clone()</a:t>
            </a:r>
            <a:r>
              <a:rPr lang="en-US" altLang="en-US" sz="2000" dirty="0"/>
              <a:t> method creates a </a:t>
            </a:r>
            <a:r>
              <a:rPr lang="en-US" altLang="en-US" sz="2000" dirty="0" smtClean="0"/>
              <a:t>copy</a:t>
            </a:r>
            <a:endParaRPr lang="en-US" altLang="en-US" dirty="0"/>
          </a:p>
        </p:txBody>
      </p:sp>
    </p:spTree>
    <p:extLst>
      <p:ext uri="{BB962C8B-B14F-4D97-AF65-F5344CB8AC3E}">
        <p14:creationId xmlns:p14="http://schemas.microsoft.com/office/powerpoint/2010/main" val="40645593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Footer Placeholder 3"/>
          <p:cNvSpPr>
            <a:spLocks noGrp="1"/>
          </p:cNvSpPr>
          <p:nvPr>
            <p:ph type="ftr" sz="quarter" idx="10"/>
          </p:nvPr>
        </p:nvSpPr>
        <p:spPr/>
        <p:txBody>
          <a:bodyPr/>
          <a:lstStyle/>
          <a:p>
            <a:pPr>
              <a:defRPr/>
            </a:pPr>
            <a:r>
              <a:rPr lang="en-US" dirty="0"/>
              <a:t>Copyright © </a:t>
            </a:r>
            <a:r>
              <a:rPr lang="en-US" dirty="0" smtClean="0"/>
              <a:t>2023 </a:t>
            </a:r>
            <a:r>
              <a:rPr lang="en-US" dirty="0"/>
              <a:t>Addison-Wesley. All rights reserved.</a:t>
            </a:r>
          </a:p>
        </p:txBody>
      </p:sp>
      <p:sp>
        <p:nvSpPr>
          <p:cNvPr id="6144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8073E23-9246-44D6-B58E-57AD3221DB5F}" type="slidenum">
              <a:rPr lang="en-US" altLang="en-US" sz="1000" smtClean="0">
                <a:solidFill>
                  <a:schemeClr val="tx1"/>
                </a:solidFill>
                <a:latin typeface="Arial" panose="020B0604020202020204" pitchFamily="34" charset="0"/>
              </a:rPr>
              <a:pPr>
                <a:spcBef>
                  <a:spcPct val="0"/>
                </a:spcBef>
                <a:buFontTx/>
                <a:buNone/>
              </a:pPr>
              <a:t>24</a:t>
            </a:fld>
            <a:endParaRPr lang="en-US" altLang="en-US" sz="1000" smtClean="0">
              <a:solidFill>
                <a:schemeClr val="tx1"/>
              </a:solidFill>
              <a:latin typeface="Arial" panose="020B0604020202020204" pitchFamily="34" charset="0"/>
            </a:endParaRPr>
          </a:p>
        </p:txBody>
      </p:sp>
      <p:sp>
        <p:nvSpPr>
          <p:cNvPr id="61444" name="Rectangle 2"/>
          <p:cNvSpPr>
            <a:spLocks noGrp="1" noChangeArrowheads="1"/>
          </p:cNvSpPr>
          <p:nvPr>
            <p:ph type="title"/>
          </p:nvPr>
        </p:nvSpPr>
        <p:spPr/>
        <p:txBody>
          <a:bodyPr/>
          <a:lstStyle/>
          <a:p>
            <a:pPr eaLnBrk="1" hangingPunct="1"/>
            <a:r>
              <a:rPr lang="en-US" altLang="en-US" dirty="0" smtClean="0"/>
              <a:t>Array Operations</a:t>
            </a:r>
          </a:p>
        </p:txBody>
      </p:sp>
      <p:sp>
        <p:nvSpPr>
          <p:cNvPr id="61445" name="Rectangle 3"/>
          <p:cNvSpPr>
            <a:spLocks noGrp="1" noChangeArrowheads="1"/>
          </p:cNvSpPr>
          <p:nvPr>
            <p:ph type="body" idx="1"/>
          </p:nvPr>
        </p:nvSpPr>
        <p:spPr>
          <a:xfrm>
            <a:off x="609600" y="1600200"/>
            <a:ext cx="8153400" cy="4876800"/>
          </a:xfrm>
        </p:spPr>
        <p:txBody>
          <a:bodyPr/>
          <a:lstStyle/>
          <a:p>
            <a:pPr eaLnBrk="1" hangingPunct="1"/>
            <a:r>
              <a:rPr lang="en-US" altLang="en-US" sz="2400" dirty="0" smtClean="0"/>
              <a:t>Fortran provides </a:t>
            </a:r>
            <a:r>
              <a:rPr lang="en-US" altLang="en-US" sz="2400" u="sng" dirty="0" smtClean="0"/>
              <a:t>elemental</a:t>
            </a:r>
            <a:r>
              <a:rPr lang="en-US" altLang="en-US" sz="2400" dirty="0" smtClean="0"/>
              <a:t> operations</a:t>
            </a:r>
          </a:p>
          <a:p>
            <a:pPr lvl="1" eaLnBrk="1" hangingPunct="1"/>
            <a:r>
              <a:rPr lang="en-US" altLang="en-US" sz="2000" dirty="0" smtClean="0"/>
              <a:t>Operations between pairs of array elements</a:t>
            </a:r>
          </a:p>
          <a:p>
            <a:pPr lvl="1" eaLnBrk="1" hangingPunct="1"/>
            <a:r>
              <a:rPr lang="en-US" altLang="en-US" sz="2000" dirty="0" smtClean="0"/>
              <a:t>For example, </a:t>
            </a:r>
            <a:r>
              <a:rPr lang="en-US" altLang="en-US" sz="2000" dirty="0" smtClean="0">
                <a:latin typeface="Courier New" panose="02070309020205020404" pitchFamily="49" charset="0"/>
              </a:rPr>
              <a:t>+</a:t>
            </a:r>
            <a:r>
              <a:rPr lang="en-US" altLang="en-US" sz="2000" dirty="0" smtClean="0"/>
              <a:t> operator between two arrays results in an array of the sums of the element pairs of the two arrays</a:t>
            </a:r>
          </a:p>
          <a:p>
            <a:pPr marL="457200" lvl="1" indent="0" eaLnBrk="1" hangingPunct="1">
              <a:buNone/>
            </a:pPr>
            <a:endParaRPr lang="en-US" altLang="en-US" sz="400" dirty="0" smtClean="0">
              <a:latin typeface="Courier"/>
            </a:endParaRPr>
          </a:p>
          <a:p>
            <a:pPr marL="457200" lvl="1" indent="0" eaLnBrk="1" hangingPunct="1">
              <a:buNone/>
            </a:pPr>
            <a:r>
              <a:rPr lang="en-US" altLang="en-US" sz="1800" dirty="0">
                <a:latin typeface="Courier"/>
              </a:rPr>
              <a:t>	</a:t>
            </a:r>
            <a:r>
              <a:rPr lang="en-US" altLang="en-US" sz="1800" dirty="0" smtClean="0">
                <a:latin typeface="Courier"/>
              </a:rPr>
              <a:t>  </a:t>
            </a:r>
            <a:r>
              <a:rPr lang="en-ZA" altLang="en-US" sz="1800" dirty="0" smtClean="0">
                <a:latin typeface="Courier"/>
              </a:rPr>
              <a:t>integer</a:t>
            </a:r>
            <a:r>
              <a:rPr lang="en-ZA" altLang="en-US" sz="1800" dirty="0">
                <a:latin typeface="Courier"/>
              </a:rPr>
              <a:t>, dimension(3) :: A, B, </a:t>
            </a:r>
            <a:r>
              <a:rPr lang="en-ZA" altLang="en-US" sz="1800" dirty="0" smtClean="0">
                <a:latin typeface="Courier"/>
              </a:rPr>
              <a:t>C</a:t>
            </a:r>
          </a:p>
          <a:p>
            <a:pPr marL="457200" lvl="1" indent="0" eaLnBrk="1" hangingPunct="1">
              <a:buNone/>
            </a:pPr>
            <a:r>
              <a:rPr lang="en-ZA" altLang="en-US" sz="1800" dirty="0">
                <a:latin typeface="Courier"/>
              </a:rPr>
              <a:t>	</a:t>
            </a:r>
            <a:r>
              <a:rPr lang="en-ZA" altLang="en-US" sz="1800" dirty="0" smtClean="0">
                <a:latin typeface="Courier"/>
              </a:rPr>
              <a:t>  A    </a:t>
            </a:r>
            <a:r>
              <a:rPr lang="en-ZA" altLang="en-US" sz="1800" dirty="0">
                <a:latin typeface="Courier"/>
              </a:rPr>
              <a:t>= (/ 3, 8, 5 </a:t>
            </a:r>
            <a:r>
              <a:rPr lang="en-ZA" altLang="en-US" sz="1800" dirty="0" smtClean="0">
                <a:latin typeface="Courier"/>
              </a:rPr>
              <a:t>/)</a:t>
            </a:r>
          </a:p>
          <a:p>
            <a:pPr marL="457200" lvl="1" indent="0" eaLnBrk="1" hangingPunct="1">
              <a:buNone/>
            </a:pPr>
            <a:r>
              <a:rPr lang="en-ZA" altLang="en-US" sz="1800" dirty="0">
                <a:latin typeface="Courier"/>
              </a:rPr>
              <a:t>	</a:t>
            </a:r>
            <a:r>
              <a:rPr lang="en-ZA" altLang="en-US" sz="1800" dirty="0" smtClean="0">
                <a:latin typeface="Courier"/>
              </a:rPr>
              <a:t>  B    </a:t>
            </a:r>
            <a:r>
              <a:rPr lang="en-ZA" altLang="en-US" sz="1800" dirty="0">
                <a:latin typeface="Courier"/>
              </a:rPr>
              <a:t>= (/ 2, 1, 3 </a:t>
            </a:r>
            <a:r>
              <a:rPr lang="en-ZA" altLang="en-US" sz="1800" dirty="0" smtClean="0">
                <a:latin typeface="Courier"/>
              </a:rPr>
              <a:t>/)</a:t>
            </a:r>
          </a:p>
          <a:p>
            <a:pPr marL="457200" lvl="1" indent="0" eaLnBrk="1" hangingPunct="1">
              <a:buNone/>
            </a:pPr>
            <a:r>
              <a:rPr lang="en-ZA" altLang="en-US" sz="1800" dirty="0">
                <a:latin typeface="Courier"/>
              </a:rPr>
              <a:t>	</a:t>
            </a:r>
            <a:r>
              <a:rPr lang="en-ZA" altLang="en-US" sz="1800" dirty="0" smtClean="0">
                <a:latin typeface="Courier"/>
              </a:rPr>
              <a:t>  C    </a:t>
            </a:r>
            <a:r>
              <a:rPr lang="en-ZA" altLang="en-US" sz="1800" dirty="0">
                <a:latin typeface="Courier"/>
              </a:rPr>
              <a:t>= A + </a:t>
            </a:r>
            <a:r>
              <a:rPr lang="en-ZA" altLang="en-US" sz="1800" dirty="0" smtClean="0">
                <a:latin typeface="Courier"/>
              </a:rPr>
              <a:t>B		! C contains 5, 9, 8</a:t>
            </a:r>
            <a:endParaRPr lang="en-US" altLang="en-US" sz="1800" dirty="0" smtClean="0">
              <a:latin typeface="Courier"/>
            </a:endParaRPr>
          </a:p>
        </p:txBody>
      </p:sp>
    </p:spTree>
    <p:extLst>
      <p:ext uri="{BB962C8B-B14F-4D97-AF65-F5344CB8AC3E}">
        <p14:creationId xmlns:p14="http://schemas.microsoft.com/office/powerpoint/2010/main" val="265090092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Footer Placeholder 3"/>
          <p:cNvSpPr>
            <a:spLocks noGrp="1"/>
          </p:cNvSpPr>
          <p:nvPr>
            <p:ph type="ftr" sz="quarter" idx="10"/>
          </p:nvPr>
        </p:nvSpPr>
        <p:spPr/>
        <p:txBody>
          <a:bodyPr/>
          <a:lstStyle/>
          <a:p>
            <a:pPr>
              <a:defRPr/>
            </a:pPr>
            <a:r>
              <a:rPr lang="en-US" dirty="0"/>
              <a:t>Copyright © </a:t>
            </a:r>
            <a:r>
              <a:rPr lang="en-US" dirty="0" smtClean="0"/>
              <a:t>2023 </a:t>
            </a:r>
            <a:r>
              <a:rPr lang="en-US" dirty="0"/>
              <a:t>Addison-Wesley. All rights reserved.</a:t>
            </a:r>
          </a:p>
        </p:txBody>
      </p:sp>
      <p:sp>
        <p:nvSpPr>
          <p:cNvPr id="63491"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6D435B23-3705-4502-B29E-1DA00B5E0766}" type="slidenum">
              <a:rPr lang="en-US" altLang="en-US" sz="1000" smtClean="0">
                <a:solidFill>
                  <a:schemeClr val="tx1"/>
                </a:solidFill>
                <a:latin typeface="Arial" panose="020B0604020202020204" pitchFamily="34" charset="0"/>
              </a:rPr>
              <a:pPr>
                <a:spcBef>
                  <a:spcPct val="0"/>
                </a:spcBef>
                <a:buFontTx/>
                <a:buNone/>
              </a:pPr>
              <a:t>25</a:t>
            </a:fld>
            <a:endParaRPr lang="en-US" altLang="en-US" sz="1000" smtClean="0">
              <a:solidFill>
                <a:schemeClr val="tx1"/>
              </a:solidFill>
              <a:latin typeface="Arial" panose="020B0604020202020204" pitchFamily="34" charset="0"/>
            </a:endParaRPr>
          </a:p>
        </p:txBody>
      </p:sp>
      <p:sp>
        <p:nvSpPr>
          <p:cNvPr id="63492" name="Rectangle 2"/>
          <p:cNvSpPr>
            <a:spLocks noGrp="1" noChangeArrowheads="1"/>
          </p:cNvSpPr>
          <p:nvPr>
            <p:ph type="title"/>
          </p:nvPr>
        </p:nvSpPr>
        <p:spPr/>
        <p:txBody>
          <a:bodyPr/>
          <a:lstStyle/>
          <a:p>
            <a:pPr eaLnBrk="1" hangingPunct="1"/>
            <a:r>
              <a:rPr lang="en-US" altLang="en-US" smtClean="0"/>
              <a:t>Rectangular and Jagged Arrays</a:t>
            </a:r>
          </a:p>
        </p:txBody>
      </p:sp>
      <p:sp>
        <p:nvSpPr>
          <p:cNvPr id="63493" name="Rectangle 3"/>
          <p:cNvSpPr>
            <a:spLocks noGrp="1" noChangeArrowheads="1"/>
          </p:cNvSpPr>
          <p:nvPr>
            <p:ph type="body" idx="1"/>
          </p:nvPr>
        </p:nvSpPr>
        <p:spPr>
          <a:xfrm>
            <a:off x="609600" y="1600200"/>
            <a:ext cx="8153400" cy="4572000"/>
          </a:xfrm>
        </p:spPr>
        <p:txBody>
          <a:bodyPr/>
          <a:lstStyle/>
          <a:p>
            <a:pPr eaLnBrk="1" hangingPunct="1"/>
            <a:r>
              <a:rPr lang="en-US" altLang="en-US" sz="2400" dirty="0" smtClean="0"/>
              <a:t>A rectangular array</a:t>
            </a:r>
          </a:p>
          <a:p>
            <a:pPr lvl="1" eaLnBrk="1" hangingPunct="1"/>
            <a:r>
              <a:rPr lang="en-US" altLang="en-US" sz="2000" dirty="0" smtClean="0"/>
              <a:t>All rows have the same number of elements</a:t>
            </a:r>
          </a:p>
          <a:p>
            <a:pPr lvl="1" eaLnBrk="1" hangingPunct="1"/>
            <a:r>
              <a:rPr lang="en-US" altLang="en-US" sz="2000" dirty="0" smtClean="0"/>
              <a:t>All columns have the same number of elements</a:t>
            </a:r>
          </a:p>
          <a:p>
            <a:pPr lvl="1" eaLnBrk="1" hangingPunct="1"/>
            <a:r>
              <a:rPr lang="en-US" altLang="en-US" sz="2000" dirty="0" smtClean="0"/>
              <a:t>Fortran and Ada</a:t>
            </a:r>
          </a:p>
          <a:p>
            <a:pPr eaLnBrk="1" hangingPunct="1"/>
            <a:r>
              <a:rPr lang="en-US" altLang="en-US" sz="2400" dirty="0" smtClean="0"/>
              <a:t>A jagged matrix</a:t>
            </a:r>
          </a:p>
          <a:p>
            <a:pPr lvl="1" eaLnBrk="1" hangingPunct="1"/>
            <a:r>
              <a:rPr lang="en-US" altLang="en-US" sz="2000" dirty="0" smtClean="0"/>
              <a:t>Rows with varying number of elements</a:t>
            </a:r>
          </a:p>
          <a:p>
            <a:pPr lvl="1" eaLnBrk="1" hangingPunct="1"/>
            <a:r>
              <a:rPr lang="en-US" altLang="en-US" sz="2000" dirty="0" smtClean="0"/>
              <a:t>Actually represented as arrays of arrays</a:t>
            </a:r>
          </a:p>
          <a:p>
            <a:pPr lvl="1" eaLnBrk="1" hangingPunct="1"/>
            <a:r>
              <a:rPr lang="en-US" altLang="en-US" sz="2000" dirty="0" smtClean="0"/>
              <a:t>C, C++, and Java</a:t>
            </a:r>
          </a:p>
          <a:p>
            <a:pPr eaLnBrk="1" hangingPunct="1"/>
            <a:r>
              <a:rPr lang="en-US" altLang="en-US" sz="2400" dirty="0" smtClean="0"/>
              <a:t>C# and F#</a:t>
            </a:r>
          </a:p>
          <a:p>
            <a:pPr lvl="1" eaLnBrk="1" hangingPunct="1"/>
            <a:r>
              <a:rPr lang="en-US" altLang="en-US" sz="2000" dirty="0" smtClean="0"/>
              <a:t>Support both jagged and rectangular</a:t>
            </a:r>
          </a:p>
        </p:txBody>
      </p:sp>
    </p:spTree>
    <p:extLst>
      <p:ext uri="{BB962C8B-B14F-4D97-AF65-F5344CB8AC3E}">
        <p14:creationId xmlns:p14="http://schemas.microsoft.com/office/powerpoint/2010/main" val="470140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3"/>
          <p:cNvSpPr>
            <a:spLocks noGrp="1"/>
          </p:cNvSpPr>
          <p:nvPr>
            <p:ph type="ftr" sz="quarter" idx="10"/>
          </p:nvPr>
        </p:nvSpPr>
        <p:spPr/>
        <p:txBody>
          <a:bodyPr/>
          <a:lstStyle/>
          <a:p>
            <a:pPr>
              <a:defRPr/>
            </a:pPr>
            <a:r>
              <a:rPr lang="en-US" dirty="0"/>
              <a:t>Copyright © </a:t>
            </a:r>
            <a:r>
              <a:rPr lang="en-US" dirty="0" smtClean="0"/>
              <a:t>2023 </a:t>
            </a:r>
            <a:r>
              <a:rPr lang="en-US" dirty="0"/>
              <a:t>Addison-Wesley. All rights reserved.</a:t>
            </a:r>
          </a:p>
        </p:txBody>
      </p:sp>
      <p:sp>
        <p:nvSpPr>
          <p:cNvPr id="6553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4C92B86-0A3F-4400-B422-69740339E8B0}" type="slidenum">
              <a:rPr lang="en-US" altLang="en-US" sz="1000" smtClean="0">
                <a:solidFill>
                  <a:schemeClr val="tx1"/>
                </a:solidFill>
                <a:latin typeface="Arial" panose="020B0604020202020204" pitchFamily="34" charset="0"/>
              </a:rPr>
              <a:pPr>
                <a:spcBef>
                  <a:spcPct val="0"/>
                </a:spcBef>
                <a:buFontTx/>
                <a:buNone/>
              </a:pPr>
              <a:t>26</a:t>
            </a:fld>
            <a:endParaRPr lang="en-US" altLang="en-US" sz="1000" smtClean="0">
              <a:solidFill>
                <a:schemeClr val="tx1"/>
              </a:solidFill>
              <a:latin typeface="Arial" panose="020B0604020202020204" pitchFamily="34" charset="0"/>
            </a:endParaRPr>
          </a:p>
        </p:txBody>
      </p:sp>
      <p:sp>
        <p:nvSpPr>
          <p:cNvPr id="65540" name="Rectangle 2"/>
          <p:cNvSpPr>
            <a:spLocks noGrp="1" noChangeArrowheads="1"/>
          </p:cNvSpPr>
          <p:nvPr>
            <p:ph type="title"/>
          </p:nvPr>
        </p:nvSpPr>
        <p:spPr/>
        <p:txBody>
          <a:bodyPr/>
          <a:lstStyle/>
          <a:p>
            <a:pPr eaLnBrk="1" hangingPunct="1"/>
            <a:r>
              <a:rPr lang="en-US" altLang="en-US" smtClean="0"/>
              <a:t>Slices</a:t>
            </a:r>
          </a:p>
        </p:txBody>
      </p:sp>
      <p:sp>
        <p:nvSpPr>
          <p:cNvPr id="65541" name="Rectangle 3"/>
          <p:cNvSpPr>
            <a:spLocks noGrp="1" noChangeArrowheads="1"/>
          </p:cNvSpPr>
          <p:nvPr>
            <p:ph type="body" idx="1"/>
          </p:nvPr>
        </p:nvSpPr>
        <p:spPr>
          <a:xfrm>
            <a:off x="609600" y="1595582"/>
            <a:ext cx="8153400" cy="4572000"/>
          </a:xfrm>
        </p:spPr>
        <p:txBody>
          <a:bodyPr/>
          <a:lstStyle/>
          <a:p>
            <a:pPr eaLnBrk="1" hangingPunct="1"/>
            <a:r>
              <a:rPr lang="en-US" altLang="en-US" sz="2400" dirty="0" smtClean="0"/>
              <a:t>A slice is some substructure of an array</a:t>
            </a:r>
          </a:p>
          <a:p>
            <a:pPr lvl="1" eaLnBrk="1" hangingPunct="1"/>
            <a:r>
              <a:rPr lang="en-US" altLang="en-US" sz="2000" dirty="0" smtClean="0"/>
              <a:t>Nothing more than a referencing mechanism that retrieves part of an array as a unit</a:t>
            </a:r>
          </a:p>
        </p:txBody>
      </p:sp>
    </p:spTree>
    <p:extLst>
      <p:ext uri="{BB962C8B-B14F-4D97-AF65-F5344CB8AC3E}">
        <p14:creationId xmlns:p14="http://schemas.microsoft.com/office/powerpoint/2010/main" val="3260796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Footer Placeholder 2"/>
          <p:cNvSpPr>
            <a:spLocks noGrp="1"/>
          </p:cNvSpPr>
          <p:nvPr>
            <p:ph type="ftr" sz="quarter" idx="10"/>
          </p:nvPr>
        </p:nvSpPr>
        <p:spPr/>
        <p:txBody>
          <a:bodyPr/>
          <a:lstStyle/>
          <a:p>
            <a:pPr>
              <a:defRPr/>
            </a:pPr>
            <a:r>
              <a:rPr lang="en-US" dirty="0"/>
              <a:t>Copyright © </a:t>
            </a:r>
            <a:r>
              <a:rPr lang="en-US" dirty="0" smtClean="0"/>
              <a:t>2023 </a:t>
            </a:r>
            <a:r>
              <a:rPr lang="en-US" dirty="0"/>
              <a:t>Addison-Wesley. All rights reserved.</a:t>
            </a:r>
          </a:p>
        </p:txBody>
      </p:sp>
      <p:sp>
        <p:nvSpPr>
          <p:cNvPr id="67587"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A0B8FAE9-01D6-4464-8BDE-4F7CA51834A6}" type="slidenum">
              <a:rPr lang="en-US" altLang="en-US" sz="1000" smtClean="0">
                <a:solidFill>
                  <a:schemeClr val="tx1"/>
                </a:solidFill>
                <a:latin typeface="Arial" panose="020B0604020202020204" pitchFamily="34" charset="0"/>
              </a:rPr>
              <a:pPr>
                <a:spcBef>
                  <a:spcPct val="0"/>
                </a:spcBef>
                <a:buFontTx/>
                <a:buNone/>
              </a:pPr>
              <a:t>27</a:t>
            </a:fld>
            <a:endParaRPr lang="en-US" altLang="en-US" sz="1000" smtClean="0">
              <a:solidFill>
                <a:schemeClr val="tx1"/>
              </a:solidFill>
              <a:latin typeface="Arial" panose="020B0604020202020204" pitchFamily="34" charset="0"/>
            </a:endParaRPr>
          </a:p>
        </p:txBody>
      </p:sp>
      <p:sp>
        <p:nvSpPr>
          <p:cNvPr id="67588" name="Rectangle 3"/>
          <p:cNvSpPr>
            <a:spLocks noGrp="1" noChangeArrowheads="1"/>
          </p:cNvSpPr>
          <p:nvPr>
            <p:ph type="title"/>
          </p:nvPr>
        </p:nvSpPr>
        <p:spPr/>
        <p:txBody>
          <a:bodyPr/>
          <a:lstStyle/>
          <a:p>
            <a:pPr eaLnBrk="1" hangingPunct="1"/>
            <a:r>
              <a:rPr lang="en-US" altLang="en-US" dirty="0" smtClean="0"/>
              <a:t>Examples of Slices in Fortran 95</a:t>
            </a:r>
          </a:p>
        </p:txBody>
      </p:sp>
      <p:pic>
        <p:nvPicPr>
          <p:cNvPr id="6758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447800"/>
            <a:ext cx="600075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5255706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Footer Placeholder 3"/>
          <p:cNvSpPr>
            <a:spLocks noGrp="1"/>
          </p:cNvSpPr>
          <p:nvPr>
            <p:ph type="ftr" sz="quarter" idx="10"/>
          </p:nvPr>
        </p:nvSpPr>
        <p:spPr/>
        <p:txBody>
          <a:bodyPr/>
          <a:lstStyle/>
          <a:p>
            <a:pPr>
              <a:defRPr/>
            </a:pPr>
            <a:r>
              <a:rPr lang="en-US" dirty="0"/>
              <a:t>Copyright © </a:t>
            </a:r>
            <a:r>
              <a:rPr lang="en-US" dirty="0" smtClean="0"/>
              <a:t>2023 </a:t>
            </a:r>
            <a:r>
              <a:rPr lang="en-US" dirty="0"/>
              <a:t>Addison-Wesley. All rights reserved.</a:t>
            </a:r>
          </a:p>
        </p:txBody>
      </p:sp>
      <p:sp>
        <p:nvSpPr>
          <p:cNvPr id="65539"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1pPr>
            <a:lvl2pPr marL="742950" indent="-285750">
              <a:spcBef>
                <a:spcPct val="20000"/>
              </a:spcBef>
              <a:buChar char="–"/>
              <a:defRPr sz="24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2pPr>
            <a:lvl3pPr marL="1143000" indent="-228600">
              <a:spcBef>
                <a:spcPct val="20000"/>
              </a:spcBef>
              <a:buChar char="•"/>
              <a:defRPr sz="21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3pPr>
            <a:lvl4pPr marL="1600200" indent="-228600">
              <a:spcBef>
                <a:spcPct val="20000"/>
              </a:spcBef>
              <a:buChar char="–"/>
              <a:defRPr sz="2000">
                <a:solidFill>
                  <a:schemeClr val="accent2"/>
                </a:solidFill>
                <a:latin typeface="Lucida Sans Unicode" panose="020B0602030504020204" pitchFamily="34" charset="0"/>
                <a:ea typeface="Lucida Sans Unicode" panose="020B0602030504020204" pitchFamily="34" charset="0"/>
                <a:cs typeface="Lucida Sans Unicode" panose="020B0602030504020204" pitchFamily="34" charset="0"/>
              </a:defRPr>
            </a:lvl4pPr>
            <a:lvl5pPr marL="2057400" indent="-228600">
              <a:spcBef>
                <a:spcPct val="20000"/>
              </a:spcBef>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5pPr>
            <a:lvl6pPr marL="25146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6pPr>
            <a:lvl7pPr marL="29718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7pPr>
            <a:lvl8pPr marL="34290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8pPr>
            <a:lvl9pPr marL="3886200" indent="-228600" eaLnBrk="0" fontAlgn="base" hangingPunct="0">
              <a:spcBef>
                <a:spcPct val="20000"/>
              </a:spcBef>
              <a:spcAft>
                <a:spcPct val="0"/>
              </a:spcAft>
              <a:buChar char="»"/>
              <a:defRPr sz="2000">
                <a:solidFill>
                  <a:srgbClr val="666699"/>
                </a:solidFill>
                <a:latin typeface="Lucida Sans Unicode" panose="020B0602030504020204" pitchFamily="34" charset="0"/>
                <a:ea typeface="Lucida Sans Unicode" panose="020B0602030504020204" pitchFamily="34" charset="0"/>
                <a:cs typeface="Lucida Sans Unicode" panose="020B0602030504020204" pitchFamily="34" charset="0"/>
              </a:defRPr>
            </a:lvl9pPr>
          </a:lstStyle>
          <a:p>
            <a:pPr>
              <a:spcBef>
                <a:spcPct val="0"/>
              </a:spcBef>
              <a:buFontTx/>
              <a:buNone/>
            </a:pPr>
            <a:r>
              <a:rPr lang="en-US" altLang="en-US" sz="1000" smtClean="0">
                <a:solidFill>
                  <a:schemeClr val="tx1"/>
                </a:solidFill>
                <a:latin typeface="Arial" panose="020B0604020202020204" pitchFamily="34" charset="0"/>
              </a:rPr>
              <a:t>1-</a:t>
            </a:r>
            <a:fld id="{04C92B86-0A3F-4400-B422-69740339E8B0}" type="slidenum">
              <a:rPr lang="en-US" altLang="en-US" sz="1000" smtClean="0">
                <a:solidFill>
                  <a:schemeClr val="tx1"/>
                </a:solidFill>
                <a:latin typeface="Arial" panose="020B0604020202020204" pitchFamily="34" charset="0"/>
              </a:rPr>
              <a:pPr>
                <a:spcBef>
                  <a:spcPct val="0"/>
                </a:spcBef>
                <a:buFontTx/>
                <a:buNone/>
              </a:pPr>
              <a:t>28</a:t>
            </a:fld>
            <a:endParaRPr lang="en-US" altLang="en-US" sz="1000" smtClean="0">
              <a:solidFill>
                <a:schemeClr val="tx1"/>
              </a:solidFill>
              <a:latin typeface="Arial" panose="020B0604020202020204" pitchFamily="34" charset="0"/>
            </a:endParaRPr>
          </a:p>
        </p:txBody>
      </p:sp>
      <p:sp>
        <p:nvSpPr>
          <p:cNvPr id="65540" name="Rectangle 2"/>
          <p:cNvSpPr>
            <a:spLocks noGrp="1" noChangeArrowheads="1"/>
          </p:cNvSpPr>
          <p:nvPr>
            <p:ph type="title"/>
          </p:nvPr>
        </p:nvSpPr>
        <p:spPr/>
        <p:txBody>
          <a:bodyPr/>
          <a:lstStyle/>
          <a:p>
            <a:pPr eaLnBrk="1" hangingPunct="1"/>
            <a:r>
              <a:rPr lang="en-US" altLang="en-US" dirty="0" smtClean="0"/>
              <a:t>Associative Arrays</a:t>
            </a:r>
          </a:p>
        </p:txBody>
      </p:sp>
      <p:sp>
        <p:nvSpPr>
          <p:cNvPr id="65541" name="Rectangle 3"/>
          <p:cNvSpPr>
            <a:spLocks noGrp="1" noChangeArrowheads="1"/>
          </p:cNvSpPr>
          <p:nvPr>
            <p:ph type="body" idx="1"/>
          </p:nvPr>
        </p:nvSpPr>
        <p:spPr>
          <a:xfrm>
            <a:off x="609600" y="1595582"/>
            <a:ext cx="8153400" cy="4572000"/>
          </a:xfrm>
        </p:spPr>
        <p:txBody>
          <a:bodyPr/>
          <a:lstStyle/>
          <a:p>
            <a:pPr eaLnBrk="1" hangingPunct="1"/>
            <a:r>
              <a:rPr lang="en-US" altLang="en-US" sz="2400" dirty="0" smtClean="0"/>
              <a:t>An </a:t>
            </a:r>
            <a:r>
              <a:rPr lang="en-US" altLang="en-US" sz="2400" u="sng" dirty="0" smtClean="0"/>
              <a:t>associative array</a:t>
            </a:r>
          </a:p>
          <a:p>
            <a:pPr lvl="1" eaLnBrk="1" hangingPunct="1"/>
            <a:r>
              <a:rPr lang="en-US" altLang="en-US" sz="2000" dirty="0" smtClean="0"/>
              <a:t>An </a:t>
            </a:r>
            <a:r>
              <a:rPr lang="en-US" altLang="en-US" sz="2000" u="sng" dirty="0" smtClean="0"/>
              <a:t>unordered</a:t>
            </a:r>
            <a:r>
              <a:rPr lang="en-US" altLang="en-US" sz="2000" dirty="0" smtClean="0"/>
              <a:t> collection of data elements that are indexed by an equal number of </a:t>
            </a:r>
            <a:r>
              <a:rPr lang="en-US" altLang="en-US" sz="2000" u="sng" dirty="0" smtClean="0"/>
              <a:t>keys</a:t>
            </a:r>
          </a:p>
          <a:p>
            <a:pPr lvl="1" eaLnBrk="1" hangingPunct="1"/>
            <a:r>
              <a:rPr lang="en-ZA" altLang="en-US" sz="2000" dirty="0" smtClean="0"/>
              <a:t>Requires that user defined keys must be stored</a:t>
            </a:r>
          </a:p>
          <a:p>
            <a:pPr eaLnBrk="1" hangingPunct="1"/>
            <a:r>
              <a:rPr lang="en-US" altLang="en-US" sz="2400" dirty="0" smtClean="0"/>
              <a:t>Design issues</a:t>
            </a:r>
          </a:p>
          <a:p>
            <a:pPr lvl="1" eaLnBrk="1" hangingPunct="1"/>
            <a:r>
              <a:rPr lang="en-US" altLang="en-US" sz="2000" dirty="0" smtClean="0"/>
              <a:t>What is the form of references to elements?</a:t>
            </a:r>
          </a:p>
          <a:p>
            <a:pPr lvl="1" eaLnBrk="1" hangingPunct="1"/>
            <a:r>
              <a:rPr lang="en-US" altLang="en-US" sz="2000" dirty="0" smtClean="0"/>
              <a:t>Do associative arrays have dynamic or static size?</a:t>
            </a:r>
          </a:p>
          <a:p>
            <a:pPr eaLnBrk="1" hangingPunct="1"/>
            <a:r>
              <a:rPr lang="en-US" altLang="en-US" sz="2400" dirty="0" smtClean="0"/>
              <a:t>Built-in type in Perl, Python, Ruby, </a:t>
            </a:r>
            <a:r>
              <a:rPr lang="en-US" altLang="en-US" sz="2400" dirty="0" err="1" smtClean="0"/>
              <a:t>Lua</a:t>
            </a:r>
            <a:r>
              <a:rPr lang="en-US" altLang="en-US" sz="2400" dirty="0" smtClean="0"/>
              <a:t>, and Swift</a:t>
            </a:r>
          </a:p>
          <a:p>
            <a:pPr lvl="1" eaLnBrk="1" hangingPunct="1"/>
            <a:r>
              <a:rPr lang="en-US" altLang="en-US" sz="2000" dirty="0" smtClean="0"/>
              <a:t>In </a:t>
            </a:r>
            <a:r>
              <a:rPr lang="en-US" altLang="en-US" sz="2000" dirty="0" err="1" smtClean="0"/>
              <a:t>Lua</a:t>
            </a:r>
            <a:r>
              <a:rPr lang="en-US" altLang="en-US" sz="2000" dirty="0" smtClean="0"/>
              <a:t>, they are supported by tables</a:t>
            </a:r>
          </a:p>
          <a:p>
            <a:pPr lvl="1" eaLnBrk="1" hangingPunct="1"/>
            <a:r>
              <a:rPr lang="en-US" altLang="en-US" sz="2000" dirty="0" smtClean="0"/>
              <a:t>In Perl, they are called hashes</a:t>
            </a:r>
          </a:p>
        </p:txBody>
      </p:sp>
    </p:spTree>
    <p:extLst>
      <p:ext uri="{BB962C8B-B14F-4D97-AF65-F5344CB8AC3E}">
        <p14:creationId xmlns:p14="http://schemas.microsoft.com/office/powerpoint/2010/main" val="13854533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1_sebesta">
  <a:themeElements>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sebesta">
      <a:majorFont>
        <a:latin typeface="Lucida Sans Unicode"/>
        <a:ea typeface="Lucida Sans Unicode"/>
        <a:cs typeface="Lucida Sans Unicode"/>
      </a:majorFont>
      <a:minorFont>
        <a:latin typeface="Lucida Sans Unicode"/>
        <a:ea typeface="Lucida Sans Unicode"/>
        <a:cs typeface="Lucida Sans Unicod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1_sebest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sebest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sebest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sebest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sebest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sebest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sebesta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sebest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sebest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sebest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sebest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sebest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8386</TotalTime>
  <Words>1708</Words>
  <Application>Microsoft Office PowerPoint</Application>
  <PresentationFormat>On-screen Show (4:3)</PresentationFormat>
  <Paragraphs>321</Paragraphs>
  <Slides>28</Slides>
  <Notes>27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Courier</vt:lpstr>
      <vt:lpstr>Courier New</vt:lpstr>
      <vt:lpstr>Lucida Sans Unicode</vt:lpstr>
      <vt:lpstr>Times</vt:lpstr>
      <vt:lpstr>1_sebesta</vt:lpstr>
      <vt:lpstr>Chapter 6 Part 1</vt:lpstr>
      <vt:lpstr>Chapter 6 Topics</vt:lpstr>
      <vt:lpstr>Introduction</vt:lpstr>
      <vt:lpstr>Primitive Data Types</vt:lpstr>
      <vt:lpstr>Primitive Data Types: Integer</vt:lpstr>
      <vt:lpstr>Primitive Data Types: Floating Point</vt:lpstr>
      <vt:lpstr>Primitive Data Types: Complex</vt:lpstr>
      <vt:lpstr>Primitive Data Types: Decimal</vt:lpstr>
      <vt:lpstr>Primitive Data Types: Boolean</vt:lpstr>
      <vt:lpstr>Primitive Data Types: Character</vt:lpstr>
      <vt:lpstr>Character String Types </vt:lpstr>
      <vt:lpstr>Character String Type By Language</vt:lpstr>
      <vt:lpstr>Character String Length Options</vt:lpstr>
      <vt:lpstr>Array Types</vt:lpstr>
      <vt:lpstr>Array Design Issues</vt:lpstr>
      <vt:lpstr>Array Indexing</vt:lpstr>
      <vt:lpstr>Array Index Range Checking</vt:lpstr>
      <vt:lpstr>Subscript Binding and Storage Binding</vt:lpstr>
      <vt:lpstr>Subscript Binding and Storage Binding</vt:lpstr>
      <vt:lpstr>Subscript Binding and Storage Binding</vt:lpstr>
      <vt:lpstr>Subscript Binding and Storage Binding</vt:lpstr>
      <vt:lpstr>Heterogeneous Arrays</vt:lpstr>
      <vt:lpstr>Array Operations</vt:lpstr>
      <vt:lpstr>Array Operations</vt:lpstr>
      <vt:lpstr>Rectangular and Jagged Arrays</vt:lpstr>
      <vt:lpstr>Slices</vt:lpstr>
      <vt:lpstr>Examples of Slices in Fortran 95</vt:lpstr>
      <vt:lpstr>Associative Arrays</vt:lpstr>
    </vt:vector>
  </TitlesOfParts>
  <Company>Pearson Education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David Garrett</dc:creator>
  <cp:lastModifiedBy>Willem S. van Heerden</cp:lastModifiedBy>
  <cp:revision>386</cp:revision>
  <dcterms:created xsi:type="dcterms:W3CDTF">2003-08-01T12:29:19Z</dcterms:created>
  <dcterms:modified xsi:type="dcterms:W3CDTF">2026-04-13T21:43:33Z</dcterms:modified>
</cp:coreProperties>
</file>