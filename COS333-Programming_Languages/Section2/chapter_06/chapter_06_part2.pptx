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30"/>
  </p:notesMasterIdLst>
  <p:sldIdLst>
    <p:sldId id="384" r:id="rId2"/>
    <p:sldId id="424" r:id="rId3"/>
    <p:sldId id="417" r:id="rId4"/>
    <p:sldId id="418" r:id="rId5"/>
    <p:sldId id="419" r:id="rId6"/>
    <p:sldId id="420" r:id="rId7"/>
    <p:sldId id="376" r:id="rId8"/>
    <p:sldId id="378" r:id="rId9"/>
    <p:sldId id="428" r:id="rId10"/>
    <p:sldId id="429" r:id="rId11"/>
    <p:sldId id="430" r:id="rId12"/>
    <p:sldId id="431" r:id="rId13"/>
    <p:sldId id="432" r:id="rId14"/>
    <p:sldId id="434" r:id="rId15"/>
    <p:sldId id="436" r:id="rId16"/>
    <p:sldId id="437" r:id="rId17"/>
    <p:sldId id="438" r:id="rId18"/>
    <p:sldId id="440" r:id="rId19"/>
    <p:sldId id="441" r:id="rId20"/>
    <p:sldId id="442" r:id="rId21"/>
    <p:sldId id="444" r:id="rId22"/>
    <p:sldId id="445" r:id="rId23"/>
    <p:sldId id="447" r:id="rId24"/>
    <p:sldId id="448" r:id="rId25"/>
    <p:sldId id="449" r:id="rId26"/>
    <p:sldId id="450" r:id="rId27"/>
    <p:sldId id="451" r:id="rId28"/>
    <p:sldId id="452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86788" autoAdjust="0"/>
  </p:normalViewPr>
  <p:slideViewPr>
    <p:cSldViewPr>
      <p:cViewPr varScale="1">
        <p:scale>
          <a:sx n="74" d="100"/>
          <a:sy n="74" d="100"/>
        </p:scale>
        <p:origin x="108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C13607B7-F5DE-41A0-AAC7-F585AED426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0139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7EC7970-8251-4C5B-B33F-12B0A99119FE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52581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BAAD222-3EBB-4F22-BF4F-9638230909E2}" type="slidenum">
              <a:rPr lang="en-US" altLang="en-US" sz="1300" smtClean="0"/>
              <a:pPr/>
              <a:t>2</a:t>
            </a:fld>
            <a:endParaRPr lang="en-US" altLang="en-US" sz="1300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471959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00DF118-1BAA-4210-835E-E04DBE6ACFBD}" type="slidenum">
              <a:rPr lang="en-US" altLang="en-US" sz="1300" smtClean="0"/>
              <a:pPr/>
              <a:t>3</a:t>
            </a:fld>
            <a:endParaRPr lang="en-US" altLang="en-US" sz="13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640802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FBFD2F5-2315-4610-B6F2-53A15FFB480C}" type="slidenum">
              <a:rPr lang="en-US" altLang="en-US" sz="1300" smtClean="0"/>
              <a:pPr/>
              <a:t>4</a:t>
            </a:fld>
            <a:endParaRPr lang="en-US" altLang="en-US" sz="13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COBOL records are not implemented as records within records. How does this affect the language evaluation criteria of COBOL?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How does the use of level numbers affect the language evaluation criteria for COBOL?</a:t>
            </a:r>
          </a:p>
        </p:txBody>
      </p:sp>
    </p:spTree>
    <p:extLst>
      <p:ext uri="{BB962C8B-B14F-4D97-AF65-F5344CB8AC3E}">
        <p14:creationId xmlns:p14="http://schemas.microsoft.com/office/powerpoint/2010/main" val="47230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19122FA-40D1-476A-82A3-90D4441C111F}" type="slidenum">
              <a:rPr lang="en-US" altLang="en-US" sz="1300" smtClean="0"/>
              <a:pPr/>
              <a:t>5</a:t>
            </a:fld>
            <a:endParaRPr lang="en-US" altLang="en-US" sz="130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smtClean="0"/>
              <a:t>How does Ada’s use of records within records affect the orthogonality of the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298218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3FB2D8E-7902-4DC9-B487-50FB664AE837}" type="slidenum">
              <a:rPr lang="en-US" altLang="en-US" sz="1300" smtClean="0"/>
              <a:pPr/>
              <a:t>6</a:t>
            </a:fld>
            <a:endParaRPr lang="en-US" altLang="en-US" sz="1300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smtClean="0"/>
              <a:t>How does support for elliptical references affect (positively and negatively) the language evaluation criteria of a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3818334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The textbook states that the base index for Python tuples is 1. This is incorrect, and the base index is 0, as stated in this slide.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3607B7-F5DE-41A0-AAC7-F585AED426A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466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B830D99-D29A-44C4-A79C-2BE4A1073836}" type="slidenum">
              <a:rPr lang="en-US" altLang="en-US" sz="1300" smtClean="0"/>
              <a:pPr/>
              <a:t>11</a:t>
            </a:fld>
            <a:endParaRPr lang="en-US" altLang="en-US" sz="13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366226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4D30014-44A7-4B8D-8A1C-2E24D6D49C6E}" type="slidenum">
              <a:rPr lang="en-US" altLang="en-US" sz="1300" smtClean="0"/>
              <a:pPr/>
              <a:t>12</a:t>
            </a:fld>
            <a:endParaRPr lang="en-US" altLang="en-US" sz="130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8548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5A272EE-F34B-4420-AE61-F6ED3B8AAD3F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938820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44F6354-0022-4B1B-AAE1-332367430254}" type="slidenum">
              <a:rPr lang="en-US" altLang="en-US" sz="1300" smtClean="0"/>
              <a:pPr/>
              <a:t>15</a:t>
            </a:fld>
            <a:endParaRPr lang="en-US" altLang="en-US" sz="1300" smtClean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48504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D4266AC-FB27-46B6-9F59-747323A15460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470645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BA3E3802-AC72-41F8-AA7D-E96D5213CA1E}" type="slidenum">
              <a:rPr lang="en-US" altLang="en-US" sz="1300" smtClean="0"/>
              <a:pPr/>
              <a:t>17</a:t>
            </a:fld>
            <a:endParaRPr lang="en-US" altLang="en-US" sz="1300" smtClean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An implicit dereferencing means that a dereferencing operator is not used</a:t>
            </a:r>
            <a:r>
              <a:rPr lang="en-ZA" altLang="en-US" baseline="0" noProof="0" dirty="0" smtClean="0"/>
              <a:t> when you want to get the value the pointer points to. Instead, you simply use the pointer, and you’ll get the value being pointed to (not its address). </a:t>
            </a:r>
            <a:r>
              <a:rPr lang="en-ZA" altLang="en-US" noProof="0" dirty="0" smtClean="0"/>
              <a:t>What are the implications of implicit dereferencing?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392221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8962A39-C27D-49B0-A273-6C8F010F7B21}" type="slidenum">
              <a:rPr lang="en-US" altLang="en-US" sz="1300" smtClean="0"/>
              <a:pPr/>
              <a:t>18</a:t>
            </a:fld>
            <a:endParaRPr lang="en-US" altLang="en-US" sz="1300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4182776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9B704658-DBC7-431B-A576-CB8DD45A7795}" type="slidenum">
              <a:rPr lang="en-US" altLang="en-US" sz="1300" smtClean="0"/>
              <a:pPr/>
              <a:t>19</a:t>
            </a:fld>
            <a:endParaRPr lang="en-US" altLang="en-US" sz="1300" smtClean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1"/>
            <a:r>
              <a:rPr lang="en-US" altLang="en-US" dirty="0" smtClean="0"/>
              <a:t>Here’s an example of a void pointer in C++:</a:t>
            </a:r>
          </a:p>
          <a:p>
            <a:pPr latinLnBrk="1"/>
            <a:endParaRPr lang="en-US" altLang="en-US" dirty="0" smtClean="0"/>
          </a:p>
          <a:p>
            <a:pPr latinLnBrk="1"/>
            <a:r>
              <a:rPr lang="en-US" altLang="en-US" dirty="0" err="1" smtClean="0"/>
              <a:t>int</a:t>
            </a:r>
            <a:r>
              <a:rPr lang="en-US" altLang="en-US" dirty="0" smtClean="0"/>
              <a:t> value = 5;</a:t>
            </a:r>
          </a:p>
          <a:p>
            <a:pPr latinLnBrk="1"/>
            <a:r>
              <a:rPr lang="en-US" altLang="en-US" dirty="0" smtClean="0"/>
              <a:t>void *</a:t>
            </a:r>
            <a:r>
              <a:rPr lang="en-US" altLang="en-US" dirty="0" err="1" smtClean="0"/>
              <a:t>voidPtr</a:t>
            </a:r>
            <a:r>
              <a:rPr lang="en-US" altLang="en-US" dirty="0" smtClean="0"/>
              <a:t> = &amp;value;</a:t>
            </a:r>
          </a:p>
          <a:p>
            <a:pPr latinLnBrk="1"/>
            <a:r>
              <a:rPr lang="en-US" altLang="en-US" dirty="0" smtClean="0"/>
              <a:t> </a:t>
            </a:r>
          </a:p>
          <a:p>
            <a:pPr latinLnBrk="1"/>
            <a:r>
              <a:rPr lang="en-US" altLang="en-US" dirty="0" smtClean="0"/>
              <a:t>//</a:t>
            </a:r>
            <a:r>
              <a:rPr lang="en-US" altLang="en-US" dirty="0" err="1" smtClean="0"/>
              <a:t>cout</a:t>
            </a:r>
            <a:r>
              <a:rPr lang="en-US" altLang="en-US" dirty="0" smtClean="0"/>
              <a:t> &lt;&lt; *</a:t>
            </a:r>
            <a:r>
              <a:rPr lang="en-US" altLang="en-US" dirty="0" err="1" smtClean="0"/>
              <a:t>voidPtr</a:t>
            </a:r>
            <a:r>
              <a:rPr lang="en-US" altLang="en-US" dirty="0" smtClean="0"/>
              <a:t> &lt;&lt; </a:t>
            </a:r>
            <a:r>
              <a:rPr lang="en-US" altLang="en-US" dirty="0" err="1" smtClean="0"/>
              <a:t>endl</a:t>
            </a:r>
            <a:r>
              <a:rPr lang="en-US" altLang="en-US" dirty="0" smtClean="0"/>
              <a:t>;                    // this is illegal</a:t>
            </a:r>
          </a:p>
          <a:p>
            <a:pPr latinLnBrk="1"/>
            <a:endParaRPr lang="en-US" altLang="en-US" dirty="0" smtClean="0"/>
          </a:p>
          <a:p>
            <a:pPr latinLnBrk="1"/>
            <a:r>
              <a:rPr lang="en-US" altLang="en-US" dirty="0" err="1" smtClean="0"/>
              <a:t>int</a:t>
            </a:r>
            <a:r>
              <a:rPr lang="en-US" altLang="en-US" dirty="0" smtClean="0"/>
              <a:t> *</a:t>
            </a:r>
            <a:r>
              <a:rPr lang="en-US" altLang="en-US" dirty="0" err="1" smtClean="0"/>
              <a:t>intPtr</a:t>
            </a:r>
            <a:r>
              <a:rPr lang="en-US" altLang="en-US" dirty="0" smtClean="0"/>
              <a:t> = </a:t>
            </a:r>
            <a:r>
              <a:rPr lang="en-US" altLang="en-US" dirty="0" err="1" smtClean="0"/>
              <a:t>static_cast</a:t>
            </a:r>
            <a:r>
              <a:rPr lang="en-US" altLang="en-US" dirty="0" smtClean="0"/>
              <a:t>&lt;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*&gt;(</a:t>
            </a:r>
            <a:r>
              <a:rPr lang="en-US" altLang="en-US" dirty="0" err="1" smtClean="0"/>
              <a:t>voidPtr</a:t>
            </a:r>
            <a:r>
              <a:rPr lang="en-US" altLang="en-US" dirty="0" smtClean="0"/>
              <a:t>);   // here we cast the void pointer to an 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 pointer</a:t>
            </a:r>
          </a:p>
          <a:p>
            <a:pPr latinLnBrk="1"/>
            <a:r>
              <a:rPr lang="en-US" altLang="en-US" dirty="0" err="1" smtClean="0"/>
              <a:t>cout</a:t>
            </a:r>
            <a:r>
              <a:rPr lang="en-US" altLang="en-US" dirty="0" smtClean="0"/>
              <a:t> &lt;&lt; *</a:t>
            </a:r>
            <a:r>
              <a:rPr lang="en-US" altLang="en-US" dirty="0" err="1" smtClean="0"/>
              <a:t>intPtr</a:t>
            </a:r>
            <a:r>
              <a:rPr lang="en-US" altLang="en-US" dirty="0" smtClean="0"/>
              <a:t> &lt;&lt; </a:t>
            </a:r>
            <a:r>
              <a:rPr lang="en-US" altLang="en-US" dirty="0" err="1" smtClean="0"/>
              <a:t>endl</a:t>
            </a:r>
            <a:r>
              <a:rPr lang="en-US" altLang="en-US" dirty="0" smtClean="0"/>
              <a:t>;                         // dereferencing the cast pointer is legal</a:t>
            </a:r>
          </a:p>
          <a:p>
            <a:pPr latinLnBrk="1"/>
            <a:endParaRPr lang="en-US" altLang="en-US" dirty="0" smtClean="0"/>
          </a:p>
          <a:p>
            <a:pPr latinLnBrk="1"/>
            <a:r>
              <a:rPr lang="en-US" altLang="en-US" dirty="0" smtClean="0"/>
              <a:t>It is possible to cast a</a:t>
            </a:r>
            <a:r>
              <a:rPr lang="en-US" altLang="en-US" baseline="0" dirty="0" smtClean="0"/>
              <a:t> void pointer to a pointer for an incorrect type. For example, the previous example could have performed a static cast to a float*, and assigned the result to the variable float *</a:t>
            </a:r>
            <a:r>
              <a:rPr lang="en-US" altLang="en-US" baseline="0" dirty="0" err="1" smtClean="0"/>
              <a:t>floatPtr</a:t>
            </a:r>
            <a:r>
              <a:rPr lang="en-US" altLang="en-US" baseline="0" dirty="0" smtClean="0"/>
              <a:t>. In this case, the compiler will accept the cast, but the value pointed to will be garbage. Therefore, dereferencing </a:t>
            </a:r>
            <a:r>
              <a:rPr lang="en-US" altLang="en-US" baseline="0" dirty="0" err="1" smtClean="0"/>
              <a:t>floatPtr</a:t>
            </a:r>
            <a:r>
              <a:rPr lang="en-US" altLang="en-US" baseline="0" dirty="0" smtClean="0"/>
              <a:t> will produce a value unrelated to 5</a:t>
            </a:r>
            <a:r>
              <a:rPr lang="en-US" altLang="en-US" baseline="0" dirty="0" smtClean="0"/>
              <a:t>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7207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9B704658-DBC7-431B-A576-CB8DD45A7795}" type="slidenum">
              <a:rPr lang="en-US" altLang="en-US" sz="1300" smtClean="0"/>
              <a:pPr/>
              <a:t>20</a:t>
            </a:fld>
            <a:endParaRPr lang="en-US" altLang="en-US" sz="1300" smtClean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9471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313A199-3CA1-48E6-87D3-82FFCBBE7182}" type="slidenum">
              <a:rPr lang="en-US" altLang="en-US" sz="1300" smtClean="0"/>
              <a:pPr/>
              <a:t>21</a:t>
            </a:fld>
            <a:endParaRPr lang="en-US" altLang="en-US" sz="1300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8560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313A199-3CA1-48E6-87D3-82FFCBBE7182}" type="slidenum">
              <a:rPr lang="en-US" altLang="en-US" sz="1300" smtClean="0"/>
              <a:pPr/>
              <a:t>22</a:t>
            </a:fld>
            <a:endParaRPr lang="en-US" altLang="en-US" sz="1300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07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When type bindings are static, dynamic type checking may</a:t>
            </a:r>
            <a:r>
              <a:rPr lang="en-ZA" baseline="0" dirty="0" smtClean="0"/>
              <a:t> still be necessary in certain cases. One example of this is when a programming language supports subtypes. In such a language, we can define two types, A and B, where B is a subtype of A. If we define a variable of type A, called </a:t>
            </a:r>
            <a:r>
              <a:rPr lang="en-ZA" baseline="0" dirty="0" err="1" smtClean="0"/>
              <a:t>myVar</a:t>
            </a:r>
            <a:r>
              <a:rPr lang="en-ZA" baseline="0" dirty="0" smtClean="0"/>
              <a:t>, it can store a value of type B. We can then convert </a:t>
            </a:r>
            <a:r>
              <a:rPr lang="en-ZA" baseline="0" dirty="0" err="1" smtClean="0"/>
              <a:t>myVar</a:t>
            </a:r>
            <a:r>
              <a:rPr lang="en-ZA" baseline="0" dirty="0" smtClean="0"/>
              <a:t> to type B, which is called </a:t>
            </a:r>
            <a:r>
              <a:rPr lang="en-ZA" baseline="0" dirty="0" err="1" smtClean="0"/>
              <a:t>downcasting</a:t>
            </a:r>
            <a:r>
              <a:rPr lang="en-ZA" baseline="0" dirty="0" smtClean="0"/>
              <a:t>. However, it is not guaranteed that </a:t>
            </a:r>
            <a:r>
              <a:rPr lang="en-ZA" baseline="0" dirty="0" err="1" smtClean="0"/>
              <a:t>myVar</a:t>
            </a:r>
            <a:r>
              <a:rPr lang="en-ZA" baseline="0" dirty="0" smtClean="0"/>
              <a:t> actually stores a value of type B. If </a:t>
            </a:r>
            <a:r>
              <a:rPr lang="en-ZA" baseline="0" dirty="0" err="1" smtClean="0"/>
              <a:t>myVar</a:t>
            </a:r>
            <a:r>
              <a:rPr lang="en-ZA" baseline="0" dirty="0" smtClean="0"/>
              <a:t> is actually storing a value of type B, then the downcast will be successful. If not, a type error will occur. The error can only be detected at runtime, meaning that the type checking in this instance is dynamic. We see this kind of </a:t>
            </a:r>
            <a:r>
              <a:rPr lang="en-ZA" baseline="0" dirty="0" err="1" smtClean="0"/>
              <a:t>downcasting</a:t>
            </a:r>
            <a:r>
              <a:rPr lang="en-ZA" baseline="0" dirty="0" smtClean="0"/>
              <a:t> in object-oriented programming languages.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3607B7-F5DE-41A0-AAC7-F585AED426A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28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Explicit casting in Java can lead to type errors. For example, assume the class Child inherits from the class Parent. The following will</a:t>
            </a:r>
            <a:r>
              <a:rPr lang="en-US" altLang="en-US" baseline="0" dirty="0" smtClean="0"/>
              <a:t> compile in Java:</a:t>
            </a:r>
            <a:endParaRPr lang="en-US" altLang="en-US" dirty="0" smtClean="0"/>
          </a:p>
          <a:p>
            <a:endParaRPr lang="en-US" altLang="en-US" dirty="0" smtClean="0"/>
          </a:p>
          <a:p>
            <a:r>
              <a:rPr lang="en-ZA" sz="1200" kern="1200" dirty="0" smtClean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Child</a:t>
            </a:r>
            <a:r>
              <a:rPr lang="en-ZA" dirty="0" smtClean="0"/>
              <a:t> </a:t>
            </a:r>
            <a:r>
              <a:rPr lang="en-ZA" sz="1200" kern="1200" dirty="0" err="1" smtClean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obj</a:t>
            </a:r>
            <a:r>
              <a:rPr lang="en-ZA" dirty="0" smtClean="0"/>
              <a:t> </a:t>
            </a:r>
            <a:r>
              <a:rPr lang="en-ZA" sz="1200" kern="1200" dirty="0" smtClean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=</a:t>
            </a:r>
            <a:r>
              <a:rPr lang="en-ZA" dirty="0" smtClean="0"/>
              <a:t> (Child) </a:t>
            </a:r>
            <a:r>
              <a:rPr lang="en-ZA" sz="1200" kern="1200" dirty="0" smtClean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new</a:t>
            </a:r>
            <a:r>
              <a:rPr lang="en-ZA" dirty="0" smtClean="0"/>
              <a:t> </a:t>
            </a:r>
            <a:r>
              <a:rPr lang="en-ZA" sz="1200" kern="1200" dirty="0" smtClean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Parent</a:t>
            </a:r>
            <a:r>
              <a:rPr lang="en-ZA" dirty="0" smtClean="0"/>
              <a:t>();</a:t>
            </a:r>
          </a:p>
          <a:p>
            <a:endParaRPr lang="en-ZA" altLang="en-US" dirty="0" smtClean="0"/>
          </a:p>
          <a:p>
            <a:r>
              <a:rPr lang="en-ZA" altLang="en-US" dirty="0" smtClean="0"/>
              <a:t>However, a runtime error will occur. Here the programmer is performing an explicit cast, which the compiler will accept because an object reference to a Parent could be an instance of class Child. Only at runtime does the JVM determine that the Parent object reference is not actually a Child object.</a:t>
            </a:r>
            <a:endParaRPr lang="en-US" altLang="en-US" dirty="0" smtClean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0EF5DA5-FC2A-43C8-B334-2ECE0280F8F2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741195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48550" y="658336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n-US" altLang="en-US" sz="1200" smtClean="0">
              <a:latin typeface="Courier" pitchFamily="49" charset="0"/>
            </a:endParaRPr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8" descr="Front Cover: Concepts of Programming Languages, Global Edition, by Robert W Sebesta&#10;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607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76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758206BA-BBBB-45AB-B6AF-30BC5A3790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076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B733DF0-028F-4B11-99BE-EA5D7C13C8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81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4F1E652-B30B-42A2-B801-2B45049CB5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13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D4CE6CE-EC61-443F-BDCB-FD9B2540C2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05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EF7C87E-07FD-4F0F-BE61-AB3BCCDF93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70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7F5C674A-681B-47D1-B2FC-CC6BB9FB6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73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F5E95C22-65E3-4A0A-83C0-1D85248CC2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15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6665124-C59B-456C-A150-3C84BFDFE3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6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371D2EE-36B0-47D0-8EC6-2F08790301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92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3FC11C87-959C-4BB7-BEE1-0FAF688CA2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57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2017 Addison-Wesley. All rights reserved.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127924CD-7928-4C5D-AF84-7BD40A7ADE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6</a:t>
            </a:r>
            <a:br>
              <a:rPr lang="en-US" altLang="en-US" dirty="0" smtClean="0"/>
            </a:br>
            <a:r>
              <a:rPr lang="en-US" altLang="en-US" sz="2800" dirty="0" smtClean="0"/>
              <a:t>Part 2</a:t>
            </a:r>
            <a:endParaRPr lang="en-US" altLang="en-US" dirty="0" smtClean="0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Types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6517C16-243F-4595-8454-F472DD36906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6 Topics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Record Types</a:t>
            </a:r>
          </a:p>
          <a:p>
            <a:pPr eaLnBrk="1" hangingPunct="1"/>
            <a:r>
              <a:rPr lang="en-US" altLang="en-US" sz="2400" dirty="0" smtClean="0"/>
              <a:t>Tuple Types</a:t>
            </a:r>
          </a:p>
          <a:p>
            <a:pPr eaLnBrk="1" hangingPunct="1"/>
            <a:r>
              <a:rPr lang="en-US" altLang="en-US" sz="2400" dirty="0" smtClean="0"/>
              <a:t>List Types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Union Types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Pointer and Reference Types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Type Checking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Strong Typing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Type </a:t>
            </a:r>
            <a:r>
              <a:rPr lang="en-US" altLang="en-US" sz="2400" dirty="0" smtClean="0"/>
              <a:t>Equivalence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271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37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B677C90-0E32-4120-A9AA-79FE75ABC94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Record Types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92118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u="sng" dirty="0" smtClean="0"/>
              <a:t>record</a:t>
            </a:r>
            <a:endParaRPr lang="en-US" altLang="en-US" sz="2400" dirty="0" smtClean="0"/>
          </a:p>
          <a:p>
            <a:pPr lvl="1" eaLnBrk="1" hangingPunct="1"/>
            <a:r>
              <a:rPr lang="en-US" altLang="en-US" sz="2000" dirty="0" smtClean="0"/>
              <a:t>A possibly heterogeneous aggregate of data elements</a:t>
            </a:r>
          </a:p>
          <a:p>
            <a:pPr lvl="1" eaLnBrk="1" hangingPunct="1"/>
            <a:r>
              <a:rPr lang="en-US" altLang="en-US" sz="2000" dirty="0" smtClean="0"/>
              <a:t>Data elements are called </a:t>
            </a:r>
            <a:r>
              <a:rPr lang="en-US" altLang="en-US" sz="2000" u="sng" dirty="0" smtClean="0"/>
              <a:t>fields</a:t>
            </a:r>
            <a:r>
              <a:rPr lang="en-US" altLang="en-US" sz="2000" dirty="0" smtClean="0"/>
              <a:t>, and identified by names</a:t>
            </a:r>
          </a:p>
          <a:p>
            <a:pPr eaLnBrk="1" hangingPunct="1"/>
            <a:r>
              <a:rPr lang="en-US" altLang="en-US" sz="2400" dirty="0" smtClean="0"/>
              <a:t>Design issues</a:t>
            </a:r>
          </a:p>
          <a:p>
            <a:pPr lvl="1" eaLnBrk="1" hangingPunct="1"/>
            <a:r>
              <a:rPr lang="en-US" altLang="en-US" sz="2000" dirty="0" smtClean="0"/>
              <a:t>What is the syntactic form of a field reference? </a:t>
            </a:r>
          </a:p>
          <a:p>
            <a:pPr lvl="1" eaLnBrk="1" hangingPunct="1"/>
            <a:r>
              <a:rPr lang="en-US" altLang="en-US" sz="2000" dirty="0" smtClean="0"/>
              <a:t>Are elliptical references allowed?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57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3F91E8C-6D50-4304-B9C5-6052613AB51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Records in COBOL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92118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COBOL allows nested records</a:t>
            </a:r>
          </a:p>
          <a:p>
            <a:pPr lvl="1" eaLnBrk="1" hangingPunct="1"/>
            <a:r>
              <a:rPr lang="en-US" altLang="en-US" sz="2000" dirty="0" smtClean="0"/>
              <a:t>Level numbers show hierarchical structure</a:t>
            </a:r>
          </a:p>
          <a:p>
            <a:pPr lvl="1" eaLnBrk="1" hangingPunct="1">
              <a:buFontTx/>
              <a:buNone/>
            </a:pPr>
            <a:endParaRPr lang="en-US" altLang="en-US" sz="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01 EMPLOYEE-RECORD.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02 EMPLOYEE-NAME.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05 FIRST    PICTURE IS X(20).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05 MIDDLE   PICTURE IS X(10).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05 LAST     PICTURE IS X(20).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02 HOURLY-RATE PICTURE IS 99V99.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78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FFC133A-771A-454D-BEAC-A8BD80635B0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Orthogonal Records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00922"/>
            <a:ext cx="8304212" cy="48768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Languages other than COBOL use records in records</a:t>
            </a:r>
          </a:p>
          <a:p>
            <a:pPr eaLnBrk="1" hangingPunct="1"/>
            <a:r>
              <a:rPr lang="en-US" altLang="en-US" sz="2400" dirty="0" smtClean="0"/>
              <a:t>For example, in Ada:</a:t>
            </a:r>
          </a:p>
          <a:p>
            <a:pPr eaLnBrk="1" hangingPunct="1">
              <a:buFontTx/>
              <a:buNone/>
            </a:pPr>
            <a:endParaRPr lang="en-US" altLang="en-US" sz="800" dirty="0" smtClean="0"/>
          </a:p>
          <a:p>
            <a:pPr eaLnBrk="1" hangingPunct="1"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Employee_Name_Type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record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First: String (1..20);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Middle: String (1..10);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Last: String (1..20);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 record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endParaRPr lang="en-US" altLang="en-US" sz="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Employee_Record_Type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record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Employee_Name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Employee_Name_Type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Hourly_Rate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Float;</a:t>
            </a:r>
          </a:p>
          <a:p>
            <a:pPr eaLnBrk="1" hangingPunct="1"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 record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endParaRPr lang="en-US" altLang="en-US" sz="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Employee_Record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Employee_Record_Type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98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48EF7A9-4F67-418F-AECC-2605F7B2448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References to Records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Record field references</a:t>
            </a:r>
          </a:p>
          <a:p>
            <a:pPr lvl="1" eaLnBrk="1" hangingPunct="1"/>
            <a:r>
              <a:rPr lang="en-US" altLang="en-US" sz="2000" dirty="0" smtClean="0"/>
              <a:t>COBOL</a:t>
            </a:r>
          </a:p>
          <a:p>
            <a:pPr lvl="2"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MIDDLE OF EMPLOYEE-NAME OF EMPLOYEE-RECORD</a:t>
            </a:r>
          </a:p>
          <a:p>
            <a:pPr lvl="2" eaLnBrk="1" hangingPunct="1">
              <a:buFontTx/>
              <a:buNone/>
            </a:pPr>
            <a:endParaRPr lang="en-US" altLang="en-US" sz="400" dirty="0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2000" dirty="0" smtClean="0"/>
              <a:t>Other languages use dot notation</a:t>
            </a:r>
          </a:p>
          <a:p>
            <a:pPr lvl="2" eaLnBrk="1" hangingPunct="1"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Employee_Record.Employee_Name.Middle</a:t>
            </a:r>
            <a:endParaRPr lang="en-US" altLang="en-US" sz="1800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400" dirty="0" smtClean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400" dirty="0" smtClean="0"/>
              <a:t>Fully qualified references</a:t>
            </a:r>
          </a:p>
          <a:p>
            <a:pPr lvl="1" eaLnBrk="1" hangingPunct="1"/>
            <a:r>
              <a:rPr lang="en-US" altLang="en-US" sz="2000" dirty="0" smtClean="0"/>
              <a:t>Must include all record names</a:t>
            </a:r>
          </a:p>
          <a:p>
            <a:pPr eaLnBrk="1" hangingPunct="1">
              <a:buFontTx/>
              <a:buNone/>
            </a:pPr>
            <a:endParaRPr lang="en-US" altLang="en-US" sz="400" dirty="0" smtClean="0"/>
          </a:p>
          <a:p>
            <a:pPr eaLnBrk="1" hangingPunct="1"/>
            <a:r>
              <a:rPr lang="en-US" altLang="en-US" sz="2400" dirty="0" smtClean="0"/>
              <a:t>Elliptical references</a:t>
            </a:r>
          </a:p>
          <a:p>
            <a:pPr lvl="1" eaLnBrk="1" hangingPunct="1"/>
            <a:r>
              <a:rPr lang="en-US" altLang="en-US" sz="1800" dirty="0" smtClean="0"/>
              <a:t>Allow leaving out record names if the reference is unambiguous</a:t>
            </a:r>
          </a:p>
          <a:p>
            <a:pPr lvl="1" eaLnBrk="1" hangingPunct="1"/>
            <a:r>
              <a:rPr lang="en-US" altLang="en-US" sz="1800" dirty="0" smtClean="0"/>
              <a:t>For example in COBOL, the following are all equivalent</a:t>
            </a:r>
          </a:p>
          <a:p>
            <a:pPr lvl="2" eaLnBrk="1" hangingPunct="1">
              <a:buFontTx/>
              <a:buNone/>
            </a:pPr>
            <a:r>
              <a:rPr lang="en-US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FIRST</a:t>
            </a:r>
          </a:p>
          <a:p>
            <a:pPr lvl="2" eaLnBrk="1" hangingPunct="1">
              <a:buFontTx/>
              <a:buNone/>
            </a:pPr>
            <a:r>
              <a:rPr lang="en-US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FIRST OF EMPLOYEE-NAME</a:t>
            </a:r>
            <a:endParaRPr lang="en-US" altLang="en-US" sz="1600" dirty="0" smtClean="0"/>
          </a:p>
          <a:p>
            <a:pPr lvl="2" eaLnBrk="1" hangingPunct="1">
              <a:buFontTx/>
              <a:buNone/>
            </a:pPr>
            <a:r>
              <a:rPr lang="en-US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FIRST</a:t>
            </a:r>
            <a:r>
              <a:rPr lang="en-US" altLang="en-US" sz="1600" dirty="0" smtClean="0">
                <a:latin typeface="Courier New" panose="02070309020205020404" pitchFamily="49" charset="0"/>
              </a:rPr>
              <a:t> OF EMPLOYEE-RECORD</a:t>
            </a:r>
            <a:endParaRPr lang="en-US" altLang="en-US" sz="160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Tuple Types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572000"/>
          </a:xfrm>
        </p:spPr>
        <p:txBody>
          <a:bodyPr/>
          <a:lstStyle/>
          <a:p>
            <a:r>
              <a:rPr lang="en-US" altLang="en-US" sz="2400" dirty="0" smtClean="0"/>
              <a:t>Similar to a record</a:t>
            </a:r>
          </a:p>
          <a:p>
            <a:pPr lvl="1"/>
            <a:r>
              <a:rPr lang="en-US" altLang="en-US" sz="2000" dirty="0" smtClean="0"/>
              <a:t>However, the elements are not named</a:t>
            </a:r>
          </a:p>
          <a:p>
            <a:r>
              <a:rPr lang="en-US" altLang="en-US" sz="2400" dirty="0" smtClean="0"/>
              <a:t>Used in Python, ML, and F#</a:t>
            </a:r>
          </a:p>
          <a:p>
            <a:pPr lvl="1"/>
            <a:r>
              <a:rPr lang="en-US" altLang="en-US" sz="2000" dirty="0" smtClean="0"/>
              <a:t>Allow functions to return multiple values</a:t>
            </a:r>
          </a:p>
          <a:p>
            <a:r>
              <a:rPr lang="en-US" altLang="en-US" sz="2400" dirty="0" smtClean="0"/>
              <a:t>In Python</a:t>
            </a:r>
          </a:p>
          <a:p>
            <a:pPr lvl="1"/>
            <a:r>
              <a:rPr lang="en-US" altLang="en-US" sz="2000" dirty="0" smtClean="0"/>
              <a:t>Closely related to lists, but are immutable</a:t>
            </a:r>
          </a:p>
          <a:p>
            <a:pPr lvl="1"/>
            <a:r>
              <a:rPr lang="en-US" altLang="en-US" sz="2000" dirty="0" smtClean="0"/>
              <a:t>Create with a tuple literal</a:t>
            </a:r>
            <a:endParaRPr lang="en-US" altLang="en-US" sz="500" dirty="0" smtClean="0"/>
          </a:p>
          <a:p>
            <a:pPr lvl="1">
              <a:buFontTx/>
              <a:buNone/>
            </a:pPr>
            <a:r>
              <a:rPr lang="en-US" altLang="en-US" sz="1800" dirty="0" smtClean="0">
                <a:solidFill>
                  <a:srgbClr val="666699"/>
                </a:solidFill>
              </a:rPr>
              <a:t>   	    </a:t>
            </a:r>
            <a:r>
              <a:rPr lang="en-US" altLang="en-US" sz="2000" dirty="0" err="1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myTuple</a:t>
            </a: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(3, 5.8, 'apple')</a:t>
            </a:r>
          </a:p>
          <a:p>
            <a:pPr lvl="1">
              <a:buFontTx/>
              <a:buNone/>
            </a:pPr>
            <a:endParaRPr lang="en-US" altLang="en-US" sz="500" dirty="0" smtClean="0"/>
          </a:p>
          <a:p>
            <a:pPr lvl="1"/>
            <a:r>
              <a:rPr lang="en-US" altLang="en-US" sz="2000" dirty="0" smtClean="0"/>
              <a:t>Referenced with subscripts (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myTuple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altLang="en-US" sz="2000" dirty="0" smtClean="0"/>
              <a:t> references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2000" dirty="0" smtClean="0"/>
              <a:t>)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860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E5952FC-7150-4439-BE0B-F02B308C6E2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List Types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724400"/>
          </a:xfrm>
        </p:spPr>
        <p:txBody>
          <a:bodyPr/>
          <a:lstStyle/>
          <a:p>
            <a:r>
              <a:rPr lang="en-US" altLang="en-US" sz="2400" dirty="0" smtClean="0"/>
              <a:t>A list</a:t>
            </a:r>
          </a:p>
          <a:p>
            <a:pPr lvl="1"/>
            <a:r>
              <a:rPr lang="en-US" altLang="en-US" sz="2000" dirty="0" smtClean="0"/>
              <a:t>Ordered sequence of often heterogeneous values</a:t>
            </a:r>
          </a:p>
          <a:p>
            <a:pPr lvl="1"/>
            <a:r>
              <a:rPr lang="en-US" altLang="en-US" sz="2000" dirty="0" smtClean="0"/>
              <a:t>Typically represented as a linked list</a:t>
            </a:r>
          </a:p>
          <a:p>
            <a:r>
              <a:rPr lang="en-US" altLang="en-US" sz="2400" dirty="0" smtClean="0"/>
              <a:t>Lists in LISP and Scheme</a:t>
            </a:r>
          </a:p>
          <a:p>
            <a:pPr lvl="1"/>
            <a:r>
              <a:rPr lang="en-US" altLang="en-US" sz="2000" dirty="0" smtClean="0"/>
              <a:t>We’ve discussed these in Chapter 15</a:t>
            </a:r>
          </a:p>
          <a:p>
            <a:pPr lvl="1"/>
            <a:r>
              <a:rPr lang="en-US" altLang="en-US" sz="2000" dirty="0" smtClean="0"/>
              <a:t>These lists are immutable</a:t>
            </a:r>
            <a:endParaRPr lang="en-US" altLang="en-US" sz="1800" dirty="0" smtClean="0"/>
          </a:p>
        </p:txBody>
      </p:sp>
      <p:sp>
        <p:nvSpPr>
          <p:cNvPr id="8806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880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CFDC0EA-DAAB-41E7-B19E-9B57BEE0E77D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List Types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876800"/>
          </a:xfrm>
        </p:spPr>
        <p:txBody>
          <a:bodyPr/>
          <a:lstStyle/>
          <a:p>
            <a:r>
              <a:rPr lang="en-US" altLang="en-US" sz="2400" dirty="0" smtClean="0"/>
              <a:t>Python lists</a:t>
            </a:r>
          </a:p>
          <a:p>
            <a:pPr lvl="1"/>
            <a:r>
              <a:rPr lang="en-US" altLang="en-US" sz="2000" dirty="0" smtClean="0"/>
              <a:t>Also serve as heterogeneous arrays</a:t>
            </a:r>
          </a:p>
          <a:p>
            <a:pPr lvl="1"/>
            <a:r>
              <a:rPr lang="en-US" altLang="en-US" sz="2000" dirty="0" smtClean="0"/>
              <a:t>Python’s lists are mutable</a:t>
            </a:r>
          </a:p>
          <a:p>
            <a:pPr lvl="1"/>
            <a:r>
              <a:rPr lang="en-US" altLang="en-US" sz="2000" dirty="0" smtClean="0"/>
              <a:t>Elements can be of any type</a:t>
            </a:r>
          </a:p>
          <a:p>
            <a:pPr lvl="1"/>
            <a:r>
              <a:rPr lang="en-US" altLang="en-US" sz="2000" dirty="0" smtClean="0"/>
              <a:t>Create a list with an assignment</a:t>
            </a:r>
          </a:p>
          <a:p>
            <a:pPr lvl="1">
              <a:buFontTx/>
              <a:buNone/>
            </a:pPr>
            <a:r>
              <a:rPr lang="en-US" altLang="en-US" sz="2000" dirty="0" smtClean="0">
                <a:solidFill>
                  <a:srgbClr val="666699"/>
                </a:solidFill>
              </a:rPr>
              <a:t>       </a:t>
            </a:r>
            <a:r>
              <a:rPr lang="en-US" altLang="en-US" sz="2000" dirty="0" err="1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[3, 5.8, "grape</a:t>
            </a: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"</a:t>
            </a: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>
              <a:buFontTx/>
              <a:buNone/>
            </a:pPr>
            <a:endParaRPr lang="en-US" altLang="en-US" sz="500" dirty="0" smtClean="0">
              <a:solidFill>
                <a:srgbClr val="6666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2000" dirty="0"/>
              <a:t>List elements are referenced with subscripting</a:t>
            </a:r>
          </a:p>
          <a:p>
            <a:pPr lvl="2"/>
            <a:r>
              <a:rPr lang="en-US" altLang="en-US" sz="2000" dirty="0"/>
              <a:t>Indices begin at zero</a:t>
            </a:r>
          </a:p>
          <a:p>
            <a:pPr lvl="2"/>
            <a:r>
              <a:rPr lang="en-US" altLang="en-US" sz="2000" dirty="0"/>
              <a:t>For example, to set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000" dirty="0"/>
              <a:t> to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5.8</a:t>
            </a:r>
          </a:p>
          <a:p>
            <a:pPr lvl="1">
              <a:buFontTx/>
              <a:buNone/>
            </a:pPr>
            <a:r>
              <a:rPr lang="en-US" altLang="en-US" sz="2000" dirty="0">
                <a:solidFill>
                  <a:srgbClr val="666699"/>
                </a:solidFill>
              </a:rPr>
              <a:t>           </a:t>
            </a:r>
            <a:r>
              <a:rPr lang="en-US" altLang="en-US" sz="1800" dirty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altLang="en-US" sz="1800" dirty="0" err="1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sz="1800" dirty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</a:p>
          <a:p>
            <a:pPr lvl="1"/>
            <a:endParaRPr lang="en-US" altLang="en-US" sz="400" dirty="0"/>
          </a:p>
          <a:p>
            <a:pPr lvl="1"/>
            <a:r>
              <a:rPr lang="en-US" altLang="en-US" sz="2000" dirty="0"/>
              <a:t>List elements can be deleted with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</a:p>
          <a:p>
            <a:pPr lvl="1">
              <a:buFontTx/>
              <a:buNone/>
            </a:pPr>
            <a:r>
              <a:rPr lang="en-US" altLang="en-US" sz="2000" dirty="0">
                <a:solidFill>
                  <a:srgbClr val="666699"/>
                </a:solidFill>
              </a:rPr>
              <a:t>           </a:t>
            </a:r>
            <a:r>
              <a:rPr lang="en-US" altLang="en-US" sz="1800" dirty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 </a:t>
            </a:r>
            <a:r>
              <a:rPr lang="en-US" altLang="en-US" sz="1800" dirty="0" err="1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myList</a:t>
            </a:r>
            <a:r>
              <a:rPr lang="en-US" altLang="en-US" sz="1800" dirty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</a:t>
            </a:r>
            <a:r>
              <a:rPr lang="en-US" altLang="en-US" sz="18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altLang="en-US" sz="1800" dirty="0">
              <a:solidFill>
                <a:srgbClr val="6666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901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2E1D8AC-522A-4653-9A6A-24EFC2A2FB4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33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List Types</a:t>
            </a:r>
          </a:p>
        </p:txBody>
      </p:sp>
      <p:sp>
        <p:nvSpPr>
          <p:cNvPr id="91139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876800"/>
          </a:xfrm>
        </p:spPr>
        <p:txBody>
          <a:bodyPr/>
          <a:lstStyle/>
          <a:p>
            <a:r>
              <a:rPr lang="en-US" altLang="en-US" sz="2400" dirty="0" smtClean="0"/>
              <a:t>Python lists </a:t>
            </a:r>
            <a:r>
              <a:rPr lang="en-US" altLang="en-US" sz="2000" dirty="0" smtClean="0"/>
              <a:t>(continued)</a:t>
            </a:r>
          </a:p>
          <a:p>
            <a:pPr lvl="1"/>
            <a:r>
              <a:rPr lang="en-US" altLang="en-US" sz="2000" dirty="0" smtClean="0"/>
              <a:t>List Comprehensions</a:t>
            </a:r>
          </a:p>
          <a:p>
            <a:pPr lvl="1">
              <a:buFontTx/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18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list = [x ** 2 for x in range(12) if x % 3 == 0]</a:t>
            </a:r>
            <a:endParaRPr lang="en-US" altLang="en-US" sz="2000" dirty="0" smtClean="0">
              <a:solidFill>
                <a:srgbClr val="6666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First, the variable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 takes on integer values from 0 to 12</a:t>
            </a:r>
            <a:endParaRPr lang="en-US" altLang="en-US" sz="400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For each value divisible by 3 (that is 0, 3, 6, 9, and 12) it then computes the square (that is 0, 9, 36, 81, and 144)</a:t>
            </a:r>
          </a:p>
          <a:p>
            <a:pPr lvl="1"/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Places these squared values into a new list</a:t>
            </a:r>
          </a:p>
          <a:p>
            <a:pPr lvl="1"/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Therefore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 contains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[0, 9, 36, 81, 144]</a:t>
            </a:r>
            <a:endParaRPr lang="en-US" altLang="en-US" sz="2000" dirty="0" smtClean="0"/>
          </a:p>
        </p:txBody>
      </p:sp>
      <p:sp>
        <p:nvSpPr>
          <p:cNvPr id="9114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911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7ACDE68-767D-473E-9A67-06C57F2B3F6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6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931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8AAF3BF-834B-499E-BCD1-4A41469B3BA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Unions Types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902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u="sng" dirty="0" smtClean="0"/>
              <a:t>union</a:t>
            </a:r>
            <a:endParaRPr lang="en-US" altLang="en-US" sz="2400" dirty="0" smtClean="0"/>
          </a:p>
          <a:p>
            <a:pPr lvl="1" eaLnBrk="1" hangingPunct="1"/>
            <a:r>
              <a:rPr lang="en-US" altLang="en-US" sz="2000" dirty="0" smtClean="0"/>
              <a:t>A type whose variables can store values of different types at different times during execution</a:t>
            </a:r>
          </a:p>
          <a:p>
            <a:pPr lvl="1" eaLnBrk="1" hangingPunct="1"/>
            <a:r>
              <a:rPr lang="en-US" altLang="en-US" sz="2000" dirty="0" smtClean="0"/>
              <a:t>However, a union only has one value at a time</a:t>
            </a:r>
          </a:p>
          <a:p>
            <a:pPr lvl="1" eaLnBrk="1" hangingPunct="1"/>
            <a:r>
              <a:rPr lang="en-US" altLang="en-US" sz="2000" dirty="0" smtClean="0"/>
              <a:t>What could a union be used for?</a:t>
            </a:r>
          </a:p>
          <a:p>
            <a:pPr eaLnBrk="1" hangingPunct="1"/>
            <a:r>
              <a:rPr lang="en-US" altLang="en-US" sz="2400" dirty="0" smtClean="0"/>
              <a:t>Design issues </a:t>
            </a:r>
          </a:p>
          <a:p>
            <a:pPr lvl="1" eaLnBrk="1" hangingPunct="1"/>
            <a:r>
              <a:rPr lang="en-US" altLang="en-US" sz="2000" dirty="0" smtClean="0"/>
              <a:t>Should type checking be required?</a:t>
            </a:r>
          </a:p>
          <a:p>
            <a:pPr lvl="1" eaLnBrk="1" hangingPunct="1"/>
            <a:r>
              <a:rPr lang="en-US" altLang="en-US" sz="2000" dirty="0" smtClean="0"/>
              <a:t>Should unions be embedded in records?</a:t>
            </a:r>
          </a:p>
        </p:txBody>
      </p:sp>
    </p:spTree>
    <p:extLst>
      <p:ext uri="{BB962C8B-B14F-4D97-AF65-F5344CB8AC3E}">
        <p14:creationId xmlns:p14="http://schemas.microsoft.com/office/powerpoint/2010/main" val="17560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7C6C637-9A80-4ABD-A26F-CEA5B28661A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Discriminated vs. Free Unions</a:t>
            </a: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908" y="1569027"/>
            <a:ext cx="8303491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In Fortran, C, and C++</a:t>
            </a:r>
          </a:p>
          <a:p>
            <a:pPr lvl="1" eaLnBrk="1" hangingPunct="1"/>
            <a:r>
              <a:rPr lang="en-US" altLang="en-US" sz="2000" dirty="0" smtClean="0"/>
              <a:t>Unions have no support for type checking</a:t>
            </a:r>
          </a:p>
          <a:p>
            <a:pPr lvl="1" eaLnBrk="1" hangingPunct="1"/>
            <a:r>
              <a:rPr lang="en-US" altLang="en-US" sz="2000" dirty="0" smtClean="0"/>
              <a:t>These unions are called </a:t>
            </a:r>
            <a:r>
              <a:rPr lang="en-US" altLang="en-US" sz="2000" u="sng" dirty="0" smtClean="0"/>
              <a:t>free unions</a:t>
            </a:r>
            <a:endParaRPr lang="en-US" altLang="en-US" sz="2000" dirty="0" smtClean="0"/>
          </a:p>
          <a:p>
            <a:pPr lvl="1" eaLnBrk="1" hangingPunct="1"/>
            <a:r>
              <a:rPr lang="en-US" altLang="en-US" sz="2000" dirty="0" smtClean="0"/>
              <a:t>Up to the programmer to keep track of which type is stored</a:t>
            </a:r>
          </a:p>
          <a:p>
            <a:pPr lvl="1" eaLnBrk="1" hangingPunct="1"/>
            <a:r>
              <a:rPr lang="en-US" altLang="en-US" sz="2000" dirty="0" smtClean="0"/>
              <a:t>Example in C</a:t>
            </a:r>
          </a:p>
          <a:p>
            <a:pPr eaLnBrk="1" hangingPunct="1">
              <a:buFontTx/>
              <a:buNone/>
            </a:pPr>
            <a:r>
              <a:rPr lang="en-US" altLang="en-US" sz="400" dirty="0" smtClean="0">
                <a:latin typeface="Courier New" panose="02070309020205020404" pitchFamily="49" charset="0"/>
              </a:rPr>
              <a:t>	   </a:t>
            </a:r>
            <a:endParaRPr lang="en-US" altLang="en-US" sz="100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</a:t>
            </a:r>
            <a:r>
              <a:rPr lang="en-US" altLang="en-US" sz="1600" b="1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union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flexType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	     </a:t>
            </a:r>
            <a:r>
              <a:rPr lang="en-US" altLang="en-US" sz="1600" b="1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intEl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	     </a:t>
            </a:r>
            <a:r>
              <a:rPr lang="en-US" altLang="en-US" sz="1600" b="1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float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floatEl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};</a:t>
            </a:r>
          </a:p>
          <a:p>
            <a:pPr eaLnBrk="1" hangingPunct="1">
              <a:buFontTx/>
              <a:buNone/>
            </a:pPr>
            <a:endParaRPr lang="en-US" altLang="en-US" sz="1400" dirty="0" smtClean="0">
              <a:solidFill>
                <a:srgbClr val="666699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</a:t>
            </a:r>
            <a:r>
              <a:rPr lang="en-US" altLang="en-US" sz="1600" b="1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union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flexType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u1;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u1.intEl = 12;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u1.floatEl = 22.8;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   	 </a:t>
            </a:r>
            <a:r>
              <a:rPr lang="en-US" altLang="en-US" sz="1600" b="1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float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x = u1.floatEl;</a:t>
            </a:r>
          </a:p>
          <a:p>
            <a:pPr eaLnBrk="1" hangingPunct="1">
              <a:buFontTx/>
              <a:buNone/>
            </a:pP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		 </a:t>
            </a:r>
            <a:r>
              <a:rPr lang="en-US" altLang="en-US" sz="1600" b="1" dirty="0" err="1" smtClean="0">
                <a:solidFill>
                  <a:srgbClr val="666699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dirty="0" smtClean="0">
                <a:solidFill>
                  <a:srgbClr val="666699"/>
                </a:solidFill>
                <a:latin typeface="Courier New" panose="02070309020205020404" pitchFamily="49" charset="0"/>
              </a:rPr>
              <a:t> y = u1.intEl;</a:t>
            </a:r>
          </a:p>
        </p:txBody>
      </p:sp>
      <p:cxnSp>
        <p:nvCxnSpPr>
          <p:cNvPr id="95238" name="Straight Arrow Connector 2"/>
          <p:cNvCxnSpPr>
            <a:cxnSpLocks noChangeShapeType="1"/>
          </p:cNvCxnSpPr>
          <p:nvPr/>
        </p:nvCxnSpPr>
        <p:spPr bwMode="auto">
          <a:xfrm flipH="1">
            <a:off x="3841173" y="6269182"/>
            <a:ext cx="838200" cy="0"/>
          </a:xfrm>
          <a:prstGeom prst="straightConnector1">
            <a:avLst/>
          </a:prstGeom>
          <a:noFill/>
          <a:ln w="34925" algn="ctr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4672675" y="5486400"/>
            <a:ext cx="4166525" cy="954107"/>
          </a:xfrm>
          <a:prstGeom prst="rect">
            <a:avLst/>
          </a:prstGeom>
          <a:noFill/>
          <a:ln w="12700">
            <a:solidFill>
              <a:srgbClr val="666699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dirty="0" smtClean="0">
                <a:solidFill>
                  <a:srgbClr val="666699"/>
                </a:solidFill>
                <a:latin typeface="+mj-lt"/>
              </a:rPr>
              <a:t>Retrieving integer when a float is stored</a:t>
            </a:r>
            <a:br>
              <a:rPr lang="en-US" sz="1500" dirty="0" smtClean="0">
                <a:solidFill>
                  <a:srgbClr val="666699"/>
                </a:solidFill>
                <a:latin typeface="+mj-lt"/>
              </a:rPr>
            </a:br>
            <a:endParaRPr lang="en-US" sz="500" dirty="0" smtClean="0">
              <a:solidFill>
                <a:srgbClr val="666699"/>
              </a:solidFill>
              <a:latin typeface="+mj-lt"/>
            </a:endParaRPr>
          </a:p>
          <a:p>
            <a:pPr>
              <a:defRPr/>
            </a:pPr>
            <a:r>
              <a:rPr lang="en-US" sz="1500" dirty="0" smtClean="0">
                <a:solidFill>
                  <a:srgbClr val="666699"/>
                </a:solidFill>
                <a:latin typeface="+mj-lt"/>
              </a:rPr>
              <a:t>Legal</a:t>
            </a:r>
            <a:r>
              <a:rPr lang="en-US" sz="1500" dirty="0">
                <a:solidFill>
                  <a:srgbClr val="666699"/>
                </a:solidFill>
                <a:latin typeface="+mj-lt"/>
              </a:rPr>
              <a:t>, but </a:t>
            </a:r>
            <a:r>
              <a:rPr lang="en-US" sz="1500" dirty="0" smtClean="0">
                <a:solidFill>
                  <a:srgbClr val="666699"/>
                </a:solidFill>
                <a:latin typeface="+mj-lt"/>
              </a:rPr>
              <a:t>produces garbage</a:t>
            </a:r>
          </a:p>
          <a:p>
            <a:pPr>
              <a:defRPr/>
            </a:pPr>
            <a:endParaRPr lang="en-US" sz="500" dirty="0" smtClean="0">
              <a:solidFill>
                <a:srgbClr val="666699"/>
              </a:solidFill>
              <a:latin typeface="+mj-lt"/>
            </a:endParaRPr>
          </a:p>
          <a:p>
            <a:pPr>
              <a:defRPr/>
            </a:pPr>
            <a:r>
              <a:rPr lang="en-US" sz="1500" dirty="0" smtClean="0">
                <a:solidFill>
                  <a:srgbClr val="666699"/>
                </a:solidFill>
                <a:latin typeface="+mj-lt"/>
              </a:rPr>
              <a:t>Float bits are simply stored in </a:t>
            </a:r>
            <a:r>
              <a:rPr lang="en-US" sz="1500" b="1" dirty="0" err="1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500" dirty="0" smtClean="0">
                <a:solidFill>
                  <a:srgbClr val="666699"/>
                </a:solidFill>
                <a:latin typeface="+mj-lt"/>
              </a:rPr>
              <a:t> variable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8606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Discriminated vs. Free Unions</a:t>
            </a:r>
            <a:endParaRPr lang="en-GB" altLang="en-US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909" y="1565564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Type checking of unions </a:t>
            </a:r>
          </a:p>
          <a:p>
            <a:pPr lvl="1" eaLnBrk="1" hangingPunct="1"/>
            <a:r>
              <a:rPr lang="en-US" altLang="en-US" sz="2000" dirty="0" smtClean="0"/>
              <a:t>Supported by ML, Haskell, and F#</a:t>
            </a:r>
          </a:p>
          <a:p>
            <a:pPr lvl="1" eaLnBrk="1" hangingPunct="1"/>
            <a:r>
              <a:rPr lang="en-US" altLang="en-US" sz="2000" dirty="0" smtClean="0"/>
              <a:t>Require that each union include a type indicator called a </a:t>
            </a:r>
            <a:r>
              <a:rPr lang="en-US" altLang="en-US" sz="2000" u="sng" dirty="0" smtClean="0"/>
              <a:t>discriminant</a:t>
            </a:r>
            <a:r>
              <a:rPr lang="en-US" altLang="en-US" sz="2000" dirty="0" smtClean="0"/>
              <a:t> or a tag</a:t>
            </a:r>
          </a:p>
          <a:p>
            <a:pPr lvl="1" eaLnBrk="1" hangingPunct="1"/>
            <a:r>
              <a:rPr lang="en-US" altLang="en-US" sz="2000" dirty="0" smtClean="0"/>
              <a:t>The discriminant is used to check the type of a union, and detect errors if invalid fields are accessed</a:t>
            </a:r>
          </a:p>
        </p:txBody>
      </p:sp>
      <p:sp>
        <p:nvSpPr>
          <p:cNvPr id="972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7A46AB6-4686-4274-92DB-CC9131CF035D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046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09600" y="1600200"/>
            <a:ext cx="838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1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kern="0" dirty="0">
                <a:latin typeface="+mj-lt"/>
                <a:cs typeface="Courier New" panose="02070309020205020404" pitchFamily="49" charset="0"/>
              </a:rPr>
              <a:t>D</a:t>
            </a:r>
            <a:r>
              <a:rPr lang="en-US" altLang="en-US" sz="2400" kern="0" dirty="0" smtClean="0">
                <a:latin typeface="+mj-lt"/>
                <a:cs typeface="Courier New" panose="02070309020205020404" pitchFamily="49" charset="0"/>
              </a:rPr>
              <a:t>iscriminated union example in memory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kern="0" dirty="0" smtClean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 smtClean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 smtClean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 smtClean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kern="0" dirty="0" smtClean="0">
                <a:latin typeface="+mj-lt"/>
                <a:cs typeface="Courier New" panose="02070309020205020404" pitchFamily="49" charset="0"/>
              </a:rPr>
              <a:t>If the discriminant,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US" altLang="en-US" sz="2400" kern="0" dirty="0" smtClean="0">
                <a:latin typeface="+mj-lt"/>
                <a:cs typeface="Courier New" panose="02070309020205020404" pitchFamily="49" charset="0"/>
              </a:rPr>
              <a:t>, is set to </a:t>
            </a:r>
            <a:r>
              <a:rPr lang="en-US" altLang="en-US" sz="2400" kern="0" dirty="0" smtClean="0">
                <a:latin typeface="Courier"/>
                <a:cs typeface="Courier New" panose="02070309020205020404" pitchFamily="49" charset="0"/>
              </a:rPr>
              <a:t>Circle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kern="0" dirty="0" smtClean="0">
                <a:latin typeface="+mj-lt"/>
                <a:cs typeface="Courier New" panose="02070309020205020404" pitchFamily="49" charset="0"/>
              </a:rPr>
              <a:t>We can assign a value to </a:t>
            </a:r>
            <a:r>
              <a:rPr lang="en-US" altLang="en-US" sz="2000" kern="0" dirty="0" smtClean="0">
                <a:latin typeface="Courier"/>
                <a:cs typeface="Courier New" panose="02070309020205020404" pitchFamily="49" charset="0"/>
              </a:rPr>
              <a:t>Diameter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cs typeface="Courier New" panose="02070309020205020404" pitchFamily="49" charset="0"/>
              </a:rPr>
              <a:t>But we can’t assign values to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Side_1</a:t>
            </a:r>
            <a:r>
              <a:rPr lang="en-US" altLang="en-US" sz="1700" dirty="0">
                <a:cs typeface="Courier New" panose="02070309020205020404" pitchFamily="49" charset="0"/>
              </a:rPr>
              <a:t>, 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Side_2</a:t>
            </a:r>
            <a:r>
              <a:rPr lang="en-US" altLang="en-US" sz="1700" dirty="0">
                <a:cs typeface="Courier New" panose="02070309020205020404" pitchFamily="49" charset="0"/>
              </a:rPr>
              <a:t>, </a:t>
            </a:r>
            <a:r>
              <a:rPr lang="en-US" alt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Left_Side</a:t>
            </a:r>
            <a:r>
              <a:rPr lang="en-US" altLang="en-US" sz="1700" dirty="0">
                <a:cs typeface="Courier New" panose="02070309020205020404" pitchFamily="49" charset="0"/>
              </a:rPr>
              <a:t>, </a:t>
            </a:r>
            <a:r>
              <a:rPr lang="en-US" altLang="en-US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Right_Side</a:t>
            </a:r>
            <a:r>
              <a:rPr lang="en-US" altLang="en-US" sz="1700" dirty="0">
                <a:cs typeface="Courier New" panose="02070309020205020404" pitchFamily="49" charset="0"/>
              </a:rPr>
              <a:t>, </a:t>
            </a:r>
            <a:r>
              <a:rPr lang="en-US" altLang="en-US" sz="1700" dirty="0" smtClean="0">
                <a:cs typeface="Courier New" panose="02070309020205020404" pitchFamily="49" charset="0"/>
              </a:rPr>
              <a:t>or </a:t>
            </a:r>
            <a:r>
              <a:rPr lang="en-US" alt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Angle</a:t>
            </a:r>
            <a:endParaRPr lang="en-US" altLang="en-US" sz="17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kern="0" dirty="0" smtClean="0">
              <a:latin typeface="+mj-lt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03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95E19D3-B58F-4632-B486-A872F9F72F1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Discriminated Unions</a:t>
            </a:r>
          </a:p>
        </p:txBody>
      </p:sp>
      <p:pic>
        <p:nvPicPr>
          <p:cNvPr id="100358" name="Picture 6" descr="fig_06_08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4102"/>
          <a:stretch/>
        </p:blipFill>
        <p:spPr bwMode="auto">
          <a:xfrm>
            <a:off x="714488" y="2094600"/>
            <a:ext cx="5838712" cy="21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543791" y="2870455"/>
            <a:ext cx="1433946" cy="13725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3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37A74EB-06A1-4940-99A0-1156A83F94C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Pointer and Reference Types</a:t>
            </a:r>
          </a:p>
        </p:txBody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9027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u="sng" dirty="0" smtClean="0"/>
              <a:t>pointer</a:t>
            </a:r>
            <a:r>
              <a:rPr lang="en-US" altLang="en-US" sz="2400" dirty="0" smtClean="0"/>
              <a:t> type variable</a:t>
            </a:r>
          </a:p>
          <a:p>
            <a:pPr lvl="1" eaLnBrk="1" hangingPunct="1"/>
            <a:r>
              <a:rPr lang="en-US" altLang="en-US" sz="2000" dirty="0" smtClean="0"/>
              <a:t>Values are memory addresses that reference a memory cell</a:t>
            </a:r>
          </a:p>
          <a:p>
            <a:pPr lvl="1" eaLnBrk="1" hangingPunct="1"/>
            <a:r>
              <a:rPr lang="en-US" altLang="en-US" sz="2000" dirty="0" smtClean="0"/>
              <a:t>Special value, </a:t>
            </a:r>
            <a:r>
              <a:rPr lang="en-US" altLang="en-US" sz="2000" b="1" dirty="0" smtClean="0"/>
              <a:t>nil</a:t>
            </a:r>
            <a:r>
              <a:rPr lang="en-US" altLang="en-US" sz="2000" dirty="0" smtClean="0"/>
              <a:t>, means it doesn’t refer to a memory cell</a:t>
            </a:r>
          </a:p>
          <a:p>
            <a:pPr eaLnBrk="1" hangingPunct="1"/>
            <a:r>
              <a:rPr lang="en-US" altLang="en-US" sz="2400" dirty="0" smtClean="0"/>
              <a:t>Two possible uses of pointers</a:t>
            </a:r>
          </a:p>
          <a:p>
            <a:pPr lvl="1" eaLnBrk="1" hangingPunct="1"/>
            <a:r>
              <a:rPr lang="en-US" altLang="en-US" sz="2000" dirty="0" smtClean="0"/>
              <a:t>Provide the power of indirect addressing</a:t>
            </a:r>
          </a:p>
          <a:p>
            <a:pPr lvl="2" eaLnBrk="1" hangingPunct="1"/>
            <a:r>
              <a:rPr lang="en-US" altLang="en-US" sz="1700" dirty="0" smtClean="0"/>
              <a:t>A means of referring to a variable via a different name</a:t>
            </a:r>
          </a:p>
          <a:p>
            <a:pPr lvl="1" eaLnBrk="1" hangingPunct="1"/>
            <a:r>
              <a:rPr lang="en-US" altLang="en-US" sz="2000" dirty="0" smtClean="0"/>
              <a:t>Provide a way to manage dynamic memory</a:t>
            </a:r>
          </a:p>
          <a:p>
            <a:pPr lvl="2" eaLnBrk="1" hangingPunct="1"/>
            <a:r>
              <a:rPr lang="en-US" altLang="en-US" sz="1700" dirty="0" smtClean="0"/>
              <a:t>A pointer can be used to access a location in the area where storage is dynamically created (the </a:t>
            </a:r>
            <a:r>
              <a:rPr lang="en-US" altLang="en-US" sz="1700" u="sng" dirty="0" smtClean="0"/>
              <a:t>heap</a:t>
            </a:r>
            <a:r>
              <a:rPr lang="en-US" altLang="en-US" sz="1700" dirty="0" smtClean="0"/>
              <a:t>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0144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9B45D17-E78D-4342-A696-F040889E24A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 Issues of Pointers</a:t>
            </a:r>
          </a:p>
        </p:txBody>
      </p:sp>
      <p:sp>
        <p:nvSpPr>
          <p:cNvPr id="1065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What are the scope </a:t>
            </a:r>
            <a:r>
              <a:rPr lang="en-US" altLang="en-US" sz="2000" dirty="0"/>
              <a:t>&amp;</a:t>
            </a:r>
            <a:r>
              <a:rPr lang="en-US" altLang="en-US" sz="2000" dirty="0" smtClean="0"/>
              <a:t> lifetime of a pointer variable?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smtClean="0"/>
              <a:t>Note: Not the scope and lifetime of the referenced value</a:t>
            </a:r>
          </a:p>
          <a:p>
            <a:pPr eaLnBrk="1" hangingPunct="1">
              <a:lnSpc>
                <a:spcPct val="90000"/>
              </a:lnSpc>
            </a:pPr>
            <a:endParaRPr lang="en-US" altLang="en-US" sz="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What is the lifetime of a heap-dynamic variable?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smtClean="0"/>
              <a:t>Relevant if pointers used for dynamic memory management</a:t>
            </a:r>
          </a:p>
          <a:p>
            <a:pPr eaLnBrk="1" hangingPunct="1">
              <a:lnSpc>
                <a:spcPct val="90000"/>
              </a:lnSpc>
            </a:pPr>
            <a:endParaRPr lang="en-US" altLang="en-US" sz="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Restrictions on the type of value to which pointers can point?</a:t>
            </a:r>
          </a:p>
          <a:p>
            <a:pPr eaLnBrk="1" hangingPunct="1">
              <a:lnSpc>
                <a:spcPct val="90000"/>
              </a:lnSpc>
            </a:pPr>
            <a:endParaRPr lang="en-US" altLang="en-US" sz="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What pointers are used for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smtClean="0"/>
              <a:t>Dynamic storage management?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I</a:t>
            </a:r>
            <a:r>
              <a:rPr lang="en-US" altLang="en-US" sz="1800" dirty="0" smtClean="0"/>
              <a:t>ndirect addressing?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smtClean="0"/>
              <a:t>Both?</a:t>
            </a:r>
          </a:p>
          <a:p>
            <a:pPr eaLnBrk="1" hangingPunct="1">
              <a:lnSpc>
                <a:spcPct val="90000"/>
              </a:lnSpc>
            </a:pPr>
            <a:endParaRPr lang="en-US" altLang="en-US" sz="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</a:t>
            </a:r>
            <a:r>
              <a:rPr lang="en-US" altLang="en-US" sz="2000" dirty="0" smtClean="0"/>
              <a:t>hould the language support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</a:t>
            </a:r>
            <a:r>
              <a:rPr lang="en-US" altLang="en-US" sz="1800" dirty="0" smtClean="0"/>
              <a:t>ointer types?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</a:t>
            </a:r>
            <a:r>
              <a:rPr lang="en-US" altLang="en-US" sz="1800" dirty="0" smtClean="0"/>
              <a:t>eference types?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smtClean="0"/>
              <a:t>Both?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889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ED52B17-3B15-462B-A706-3F54F4863A7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85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Pointer Operations</a:t>
            </a:r>
          </a:p>
        </p:txBody>
      </p:sp>
      <p:sp>
        <p:nvSpPr>
          <p:cNvPr id="1085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Two fundamental operations for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Assignment</a:t>
            </a:r>
            <a:endParaRPr lang="en-US" altLang="en-US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Sets a pointer variable’s value to an 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If variable isn’t on heap, needs a way to get a variable 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For example, in C++ this sets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en-US" sz="1800" dirty="0" smtClean="0"/>
              <a:t> to the address of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*p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 sz="6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Dereferencing</a:t>
            </a:r>
            <a:endParaRPr lang="en-US" altLang="en-US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Yields the value stored at the location represented by the pointer’s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Can be explicit or implicit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/>
              <a:t>C++ has explicit dereferencing via the </a:t>
            </a:r>
            <a:r>
              <a:rPr lang="en-US" altLang="en-US" sz="1800" dirty="0" smtClean="0">
                <a:latin typeface="Courier New" panose="02070309020205020404" pitchFamily="49" charset="0"/>
              </a:rPr>
              <a:t>*</a:t>
            </a:r>
            <a:r>
              <a:rPr lang="en-US" altLang="en-US" sz="1800" dirty="0" smtClean="0"/>
              <a:t> operator</a:t>
            </a:r>
            <a:endParaRPr lang="en-US" altLang="en-US" sz="1800" dirty="0" smtClean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j = *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 smtClean="0"/>
              <a:t>	Sets </a:t>
            </a:r>
            <a:r>
              <a:rPr lang="en-US" altLang="en-US" sz="1800" dirty="0" smtClean="0">
                <a:latin typeface="Courier New" panose="02070309020205020404" pitchFamily="49" charset="0"/>
              </a:rPr>
              <a:t>j</a:t>
            </a:r>
            <a:r>
              <a:rPr lang="en-US" altLang="en-US" sz="1800" dirty="0" smtClean="0"/>
              <a:t> to the value located at memory address stored in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endParaRPr lang="en-US" alt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 smtClean="0">
                <a:latin typeface="+mj-lt"/>
                <a:cs typeface="Courier New" panose="02070309020205020404" pitchFamily="49" charset="0"/>
              </a:rPr>
              <a:t>Implicit pointers are automatically dereferenced when used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245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E15CFD0-F970-492A-8897-180284453A2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Problems with Pointers </a:t>
            </a:r>
          </a:p>
        </p:txBody>
      </p:sp>
      <p:sp>
        <p:nvSpPr>
          <p:cNvPr id="1126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96737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Dangling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A pointer to a deallocated heap-dynamic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Dangerous (why?)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Lost heap-dynamic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An allocated heap-dynamic variable that is no longer accessible to the user program (often called </a:t>
            </a:r>
            <a:r>
              <a:rPr lang="en-US" altLang="en-US" sz="2000" u="sng" dirty="0" smtClean="0"/>
              <a:t>garbage</a:t>
            </a:r>
            <a:r>
              <a:rPr lang="en-US" altLang="en-US" sz="2000" dirty="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For example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 smtClean="0"/>
              <a:t>Pointer </a:t>
            </a:r>
            <a:r>
              <a:rPr lang="en-US" altLang="en-US" sz="1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altLang="en-US" sz="1900" dirty="0" smtClean="0"/>
              <a:t> is set to point to a newly created heap-dynamic variable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 smtClean="0"/>
              <a:t>Pointer </a:t>
            </a:r>
            <a:r>
              <a:rPr lang="en-US" altLang="en-US" sz="1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altLang="en-US" sz="1900" dirty="0" smtClean="0"/>
              <a:t> is later set to point to another newly created heap-dynamic variable (without first deallocating </a:t>
            </a:r>
            <a:r>
              <a:rPr lang="en-US" altLang="en-US" sz="1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altLang="en-US" sz="1900" dirty="0" smtClean="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700" dirty="0" smtClean="0"/>
              <a:t>The process is called </a:t>
            </a:r>
            <a:r>
              <a:rPr lang="en-US" altLang="en-US" sz="1700" u="sng" dirty="0" smtClean="0"/>
              <a:t>memory leakage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514600" y="52578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5" name="Straight Arrow Connector 4"/>
          <p:cNvCxnSpPr>
            <a:stCxn id="3" idx="3"/>
            <a:endCxn id="10" idx="1"/>
          </p:cNvCxnSpPr>
          <p:nvPr/>
        </p:nvCxnSpPr>
        <p:spPr bwMode="auto">
          <a:xfrm>
            <a:off x="2895600" y="5448300"/>
            <a:ext cx="68580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Rectangle 9"/>
          <p:cNvSpPr/>
          <p:nvPr/>
        </p:nvSpPr>
        <p:spPr bwMode="auto">
          <a:xfrm>
            <a:off x="3581400" y="52578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962400" y="52578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343400" y="52578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124200" y="52924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V="1">
            <a:off x="3124200" y="52924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3581400" y="5735782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962400" y="5735782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343400" y="5735782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6" name="Straight Connector 25"/>
          <p:cNvCxnSpPr>
            <a:stCxn id="3" idx="2"/>
          </p:cNvCxnSpPr>
          <p:nvPr/>
        </p:nvCxnSpPr>
        <p:spPr bwMode="auto">
          <a:xfrm>
            <a:off x="2705100" y="5638800"/>
            <a:ext cx="0" cy="2874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2705100" y="5926282"/>
            <a:ext cx="87630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536" name="TextBox 65535"/>
          <p:cNvSpPr txBox="1"/>
          <p:nvPr/>
        </p:nvSpPr>
        <p:spPr>
          <a:xfrm>
            <a:off x="2022157" y="5263441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 smtClean="0">
                <a:solidFill>
                  <a:schemeClr val="accent2"/>
                </a:solidFill>
                <a:latin typeface="Courier"/>
              </a:rPr>
              <a:t>p1</a:t>
            </a:r>
            <a:endParaRPr lang="en-ZA" sz="2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248400" y="23622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34" name="Straight Arrow Connector 33"/>
          <p:cNvCxnSpPr>
            <a:stCxn id="33" idx="3"/>
            <a:endCxn id="35" idx="1"/>
          </p:cNvCxnSpPr>
          <p:nvPr/>
        </p:nvCxnSpPr>
        <p:spPr bwMode="auto">
          <a:xfrm>
            <a:off x="6629400" y="2552700"/>
            <a:ext cx="68580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7315200" y="23622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7696200" y="23622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8077200" y="2362200"/>
            <a:ext cx="381000" cy="381000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55957" y="2367841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 smtClean="0">
                <a:solidFill>
                  <a:schemeClr val="accent2"/>
                </a:solidFill>
                <a:latin typeface="Courier"/>
              </a:rPr>
              <a:t>p1</a:t>
            </a:r>
            <a:endParaRPr lang="en-ZA" sz="20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46" name="Straight Connector 45"/>
          <p:cNvCxnSpPr/>
          <p:nvPr/>
        </p:nvCxnSpPr>
        <p:spPr bwMode="auto">
          <a:xfrm>
            <a:off x="7356764" y="23968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/>
          <p:cNvCxnSpPr/>
          <p:nvPr/>
        </p:nvCxnSpPr>
        <p:spPr bwMode="auto">
          <a:xfrm flipV="1">
            <a:off x="7356764" y="23968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>
            <a:off x="7737764" y="23968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7737764" y="2396836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8111836" y="2393373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V="1">
            <a:off x="8111836" y="2393373"/>
            <a:ext cx="304800" cy="3048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7399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  <p:bldP spid="20" grpId="0" animBg="1"/>
      <p:bldP spid="21" grpId="0" animBg="1"/>
      <p:bldP spid="22" grpId="0" animBg="1"/>
      <p:bldP spid="65536" grpId="0"/>
      <p:bldP spid="19" grpId="0"/>
    </p:bld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46E4862-872E-450A-8890-C57988090DA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Pointers in C and C++</a:t>
            </a:r>
          </a:p>
        </p:txBody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902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Extremely flexible but must be used with care</a:t>
            </a:r>
          </a:p>
          <a:p>
            <a:pPr eaLnBrk="1" hangingPunct="1"/>
            <a:r>
              <a:rPr lang="en-US" altLang="en-US" sz="2400" dirty="0" smtClean="0"/>
              <a:t>Pointers can point to any variable regardless of when or where it was allocated</a:t>
            </a:r>
          </a:p>
          <a:p>
            <a:pPr eaLnBrk="1" hangingPunct="1"/>
            <a:r>
              <a:rPr lang="en-US" altLang="en-US" sz="2400" dirty="0" smtClean="0"/>
              <a:t>For dynamic storage management and addressing</a:t>
            </a:r>
          </a:p>
          <a:p>
            <a:pPr eaLnBrk="1" hangingPunct="1"/>
            <a:r>
              <a:rPr lang="en-US" altLang="en-US" sz="2400" dirty="0" smtClean="0"/>
              <a:t>Explicit </a:t>
            </a:r>
            <a:r>
              <a:rPr lang="en-US" altLang="en-US" sz="2400" dirty="0" smtClean="0"/>
              <a:t>dereferencing and address-of operators</a:t>
            </a:r>
          </a:p>
          <a:p>
            <a:pPr eaLnBrk="1" hangingPunct="1"/>
            <a:r>
              <a:rPr lang="en-US" altLang="en-US" sz="2400" dirty="0" smtClean="0"/>
              <a:t>Domain type need not be fixed</a:t>
            </a:r>
          </a:p>
          <a:p>
            <a:pPr lvl="1" eaLnBrk="1" hangingPunct="1"/>
            <a:r>
              <a:rPr lang="en-US" altLang="en-US" sz="2000" dirty="0" smtClean="0"/>
              <a:t>A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void*</a:t>
            </a:r>
            <a:r>
              <a:rPr lang="en-US" altLang="en-US" sz="2000" dirty="0" smtClean="0"/>
              <a:t> </a:t>
            </a:r>
            <a:r>
              <a:rPr lang="en-US" altLang="en-US" sz="1800" dirty="0" smtClean="0"/>
              <a:t>can point to value of any type</a:t>
            </a:r>
          </a:p>
          <a:p>
            <a:pPr lvl="1" eaLnBrk="1" hangingPunct="1"/>
            <a:r>
              <a:rPr lang="en-US" altLang="en-US" sz="1800" dirty="0" smtClean="0"/>
              <a:t>Cannot be de-referenced unless converted to another type</a:t>
            </a:r>
          </a:p>
          <a:p>
            <a:pPr lvl="1" eaLnBrk="1" hangingPunct="1"/>
            <a:r>
              <a:rPr lang="en-US" altLang="en-US" sz="1800" dirty="0" smtClean="0"/>
              <a:t>How does this affect type checking?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466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46E4862-872E-450A-8890-C57988090DA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Pointers in C and C++</a:t>
            </a:r>
          </a:p>
        </p:txBody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902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Example of dynamic storage management in C++</a:t>
            </a:r>
          </a:p>
          <a:p>
            <a:pPr lvl="1" eaLnBrk="1" hangingPunct="1"/>
            <a:r>
              <a:rPr lang="en-US" altLang="en-US" sz="2000" dirty="0" smtClean="0"/>
              <a:t>Dynamic storage allocation uses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en-US" altLang="en-US" sz="2000" b="1" dirty="0" smtClean="0"/>
          </a:p>
          <a:p>
            <a:pPr marL="457200" lvl="1" indent="0" defTabSz="747713" eaLnBrk="1" hangingPunct="1"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defTabSz="1081088" eaLnBrk="1" hangingPunct="1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*p =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[10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457200" lvl="1" indent="0" defTabSz="747713" eaLnBrk="1" hangingPunct="1">
              <a:buNone/>
            </a:pPr>
            <a:endParaRPr lang="en-US" altLang="en-US" sz="400" dirty="0" smtClean="0"/>
          </a:p>
          <a:p>
            <a:pPr marL="342900" lvl="1" indent="0" defTabSz="354013" eaLnBrk="1" hangingPunct="1">
              <a:buNone/>
            </a:pPr>
            <a:r>
              <a:rPr lang="en-US" altLang="en-US" sz="2000" dirty="0" smtClean="0"/>
              <a:t>		Here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en-US" sz="2000" dirty="0" smtClean="0"/>
              <a:t> points to newly allocated heap memory</a:t>
            </a:r>
          </a:p>
          <a:p>
            <a:pPr marL="706438" lvl="1" defTabSz="354013" eaLnBrk="1" hangingPunct="1"/>
            <a:r>
              <a:rPr lang="en-US" altLang="en-US" sz="2000" dirty="0" smtClean="0"/>
              <a:t>To deallocate heap memory pointed to by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</a:p>
          <a:p>
            <a:pPr marL="0" indent="0" defTabSz="354013" eaLnBrk="1" hangingPunct="1">
              <a:buNone/>
            </a:pPr>
            <a:endParaRPr lang="en-US" altLang="en-US" sz="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54013" eaLnBrk="1" hangingPunct="1"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delete[]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p;</a:t>
            </a:r>
          </a:p>
          <a:p>
            <a:pPr marL="0" indent="0" defTabSz="354013" eaLnBrk="1" hangingPunct="1"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400" dirty="0" smtClean="0"/>
              <a:t>C uses functions</a:t>
            </a:r>
          </a:p>
          <a:p>
            <a:pPr lvl="1" eaLnBrk="1" hangingPunct="1"/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en-US" sz="2000" dirty="0" smtClean="0"/>
              <a:t> to allocate heap memory</a:t>
            </a:r>
          </a:p>
          <a:p>
            <a:pPr lvl="1" eaLnBrk="1" hangingPunct="1"/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en-US" altLang="en-US" sz="2000" dirty="0" smtClean="0"/>
              <a:t> to deallocate heap memory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875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C6BD63B-1A9E-44BE-A25B-DDCD28820E3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87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Reference Types</a:t>
            </a:r>
          </a:p>
        </p:txBody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C++ includes a </a:t>
            </a:r>
            <a:r>
              <a:rPr lang="en-US" altLang="en-US" sz="2400" u="sng" dirty="0" smtClean="0"/>
              <a:t>reference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References are similar to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In this example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en-US" altLang="en-US" sz="2000" dirty="0" smtClean="0"/>
              <a:t> is a reference to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v = 10;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&amp;ref = v;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Used primarily for formal parameters, giving benefits of pass-by reference and pass-by-value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&amp;p) { ...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12;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f(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400" dirty="0" smtClean="0"/>
          </a:p>
          <a:p>
            <a:pPr marL="457200" lvl="1" indent="0" defTabSz="747713" eaLnBrk="1" hangingPunct="1">
              <a:lnSpc>
                <a:spcPct val="90000"/>
              </a:lnSpc>
              <a:buNone/>
            </a:pPr>
            <a:r>
              <a:rPr lang="en-US" altLang="en-US" sz="2000" dirty="0" smtClean="0"/>
              <a:t>	Here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en-US" sz="2000" dirty="0" smtClean="0"/>
              <a:t> is a reference to a parameter, works like an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 smtClean="0"/>
              <a:t> 	variable, but doesn’t need to be dereferenced like a pointer</a:t>
            </a: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Don’t work with memory addresses, so </a:t>
            </a:r>
            <a:r>
              <a:rPr lang="en-US" altLang="en-US" sz="2000" dirty="0" smtClean="0"/>
              <a:t>safer than pointers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9008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C6BD63B-1A9E-44BE-A25B-DDCD28820E3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87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Reference Types</a:t>
            </a:r>
          </a:p>
        </p:txBody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Java extends C++ reference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Allows them to replace pointers entirely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References can refer only to objects, not primitives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How does this affect the language evaluation criteria?</a:t>
            </a:r>
          </a:p>
          <a:p>
            <a:pPr eaLnBrk="1" hangingPunct="1">
              <a:lnSpc>
                <a:spcPct val="90000"/>
              </a:lnSpc>
            </a:pPr>
            <a:endParaRPr lang="en-US" altLang="en-US" sz="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C# includes both pointers and references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References are similar to those in Java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C++ pointers (but only in subprograms marked as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unsafe</a:t>
            </a:r>
            <a:r>
              <a:rPr lang="en-US" altLang="en-US" sz="2000" dirty="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How does this affect the language evaluation criteria?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108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 Checking</a:t>
            </a:r>
          </a:p>
        </p:txBody>
      </p:sp>
      <p:sp>
        <p:nvSpPr>
          <p:cNvPr id="122883" name="Content Placeholder 2"/>
          <p:cNvSpPr>
            <a:spLocks noGrp="1"/>
          </p:cNvSpPr>
          <p:nvPr>
            <p:ph idx="1"/>
          </p:nvPr>
        </p:nvSpPr>
        <p:spPr>
          <a:xfrm>
            <a:off x="609600" y="1569027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333399"/>
                </a:solidFill>
              </a:rPr>
              <a:t>For this section, we generalize operands and operators to include subprograms and assignments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For subprogram call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f(1.2)</a:t>
            </a:r>
            <a:r>
              <a:rPr lang="en-US" altLang="en-US" sz="2000" dirty="0" smtClean="0">
                <a:solidFill>
                  <a:srgbClr val="333399"/>
                </a:solidFill>
              </a:rPr>
              <a:t>, operator is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2000" dirty="0" smtClean="0">
                <a:solidFill>
                  <a:srgbClr val="333399"/>
                </a:solidFill>
              </a:rPr>
              <a:t>, operand is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1.2</a:t>
            </a:r>
            <a:endParaRPr lang="en-US" altLang="en-US" sz="2000" dirty="0" smtClean="0">
              <a:solidFill>
                <a:srgbClr val="333399"/>
              </a:solidFill>
            </a:endParaRP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For assignment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43</a:t>
            </a:r>
            <a:r>
              <a:rPr lang="en-US" altLang="en-US" sz="2000" dirty="0" smtClean="0">
                <a:solidFill>
                  <a:srgbClr val="333399"/>
                </a:solidFill>
              </a:rPr>
              <a:t>, operator is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000" dirty="0" smtClean="0">
                <a:solidFill>
                  <a:srgbClr val="333399"/>
                </a:solidFill>
              </a:rPr>
              <a:t>, operands are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dirty="0" smtClean="0">
                <a:solidFill>
                  <a:srgbClr val="333399"/>
                </a:solidFill>
              </a:rPr>
              <a:t> </a:t>
            </a:r>
            <a:r>
              <a:rPr lang="en-US" altLang="en-US" sz="2000" dirty="0">
                <a:solidFill>
                  <a:srgbClr val="333399"/>
                </a:solidFill>
              </a:rPr>
              <a:t>&amp;</a:t>
            </a:r>
            <a:r>
              <a:rPr lang="en-US" altLang="en-US" sz="2000" dirty="0" smtClean="0">
                <a:solidFill>
                  <a:srgbClr val="333399"/>
                </a:solidFill>
              </a:rPr>
              <a:t> </a:t>
            </a:r>
            <a:r>
              <a:rPr lang="en-US" altLang="en-US" sz="2000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  <a:endParaRPr lang="en-US" altLang="en-US" sz="800" dirty="0" smtClean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400" u="sng" dirty="0" smtClean="0">
                <a:solidFill>
                  <a:srgbClr val="333399"/>
                </a:solidFill>
              </a:rPr>
              <a:t>Type checking</a:t>
            </a:r>
            <a:endParaRPr lang="en-US" altLang="en-US" sz="2400" dirty="0" smtClean="0">
              <a:solidFill>
                <a:srgbClr val="333399"/>
              </a:solidFill>
            </a:endParaRP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Ensures operands for operator are compatible types</a:t>
            </a:r>
            <a:endParaRPr lang="en-US" altLang="en-US" sz="800" dirty="0" smtClean="0">
              <a:solidFill>
                <a:srgbClr val="333399"/>
              </a:solidFill>
            </a:endParaRPr>
          </a:p>
          <a:p>
            <a:pPr eaLnBrk="1" hangingPunct="1"/>
            <a:r>
              <a:rPr lang="en-US" altLang="en-US" sz="2400" dirty="0" smtClean="0">
                <a:solidFill>
                  <a:srgbClr val="333399"/>
                </a:solidFill>
              </a:rPr>
              <a:t>A </a:t>
            </a:r>
            <a:r>
              <a:rPr lang="en-US" altLang="en-US" sz="2400" u="sng" dirty="0" smtClean="0">
                <a:solidFill>
                  <a:srgbClr val="333399"/>
                </a:solidFill>
              </a:rPr>
              <a:t>compatible type</a:t>
            </a:r>
            <a:r>
              <a:rPr lang="en-US" altLang="en-US" sz="2400" dirty="0" smtClean="0">
                <a:solidFill>
                  <a:srgbClr val="333399"/>
                </a:solidFill>
              </a:rPr>
              <a:t> is one that is either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Legal for the operator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Or is allowed under language rules to be implicitly converted, by the compiler, to a legal type (</a:t>
            </a:r>
            <a:r>
              <a:rPr lang="en-US" altLang="en-US" sz="2000" u="sng" dirty="0" smtClean="0">
                <a:solidFill>
                  <a:srgbClr val="333399"/>
                </a:solidFill>
              </a:rPr>
              <a:t>coercion</a:t>
            </a:r>
            <a:r>
              <a:rPr lang="en-US" altLang="en-US" sz="2000" dirty="0" smtClean="0">
                <a:solidFill>
                  <a:srgbClr val="333399"/>
                </a:solidFill>
              </a:rPr>
              <a:t>)</a:t>
            </a:r>
            <a:endParaRPr lang="en-US" altLang="en-US" sz="1200" dirty="0" smtClean="0">
              <a:solidFill>
                <a:srgbClr val="666699"/>
              </a:solidFill>
            </a:endParaRPr>
          </a:p>
          <a:p>
            <a:pPr eaLnBrk="1" hangingPunct="1"/>
            <a:r>
              <a:rPr lang="en-US" altLang="en-US" sz="2400" dirty="0" smtClean="0">
                <a:solidFill>
                  <a:srgbClr val="333399"/>
                </a:solidFill>
              </a:rPr>
              <a:t>A </a:t>
            </a:r>
            <a:r>
              <a:rPr lang="en-US" altLang="en-US" sz="2400" u="sng" dirty="0" smtClean="0">
                <a:solidFill>
                  <a:srgbClr val="333399"/>
                </a:solidFill>
              </a:rPr>
              <a:t>type error</a:t>
            </a:r>
          </a:p>
          <a:p>
            <a:pPr lvl="1" eaLnBrk="1" hangingPunct="1"/>
            <a:r>
              <a:rPr lang="en-US" altLang="en-US" sz="2000" dirty="0">
                <a:solidFill>
                  <a:srgbClr val="333399"/>
                </a:solidFill>
              </a:rPr>
              <a:t>A</a:t>
            </a:r>
            <a:r>
              <a:rPr lang="en-US" altLang="en-US" sz="2000" dirty="0" smtClean="0">
                <a:solidFill>
                  <a:srgbClr val="333399"/>
                </a:solidFill>
              </a:rPr>
              <a:t>pplication of operator to an operand of inappropriate type</a:t>
            </a:r>
          </a:p>
        </p:txBody>
      </p:sp>
      <p:sp>
        <p:nvSpPr>
          <p:cNvPr id="1228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60404A3-D0E1-42F8-BA58-EFE98DD5EAF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Type Checking</a:t>
            </a:r>
          </a:p>
        </p:txBody>
      </p:sp>
      <p:sp>
        <p:nvSpPr>
          <p:cNvPr id="123907" name="Content Placeholder 2"/>
          <p:cNvSpPr>
            <a:spLocks noGrp="1"/>
          </p:cNvSpPr>
          <p:nvPr>
            <p:ph idx="1"/>
          </p:nvPr>
        </p:nvSpPr>
        <p:spPr>
          <a:xfrm>
            <a:off x="609600" y="1566718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If all type bindings are static</a:t>
            </a:r>
          </a:p>
          <a:p>
            <a:pPr lvl="1" eaLnBrk="1" hangingPunct="1"/>
            <a:r>
              <a:rPr lang="en-US" altLang="en-US" sz="2000" dirty="0" smtClean="0"/>
              <a:t>Nearly all type checking can be static</a:t>
            </a:r>
          </a:p>
          <a:p>
            <a:pPr lvl="1" eaLnBrk="1" hangingPunct="1"/>
            <a:r>
              <a:rPr lang="en-US" altLang="en-US" sz="2000" dirty="0" smtClean="0"/>
              <a:t>Why is this the case?</a:t>
            </a:r>
          </a:p>
          <a:p>
            <a:pPr eaLnBrk="1" hangingPunct="1"/>
            <a:r>
              <a:rPr lang="en-US" altLang="en-US" sz="2400" dirty="0" smtClean="0"/>
              <a:t>If type bindings are dynamic</a:t>
            </a:r>
          </a:p>
          <a:p>
            <a:pPr lvl="1" eaLnBrk="1" hangingPunct="1"/>
            <a:r>
              <a:rPr lang="en-US" altLang="en-US" sz="2000" dirty="0" smtClean="0"/>
              <a:t>Type checking must be dynamic</a:t>
            </a:r>
          </a:p>
          <a:p>
            <a:pPr lvl="1" eaLnBrk="1" hangingPunct="1"/>
            <a:r>
              <a:rPr lang="en-US" altLang="en-US" sz="2000" dirty="0" smtClean="0"/>
              <a:t>Why is this the case?</a:t>
            </a:r>
          </a:p>
          <a:p>
            <a:pPr eaLnBrk="1" hangingPunct="1"/>
            <a:r>
              <a:rPr lang="en-US" altLang="en-US" sz="2400" u="sng" dirty="0" smtClean="0"/>
              <a:t>Strongly typed</a:t>
            </a:r>
            <a:r>
              <a:rPr lang="en-US" altLang="en-US" sz="2400" dirty="0" smtClean="0"/>
              <a:t> programming language</a:t>
            </a:r>
          </a:p>
          <a:p>
            <a:pPr lvl="1" eaLnBrk="1" hangingPunct="1"/>
            <a:r>
              <a:rPr lang="en-US" altLang="en-US" sz="2000" dirty="0" smtClean="0"/>
              <a:t>Type errors are always detected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Advantage</a:t>
            </a:r>
          </a:p>
          <a:p>
            <a:pPr lvl="2" eaLnBrk="1" hangingPunct="1"/>
            <a:r>
              <a:rPr lang="en-US" altLang="en-US" sz="1800" dirty="0" smtClean="0"/>
              <a:t>Detects all variable misuses causing type errors</a:t>
            </a:r>
          </a:p>
          <a:p>
            <a:pPr lvl="1" eaLnBrk="1" hangingPunct="1"/>
            <a:r>
              <a:rPr lang="en-US" altLang="en-US" sz="2000" dirty="0" smtClean="0"/>
              <a:t>Usually the strength of typing is relative</a:t>
            </a:r>
          </a:p>
          <a:p>
            <a:pPr lvl="2" eaLnBrk="1" hangingPunct="1"/>
            <a:r>
              <a:rPr lang="en-US" altLang="en-US" sz="1800" dirty="0" smtClean="0"/>
              <a:t>“Language A is more strongly typed than language B”</a:t>
            </a:r>
          </a:p>
        </p:txBody>
      </p:sp>
      <p:sp>
        <p:nvSpPr>
          <p:cNvPr id="1239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902AB81-940C-45F0-8158-8DEA39A5CBF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612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Strong Typing</a:t>
            </a:r>
          </a:p>
        </p:txBody>
      </p:sp>
      <p:sp>
        <p:nvSpPr>
          <p:cNvPr id="124931" name="Content Placeholder 2"/>
          <p:cNvSpPr>
            <a:spLocks noGrp="1"/>
          </p:cNvSpPr>
          <p:nvPr>
            <p:ph idx="1"/>
          </p:nvPr>
        </p:nvSpPr>
        <p:spPr>
          <a:xfrm>
            <a:off x="609600" y="1565564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333399"/>
                </a:solidFill>
              </a:rPr>
              <a:t>Language examples</a:t>
            </a:r>
            <a:endParaRPr lang="en-US" altLang="en-US" sz="2400" dirty="0" smtClean="0"/>
          </a:p>
          <a:p>
            <a:pPr lvl="1" eaLnBrk="1" hangingPunct="1"/>
            <a:r>
              <a:rPr lang="en-US" altLang="en-US" sz="2000" dirty="0" smtClean="0"/>
              <a:t>C and C++ are not strongly typed</a:t>
            </a:r>
          </a:p>
          <a:p>
            <a:pPr lvl="2" eaLnBrk="1" hangingPunct="1"/>
            <a:r>
              <a:rPr lang="en-US" altLang="en-US" sz="1800" dirty="0" smtClean="0"/>
              <a:t>In pre-C99 parameter type checking can be avoided</a:t>
            </a:r>
          </a:p>
          <a:p>
            <a:pPr lvl="2" eaLnBrk="1" hangingPunct="1"/>
            <a:r>
              <a:rPr lang="en-US" altLang="en-US" sz="1800" dirty="0" smtClean="0"/>
              <a:t>Both include unions, which are not type checked</a:t>
            </a:r>
          </a:p>
          <a:p>
            <a:pPr lvl="2" eaLnBrk="1" hangingPunct="1"/>
            <a:r>
              <a:rPr lang="en-US" altLang="en-US" sz="1800" dirty="0" smtClean="0"/>
              <a:t>Can you think of other reasons C or C++ aren’t strongly typed?</a:t>
            </a:r>
          </a:p>
          <a:p>
            <a:pPr lvl="1" eaLnBrk="1" hangingPunct="1"/>
            <a:r>
              <a:rPr lang="en-US" altLang="en-US" sz="2000" dirty="0" smtClean="0"/>
              <a:t>Java and C#</a:t>
            </a:r>
          </a:p>
          <a:p>
            <a:pPr lvl="2" eaLnBrk="1" hangingPunct="1"/>
            <a:r>
              <a:rPr lang="en-US" altLang="en-US" sz="1800" dirty="0" smtClean="0"/>
              <a:t>Implicit type errors cannot go undetected</a:t>
            </a:r>
          </a:p>
          <a:p>
            <a:pPr lvl="2" eaLnBrk="1" hangingPunct="1"/>
            <a:r>
              <a:rPr lang="en-US" altLang="en-US" sz="1800" dirty="0" smtClean="0"/>
              <a:t>But explicit casting can result in type errors</a:t>
            </a:r>
          </a:p>
          <a:p>
            <a:pPr marL="1371600" lvl="3" indent="0" eaLnBrk="1" hangingPunct="1">
              <a:buNone/>
            </a:pPr>
            <a:r>
              <a:rPr lang="en-ZA" altLang="en-US" sz="1700" dirty="0" smtClean="0">
                <a:latin typeface="Courier"/>
              </a:rPr>
              <a:t>Person p = </a:t>
            </a:r>
            <a:r>
              <a:rPr lang="en-ZA" altLang="en-US" sz="1700" b="1" dirty="0" smtClean="0">
                <a:latin typeface="Courier"/>
              </a:rPr>
              <a:t>new</a:t>
            </a:r>
            <a:r>
              <a:rPr lang="en-ZA" altLang="en-US" sz="1700" dirty="0" smtClean="0">
                <a:latin typeface="Courier"/>
              </a:rPr>
              <a:t> Lecturer();</a:t>
            </a:r>
          </a:p>
          <a:p>
            <a:pPr marL="1371600" lvl="3" indent="0" eaLnBrk="1" hangingPunct="1">
              <a:buNone/>
            </a:pPr>
            <a:r>
              <a:rPr lang="en-ZA" altLang="en-US" sz="1700" dirty="0" smtClean="0">
                <a:latin typeface="Courier"/>
              </a:rPr>
              <a:t>Student s </a:t>
            </a:r>
            <a:r>
              <a:rPr lang="en-ZA" altLang="en-US" sz="1700" dirty="0">
                <a:latin typeface="Courier"/>
              </a:rPr>
              <a:t>= </a:t>
            </a:r>
            <a:r>
              <a:rPr lang="en-ZA" altLang="en-US" sz="1700" dirty="0" smtClean="0">
                <a:latin typeface="Courier"/>
              </a:rPr>
              <a:t>(Student) p;</a:t>
            </a:r>
            <a:endParaRPr lang="en-ZA" altLang="en-US" sz="1700" dirty="0">
              <a:latin typeface="Courier"/>
            </a:endParaRPr>
          </a:p>
          <a:p>
            <a:pPr lvl="2" eaLnBrk="1" hangingPunct="1"/>
            <a:r>
              <a:rPr lang="en-US" altLang="en-US" sz="1800" dirty="0" smtClean="0"/>
              <a:t>Therefore more strongly typed than C and C++</a:t>
            </a:r>
          </a:p>
        </p:txBody>
      </p:sp>
      <p:sp>
        <p:nvSpPr>
          <p:cNvPr id="1249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8473B92-9CAE-49DE-BA08-BF35B4E866F8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44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Strong Typing</a:t>
            </a:r>
          </a:p>
        </p:txBody>
      </p:sp>
      <p:sp>
        <p:nvSpPr>
          <p:cNvPr id="126979" name="Content Placeholder 2"/>
          <p:cNvSpPr>
            <a:spLocks noGrp="1"/>
          </p:cNvSpPr>
          <p:nvPr>
            <p:ph idx="1"/>
          </p:nvPr>
        </p:nvSpPr>
        <p:spPr>
          <a:xfrm>
            <a:off x="609600" y="1566718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Coercion rules can weaken typing</a:t>
            </a:r>
          </a:p>
          <a:p>
            <a:pPr lvl="1" eaLnBrk="1" hangingPunct="1"/>
            <a:r>
              <a:rPr lang="en-US" altLang="en-US" sz="2000" dirty="0" smtClean="0"/>
              <a:t>Coercion automatically converts operands to same type</a:t>
            </a:r>
          </a:p>
          <a:p>
            <a:pPr lvl="1" eaLnBrk="1" hangingPunct="1"/>
            <a:r>
              <a:rPr lang="en-US" altLang="en-US" sz="2000" dirty="0" smtClean="0"/>
              <a:t>Can cause accidental type mismatches to go undetected</a:t>
            </a:r>
          </a:p>
          <a:p>
            <a:pPr lvl="2" eaLnBrk="1" hangingPunct="1"/>
            <a:r>
              <a:rPr lang="en-US" altLang="en-US" sz="1800" dirty="0" smtClean="0"/>
              <a:t>For example, if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800" dirty="0" smtClean="0"/>
              <a:t> and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1800" dirty="0" smtClean="0"/>
              <a:t> are </a:t>
            </a:r>
            <a:r>
              <a:rPr lang="en-US" alt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 smtClean="0"/>
              <a:t> variables and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1800" dirty="0" smtClean="0"/>
              <a:t> is a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lang="en-US" altLang="en-US" sz="1800" dirty="0" smtClean="0"/>
          </a:p>
          <a:p>
            <a:pPr lvl="2" eaLnBrk="1" hangingPunct="1"/>
            <a:r>
              <a:rPr lang="en-US" altLang="en-US" sz="1800" dirty="0"/>
              <a:t>Y</a:t>
            </a:r>
            <a:r>
              <a:rPr lang="en-US" altLang="en-US" sz="1800" dirty="0" smtClean="0"/>
              <a:t>ou mean to add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800" dirty="0" smtClean="0"/>
              <a:t> and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1800" dirty="0" smtClean="0"/>
              <a:t>, but mistype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1800" dirty="0" smtClean="0"/>
              <a:t> as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  <a:p>
            <a:pPr lvl="2" eaLnBrk="1" hangingPunct="1"/>
            <a:r>
              <a:rPr lang="en-US" altLang="en-US" sz="1800" dirty="0" smtClean="0"/>
              <a:t>Compiler/interpreter converts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800" dirty="0" smtClean="0"/>
              <a:t> to a </a:t>
            </a:r>
            <a:r>
              <a:rPr lang="en-US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lang="en-US" altLang="en-US" sz="1800" dirty="0" smtClean="0"/>
          </a:p>
          <a:p>
            <a:pPr lvl="2" eaLnBrk="1" hangingPunct="1"/>
            <a:r>
              <a:rPr lang="en-US" altLang="en-US" sz="1800" dirty="0" smtClean="0"/>
              <a:t>Mistyping error isn’t detected</a:t>
            </a:r>
          </a:p>
          <a:p>
            <a:pPr eaLnBrk="1" hangingPunct="1"/>
            <a:r>
              <a:rPr lang="en-US" altLang="en-US" sz="2400" dirty="0" smtClean="0"/>
              <a:t>Language examples</a:t>
            </a:r>
          </a:p>
          <a:p>
            <a:pPr lvl="1" eaLnBrk="1" hangingPunct="1"/>
            <a:r>
              <a:rPr lang="en-US" altLang="en-US" sz="2000" dirty="0" smtClean="0"/>
              <a:t>C++ has many coercions</a:t>
            </a:r>
          </a:p>
          <a:p>
            <a:pPr lvl="2" eaLnBrk="1" hangingPunct="1"/>
            <a:r>
              <a:rPr lang="en-US" altLang="en-US" sz="1700" dirty="0" smtClean="0"/>
              <a:t>Therefore less reliable</a:t>
            </a:r>
          </a:p>
          <a:p>
            <a:pPr lvl="1" eaLnBrk="1" hangingPunct="1"/>
            <a:r>
              <a:rPr lang="en-US" altLang="en-US" sz="2000" dirty="0" smtClean="0"/>
              <a:t>Java has half of C++ assignment coercions</a:t>
            </a:r>
          </a:p>
          <a:p>
            <a:pPr lvl="2" eaLnBrk="1" hangingPunct="1"/>
            <a:r>
              <a:rPr lang="en-US" altLang="en-US" sz="1700" dirty="0" smtClean="0"/>
              <a:t>Therefore more reliable</a:t>
            </a:r>
          </a:p>
        </p:txBody>
      </p:sp>
      <p:sp>
        <p:nvSpPr>
          <p:cNvPr id="1269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3836C9F-A804-4468-B133-8D1BFFC51788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1043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 smtClean="0"/>
              <a:t>Type Equivalence</a:t>
            </a:r>
            <a:endParaRPr lang="en-GB" altLang="en-US" smtClean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9027"/>
            <a:ext cx="8153400" cy="4572000"/>
          </a:xfrm>
        </p:spPr>
        <p:txBody>
          <a:bodyPr/>
          <a:lstStyle/>
          <a:p>
            <a:r>
              <a:rPr lang="en-ZA" altLang="en-US" sz="2400" dirty="0" smtClean="0"/>
              <a:t>Defines when operands of two types can be substitutable, with no coercion</a:t>
            </a:r>
          </a:p>
          <a:p>
            <a:pPr lvl="1"/>
            <a:r>
              <a:rPr lang="en-ZA" altLang="en-US" sz="2000" dirty="0" smtClean="0"/>
              <a:t>Defines types of operands acceptable for all operators</a:t>
            </a:r>
          </a:p>
          <a:p>
            <a:pPr lvl="1"/>
            <a:r>
              <a:rPr lang="en-ZA" altLang="en-US" sz="2000" dirty="0" smtClean="0"/>
              <a:t>For predefined scalar types</a:t>
            </a:r>
          </a:p>
          <a:p>
            <a:pPr lvl="2"/>
            <a:r>
              <a:rPr lang="en-ZA" altLang="en-US" sz="1800" dirty="0" smtClean="0"/>
              <a:t>Simple and rigid (usually a type is only equivalent to itself)</a:t>
            </a:r>
          </a:p>
          <a:p>
            <a:pPr lvl="1"/>
            <a:r>
              <a:rPr lang="en-ZA" altLang="en-US" sz="2000" dirty="0" smtClean="0"/>
              <a:t>For structured types and some user-defined types</a:t>
            </a:r>
          </a:p>
          <a:p>
            <a:pPr lvl="2"/>
            <a:r>
              <a:rPr lang="en-ZA" altLang="en-US" sz="1800" dirty="0" smtClean="0"/>
              <a:t>Type equivalence rules are more complex</a:t>
            </a:r>
            <a:endParaRPr lang="en-GB" altLang="en-US" sz="1800" dirty="0" smtClean="0"/>
          </a:p>
        </p:txBody>
      </p:sp>
      <p:sp>
        <p:nvSpPr>
          <p:cNvPr id="1280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77BE24C-0BF1-4ECD-81F9-94F387F3475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008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Type Equivalence</a:t>
            </a:r>
          </a:p>
        </p:txBody>
      </p:sp>
      <p:sp>
        <p:nvSpPr>
          <p:cNvPr id="129027" name="Content Placeholder 2"/>
          <p:cNvSpPr>
            <a:spLocks noGrp="1"/>
          </p:cNvSpPr>
          <p:nvPr>
            <p:ph idx="1"/>
          </p:nvPr>
        </p:nvSpPr>
        <p:spPr>
          <a:xfrm>
            <a:off x="609600" y="156902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 u="sng" dirty="0" smtClean="0">
                <a:solidFill>
                  <a:srgbClr val="333399"/>
                </a:solidFill>
              </a:rPr>
              <a:t>Name type equivalence</a:t>
            </a:r>
            <a:endParaRPr lang="en-US" altLang="en-US" sz="2400" dirty="0" smtClean="0">
              <a:solidFill>
                <a:srgbClr val="333399"/>
              </a:solidFill>
            </a:endParaRP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Variables have equivalent types only if they have </a:t>
            </a:r>
            <a:r>
              <a:rPr lang="en-US" altLang="en-US" sz="2000" u="sng" dirty="0" smtClean="0">
                <a:solidFill>
                  <a:srgbClr val="333399"/>
                </a:solidFill>
              </a:rPr>
              <a:t>exactly the same type</a:t>
            </a:r>
          </a:p>
          <a:p>
            <a:pPr lvl="1" eaLnBrk="1" hangingPunct="1"/>
            <a:r>
              <a:rPr lang="en-US" altLang="en-US" sz="2000" dirty="0" smtClean="0">
                <a:solidFill>
                  <a:srgbClr val="333399"/>
                </a:solidFill>
              </a:rPr>
              <a:t>Easy to implement but restrictive</a:t>
            </a:r>
          </a:p>
          <a:p>
            <a:pPr lvl="2" eaLnBrk="1" hangingPunct="1"/>
            <a:r>
              <a:rPr lang="en-ZA" altLang="en-US" sz="1800" dirty="0" smtClean="0"/>
              <a:t>For example, subprogram parameters in call must exactly match the parameters in the subprogram definition</a:t>
            </a:r>
          </a:p>
          <a:p>
            <a:pPr eaLnBrk="1" hangingPunct="1"/>
            <a:r>
              <a:rPr lang="en-US" altLang="en-US" sz="2400" u="sng" dirty="0"/>
              <a:t>Structure type equivalence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en-US" sz="2000" dirty="0" smtClean="0"/>
              <a:t>Variables </a:t>
            </a:r>
            <a:r>
              <a:rPr lang="en-US" altLang="en-US" sz="2000" dirty="0"/>
              <a:t>have equivalent types if their </a:t>
            </a:r>
            <a:r>
              <a:rPr lang="en-US" altLang="en-US" sz="2000" u="sng" dirty="0"/>
              <a:t>types have identical structures</a:t>
            </a:r>
          </a:p>
          <a:p>
            <a:pPr lvl="1" eaLnBrk="1" hangingPunct="1"/>
            <a:r>
              <a:rPr lang="en-US" altLang="en-US" sz="2000" dirty="0"/>
              <a:t>More flexible, but harder to </a:t>
            </a:r>
            <a:r>
              <a:rPr lang="en-US" altLang="en-US" sz="2000" dirty="0" smtClean="0"/>
              <a:t>implement</a:t>
            </a:r>
            <a:endParaRPr lang="en-US" altLang="en-US" sz="2000" dirty="0"/>
          </a:p>
        </p:txBody>
      </p:sp>
      <p:sp>
        <p:nvSpPr>
          <p:cNvPr id="1290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006CF18-2F74-40D7-8066-0D52E1F8DCF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083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7287</TotalTime>
  <Words>2220</Words>
  <Application>Microsoft Office PowerPoint</Application>
  <PresentationFormat>On-screen Show (4:3)</PresentationFormat>
  <Paragraphs>422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Courier</vt:lpstr>
      <vt:lpstr>Courier New</vt:lpstr>
      <vt:lpstr>Lucida Sans Unicode</vt:lpstr>
      <vt:lpstr>Times</vt:lpstr>
      <vt:lpstr>1_sebesta</vt:lpstr>
      <vt:lpstr>Chapter 6 Part 2</vt:lpstr>
      <vt:lpstr>Chapter 6 Topics</vt:lpstr>
      <vt:lpstr>Record Types</vt:lpstr>
      <vt:lpstr>Records in COBOL</vt:lpstr>
      <vt:lpstr>Orthogonal Records</vt:lpstr>
      <vt:lpstr>References to Records</vt:lpstr>
      <vt:lpstr>Tuple Types</vt:lpstr>
      <vt:lpstr>List Types</vt:lpstr>
      <vt:lpstr>List Types</vt:lpstr>
      <vt:lpstr>List Types</vt:lpstr>
      <vt:lpstr>Unions Types</vt:lpstr>
      <vt:lpstr>Discriminated vs. Free Unions</vt:lpstr>
      <vt:lpstr>Discriminated vs. Free Unions</vt:lpstr>
      <vt:lpstr>Discriminated Unions</vt:lpstr>
      <vt:lpstr>Pointer and Reference Types</vt:lpstr>
      <vt:lpstr>Design Issues of Pointers</vt:lpstr>
      <vt:lpstr>Pointer Operations</vt:lpstr>
      <vt:lpstr>Problems with Pointers </vt:lpstr>
      <vt:lpstr>Pointers in C and C++</vt:lpstr>
      <vt:lpstr>Pointers in C and C++</vt:lpstr>
      <vt:lpstr>Reference Types</vt:lpstr>
      <vt:lpstr>Reference Types</vt:lpstr>
      <vt:lpstr>Type Checking</vt:lpstr>
      <vt:lpstr>Type Checking</vt:lpstr>
      <vt:lpstr>Strong Typing</vt:lpstr>
      <vt:lpstr>Strong Typing</vt:lpstr>
      <vt:lpstr>Type Equivalence</vt:lpstr>
      <vt:lpstr>Type Equivalence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414</cp:revision>
  <dcterms:created xsi:type="dcterms:W3CDTF">2003-08-01T12:29:19Z</dcterms:created>
  <dcterms:modified xsi:type="dcterms:W3CDTF">2026-04-23T20:14:30Z</dcterms:modified>
</cp:coreProperties>
</file>