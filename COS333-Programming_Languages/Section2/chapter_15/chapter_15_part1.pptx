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21"/>
  </p:notesMasterIdLst>
  <p:sldIdLst>
    <p:sldId id="389" r:id="rId2"/>
    <p:sldId id="257" r:id="rId3"/>
    <p:sldId id="346" r:id="rId4"/>
    <p:sldId id="385" r:id="rId5"/>
    <p:sldId id="386" r:id="rId6"/>
    <p:sldId id="387" r:id="rId7"/>
    <p:sldId id="388" r:id="rId8"/>
    <p:sldId id="352" r:id="rId9"/>
    <p:sldId id="356" r:id="rId10"/>
    <p:sldId id="390" r:id="rId11"/>
    <p:sldId id="391" r:id="rId12"/>
    <p:sldId id="358" r:id="rId13"/>
    <p:sldId id="359" r:id="rId14"/>
    <p:sldId id="361" r:id="rId15"/>
    <p:sldId id="362" r:id="rId16"/>
    <p:sldId id="392" r:id="rId17"/>
    <p:sldId id="393" r:id="rId18"/>
    <p:sldId id="394" r:id="rId19"/>
    <p:sldId id="395" r:id="rId2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99"/>
    <a:srgbClr val="6666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743" autoAdjust="0"/>
    <p:restoredTop sz="86424" autoAdjust="0"/>
  </p:normalViewPr>
  <p:slideViewPr>
    <p:cSldViewPr>
      <p:cViewPr varScale="1">
        <p:scale>
          <a:sx n="73" d="100"/>
          <a:sy n="73" d="100"/>
        </p:scale>
        <p:origin x="110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4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Lucida Sans Unicode" panose="020B0602030504020204" pitchFamily="34" charset="0"/>
                <a:cs typeface="Lucida Sans Unicode" panose="020B0602030504020204" pitchFamily="34" charset="0"/>
              </a:defRPr>
            </a:lvl1pPr>
          </a:lstStyle>
          <a:p>
            <a:pPr>
              <a:defRPr/>
            </a:pPr>
            <a:fld id="{E870BC5F-F1FA-4E63-AAF5-2484B49BAB8D}" type="slidenum">
              <a:rPr lang="en-US" altLang="en-US"/>
              <a:pPr>
                <a:defRPr/>
              </a:pPr>
              <a:t>‹#›</a:t>
            </a:fld>
            <a:endParaRPr lang="en-US" altLang="en-US"/>
          </a:p>
        </p:txBody>
      </p:sp>
    </p:spTree>
    <p:extLst>
      <p:ext uri="{BB962C8B-B14F-4D97-AF65-F5344CB8AC3E}">
        <p14:creationId xmlns:p14="http://schemas.microsoft.com/office/powerpoint/2010/main" val="35758863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0095BF5-4AD6-463F-BFFB-74C71C30254D}" type="slidenum">
              <a:rPr lang="en-US" altLang="en-US" sz="1200" smtClean="0"/>
              <a:pPr/>
              <a:t>1</a:t>
            </a:fld>
            <a:endParaRPr lang="en-US" altLang="en-US" sz="1200" smtClean="0"/>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dirty="0" smtClean="0"/>
          </a:p>
        </p:txBody>
      </p:sp>
    </p:spTree>
    <p:extLst>
      <p:ext uri="{BB962C8B-B14F-4D97-AF65-F5344CB8AC3E}">
        <p14:creationId xmlns:p14="http://schemas.microsoft.com/office/powerpoint/2010/main" val="277503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20B71E4-D86A-470A-B958-326C1BF58D6C}" type="slidenum">
              <a:rPr lang="en-US" altLang="en-US" sz="1200" smtClean="0"/>
              <a:pPr/>
              <a:t>2</a:t>
            </a:fld>
            <a:endParaRPr lang="en-US" altLang="en-US" sz="1200" smtClean="0"/>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80724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CE7978F-CF60-4D5F-8E65-94AFABFAC2C2}" type="slidenum">
              <a:rPr lang="en-US" altLang="en-US" sz="1300" smtClean="0"/>
              <a:pPr/>
              <a:t>3</a:t>
            </a:fld>
            <a:endParaRPr lang="en-US" altLang="en-US" sz="1300" smtClean="0"/>
          </a:p>
        </p:txBody>
      </p:sp>
      <p:sp>
        <p:nvSpPr>
          <p:cNvPr id="9219" name="Rectangle 2"/>
          <p:cNvSpPr>
            <a:spLocks noGrp="1" noRot="1" noChangeAspect="1" noChangeArrowheads="1" noTextEdit="1"/>
          </p:cNvSpPr>
          <p:nvPr>
            <p:ph type="sldImg"/>
          </p:nvPr>
        </p:nvSpPr>
        <p:spPr>
          <a:xfrm>
            <a:off x="992188" y="768350"/>
            <a:ext cx="5114925" cy="3836988"/>
          </a:xfrm>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367280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CE7978F-CF60-4D5F-8E65-94AFABFAC2C2}" type="slidenum">
              <a:rPr lang="en-US" altLang="en-US" sz="1300" smtClean="0"/>
              <a:pPr/>
              <a:t>4</a:t>
            </a:fld>
            <a:endParaRPr lang="en-US" altLang="en-US" sz="1300" smtClean="0"/>
          </a:p>
        </p:txBody>
      </p:sp>
      <p:sp>
        <p:nvSpPr>
          <p:cNvPr id="9219" name="Rectangle 2"/>
          <p:cNvSpPr>
            <a:spLocks noGrp="1" noRot="1" noChangeAspect="1" noChangeArrowheads="1" noTextEdit="1"/>
          </p:cNvSpPr>
          <p:nvPr>
            <p:ph type="sldImg"/>
          </p:nvPr>
        </p:nvSpPr>
        <p:spPr>
          <a:xfrm>
            <a:off x="992188" y="768350"/>
            <a:ext cx="5114925" cy="3836988"/>
          </a:xfrm>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F</a:t>
            </a:r>
            <a:r>
              <a:rPr lang="en-GB" altLang="en-US" baseline="0" dirty="0" smtClean="0"/>
              <a:t>unctional side effects and referential transparency are discussed in Section 7.2.2 of the textbook.</a:t>
            </a:r>
            <a:endParaRPr lang="en-GB" altLang="en-US" dirty="0" smtClean="0"/>
          </a:p>
        </p:txBody>
      </p:sp>
    </p:spTree>
    <p:extLst>
      <p:ext uri="{BB962C8B-B14F-4D97-AF65-F5344CB8AC3E}">
        <p14:creationId xmlns:p14="http://schemas.microsoft.com/office/powerpoint/2010/main" val="2166663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CE7978F-CF60-4D5F-8E65-94AFABFAC2C2}" type="slidenum">
              <a:rPr lang="en-US" altLang="en-US" sz="1300" smtClean="0"/>
              <a:pPr/>
              <a:t>5</a:t>
            </a:fld>
            <a:endParaRPr lang="en-US" altLang="en-US" sz="1300" smtClean="0"/>
          </a:p>
        </p:txBody>
      </p:sp>
      <p:sp>
        <p:nvSpPr>
          <p:cNvPr id="9219" name="Rectangle 2"/>
          <p:cNvSpPr>
            <a:spLocks noGrp="1" noRot="1" noChangeAspect="1" noChangeArrowheads="1" noTextEdit="1"/>
          </p:cNvSpPr>
          <p:nvPr>
            <p:ph type="sldImg"/>
          </p:nvPr>
        </p:nvSpPr>
        <p:spPr>
          <a:xfrm>
            <a:off x="992188" y="768350"/>
            <a:ext cx="5114925" cy="3836988"/>
          </a:xfrm>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854730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CE7978F-CF60-4D5F-8E65-94AFABFAC2C2}" type="slidenum">
              <a:rPr lang="en-US" altLang="en-US" sz="1300" smtClean="0"/>
              <a:pPr/>
              <a:t>6</a:t>
            </a:fld>
            <a:endParaRPr lang="en-US" altLang="en-US" sz="1300" smtClean="0"/>
          </a:p>
        </p:txBody>
      </p:sp>
      <p:sp>
        <p:nvSpPr>
          <p:cNvPr id="9219" name="Rectangle 2"/>
          <p:cNvSpPr>
            <a:spLocks noGrp="1" noRot="1" noChangeAspect="1" noChangeArrowheads="1" noTextEdit="1"/>
          </p:cNvSpPr>
          <p:nvPr>
            <p:ph type="sldImg"/>
          </p:nvPr>
        </p:nvSpPr>
        <p:spPr>
          <a:xfrm>
            <a:off x="992188" y="768350"/>
            <a:ext cx="5114925" cy="3836988"/>
          </a:xfrm>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744857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CE7978F-CF60-4D5F-8E65-94AFABFAC2C2}" type="slidenum">
              <a:rPr lang="en-US" altLang="en-US" sz="1300" smtClean="0"/>
              <a:pPr/>
              <a:t>7</a:t>
            </a:fld>
            <a:endParaRPr lang="en-US" altLang="en-US" sz="1300" smtClean="0"/>
          </a:p>
        </p:txBody>
      </p:sp>
      <p:sp>
        <p:nvSpPr>
          <p:cNvPr id="9219" name="Rectangle 2"/>
          <p:cNvSpPr>
            <a:spLocks noGrp="1" noRot="1" noChangeAspect="1" noChangeArrowheads="1" noTextEdit="1"/>
          </p:cNvSpPr>
          <p:nvPr>
            <p:ph type="sldImg"/>
          </p:nvPr>
        </p:nvSpPr>
        <p:spPr>
          <a:xfrm>
            <a:off x="992188" y="768350"/>
            <a:ext cx="5114925" cy="3836988"/>
          </a:xfrm>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031078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82D7698-EDD8-45DD-BE22-A489106E5E95}" type="slidenum">
              <a:rPr lang="en-US" altLang="en-US" sz="1300" smtClean="0"/>
              <a:pPr/>
              <a:t>8</a:t>
            </a:fld>
            <a:endParaRPr lang="en-US" altLang="en-US" sz="1300" smtClean="0"/>
          </a:p>
        </p:txBody>
      </p:sp>
      <p:sp>
        <p:nvSpPr>
          <p:cNvPr id="11267" name="Rectangle 2"/>
          <p:cNvSpPr>
            <a:spLocks noGrp="1" noRot="1" noChangeAspect="1" noChangeArrowheads="1" noTextEdit="1"/>
          </p:cNvSpPr>
          <p:nvPr>
            <p:ph type="sldImg"/>
          </p:nvPr>
        </p:nvSpPr>
        <p:spPr>
          <a:xfrm>
            <a:off x="992188" y="768350"/>
            <a:ext cx="5114925" cy="3836988"/>
          </a:xfrm>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208106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BC3B612-22C6-4439-A906-49D0C0D11578}" type="slidenum">
              <a:rPr lang="en-US" altLang="en-US" sz="1300" smtClean="0"/>
              <a:pPr/>
              <a:t>9</a:t>
            </a:fld>
            <a:endParaRPr lang="en-US" altLang="en-US" sz="1300" smtClean="0"/>
          </a:p>
        </p:txBody>
      </p:sp>
      <p:sp>
        <p:nvSpPr>
          <p:cNvPr id="19459" name="Rectangle 2"/>
          <p:cNvSpPr>
            <a:spLocks noGrp="1" noRot="1" noChangeAspect="1" noChangeArrowheads="1" noTextEdit="1"/>
          </p:cNvSpPr>
          <p:nvPr>
            <p:ph type="sldImg"/>
          </p:nvPr>
        </p:nvSpPr>
        <p:spPr>
          <a:xfrm>
            <a:off x="992188" y="768350"/>
            <a:ext cx="5114925" cy="3836988"/>
          </a:xfrm>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502666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040FA70-1C7F-4D59-9542-52BC3779A93A}" type="slidenum">
              <a:rPr lang="en-US" altLang="en-US" sz="1300" smtClean="0"/>
              <a:pPr/>
              <a:t>10</a:t>
            </a:fld>
            <a:endParaRPr lang="en-US" altLang="en-US" sz="1300" smtClean="0"/>
          </a:p>
        </p:txBody>
      </p:sp>
      <p:sp>
        <p:nvSpPr>
          <p:cNvPr id="15363" name="Rectangle 2"/>
          <p:cNvSpPr>
            <a:spLocks noGrp="1" noRot="1" noChangeAspect="1" noChangeArrowheads="1" noTextEdit="1"/>
          </p:cNvSpPr>
          <p:nvPr>
            <p:ph type="sldImg"/>
          </p:nvPr>
        </p:nvSpPr>
        <p:spPr>
          <a:xfrm>
            <a:off x="992188" y="768350"/>
            <a:ext cx="5114925" cy="3836988"/>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Symbolic atoms are things like A and X. They don’t have an intrinsic meaning, and aren’t characters or strings. They were originally designed for AI applications to represent the idea of abstract concepts that AI programs could work with.</a:t>
            </a:r>
          </a:p>
          <a:p>
            <a:pPr eaLnBrk="1" hangingPunct="1"/>
            <a:endParaRPr lang="en-GB" altLang="en-US" dirty="0" smtClean="0"/>
          </a:p>
          <a:p>
            <a:pPr eaLnBrk="1" hangingPunct="1"/>
            <a:r>
              <a:rPr lang="en-GB" altLang="en-US" dirty="0" smtClean="0"/>
              <a:t>Numeric atoms are things like 4.8 and 26. We can perform arithmetic operations on them, like in an imperative language.</a:t>
            </a:r>
          </a:p>
          <a:p>
            <a:pPr eaLnBrk="1" hangingPunct="1"/>
            <a:endParaRPr lang="en-GB" altLang="en-US" dirty="0" smtClean="0"/>
          </a:p>
          <a:p>
            <a:pPr eaLnBrk="1" hangingPunct="1"/>
            <a:r>
              <a:rPr lang="en-GB" altLang="en-US" dirty="0" smtClean="0"/>
              <a:t>Both symbolic and numeric atoms can be stored in lists.</a:t>
            </a:r>
          </a:p>
        </p:txBody>
      </p:sp>
    </p:spTree>
    <p:extLst>
      <p:ext uri="{BB962C8B-B14F-4D97-AF65-F5344CB8AC3E}">
        <p14:creationId xmlns:p14="http://schemas.microsoft.com/office/powerpoint/2010/main" val="886300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A0A5F01-3FCC-4700-ADA5-FFB6495D7B75}" type="slidenum">
              <a:rPr lang="en-US" altLang="en-US" sz="1300" smtClean="0"/>
              <a:pPr/>
              <a:t>11</a:t>
            </a:fld>
            <a:endParaRPr lang="en-US" altLang="en-US" sz="1300" smtClean="0"/>
          </a:p>
        </p:txBody>
      </p:sp>
      <p:sp>
        <p:nvSpPr>
          <p:cNvPr id="17411" name="Rectangle 2"/>
          <p:cNvSpPr>
            <a:spLocks noGrp="1" noRot="1" noChangeAspect="1" noChangeArrowheads="1" noTextEdit="1"/>
          </p:cNvSpPr>
          <p:nvPr>
            <p:ph type="sldImg"/>
          </p:nvPr>
        </p:nvSpPr>
        <p:spPr>
          <a:xfrm>
            <a:off x="992188" y="768350"/>
            <a:ext cx="5114925" cy="3836988"/>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1054741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AD1CB5D-8990-43B7-BE6C-07A2F3372FB7}" type="slidenum">
              <a:rPr lang="en-US" altLang="en-US" sz="1300" smtClean="0"/>
              <a:pPr/>
              <a:t>12</a:t>
            </a:fld>
            <a:endParaRPr lang="en-US" altLang="en-US" sz="1300" smtClean="0"/>
          </a:p>
        </p:txBody>
      </p:sp>
      <p:sp>
        <p:nvSpPr>
          <p:cNvPr id="23555" name="Rectangle 2"/>
          <p:cNvSpPr>
            <a:spLocks noGrp="1" noRot="1" noChangeAspect="1" noChangeArrowheads="1" noTextEdit="1"/>
          </p:cNvSpPr>
          <p:nvPr>
            <p:ph type="sldImg"/>
          </p:nvPr>
        </p:nvSpPr>
        <p:spPr>
          <a:xfrm>
            <a:off x="992188" y="768350"/>
            <a:ext cx="5114925" cy="3836988"/>
          </a:xfrm>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Here “no particular order” means that there is an order of parameter evaluation implemented in a Scheme interpreter (this is required for the interpreter to work), but that the order is unimportant. Firstly, if the parameters are just values, the order they are handled in obviously doesn’t matter. But if the parameters are applications of functions (what you know as function calls) the order of evaluation is still unimportant. This is because, as we’ve seen before, functional languages have no functional side effects. This means that no parameter evaluation can affect any other parameter evaluation, and so the order the functions are evaluated in can’t affect the final outcome.</a:t>
            </a:r>
          </a:p>
          <a:p>
            <a:pPr eaLnBrk="1" hangingPunct="1"/>
            <a:endParaRPr lang="en-GB" altLang="en-US" dirty="0" smtClean="0"/>
          </a:p>
          <a:p>
            <a:pPr eaLnBrk="1" hangingPunct="1"/>
            <a:r>
              <a:rPr lang="en-GB" altLang="en-US" dirty="0" smtClean="0"/>
              <a:t>The last point on this slide is also important to remember.</a:t>
            </a:r>
          </a:p>
        </p:txBody>
      </p:sp>
    </p:spTree>
    <p:extLst>
      <p:ext uri="{BB962C8B-B14F-4D97-AF65-F5344CB8AC3E}">
        <p14:creationId xmlns:p14="http://schemas.microsoft.com/office/powerpoint/2010/main" val="1524944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1375F10-5DB2-4C75-8357-E7BF0EBEEE2C}" type="slidenum">
              <a:rPr lang="en-US" altLang="en-US" sz="1300" smtClean="0"/>
              <a:pPr/>
              <a:t>13</a:t>
            </a:fld>
            <a:endParaRPr lang="en-US" altLang="en-US" sz="1300" smtClean="0"/>
          </a:p>
        </p:txBody>
      </p:sp>
      <p:sp>
        <p:nvSpPr>
          <p:cNvPr id="25603" name="Rectangle 2"/>
          <p:cNvSpPr>
            <a:spLocks noGrp="1" noRot="1" noChangeAspect="1" noChangeArrowheads="1" noTextEdit="1"/>
          </p:cNvSpPr>
          <p:nvPr>
            <p:ph type="sldImg"/>
          </p:nvPr>
        </p:nvSpPr>
        <p:spPr>
          <a:xfrm>
            <a:off x="992188" y="768350"/>
            <a:ext cx="5114925" cy="3836988"/>
          </a:xfrm>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Remember that everything in Scheme is a function. So +, -, *, and / are actually the names of functions that are provided by Scheme. Notice that their syntax is exactly the same as a normal function (function name first, followed by parameters).</a:t>
            </a:r>
          </a:p>
        </p:txBody>
      </p:sp>
    </p:spTree>
    <p:extLst>
      <p:ext uri="{BB962C8B-B14F-4D97-AF65-F5344CB8AC3E}">
        <p14:creationId xmlns:p14="http://schemas.microsoft.com/office/powerpoint/2010/main" val="2030724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smtClean="0"/>
              <a:t>The term “binding” simply means an association (or linking). The first example under point 1 uses define to bind (or associate, or link) the name pi to the numeric literal 3.141593. From this point the symbol pi now “means” 3.141593. The second example under point 1 uses define to bind the name </a:t>
            </a:r>
            <a:r>
              <a:rPr lang="en-GB" altLang="en-US" dirty="0" err="1" smtClean="0"/>
              <a:t>two_pi</a:t>
            </a:r>
            <a:r>
              <a:rPr lang="en-GB" altLang="en-US" dirty="0" smtClean="0"/>
              <a:t> to the value of the expression (* 2 pi). The value of the expression (* 2 pi) is 6.28318, so from this point the symbol </a:t>
            </a:r>
            <a:r>
              <a:rPr lang="en-GB" altLang="en-US" dirty="0" err="1" smtClean="0"/>
              <a:t>two_pi</a:t>
            </a:r>
            <a:r>
              <a:rPr lang="en-GB" altLang="en-US" dirty="0" smtClean="0"/>
              <a:t> now “means” 6.28318.</a:t>
            </a:r>
            <a:endParaRPr lang="en-ZA" altLang="en-US" dirty="0" smtClean="0"/>
          </a:p>
          <a:p>
            <a:endParaRPr lang="en-ZA" altLang="en-US" dirty="0" smtClean="0"/>
          </a:p>
          <a:p>
            <a:r>
              <a:rPr lang="en-ZA" altLang="en-US" dirty="0" smtClean="0"/>
              <a:t>The first example under point 2 uses define to bind the name “square” to the lambda expression </a:t>
            </a:r>
            <a:r>
              <a:rPr lang="en-US" altLang="en-US" dirty="0" smtClean="0">
                <a:latin typeface="Courier New" panose="02070309020205020404" pitchFamily="49" charset="0"/>
              </a:rPr>
              <a:t>(lambda (x) (* x x)). Note that we use an abbreviated form for the lambda expression, because we don’t have to explicitly use the lambda function within the define. It is actually possible to use the full lambda expression syntax within a define, but we won’t be doing this to make our programs more readable.</a:t>
            </a:r>
            <a:endParaRPr lang="en-ZA" altLang="en-US" dirty="0" smtClean="0"/>
          </a:p>
          <a:p>
            <a:endParaRPr lang="en-ZA" altLang="en-US" dirty="0" smtClean="0"/>
          </a:p>
          <a:p>
            <a:r>
              <a:rPr lang="en-ZA" altLang="en-US" dirty="0" smtClean="0"/>
              <a:t>We will mostly be using define when we write functions. This means that we now have a name for the function, which we can use anywhere in our program. The define function is therefore useful on its own (as in the second example), unlike lambda in the first and third examples on the previous slide. You can think of define as achieving the same thing as a function declaration in a language like C++. However, also take note that define is a function itself, which simply performs a binding of a name to a lambda expression, so it is actually not the same thing as a function declaration.</a:t>
            </a:r>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5A78DBA-D60D-4E79-985F-E41C886FDF4E}" type="slidenum">
              <a:rPr lang="en-US" altLang="en-US" sz="1200" smtClean="0"/>
              <a:pPr/>
              <a:t>14</a:t>
            </a:fld>
            <a:endParaRPr lang="en-US" altLang="en-US" sz="1200" smtClean="0"/>
          </a:p>
        </p:txBody>
      </p:sp>
    </p:spTree>
    <p:extLst>
      <p:ext uri="{BB962C8B-B14F-4D97-AF65-F5344CB8AC3E}">
        <p14:creationId xmlns:p14="http://schemas.microsoft.com/office/powerpoint/2010/main" val="39402518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304A795-D79A-40AE-9967-16F6AE5E6729}" type="slidenum">
              <a:rPr lang="en-US" altLang="en-US" sz="1300" smtClean="0"/>
              <a:pPr/>
              <a:t>15</a:t>
            </a:fld>
            <a:endParaRPr lang="en-US" altLang="en-US" sz="1300" smtClean="0"/>
          </a:p>
        </p:txBody>
      </p:sp>
      <p:sp>
        <p:nvSpPr>
          <p:cNvPr id="31747" name="Rectangle 2"/>
          <p:cNvSpPr>
            <a:spLocks noGrp="1" noRot="1" noChangeAspect="1" noChangeArrowheads="1" noTextEdit="1"/>
          </p:cNvSpPr>
          <p:nvPr>
            <p:ph type="sldImg"/>
          </p:nvPr>
        </p:nvSpPr>
        <p:spPr>
          <a:xfrm>
            <a:off x="992188" y="768350"/>
            <a:ext cx="5114925" cy="3836988"/>
          </a:xfrm>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Related to the last point: Of course, for a functional language to be useful we can’t avoid input and output. So even a “pure” functional language can’t entirely get away from side effects. In practise, however, input and output are fairly safe side effects.</a:t>
            </a:r>
          </a:p>
        </p:txBody>
      </p:sp>
    </p:spTree>
    <p:extLst>
      <p:ext uri="{BB962C8B-B14F-4D97-AF65-F5344CB8AC3E}">
        <p14:creationId xmlns:p14="http://schemas.microsoft.com/office/powerpoint/2010/main" val="1746020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07874AA-EC5F-44A6-9E46-595D89DF6E2B}" type="slidenum">
              <a:rPr lang="en-US" altLang="en-US" sz="1300" smtClean="0"/>
              <a:pPr/>
              <a:t>16</a:t>
            </a:fld>
            <a:endParaRPr lang="en-US" altLang="en-US" sz="1300" smtClean="0"/>
          </a:p>
        </p:txBody>
      </p:sp>
      <p:sp>
        <p:nvSpPr>
          <p:cNvPr id="33795" name="Rectangle 2"/>
          <p:cNvSpPr>
            <a:spLocks noGrp="1" noRot="1" noChangeAspect="1" noChangeArrowheads="1" noTextEdit="1"/>
          </p:cNvSpPr>
          <p:nvPr>
            <p:ph type="sldImg"/>
          </p:nvPr>
        </p:nvSpPr>
        <p:spPr>
          <a:xfrm>
            <a:off x="992188" y="768350"/>
            <a:ext cx="5114925" cy="3836988"/>
          </a:xfrm>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In Scheme, &lt;&gt; refers to the “not equals” comparison</a:t>
            </a:r>
            <a:r>
              <a:rPr lang="en-GB" altLang="en-US" dirty="0" smtClean="0"/>
              <a:t>. This function is, unfortunately, not supported in </a:t>
            </a:r>
            <a:r>
              <a:rPr lang="en-GB" altLang="en-US" dirty="0" err="1" smtClean="0"/>
              <a:t>DrRacket</a:t>
            </a:r>
            <a:r>
              <a:rPr lang="en-GB" altLang="en-US" dirty="0" smtClean="0"/>
              <a:t>. You can use a combination of the not and = functions to achieve the equivalent functionality.</a:t>
            </a:r>
            <a:endParaRPr lang="en-GB" altLang="en-US" dirty="0" smtClean="0"/>
          </a:p>
          <a:p>
            <a:pPr eaLnBrk="1" hangingPunct="1"/>
            <a:endParaRPr lang="en-GB" altLang="en-US" dirty="0" smtClean="0"/>
          </a:p>
          <a:p>
            <a:pPr eaLnBrk="1" hangingPunct="1"/>
            <a:r>
              <a:rPr lang="en-GB" altLang="en-US" dirty="0" smtClean="0"/>
              <a:t>Again, note that </a:t>
            </a:r>
            <a:r>
              <a:rPr lang="en-GB" altLang="en-US" dirty="0" smtClean="0"/>
              <a:t>=, </a:t>
            </a:r>
            <a:r>
              <a:rPr lang="en-GB" altLang="en-US" dirty="0" smtClean="0"/>
              <a:t>&gt;, &lt;, &gt;=, and &lt;= are actually the names of functions.</a:t>
            </a:r>
          </a:p>
          <a:p>
            <a:pPr eaLnBrk="1" hangingPunct="1"/>
            <a:endParaRPr lang="en-GB" altLang="en-US" dirty="0" smtClean="0"/>
          </a:p>
          <a:p>
            <a:pPr eaLnBrk="1" hangingPunct="1"/>
            <a:r>
              <a:rPr lang="en-GB" altLang="en-US" dirty="0" smtClean="0"/>
              <a:t>Finally, these numeric predicate functions only work for numeric atoms, not symbolic atoms.</a:t>
            </a:r>
          </a:p>
        </p:txBody>
      </p:sp>
    </p:spTree>
    <p:extLst>
      <p:ext uri="{BB962C8B-B14F-4D97-AF65-F5344CB8AC3E}">
        <p14:creationId xmlns:p14="http://schemas.microsoft.com/office/powerpoint/2010/main" val="3796737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E2B200E-17C5-415D-8FB8-28C5A2FF08CE}" type="slidenum">
              <a:rPr lang="en-US" altLang="en-US" sz="1300" smtClean="0"/>
              <a:pPr/>
              <a:t>17</a:t>
            </a:fld>
            <a:endParaRPr lang="en-US" altLang="en-US" sz="1300" smtClean="0"/>
          </a:p>
        </p:txBody>
      </p:sp>
      <p:sp>
        <p:nvSpPr>
          <p:cNvPr id="35843" name="Rectangle 2"/>
          <p:cNvSpPr>
            <a:spLocks noGrp="1" noRot="1" noChangeAspect="1" noChangeArrowheads="1" noTextEdit="1"/>
          </p:cNvSpPr>
          <p:nvPr>
            <p:ph type="sldImg"/>
          </p:nvPr>
        </p:nvSpPr>
        <p:spPr>
          <a:xfrm>
            <a:off x="992188" y="768350"/>
            <a:ext cx="5114925" cy="3836988"/>
          </a:xfrm>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The else expression can be left </a:t>
            </a:r>
            <a:r>
              <a:rPr lang="en-GB" altLang="en-US" dirty="0" smtClean="0"/>
              <a:t>out in many implementations</a:t>
            </a:r>
            <a:r>
              <a:rPr lang="en-GB" altLang="en-US" baseline="0" dirty="0" smtClean="0"/>
              <a:t> of Scheme</a:t>
            </a:r>
            <a:r>
              <a:rPr lang="en-GB" altLang="en-US" dirty="0" smtClean="0"/>
              <a:t> </a:t>
            </a:r>
            <a:r>
              <a:rPr lang="en-GB" altLang="en-US" dirty="0" smtClean="0"/>
              <a:t>(although this is almost never useful). In this case, if the predicate is false, an unspecified evaluation</a:t>
            </a:r>
            <a:r>
              <a:rPr lang="en-GB" altLang="en-US" baseline="0" dirty="0" smtClean="0"/>
              <a:t> is produced. </a:t>
            </a:r>
            <a:r>
              <a:rPr lang="en-GB" altLang="en-US" dirty="0" smtClean="0"/>
              <a:t>An unspecified evaluation actually produces a result that denotes an “undefined” value. Typically, this represents a mistake in an implementation, because you can’t do anything useful</a:t>
            </a:r>
            <a:r>
              <a:rPr lang="en-GB" altLang="en-US" baseline="0" dirty="0" smtClean="0"/>
              <a:t> with an undefined value. </a:t>
            </a:r>
            <a:r>
              <a:rPr lang="en-GB" altLang="en-US" baseline="0" dirty="0" smtClean="0"/>
              <a:t>However, in </a:t>
            </a:r>
            <a:r>
              <a:rPr lang="en-GB" altLang="en-US" baseline="0" dirty="0" err="1" smtClean="0"/>
              <a:t>DrRacket</a:t>
            </a:r>
            <a:r>
              <a:rPr lang="en-GB" altLang="en-US" baseline="0" dirty="0" smtClean="0"/>
              <a:t>, the else expression is required.</a:t>
            </a:r>
            <a:endParaRPr lang="en-GB" altLang="en-US" dirty="0" smtClean="0"/>
          </a:p>
          <a:p>
            <a:pPr eaLnBrk="1" hangingPunct="1"/>
            <a:endParaRPr lang="en-GB" altLang="en-US" dirty="0" smtClean="0"/>
          </a:p>
          <a:p>
            <a:pPr eaLnBrk="1" hangingPunct="1"/>
            <a:r>
              <a:rPr lang="en-GB" altLang="en-US" dirty="0" smtClean="0"/>
              <a:t>In this example, define produces a function named “divide”, which takes two parameters, “</a:t>
            </a:r>
            <a:r>
              <a:rPr lang="en-GB" altLang="en-US" dirty="0" err="1" smtClean="0"/>
              <a:t>numer</a:t>
            </a:r>
            <a:r>
              <a:rPr lang="en-GB" altLang="en-US" dirty="0" smtClean="0"/>
              <a:t>” and “</a:t>
            </a:r>
            <a:r>
              <a:rPr lang="en-GB" altLang="en-US" dirty="0" err="1" smtClean="0"/>
              <a:t>denom</a:t>
            </a:r>
            <a:r>
              <a:rPr lang="en-GB" altLang="en-US" dirty="0" smtClean="0"/>
              <a:t>”.</a:t>
            </a:r>
          </a:p>
          <a:p>
            <a:pPr eaLnBrk="1" hangingPunct="1"/>
            <a:r>
              <a:rPr lang="en-GB" altLang="en-US" dirty="0" smtClean="0"/>
              <a:t>The function tests to see if </a:t>
            </a:r>
            <a:r>
              <a:rPr lang="en-GB" altLang="en-US" dirty="0" err="1" smtClean="0"/>
              <a:t>denom</a:t>
            </a:r>
            <a:r>
              <a:rPr lang="en-GB" altLang="en-US" dirty="0" smtClean="0"/>
              <a:t> is 0. If it is, the result of the entire divide function is 0</a:t>
            </a:r>
            <a:r>
              <a:rPr lang="en-GB" altLang="en-US" dirty="0" smtClean="0"/>
              <a:t>. Why is the 0 not placed</a:t>
            </a:r>
            <a:r>
              <a:rPr lang="en-GB" altLang="en-US" baseline="0" dirty="0" smtClean="0"/>
              <a:t> in parentheses?</a:t>
            </a:r>
            <a:endParaRPr lang="en-GB" altLang="en-US" dirty="0" smtClean="0"/>
          </a:p>
          <a:p>
            <a:pPr eaLnBrk="1" hangingPunct="1"/>
            <a:r>
              <a:rPr lang="en-GB" altLang="en-US" dirty="0" smtClean="0"/>
              <a:t>If </a:t>
            </a:r>
            <a:r>
              <a:rPr lang="en-GB" altLang="en-US" dirty="0" err="1" smtClean="0"/>
              <a:t>denom</a:t>
            </a:r>
            <a:r>
              <a:rPr lang="en-GB" altLang="en-US" dirty="0" smtClean="0"/>
              <a:t> is not 0, </a:t>
            </a:r>
            <a:r>
              <a:rPr lang="en-GB" altLang="en-US" dirty="0" err="1" smtClean="0"/>
              <a:t>numer</a:t>
            </a:r>
            <a:r>
              <a:rPr lang="en-GB" altLang="en-US" dirty="0" smtClean="0"/>
              <a:t> is divided by </a:t>
            </a:r>
            <a:r>
              <a:rPr lang="en-GB" altLang="en-US" dirty="0" err="1" smtClean="0"/>
              <a:t>denom</a:t>
            </a:r>
            <a:r>
              <a:rPr lang="en-GB" altLang="en-US" dirty="0" smtClean="0"/>
              <a:t>, and the result of this division becomes the result of the divide function.</a:t>
            </a:r>
          </a:p>
          <a:p>
            <a:pPr eaLnBrk="1" hangingPunct="1"/>
            <a:endParaRPr lang="en-GB" altLang="en-US" dirty="0" smtClean="0"/>
          </a:p>
          <a:p>
            <a:pPr eaLnBrk="1" hangingPunct="1"/>
            <a:r>
              <a:rPr lang="en-GB" altLang="en-US" dirty="0" smtClean="0"/>
              <a:t>Again, note that if is a function. Its parameters are two expressions. Each expression can either be a simple value, like 0, or a function application, like (/ </a:t>
            </a:r>
            <a:r>
              <a:rPr lang="en-GB" altLang="en-US" dirty="0" err="1" smtClean="0"/>
              <a:t>numer</a:t>
            </a:r>
            <a:r>
              <a:rPr lang="en-GB" altLang="en-US" dirty="0" smtClean="0"/>
              <a:t> </a:t>
            </a:r>
            <a:r>
              <a:rPr lang="en-GB" altLang="en-US" dirty="0" err="1" smtClean="0"/>
              <a:t>denom</a:t>
            </a:r>
            <a:r>
              <a:rPr lang="en-GB" altLang="en-US" dirty="0" smtClean="0"/>
              <a:t>).</a:t>
            </a:r>
          </a:p>
        </p:txBody>
      </p:sp>
    </p:spTree>
    <p:extLst>
      <p:ext uri="{BB962C8B-B14F-4D97-AF65-F5344CB8AC3E}">
        <p14:creationId xmlns:p14="http://schemas.microsoft.com/office/powerpoint/2010/main" val="2332074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B70F144-EC5F-4B0A-A60B-4E7793BC8620}" type="slidenum">
              <a:rPr lang="en-US" altLang="en-US" sz="1300" smtClean="0"/>
              <a:pPr/>
              <a:t>18</a:t>
            </a:fld>
            <a:endParaRPr lang="en-US" altLang="en-US" sz="1300" smtClean="0"/>
          </a:p>
        </p:txBody>
      </p:sp>
      <p:sp>
        <p:nvSpPr>
          <p:cNvPr id="37891" name="Rectangle 2"/>
          <p:cNvSpPr>
            <a:spLocks noGrp="1" noRot="1" noChangeAspect="1" noChangeArrowheads="1" noTextEdit="1"/>
          </p:cNvSpPr>
          <p:nvPr>
            <p:ph type="sldImg"/>
          </p:nvPr>
        </p:nvSpPr>
        <p:spPr>
          <a:xfrm>
            <a:off x="992188" y="768350"/>
            <a:ext cx="5114925" cy="3836988"/>
          </a:xfrm>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The </a:t>
            </a:r>
            <a:r>
              <a:rPr lang="en-GB" altLang="en-US" dirty="0" err="1" smtClean="0"/>
              <a:t>cond</a:t>
            </a:r>
            <a:r>
              <a:rPr lang="en-GB" altLang="en-US" dirty="0" smtClean="0"/>
              <a:t> function is discussed in Section 8.2.2.4 of the textbook.</a:t>
            </a:r>
          </a:p>
          <a:p>
            <a:pPr eaLnBrk="1" hangingPunct="1"/>
            <a:endParaRPr lang="en-GB" altLang="en-US" dirty="0" smtClean="0"/>
          </a:p>
          <a:p>
            <a:pPr eaLnBrk="1" hangingPunct="1"/>
            <a:r>
              <a:rPr lang="en-GB" altLang="en-US" dirty="0" smtClean="0"/>
              <a:t>Often you’ll see </a:t>
            </a:r>
            <a:r>
              <a:rPr lang="en-GB" altLang="en-US" dirty="0" err="1" smtClean="0"/>
              <a:t>cond</a:t>
            </a:r>
            <a:r>
              <a:rPr lang="en-GB" altLang="en-US" dirty="0" smtClean="0"/>
              <a:t> used where an if would also work (i.e. when there are only two predicate-expression pairs in the </a:t>
            </a:r>
            <a:r>
              <a:rPr lang="en-GB" altLang="en-US" dirty="0" err="1" smtClean="0"/>
              <a:t>cond</a:t>
            </a:r>
            <a:r>
              <a:rPr lang="en-GB" altLang="en-US" dirty="0" smtClean="0"/>
              <a:t>). Either is correct in a test/exam situation.</a:t>
            </a:r>
          </a:p>
          <a:p>
            <a:pPr eaLnBrk="1" hangingPunct="1"/>
            <a:endParaRPr lang="en-GB" altLang="en-US" dirty="0" smtClean="0"/>
          </a:p>
          <a:p>
            <a:pPr eaLnBrk="1" hangingPunct="1"/>
            <a:r>
              <a:rPr lang="en-GB" altLang="en-US" dirty="0" smtClean="0"/>
              <a:t>As is the case with the if function, an unspecified evaluation actually produces a result that denotes an “undefined” value. </a:t>
            </a:r>
            <a:r>
              <a:rPr lang="en-GB" altLang="en-US" baseline="0" dirty="0" smtClean="0"/>
              <a:t>In </a:t>
            </a:r>
            <a:r>
              <a:rPr lang="en-GB" altLang="en-US" baseline="0" dirty="0" err="1" smtClean="0"/>
              <a:t>DrRacket</a:t>
            </a:r>
            <a:r>
              <a:rPr lang="en-GB" altLang="en-US" baseline="0" dirty="0" smtClean="0"/>
              <a:t>, </a:t>
            </a:r>
            <a:r>
              <a:rPr lang="en-GB" altLang="en-US" baseline="0" dirty="0" smtClean="0"/>
              <a:t>this value is denoted #&lt;void&gt;</a:t>
            </a:r>
            <a:endParaRPr lang="en-GB" altLang="en-US" dirty="0" smtClean="0"/>
          </a:p>
        </p:txBody>
      </p:sp>
    </p:spTree>
    <p:extLst>
      <p:ext uri="{BB962C8B-B14F-4D97-AF65-F5344CB8AC3E}">
        <p14:creationId xmlns:p14="http://schemas.microsoft.com/office/powerpoint/2010/main" val="2990523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B70F144-EC5F-4B0A-A60B-4E7793BC8620}" type="slidenum">
              <a:rPr lang="en-US" altLang="en-US" sz="1300" smtClean="0"/>
              <a:pPr/>
              <a:t>19</a:t>
            </a:fld>
            <a:endParaRPr lang="en-US" altLang="en-US" sz="1300" smtClean="0"/>
          </a:p>
        </p:txBody>
      </p:sp>
      <p:sp>
        <p:nvSpPr>
          <p:cNvPr id="37891" name="Rectangle 2"/>
          <p:cNvSpPr>
            <a:spLocks noGrp="1" noRot="1" noChangeAspect="1" noChangeArrowheads="1" noTextEdit="1"/>
          </p:cNvSpPr>
          <p:nvPr>
            <p:ph type="sldImg"/>
          </p:nvPr>
        </p:nvSpPr>
        <p:spPr>
          <a:xfrm>
            <a:off x="992188" y="768350"/>
            <a:ext cx="5114925" cy="3836988"/>
          </a:xfrm>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394402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7448550" y="6542088"/>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pPr algn="r">
              <a:defRPr/>
            </a:pPr>
            <a:endParaRPr lang="en-US" altLang="en-US" sz="1200" smtClean="0">
              <a:latin typeface="Courier" pitchFamily="49" charset="0"/>
            </a:endParaRPr>
          </a:p>
        </p:txBody>
      </p:sp>
      <p:sp>
        <p:nvSpPr>
          <p:cNvPr id="73730"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dirty="0"/>
              <a:t>Click to edit Master title style</a:t>
            </a:r>
          </a:p>
        </p:txBody>
      </p:sp>
      <p:sp>
        <p:nvSpPr>
          <p:cNvPr id="73731"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dirty="0"/>
              <a:t>Click to edit Master subtitle style</a:t>
            </a:r>
          </a:p>
        </p:txBody>
      </p:sp>
      <p:sp>
        <p:nvSpPr>
          <p:cNvPr id="6" name="Slide Number Placeholder 5"/>
          <p:cNvSpPr>
            <a:spLocks noGrp="1"/>
          </p:cNvSpPr>
          <p:nvPr>
            <p:ph type="sldNum" sz="quarter" idx="10"/>
          </p:nvPr>
        </p:nvSpPr>
        <p:spPr/>
        <p:txBody>
          <a:bodyPr/>
          <a:lstStyle>
            <a:lvl1pPr>
              <a:defRPr/>
            </a:lvl1pPr>
          </a:lstStyle>
          <a:p>
            <a:pPr>
              <a:defRPr/>
            </a:pPr>
            <a:r>
              <a:rPr lang="en-US" altLang="en-US"/>
              <a:t>1-</a:t>
            </a:r>
            <a:fld id="{4BD9F492-C94D-4E48-9F45-86C8BE70204D}" type="slidenum">
              <a:rPr lang="en-US" altLang="en-US"/>
              <a:pPr>
                <a:defRPr/>
              </a:pPr>
              <a:t>‹#›</a:t>
            </a:fld>
            <a:endParaRPr lang="en-US" altLang="en-US"/>
          </a:p>
        </p:txBody>
      </p:sp>
      <p:sp>
        <p:nvSpPr>
          <p:cNvPr id="7" name="Footer Placeholder 6"/>
          <p:cNvSpPr>
            <a:spLocks noGrp="1"/>
          </p:cNvSpPr>
          <p:nvPr>
            <p:ph type="ftr" sz="quarter" idx="11"/>
          </p:nvPr>
        </p:nvSpPr>
        <p:spPr/>
        <p:txBody>
          <a:bodyPr/>
          <a:lstStyle>
            <a:lvl1pPr>
              <a:defRPr/>
            </a:lvl1pPr>
          </a:lstStyle>
          <a:p>
            <a:pPr>
              <a:defRPr/>
            </a:pPr>
            <a:r>
              <a:rPr lang="en-US"/>
              <a:t>Copyright © 2012 Addison-Wesley. All rights reserved.</a:t>
            </a:r>
          </a:p>
        </p:txBody>
      </p:sp>
    </p:spTree>
    <p:extLst>
      <p:ext uri="{BB962C8B-B14F-4D97-AF65-F5344CB8AC3E}">
        <p14:creationId xmlns:p14="http://schemas.microsoft.com/office/powerpoint/2010/main" val="2428930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8D864D7A-05B3-4629-8E2E-1630D33CA660}" type="slidenum">
              <a:rPr lang="en-US" altLang="en-US"/>
              <a:pPr>
                <a:defRPr/>
              </a:pPr>
              <a:t>‹#›</a:t>
            </a:fld>
            <a:endParaRPr lang="en-US" altLang="en-US"/>
          </a:p>
        </p:txBody>
      </p:sp>
    </p:spTree>
    <p:extLst>
      <p:ext uri="{BB962C8B-B14F-4D97-AF65-F5344CB8AC3E}">
        <p14:creationId xmlns:p14="http://schemas.microsoft.com/office/powerpoint/2010/main" val="3760485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7B51FB13-B91B-4FA7-AADB-5E725FF9119B}" type="slidenum">
              <a:rPr lang="en-US" altLang="en-US"/>
              <a:pPr>
                <a:defRPr/>
              </a:pPr>
              <a:t>‹#›</a:t>
            </a:fld>
            <a:endParaRPr lang="en-US" altLang="en-US"/>
          </a:p>
        </p:txBody>
      </p:sp>
    </p:spTree>
    <p:extLst>
      <p:ext uri="{BB962C8B-B14F-4D97-AF65-F5344CB8AC3E}">
        <p14:creationId xmlns:p14="http://schemas.microsoft.com/office/powerpoint/2010/main" val="3940904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324ECCE3-87AB-49A1-A38A-FA0DDF2A1A48}" type="slidenum">
              <a:rPr lang="en-US" altLang="en-US"/>
              <a:pPr>
                <a:defRPr/>
              </a:pPr>
              <a:t>‹#›</a:t>
            </a:fld>
            <a:endParaRPr lang="en-US" altLang="en-US"/>
          </a:p>
        </p:txBody>
      </p:sp>
    </p:spTree>
    <p:extLst>
      <p:ext uri="{BB962C8B-B14F-4D97-AF65-F5344CB8AC3E}">
        <p14:creationId xmlns:p14="http://schemas.microsoft.com/office/powerpoint/2010/main" val="1231325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13217127-C237-4239-83FC-7312F947063F}" type="slidenum">
              <a:rPr lang="en-US" altLang="en-US"/>
              <a:pPr>
                <a:defRPr/>
              </a:pPr>
              <a:t>‹#›</a:t>
            </a:fld>
            <a:endParaRPr lang="en-US" altLang="en-US"/>
          </a:p>
        </p:txBody>
      </p:sp>
    </p:spTree>
    <p:extLst>
      <p:ext uri="{BB962C8B-B14F-4D97-AF65-F5344CB8AC3E}">
        <p14:creationId xmlns:p14="http://schemas.microsoft.com/office/powerpoint/2010/main" val="2559647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E62BD9C9-406C-45C6-A5A7-6EFA1612077F}" type="slidenum">
              <a:rPr lang="en-US" altLang="en-US"/>
              <a:pPr>
                <a:defRPr/>
              </a:pPr>
              <a:t>‹#›</a:t>
            </a:fld>
            <a:endParaRPr lang="en-US" altLang="en-US"/>
          </a:p>
        </p:txBody>
      </p:sp>
    </p:spTree>
    <p:extLst>
      <p:ext uri="{BB962C8B-B14F-4D97-AF65-F5344CB8AC3E}">
        <p14:creationId xmlns:p14="http://schemas.microsoft.com/office/powerpoint/2010/main" val="2122294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32DD89E6-BA6D-4E0E-975E-FBC680F9A4AD}" type="slidenum">
              <a:rPr lang="en-US" altLang="en-US"/>
              <a:pPr>
                <a:defRPr/>
              </a:pPr>
              <a:t>‹#›</a:t>
            </a:fld>
            <a:endParaRPr lang="en-US" altLang="en-US"/>
          </a:p>
        </p:txBody>
      </p:sp>
    </p:spTree>
    <p:extLst>
      <p:ext uri="{BB962C8B-B14F-4D97-AF65-F5344CB8AC3E}">
        <p14:creationId xmlns:p14="http://schemas.microsoft.com/office/powerpoint/2010/main" val="780247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6D75CCFE-BEAB-4D21-98E3-D0B9C806988B}" type="slidenum">
              <a:rPr lang="en-US" altLang="en-US"/>
              <a:pPr>
                <a:defRPr/>
              </a:pPr>
              <a:t>‹#›</a:t>
            </a:fld>
            <a:endParaRPr lang="en-US" altLang="en-US"/>
          </a:p>
        </p:txBody>
      </p:sp>
    </p:spTree>
    <p:extLst>
      <p:ext uri="{BB962C8B-B14F-4D97-AF65-F5344CB8AC3E}">
        <p14:creationId xmlns:p14="http://schemas.microsoft.com/office/powerpoint/2010/main" val="1074019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D9954F60-C442-45DB-8F68-E9DC6A5ED23E}" type="slidenum">
              <a:rPr lang="en-US" altLang="en-US"/>
              <a:pPr>
                <a:defRPr/>
              </a:pPr>
              <a:t>‹#›</a:t>
            </a:fld>
            <a:endParaRPr lang="en-US" altLang="en-US"/>
          </a:p>
        </p:txBody>
      </p:sp>
    </p:spTree>
    <p:extLst>
      <p:ext uri="{BB962C8B-B14F-4D97-AF65-F5344CB8AC3E}">
        <p14:creationId xmlns:p14="http://schemas.microsoft.com/office/powerpoint/2010/main" val="2887770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38E498FC-529E-4B29-BFA7-855F80ED8FFF}" type="slidenum">
              <a:rPr lang="en-US" altLang="en-US"/>
              <a:pPr>
                <a:defRPr/>
              </a:pPr>
              <a:t>‹#›</a:t>
            </a:fld>
            <a:endParaRPr lang="en-US" altLang="en-US"/>
          </a:p>
        </p:txBody>
      </p:sp>
    </p:spTree>
    <p:extLst>
      <p:ext uri="{BB962C8B-B14F-4D97-AF65-F5344CB8AC3E}">
        <p14:creationId xmlns:p14="http://schemas.microsoft.com/office/powerpoint/2010/main" val="2439691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73D1268C-ECC3-43A3-A3A0-F4BFEC5FED4E}" type="slidenum">
              <a:rPr lang="en-US" altLang="en-US"/>
              <a:pPr>
                <a:defRPr/>
              </a:pPr>
              <a:t>‹#›</a:t>
            </a:fld>
            <a:endParaRPr lang="en-US" altLang="en-US"/>
          </a:p>
        </p:txBody>
      </p:sp>
    </p:spTree>
    <p:extLst>
      <p:ext uri="{BB962C8B-B14F-4D97-AF65-F5344CB8AC3E}">
        <p14:creationId xmlns:p14="http://schemas.microsoft.com/office/powerpoint/2010/main" val="3212033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72708"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72709"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13F8B0F9-8E54-4F9B-8F51-E8A3B34435D2}"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939"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ctrTitle"/>
          </p:nvPr>
        </p:nvSpPr>
        <p:spPr/>
        <p:txBody>
          <a:bodyPr/>
          <a:lstStyle/>
          <a:p>
            <a:pPr eaLnBrk="1" hangingPunct="1"/>
            <a:r>
              <a:rPr lang="en-ZA" altLang="en-US" noProof="0" dirty="0" smtClean="0"/>
              <a:t>Chapter 15</a:t>
            </a:r>
            <a:br>
              <a:rPr lang="en-ZA" altLang="en-US" noProof="0" dirty="0" smtClean="0"/>
            </a:br>
            <a:r>
              <a:rPr lang="en-ZA" altLang="en-US" sz="2800" dirty="0" smtClean="0"/>
              <a:t>Part 1</a:t>
            </a:r>
            <a:endParaRPr lang="en-ZA" altLang="en-US" sz="2800" noProof="0" dirty="0" smtClean="0"/>
          </a:p>
        </p:txBody>
      </p:sp>
      <p:sp>
        <p:nvSpPr>
          <p:cNvPr id="5123" name="Rectangle 5"/>
          <p:cNvSpPr>
            <a:spLocks noGrp="1" noChangeArrowheads="1"/>
          </p:cNvSpPr>
          <p:nvPr>
            <p:ph type="subTitle" idx="1"/>
          </p:nvPr>
        </p:nvSpPr>
        <p:spPr/>
        <p:txBody>
          <a:bodyPr/>
          <a:lstStyle/>
          <a:p>
            <a:pPr eaLnBrk="1" hangingPunct="1"/>
            <a:r>
              <a:rPr lang="en-ZA" altLang="en-US" noProof="0" dirty="0" smtClean="0"/>
              <a:t>Functional Programming Languages</a:t>
            </a:r>
          </a:p>
        </p:txBody>
      </p:sp>
      <p:pic>
        <p:nvPicPr>
          <p:cNvPr id="5" name="Picture 8" descr="Front Cover: Concepts of Programming Languages, Global Edition, by Robert W Sebesta&#1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9600" y="0"/>
            <a:ext cx="4724400" cy="586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0825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614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C201F67-919E-4203-A255-C2668DF92B25}"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6148" name="Rectangle 4"/>
          <p:cNvSpPr>
            <a:spLocks noGrp="1" noChangeArrowheads="1"/>
          </p:cNvSpPr>
          <p:nvPr>
            <p:ph type="title"/>
          </p:nvPr>
        </p:nvSpPr>
        <p:spPr/>
        <p:txBody>
          <a:bodyPr/>
          <a:lstStyle/>
          <a:p>
            <a:pPr eaLnBrk="1" hangingPunct="1"/>
            <a:r>
              <a:rPr lang="en-US" altLang="en-US" smtClean="0"/>
              <a:t>Chapter 15 Topics</a:t>
            </a:r>
          </a:p>
        </p:txBody>
      </p:sp>
      <p:sp>
        <p:nvSpPr>
          <p:cNvPr id="6149" name="Rectangle 5"/>
          <p:cNvSpPr>
            <a:spLocks noGrp="1" noChangeArrowheads="1"/>
          </p:cNvSpPr>
          <p:nvPr>
            <p:ph type="body" idx="1"/>
          </p:nvPr>
        </p:nvSpPr>
        <p:spPr>
          <a:xfrm>
            <a:off x="609600" y="1361090"/>
            <a:ext cx="8305800" cy="4800600"/>
          </a:xfrm>
        </p:spPr>
        <p:txBody>
          <a:bodyPr/>
          <a:lstStyle/>
          <a:p>
            <a:pPr eaLnBrk="1" hangingPunct="1"/>
            <a:r>
              <a:rPr lang="en-US" altLang="en-US" sz="2200" dirty="0" smtClean="0"/>
              <a:t>Introduction</a:t>
            </a:r>
          </a:p>
          <a:p>
            <a:pPr eaLnBrk="1" hangingPunct="1"/>
            <a:r>
              <a:rPr lang="en-US" altLang="en-US" sz="2200" dirty="0" smtClean="0"/>
              <a:t>Mathematical Functions</a:t>
            </a:r>
          </a:p>
          <a:p>
            <a:pPr eaLnBrk="1" hangingPunct="1"/>
            <a:r>
              <a:rPr lang="en-US" altLang="en-US" sz="2200" dirty="0" smtClean="0"/>
              <a:t>Fundamentals of Functional Programming Languages </a:t>
            </a:r>
          </a:p>
          <a:p>
            <a:pPr eaLnBrk="1" hangingPunct="1"/>
            <a:r>
              <a:rPr lang="en-US" altLang="en-US" sz="2200" dirty="0" smtClean="0"/>
              <a:t>Introduction to Scheme</a:t>
            </a:r>
          </a:p>
          <a:p>
            <a:pPr lvl="1" eaLnBrk="1" hangingPunct="1"/>
            <a:r>
              <a:rPr lang="en-ZA" altLang="en-US" sz="1800" dirty="0"/>
              <a:t>Origins of Scheme</a:t>
            </a:r>
          </a:p>
          <a:p>
            <a:pPr lvl="1" eaLnBrk="1" hangingPunct="1"/>
            <a:r>
              <a:rPr lang="en-ZA" altLang="en-US" sz="1800" dirty="0"/>
              <a:t>The Scheme Interpreter</a:t>
            </a:r>
          </a:p>
          <a:p>
            <a:pPr lvl="1" eaLnBrk="1" hangingPunct="1"/>
            <a:r>
              <a:rPr lang="en-ZA" altLang="en-US" sz="1800" dirty="0"/>
              <a:t>Function Evaluation</a:t>
            </a:r>
          </a:p>
          <a:p>
            <a:pPr lvl="1" eaLnBrk="1" hangingPunct="1"/>
            <a:r>
              <a:rPr lang="en-ZA" altLang="en-US" sz="1800" dirty="0"/>
              <a:t>Primitive Numeric Functions</a:t>
            </a:r>
          </a:p>
          <a:p>
            <a:pPr lvl="1" eaLnBrk="1" hangingPunct="1"/>
            <a:r>
              <a:rPr lang="en-ZA" altLang="en-US" sz="1800" dirty="0"/>
              <a:t>Defining Functions</a:t>
            </a:r>
          </a:p>
          <a:p>
            <a:pPr lvl="1" eaLnBrk="1" hangingPunct="1"/>
            <a:r>
              <a:rPr lang="en-ZA" altLang="en-US" sz="1800" dirty="0"/>
              <a:t>Output </a:t>
            </a:r>
            <a:r>
              <a:rPr lang="en-ZA" altLang="en-US" sz="1800" dirty="0" smtClean="0"/>
              <a:t>Functions</a:t>
            </a:r>
          </a:p>
          <a:p>
            <a:pPr lvl="1" eaLnBrk="1" hangingPunct="1"/>
            <a:r>
              <a:rPr lang="en-ZA" altLang="en-US" sz="1800" dirty="0"/>
              <a:t>Numeric Predicate Functions</a:t>
            </a:r>
          </a:p>
          <a:p>
            <a:pPr lvl="1" eaLnBrk="1" hangingPunct="1"/>
            <a:r>
              <a:rPr lang="en-ZA" altLang="en-US" sz="1800" dirty="0"/>
              <a:t>Control Flow</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81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E9A6415-AF6D-49B4-B180-650F447DBBE1}"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
        <p:nvSpPr>
          <p:cNvPr id="8196" name="Rectangle 2"/>
          <p:cNvSpPr>
            <a:spLocks noGrp="1" noChangeArrowheads="1"/>
          </p:cNvSpPr>
          <p:nvPr>
            <p:ph type="title"/>
          </p:nvPr>
        </p:nvSpPr>
        <p:spPr/>
        <p:txBody>
          <a:bodyPr/>
          <a:lstStyle/>
          <a:p>
            <a:pPr eaLnBrk="1" hangingPunct="1"/>
            <a:r>
              <a:rPr lang="en-US" altLang="en-US" smtClean="0"/>
              <a:t>Introduction</a:t>
            </a:r>
          </a:p>
        </p:txBody>
      </p:sp>
      <p:sp>
        <p:nvSpPr>
          <p:cNvPr id="8197" name="Rectangle 3"/>
          <p:cNvSpPr>
            <a:spLocks noGrp="1" noChangeArrowheads="1"/>
          </p:cNvSpPr>
          <p:nvPr>
            <p:ph type="body" idx="1"/>
          </p:nvPr>
        </p:nvSpPr>
        <p:spPr>
          <a:xfrm>
            <a:off x="609600" y="1346200"/>
            <a:ext cx="8153400" cy="4572000"/>
          </a:xfrm>
        </p:spPr>
        <p:txBody>
          <a:bodyPr/>
          <a:lstStyle/>
          <a:p>
            <a:pPr eaLnBrk="1" hangingPunct="1"/>
            <a:r>
              <a:rPr lang="en-US" altLang="en-US" sz="2400" dirty="0" smtClean="0"/>
              <a:t>Imperative language design is based directly on the </a:t>
            </a:r>
            <a:r>
              <a:rPr lang="en-US" altLang="en-US" sz="2400" u="sng" dirty="0" smtClean="0"/>
              <a:t>von Neumann architecture</a:t>
            </a:r>
          </a:p>
          <a:p>
            <a:pPr lvl="1" eaLnBrk="1" hangingPunct="1"/>
            <a:r>
              <a:rPr lang="en-US" altLang="en-US" sz="2000" dirty="0" smtClean="0"/>
              <a:t>Efficiency is the primary concern</a:t>
            </a:r>
          </a:p>
          <a:p>
            <a:pPr lvl="1" eaLnBrk="1" hangingPunct="1"/>
            <a:r>
              <a:rPr lang="en-US" altLang="en-US" sz="2000" dirty="0" smtClean="0"/>
              <a:t>Suitability for software development is less important</a:t>
            </a:r>
          </a:p>
          <a:p>
            <a:pPr eaLnBrk="1" hangingPunct="1"/>
            <a:r>
              <a:rPr lang="en-US" altLang="en-US" sz="2400" dirty="0" smtClean="0"/>
              <a:t>The design of the functional languages is based on </a:t>
            </a:r>
            <a:r>
              <a:rPr lang="en-US" altLang="en-US" sz="2400" u="sng" dirty="0" smtClean="0"/>
              <a:t>mathematical functions</a:t>
            </a:r>
          </a:p>
          <a:p>
            <a:pPr lvl="1" eaLnBrk="1" hangingPunct="1"/>
            <a:r>
              <a:rPr lang="en-US" altLang="en-US" sz="2000" dirty="0" smtClean="0"/>
              <a:t>A solid theoretical basis</a:t>
            </a:r>
          </a:p>
          <a:p>
            <a:pPr lvl="1" eaLnBrk="1" hangingPunct="1"/>
            <a:r>
              <a:rPr lang="en-US" altLang="en-US" sz="2000" dirty="0" smtClean="0"/>
              <a:t>Closer to the user</a:t>
            </a:r>
          </a:p>
          <a:p>
            <a:pPr lvl="1" eaLnBrk="1" hangingPunct="1"/>
            <a:r>
              <a:rPr lang="en-US" altLang="en-US" sz="2000" dirty="0" smtClean="0"/>
              <a:t>Unconcerned with machine architecture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81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E9A6415-AF6D-49B4-B180-650F447DBBE1}"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8196" name="Rectangle 2"/>
          <p:cNvSpPr>
            <a:spLocks noGrp="1" noChangeArrowheads="1"/>
          </p:cNvSpPr>
          <p:nvPr>
            <p:ph type="title"/>
          </p:nvPr>
        </p:nvSpPr>
        <p:spPr/>
        <p:txBody>
          <a:bodyPr/>
          <a:lstStyle/>
          <a:p>
            <a:pPr eaLnBrk="1" hangingPunct="1"/>
            <a:r>
              <a:rPr lang="en-US" altLang="en-US" dirty="0" smtClean="0"/>
              <a:t>Mathematical Functions</a:t>
            </a:r>
          </a:p>
        </p:txBody>
      </p:sp>
      <p:sp>
        <p:nvSpPr>
          <p:cNvPr id="8197" name="Rectangle 3"/>
          <p:cNvSpPr>
            <a:spLocks noGrp="1" noChangeArrowheads="1"/>
          </p:cNvSpPr>
          <p:nvPr>
            <p:ph type="body" idx="1"/>
          </p:nvPr>
        </p:nvSpPr>
        <p:spPr>
          <a:xfrm>
            <a:off x="609600" y="1346200"/>
            <a:ext cx="8153400" cy="4572000"/>
          </a:xfrm>
        </p:spPr>
        <p:txBody>
          <a:bodyPr/>
          <a:lstStyle/>
          <a:p>
            <a:pPr eaLnBrk="1" hangingPunct="1"/>
            <a:r>
              <a:rPr lang="en-US" altLang="en-US" sz="2400" dirty="0" smtClean="0"/>
              <a:t>A function is a kind of subprogram</a:t>
            </a:r>
          </a:p>
          <a:p>
            <a:pPr lvl="1" eaLnBrk="1" hangingPunct="1"/>
            <a:r>
              <a:rPr lang="en-US" altLang="en-US" sz="2000" dirty="0"/>
              <a:t>A</a:t>
            </a:r>
            <a:r>
              <a:rPr lang="en-US" altLang="en-US" sz="2000" dirty="0" smtClean="0"/>
              <a:t> collection of parameterized computations</a:t>
            </a:r>
          </a:p>
          <a:p>
            <a:pPr lvl="1" eaLnBrk="1" hangingPunct="1"/>
            <a:r>
              <a:rPr lang="en-US" altLang="en-US" sz="2000" dirty="0" smtClean="0"/>
              <a:t>Produces </a:t>
            </a:r>
            <a:r>
              <a:rPr lang="en-US" altLang="en-US" sz="2000" dirty="0" smtClean="0"/>
              <a:t>results by returning </a:t>
            </a:r>
            <a:r>
              <a:rPr lang="en-US" altLang="en-US" sz="2000" dirty="0" smtClean="0"/>
              <a:t>values</a:t>
            </a:r>
            <a:endParaRPr lang="en-US" altLang="en-US" sz="2000" dirty="0" smtClean="0"/>
          </a:p>
          <a:p>
            <a:pPr eaLnBrk="1" hangingPunct="1"/>
            <a:r>
              <a:rPr lang="en-US" altLang="en-US" sz="2400" dirty="0" smtClean="0"/>
              <a:t>Functional </a:t>
            </a:r>
            <a:r>
              <a:rPr lang="en-US" altLang="en-US" sz="2400" dirty="0"/>
              <a:t>side effects</a:t>
            </a:r>
            <a:endParaRPr lang="en-US" altLang="en-US" sz="2400" i="1" dirty="0"/>
          </a:p>
          <a:p>
            <a:pPr lvl="1" eaLnBrk="1" hangingPunct="1"/>
            <a:r>
              <a:rPr lang="en-US" altLang="en-US" sz="2000" dirty="0"/>
              <a:t>When a function changes a parameter or a global variable</a:t>
            </a:r>
          </a:p>
          <a:p>
            <a:pPr eaLnBrk="1" hangingPunct="1"/>
            <a:r>
              <a:rPr lang="en-US" altLang="en-US" sz="2400" dirty="0"/>
              <a:t>Problem with functional side effects</a:t>
            </a:r>
          </a:p>
          <a:p>
            <a:pPr lvl="1" eaLnBrk="1" hangingPunct="1"/>
            <a:r>
              <a:rPr lang="en-US" altLang="en-US" sz="2000" dirty="0"/>
              <a:t>When a function referenced in an expression alters another operand of the expression</a:t>
            </a:r>
          </a:p>
          <a:p>
            <a:pPr lvl="1" eaLnBrk="1" hangingPunct="1"/>
            <a:r>
              <a:rPr lang="en-US" altLang="en-US" sz="2000" dirty="0"/>
              <a:t>For example</a:t>
            </a:r>
          </a:p>
          <a:p>
            <a:pPr eaLnBrk="1" hangingPunct="1">
              <a:buFontTx/>
              <a:buNone/>
            </a:pPr>
            <a:r>
              <a:rPr lang="en-US" altLang="en-US" sz="2400" dirty="0"/>
              <a:t>	 </a:t>
            </a:r>
            <a:r>
              <a:rPr lang="en-US" altLang="en-US" sz="2400" dirty="0">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rPr>
              <a:t>a = 10;</a:t>
            </a:r>
          </a:p>
          <a:p>
            <a:pPr eaLnBrk="1" hangingPunct="1">
              <a:buFontTx/>
              <a:buNone/>
            </a:pPr>
            <a:r>
              <a:rPr lang="en-US" altLang="en-US" sz="2400" dirty="0">
                <a:latin typeface="Courier New" panose="02070309020205020404" pitchFamily="49" charset="0"/>
              </a:rPr>
              <a:t> 		  b = a + fun(&amp;a);</a:t>
            </a:r>
            <a:endParaRPr lang="en-US" altLang="en-US" sz="2000" dirty="0"/>
          </a:p>
          <a:p>
            <a:pPr lvl="1" eaLnBrk="1" hangingPunct="1"/>
            <a:r>
              <a:rPr lang="en-US" altLang="en-US" sz="2000" dirty="0"/>
              <a:t>What if </a:t>
            </a:r>
            <a:r>
              <a:rPr lang="en-US" altLang="en-US" sz="2000" dirty="0">
                <a:latin typeface="Courier New" panose="02070309020205020404" pitchFamily="49" charset="0"/>
              </a:rPr>
              <a:t>fun</a:t>
            </a:r>
            <a:r>
              <a:rPr lang="en-US" altLang="en-US" sz="2000" dirty="0"/>
              <a:t> changes the value of its parameter</a:t>
            </a:r>
            <a:r>
              <a:rPr lang="en-US" altLang="en-US" sz="2000" dirty="0" smtClean="0"/>
              <a:t>?</a:t>
            </a:r>
          </a:p>
          <a:p>
            <a:pPr lvl="1" eaLnBrk="1" hangingPunct="1"/>
            <a:r>
              <a:rPr lang="en-US" altLang="en-US" sz="2000" dirty="0" smtClean="0">
                <a:latin typeface="+mj-lt"/>
              </a:rPr>
              <a:t>How does the same problem arise with global variables?</a:t>
            </a:r>
            <a:endParaRPr lang="en-US" altLang="en-US" dirty="0">
              <a:latin typeface="+mj-lt"/>
            </a:endParaRPr>
          </a:p>
        </p:txBody>
      </p:sp>
    </p:spTree>
    <p:extLst>
      <p:ext uri="{BB962C8B-B14F-4D97-AF65-F5344CB8AC3E}">
        <p14:creationId xmlns:p14="http://schemas.microsoft.com/office/powerpoint/2010/main" val="13122092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81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E9A6415-AF6D-49B4-B180-650F447DBBE1}"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8196" name="Rectangle 2"/>
          <p:cNvSpPr>
            <a:spLocks noGrp="1" noChangeArrowheads="1"/>
          </p:cNvSpPr>
          <p:nvPr>
            <p:ph type="title"/>
          </p:nvPr>
        </p:nvSpPr>
        <p:spPr/>
        <p:txBody>
          <a:bodyPr/>
          <a:lstStyle/>
          <a:p>
            <a:pPr eaLnBrk="1" hangingPunct="1"/>
            <a:r>
              <a:rPr lang="en-US" altLang="en-US" dirty="0" smtClean="0"/>
              <a:t>Mathematical Functions</a:t>
            </a:r>
          </a:p>
        </p:txBody>
      </p:sp>
      <p:sp>
        <p:nvSpPr>
          <p:cNvPr id="8197" name="Rectangle 3"/>
          <p:cNvSpPr>
            <a:spLocks noGrp="1" noChangeArrowheads="1"/>
          </p:cNvSpPr>
          <p:nvPr>
            <p:ph type="body" idx="1"/>
          </p:nvPr>
        </p:nvSpPr>
        <p:spPr>
          <a:xfrm>
            <a:off x="609600" y="1377730"/>
            <a:ext cx="8153400" cy="4572000"/>
          </a:xfrm>
        </p:spPr>
        <p:txBody>
          <a:bodyPr/>
          <a:lstStyle/>
          <a:p>
            <a:pPr marL="357188" indent="-354013" eaLnBrk="1" hangingPunct="1">
              <a:lnSpc>
                <a:spcPct val="90000"/>
              </a:lnSpc>
            </a:pPr>
            <a:r>
              <a:rPr lang="en-US" altLang="en-US" sz="2400" dirty="0" smtClean="0">
                <a:solidFill>
                  <a:srgbClr val="333399"/>
                </a:solidFill>
              </a:rPr>
              <a:t>Two </a:t>
            </a:r>
            <a:r>
              <a:rPr lang="en-US" altLang="en-US" sz="2400" dirty="0">
                <a:solidFill>
                  <a:srgbClr val="333399"/>
                </a:solidFill>
              </a:rPr>
              <a:t>possible solutions to the </a:t>
            </a:r>
            <a:r>
              <a:rPr lang="en-US" altLang="en-US" sz="2400" dirty="0" smtClean="0">
                <a:solidFill>
                  <a:srgbClr val="333399"/>
                </a:solidFill>
              </a:rPr>
              <a:t>problem of side effects, </a:t>
            </a:r>
            <a:r>
              <a:rPr lang="en-US" altLang="en-US" sz="2400" dirty="0">
                <a:solidFill>
                  <a:srgbClr val="333399"/>
                </a:solidFill>
              </a:rPr>
              <a:t>both based on the </a:t>
            </a:r>
            <a:r>
              <a:rPr lang="en-US" altLang="en-US" sz="2400" u="sng" dirty="0">
                <a:solidFill>
                  <a:srgbClr val="333399"/>
                </a:solidFill>
              </a:rPr>
              <a:t>language definition</a:t>
            </a:r>
          </a:p>
          <a:p>
            <a:pPr marL="914400" lvl="1" indent="-457200" eaLnBrk="1" hangingPunct="1">
              <a:lnSpc>
                <a:spcPct val="90000"/>
              </a:lnSpc>
              <a:buFontTx/>
              <a:buAutoNum type="arabicPeriod"/>
            </a:pPr>
            <a:endParaRPr lang="en-US" altLang="en-US" sz="500" dirty="0">
              <a:solidFill>
                <a:srgbClr val="333399"/>
              </a:solidFill>
            </a:endParaRPr>
          </a:p>
          <a:p>
            <a:pPr marL="914400" lvl="1" indent="-457200" eaLnBrk="1" hangingPunct="1">
              <a:lnSpc>
                <a:spcPct val="90000"/>
              </a:lnSpc>
              <a:buFontTx/>
              <a:buAutoNum type="arabicPeriod"/>
            </a:pPr>
            <a:r>
              <a:rPr lang="en-US" altLang="en-US" sz="2000" dirty="0" smtClean="0">
                <a:solidFill>
                  <a:srgbClr val="333399"/>
                </a:solidFill>
              </a:rPr>
              <a:t>Disallow </a:t>
            </a:r>
            <a:r>
              <a:rPr lang="en-US" altLang="en-US" sz="2000" dirty="0">
                <a:solidFill>
                  <a:srgbClr val="333399"/>
                </a:solidFill>
              </a:rPr>
              <a:t>functional side effects</a:t>
            </a:r>
          </a:p>
          <a:p>
            <a:pPr marL="1314450" lvl="2" indent="-400050" eaLnBrk="1" hangingPunct="1">
              <a:lnSpc>
                <a:spcPct val="90000"/>
              </a:lnSpc>
            </a:pPr>
            <a:r>
              <a:rPr lang="en-US" altLang="en-US" sz="2000" dirty="0">
                <a:solidFill>
                  <a:srgbClr val="333399"/>
                </a:solidFill>
              </a:rPr>
              <a:t>No two-way parameters </a:t>
            </a:r>
            <a:r>
              <a:rPr lang="en-US" altLang="en-US" sz="2000" dirty="0" smtClean="0">
                <a:solidFill>
                  <a:srgbClr val="333399"/>
                </a:solidFill>
              </a:rPr>
              <a:t>for </a:t>
            </a:r>
            <a:r>
              <a:rPr lang="en-US" altLang="en-US" sz="2000" dirty="0">
                <a:solidFill>
                  <a:srgbClr val="333399"/>
                </a:solidFill>
              </a:rPr>
              <a:t>functions</a:t>
            </a:r>
          </a:p>
          <a:p>
            <a:pPr marL="1314450" lvl="2" indent="-400050" eaLnBrk="1" hangingPunct="1">
              <a:lnSpc>
                <a:spcPct val="90000"/>
              </a:lnSpc>
            </a:pPr>
            <a:r>
              <a:rPr lang="en-US" altLang="en-US" sz="2000" dirty="0">
                <a:solidFill>
                  <a:srgbClr val="333399"/>
                </a:solidFill>
              </a:rPr>
              <a:t>No non-local references in functions</a:t>
            </a:r>
          </a:p>
          <a:p>
            <a:pPr marL="1314450" lvl="2" indent="-400050" eaLnBrk="1" hangingPunct="1">
              <a:lnSpc>
                <a:spcPct val="90000"/>
              </a:lnSpc>
            </a:pPr>
            <a:r>
              <a:rPr lang="en-US" altLang="en-US" sz="2000" dirty="0">
                <a:solidFill>
                  <a:srgbClr val="333399"/>
                </a:solidFill>
              </a:rPr>
              <a:t>Advantage </a:t>
            </a:r>
          </a:p>
          <a:p>
            <a:pPr marL="1771650" lvl="3" indent="-400050" eaLnBrk="1" hangingPunct="1">
              <a:lnSpc>
                <a:spcPct val="90000"/>
              </a:lnSpc>
            </a:pPr>
            <a:r>
              <a:rPr lang="en-US" altLang="en-US" sz="1800" dirty="0">
                <a:solidFill>
                  <a:srgbClr val="333399"/>
                </a:solidFill>
              </a:rPr>
              <a:t>It works!</a:t>
            </a:r>
          </a:p>
          <a:p>
            <a:pPr marL="1314450" lvl="2" indent="-400050" eaLnBrk="1" hangingPunct="1">
              <a:lnSpc>
                <a:spcPct val="90000"/>
              </a:lnSpc>
            </a:pPr>
            <a:r>
              <a:rPr lang="en-US" altLang="en-US" sz="2000" dirty="0">
                <a:solidFill>
                  <a:srgbClr val="333399"/>
                </a:solidFill>
              </a:rPr>
              <a:t>Disadvantage</a:t>
            </a:r>
          </a:p>
          <a:p>
            <a:pPr marL="1771650" lvl="3" indent="-400050" eaLnBrk="1" hangingPunct="1">
              <a:lnSpc>
                <a:spcPct val="90000"/>
              </a:lnSpc>
            </a:pPr>
            <a:r>
              <a:rPr lang="en-US" altLang="en-US" sz="1800" dirty="0">
                <a:solidFill>
                  <a:srgbClr val="333399"/>
                </a:solidFill>
              </a:rPr>
              <a:t>Inflexibility of one-way parameters</a:t>
            </a:r>
          </a:p>
          <a:p>
            <a:pPr marL="1771650" lvl="3" indent="-400050" eaLnBrk="1" hangingPunct="1">
              <a:lnSpc>
                <a:spcPct val="90000"/>
              </a:lnSpc>
            </a:pPr>
            <a:r>
              <a:rPr lang="en-US" altLang="en-US" sz="1800" dirty="0">
                <a:solidFill>
                  <a:srgbClr val="333399"/>
                </a:solidFill>
              </a:rPr>
              <a:t>Lack of non-local </a:t>
            </a:r>
            <a:r>
              <a:rPr lang="en-US" altLang="en-US" sz="1800" dirty="0" smtClean="0">
                <a:solidFill>
                  <a:srgbClr val="333399"/>
                </a:solidFill>
              </a:rPr>
              <a:t>references</a:t>
            </a:r>
          </a:p>
          <a:p>
            <a:pPr marL="914400" lvl="1" indent="-457200" eaLnBrk="1" hangingPunct="1">
              <a:lnSpc>
                <a:spcPct val="90000"/>
              </a:lnSpc>
              <a:buFontTx/>
              <a:buAutoNum type="arabicPeriod"/>
            </a:pPr>
            <a:endParaRPr lang="en-US" altLang="en-US" sz="500" dirty="0">
              <a:solidFill>
                <a:srgbClr val="333399"/>
              </a:solidFill>
            </a:endParaRPr>
          </a:p>
          <a:p>
            <a:pPr marL="914400" lvl="1" indent="-457200" eaLnBrk="1" hangingPunct="1">
              <a:lnSpc>
                <a:spcPct val="90000"/>
              </a:lnSpc>
              <a:buFontTx/>
              <a:buAutoNum type="arabicPeriod"/>
            </a:pPr>
            <a:r>
              <a:rPr lang="en-US" altLang="en-US" sz="2000" dirty="0" smtClean="0">
                <a:solidFill>
                  <a:srgbClr val="333399"/>
                </a:solidFill>
              </a:rPr>
              <a:t>Demand fixed operand evaluation order</a:t>
            </a:r>
          </a:p>
          <a:p>
            <a:pPr marL="1314450" lvl="2" indent="-400050" eaLnBrk="1" hangingPunct="1">
              <a:lnSpc>
                <a:spcPct val="90000"/>
              </a:lnSpc>
            </a:pPr>
            <a:r>
              <a:rPr lang="en-US" altLang="en-US" sz="2000" dirty="0" smtClean="0">
                <a:solidFill>
                  <a:srgbClr val="333399"/>
                </a:solidFill>
              </a:rPr>
              <a:t>Java: Operands seem to be evaluated left to right</a:t>
            </a:r>
            <a:endParaRPr lang="en-US" altLang="en-US" sz="2000" b="1" dirty="0" smtClean="0">
              <a:solidFill>
                <a:srgbClr val="333399"/>
              </a:solidFill>
            </a:endParaRPr>
          </a:p>
          <a:p>
            <a:pPr marL="1314450" lvl="2" indent="-400050" eaLnBrk="1" hangingPunct="1">
              <a:lnSpc>
                <a:spcPct val="90000"/>
              </a:lnSpc>
            </a:pPr>
            <a:r>
              <a:rPr lang="en-US" altLang="en-US" sz="2000" dirty="0" smtClean="0">
                <a:solidFill>
                  <a:srgbClr val="333399"/>
                </a:solidFill>
              </a:rPr>
              <a:t>Disadvantage</a:t>
            </a:r>
          </a:p>
          <a:p>
            <a:pPr marL="1771650" lvl="3" indent="-400050" eaLnBrk="1" hangingPunct="1">
              <a:lnSpc>
                <a:spcPct val="90000"/>
              </a:lnSpc>
            </a:pPr>
            <a:r>
              <a:rPr lang="en-US" altLang="en-US" sz="1800" dirty="0" smtClean="0">
                <a:solidFill>
                  <a:srgbClr val="333399"/>
                </a:solidFill>
              </a:rPr>
              <a:t>Limits some compiler optimizations</a:t>
            </a:r>
            <a:endParaRPr lang="en-US" altLang="en-US" sz="1800" dirty="0">
              <a:solidFill>
                <a:srgbClr val="333399"/>
              </a:solidFill>
            </a:endParaRPr>
          </a:p>
        </p:txBody>
      </p:sp>
    </p:spTree>
    <p:extLst>
      <p:ext uri="{BB962C8B-B14F-4D97-AF65-F5344CB8AC3E}">
        <p14:creationId xmlns:p14="http://schemas.microsoft.com/office/powerpoint/2010/main" val="35117318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81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E9A6415-AF6D-49B4-B180-650F447DBBE1}"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8196" name="Rectangle 2"/>
          <p:cNvSpPr>
            <a:spLocks noGrp="1" noChangeArrowheads="1"/>
          </p:cNvSpPr>
          <p:nvPr>
            <p:ph type="title"/>
          </p:nvPr>
        </p:nvSpPr>
        <p:spPr/>
        <p:txBody>
          <a:bodyPr/>
          <a:lstStyle/>
          <a:p>
            <a:pPr eaLnBrk="1" hangingPunct="1"/>
            <a:r>
              <a:rPr lang="en-US" altLang="en-US" dirty="0" smtClean="0"/>
              <a:t>Mathematical Functions</a:t>
            </a:r>
          </a:p>
        </p:txBody>
      </p:sp>
      <p:sp>
        <p:nvSpPr>
          <p:cNvPr id="8197" name="Rectangle 3"/>
          <p:cNvSpPr>
            <a:spLocks noGrp="1" noChangeArrowheads="1"/>
          </p:cNvSpPr>
          <p:nvPr>
            <p:ph type="body" idx="1"/>
          </p:nvPr>
        </p:nvSpPr>
        <p:spPr>
          <a:xfrm>
            <a:off x="609600" y="1346200"/>
            <a:ext cx="8229600" cy="4572000"/>
          </a:xfrm>
        </p:spPr>
        <p:txBody>
          <a:bodyPr/>
          <a:lstStyle/>
          <a:p>
            <a:r>
              <a:rPr lang="en-US" altLang="en-US" sz="2400" dirty="0"/>
              <a:t>A program has </a:t>
            </a:r>
            <a:r>
              <a:rPr lang="en-US" altLang="en-US" sz="2400" b="1" dirty="0"/>
              <a:t>referential transparency</a:t>
            </a:r>
            <a:r>
              <a:rPr lang="en-US" altLang="en-US" sz="2400" dirty="0"/>
              <a:t> if</a:t>
            </a:r>
          </a:p>
          <a:p>
            <a:pPr lvl="1"/>
            <a:r>
              <a:rPr lang="en-US" altLang="en-US" sz="2000" dirty="0"/>
              <a:t>Any two expressions </a:t>
            </a:r>
            <a:r>
              <a:rPr lang="en-US" altLang="en-US" sz="2000" dirty="0" smtClean="0"/>
              <a:t>that are equivalent</a:t>
            </a:r>
            <a:endParaRPr lang="en-US" altLang="en-US" sz="2000" dirty="0"/>
          </a:p>
          <a:p>
            <a:pPr lvl="2"/>
            <a:r>
              <a:rPr lang="en-US" altLang="en-US" sz="1800" dirty="0"/>
              <a:t>Can be substituted for one another in the program</a:t>
            </a:r>
          </a:p>
          <a:p>
            <a:pPr lvl="2"/>
            <a:r>
              <a:rPr lang="en-US" altLang="en-US" sz="1800" dirty="0"/>
              <a:t>This </a:t>
            </a:r>
            <a:r>
              <a:rPr lang="en-US" altLang="en-US" sz="1800" dirty="0" smtClean="0"/>
              <a:t>does </a:t>
            </a:r>
            <a:r>
              <a:rPr lang="en-US" altLang="en-US" sz="1800" dirty="0"/>
              <a:t>not affect the action of the program</a:t>
            </a:r>
          </a:p>
          <a:p>
            <a:pPr lvl="1"/>
            <a:r>
              <a:rPr lang="en-US" altLang="en-US" sz="2000" dirty="0" smtClean="0"/>
              <a:t>One cause of </a:t>
            </a:r>
            <a:r>
              <a:rPr lang="en-US" altLang="en-US" sz="2000" dirty="0"/>
              <a:t>referential transparency </a:t>
            </a:r>
            <a:r>
              <a:rPr lang="en-US" altLang="en-US" sz="2000" dirty="0" smtClean="0"/>
              <a:t>breakdown</a:t>
            </a:r>
          </a:p>
          <a:p>
            <a:pPr lvl="2"/>
            <a:r>
              <a:rPr lang="en-US" altLang="en-US" sz="1800" dirty="0" smtClean="0"/>
              <a:t>Functional side effects</a:t>
            </a:r>
          </a:p>
          <a:p>
            <a:pPr lvl="1"/>
            <a:r>
              <a:rPr lang="en-US" altLang="en-US" sz="2000" dirty="0" smtClean="0"/>
              <a:t>For </a:t>
            </a:r>
            <a:r>
              <a:rPr lang="en-US" altLang="en-US" sz="2000" dirty="0"/>
              <a:t>example</a:t>
            </a:r>
          </a:p>
          <a:p>
            <a:pPr lvl="1">
              <a:buFontTx/>
              <a:buNone/>
            </a:pPr>
            <a:r>
              <a:rPr lang="en-US" altLang="en-US" sz="1800" dirty="0">
                <a:latin typeface="Courier New" panose="02070309020205020404" pitchFamily="49" charset="0"/>
                <a:cs typeface="Courier New" panose="02070309020205020404" pitchFamily="49" charset="0"/>
              </a:rPr>
              <a:t>		</a:t>
            </a:r>
          </a:p>
          <a:p>
            <a:pPr lvl="1">
              <a:buFontTx/>
              <a:buNone/>
            </a:pPr>
            <a:endParaRPr lang="en-US" altLang="en-US" sz="1000" dirty="0">
              <a:latin typeface="Courier New" panose="02070309020205020404" pitchFamily="49" charset="0"/>
              <a:cs typeface="Courier New" panose="02070309020205020404" pitchFamily="49" charset="0"/>
            </a:endParaRPr>
          </a:p>
          <a:p>
            <a:pPr lvl="1">
              <a:buFontTx/>
              <a:buNone/>
            </a:pPr>
            <a:endParaRPr lang="en-US" altLang="en-US" sz="1800" dirty="0">
              <a:latin typeface="Courier New" panose="02070309020205020404" pitchFamily="49" charset="0"/>
              <a:cs typeface="Courier New" panose="02070309020205020404" pitchFamily="49" charset="0"/>
            </a:endParaRPr>
          </a:p>
          <a:p>
            <a:pPr lvl="1">
              <a:buFontTx/>
              <a:buNone/>
            </a:pPr>
            <a:endParaRPr lang="en-US" altLang="en-US" sz="1800" dirty="0">
              <a:latin typeface="Courier New" panose="02070309020205020404" pitchFamily="49" charset="0"/>
              <a:cs typeface="Courier New" panose="02070309020205020404" pitchFamily="49" charset="0"/>
            </a:endParaRPr>
          </a:p>
          <a:p>
            <a:pPr lvl="2"/>
            <a:endParaRPr lang="en-US" altLang="en-US" sz="400" dirty="0"/>
          </a:p>
          <a:p>
            <a:pPr lvl="2"/>
            <a:r>
              <a:rPr lang="en-US" altLang="en-US" sz="1800" dirty="0"/>
              <a:t>If </a:t>
            </a:r>
            <a:r>
              <a:rPr lang="en-US" altLang="en-US" sz="1800" dirty="0">
                <a:latin typeface="Courier New" panose="02070309020205020404" pitchFamily="49" charset="0"/>
                <a:cs typeface="Courier New" panose="02070309020205020404" pitchFamily="49" charset="0"/>
              </a:rPr>
              <a:t>fun</a:t>
            </a:r>
            <a:r>
              <a:rPr lang="en-US" altLang="en-US" sz="1800" dirty="0"/>
              <a:t> has no side effects, </a:t>
            </a:r>
            <a:r>
              <a:rPr lang="en-US" altLang="en-US" sz="1800" dirty="0">
                <a:latin typeface="Courier New" panose="02070309020205020404" pitchFamily="49" charset="0"/>
                <a:cs typeface="Courier New" panose="02070309020205020404" pitchFamily="49" charset="0"/>
              </a:rPr>
              <a:t>result1 = result2</a:t>
            </a:r>
            <a:endParaRPr lang="en-US" altLang="en-US" sz="1800" dirty="0"/>
          </a:p>
          <a:p>
            <a:pPr lvl="2"/>
            <a:r>
              <a:rPr lang="en-US" altLang="en-US" sz="1800" dirty="0"/>
              <a:t>If not, referential transparency is violated</a:t>
            </a:r>
          </a:p>
          <a:p>
            <a:pPr lvl="2"/>
            <a:r>
              <a:rPr lang="en-US" altLang="en-US" sz="1800" dirty="0"/>
              <a:t>H</a:t>
            </a:r>
            <a:r>
              <a:rPr lang="en-US" altLang="en-US" sz="1800" dirty="0" smtClean="0"/>
              <a:t>ow can referential transparency break in the example?</a:t>
            </a:r>
          </a:p>
          <a:p>
            <a:pPr lvl="2"/>
            <a:r>
              <a:rPr lang="en-US" altLang="en-US" sz="1800" dirty="0" smtClean="0"/>
              <a:t>Can referential transparency break in other ways?</a:t>
            </a:r>
            <a:endParaRPr lang="en-US" altLang="en-US" sz="1800" dirty="0"/>
          </a:p>
        </p:txBody>
      </p:sp>
      <p:sp>
        <p:nvSpPr>
          <p:cNvPr id="2" name="TextBox 1"/>
          <p:cNvSpPr txBox="1"/>
          <p:nvPr/>
        </p:nvSpPr>
        <p:spPr>
          <a:xfrm>
            <a:off x="1676400" y="3886200"/>
            <a:ext cx="5423280" cy="369332"/>
          </a:xfrm>
          <a:prstGeom prst="rect">
            <a:avLst/>
          </a:prstGeom>
          <a:noFill/>
          <a:ln>
            <a:solidFill>
              <a:srgbClr val="333399"/>
            </a:solidFill>
          </a:ln>
        </p:spPr>
        <p:txBody>
          <a:bodyPr wrap="none" rtlCol="0">
            <a:spAutoFit/>
          </a:bodyPr>
          <a:lstStyle/>
          <a:p>
            <a:r>
              <a:rPr lang="en-US" altLang="en-US" sz="1800" kern="0" dirty="0">
                <a:solidFill>
                  <a:srgbClr val="333399"/>
                </a:solidFill>
                <a:latin typeface="Courier New" panose="02070309020205020404" pitchFamily="49" charset="0"/>
                <a:cs typeface="Courier New" panose="02070309020205020404" pitchFamily="49" charset="0"/>
              </a:rPr>
              <a:t>result1 = (fun(a) + b) / (fun(a) – a);</a:t>
            </a:r>
            <a:endParaRPr lang="en-ZA" dirty="0"/>
          </a:p>
        </p:txBody>
      </p:sp>
      <p:sp>
        <p:nvSpPr>
          <p:cNvPr id="7" name="TextBox 6"/>
          <p:cNvSpPr txBox="1"/>
          <p:nvPr/>
        </p:nvSpPr>
        <p:spPr>
          <a:xfrm>
            <a:off x="1676400" y="4343400"/>
            <a:ext cx="5423280" cy="646331"/>
          </a:xfrm>
          <a:prstGeom prst="rect">
            <a:avLst/>
          </a:prstGeom>
          <a:noFill/>
          <a:ln>
            <a:solidFill>
              <a:srgbClr val="333399"/>
            </a:solidFill>
          </a:ln>
        </p:spPr>
        <p:txBody>
          <a:bodyPr wrap="none" rtlCol="0">
            <a:spAutoFit/>
          </a:bodyPr>
          <a:lstStyle/>
          <a:p>
            <a:r>
              <a:rPr lang="en-US" altLang="en-US" sz="1800" kern="0" dirty="0">
                <a:solidFill>
                  <a:srgbClr val="333399"/>
                </a:solidFill>
                <a:latin typeface="Courier New" panose="02070309020205020404" pitchFamily="49" charset="0"/>
                <a:cs typeface="Courier New" panose="02070309020205020404" pitchFamily="49" charset="0"/>
              </a:rPr>
              <a:t>temp = fun(a</a:t>
            </a:r>
            <a:r>
              <a:rPr lang="en-US" altLang="en-US" sz="1800" kern="0" dirty="0" smtClean="0">
                <a:solidFill>
                  <a:srgbClr val="333399"/>
                </a:solidFill>
                <a:latin typeface="Courier New" panose="02070309020205020404" pitchFamily="49" charset="0"/>
                <a:cs typeface="Courier New" panose="02070309020205020404" pitchFamily="49" charset="0"/>
              </a:rPr>
              <a:t>);</a:t>
            </a:r>
          </a:p>
          <a:p>
            <a:r>
              <a:rPr lang="en-US" altLang="en-US" sz="1800" kern="0" dirty="0">
                <a:solidFill>
                  <a:srgbClr val="333399"/>
                </a:solidFill>
                <a:latin typeface="Courier New" panose="02070309020205020404" pitchFamily="49" charset="0"/>
                <a:cs typeface="Courier New" panose="02070309020205020404" pitchFamily="49" charset="0"/>
              </a:rPr>
              <a:t>result2 = (temp + b) / (temp – a</a:t>
            </a:r>
            <a:r>
              <a:rPr lang="en-US" altLang="en-US" sz="1800" kern="0" dirty="0" smtClean="0">
                <a:solidFill>
                  <a:srgbClr val="333399"/>
                </a:solidFill>
                <a:latin typeface="Courier New" panose="02070309020205020404" pitchFamily="49" charset="0"/>
                <a:cs typeface="Courier New" panose="02070309020205020404" pitchFamily="49" charset="0"/>
              </a:rPr>
              <a:t>);    </a:t>
            </a:r>
            <a:endParaRPr lang="en-ZA" dirty="0"/>
          </a:p>
        </p:txBody>
      </p:sp>
    </p:spTree>
    <p:extLst>
      <p:ext uri="{BB962C8B-B14F-4D97-AF65-F5344CB8AC3E}">
        <p14:creationId xmlns:p14="http://schemas.microsoft.com/office/powerpoint/2010/main" val="5767722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81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E9A6415-AF6D-49B4-B180-650F447DBBE1}"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8196" name="Rectangle 2"/>
          <p:cNvSpPr>
            <a:spLocks noGrp="1" noChangeArrowheads="1"/>
          </p:cNvSpPr>
          <p:nvPr>
            <p:ph type="title"/>
          </p:nvPr>
        </p:nvSpPr>
        <p:spPr/>
        <p:txBody>
          <a:bodyPr/>
          <a:lstStyle/>
          <a:p>
            <a:pPr eaLnBrk="1" hangingPunct="1"/>
            <a:r>
              <a:rPr lang="en-US" altLang="en-US" dirty="0" smtClean="0"/>
              <a:t>Mathematical Functions</a:t>
            </a:r>
          </a:p>
        </p:txBody>
      </p:sp>
      <p:sp>
        <p:nvSpPr>
          <p:cNvPr id="8197" name="Rectangle 3"/>
          <p:cNvSpPr>
            <a:spLocks noGrp="1" noChangeArrowheads="1"/>
          </p:cNvSpPr>
          <p:nvPr>
            <p:ph type="body" idx="1"/>
          </p:nvPr>
        </p:nvSpPr>
        <p:spPr>
          <a:xfrm>
            <a:off x="609600" y="1346200"/>
            <a:ext cx="8229600" cy="4572000"/>
          </a:xfrm>
        </p:spPr>
        <p:txBody>
          <a:bodyPr/>
          <a:lstStyle/>
          <a:p>
            <a:r>
              <a:rPr lang="en-US" altLang="en-US" sz="2400" dirty="0"/>
              <a:t>Advantage of referential transparency</a:t>
            </a:r>
          </a:p>
          <a:p>
            <a:pPr lvl="1"/>
            <a:r>
              <a:rPr lang="en-US" altLang="en-US" sz="2000" dirty="0"/>
              <a:t>Program semantics much easier to understand</a:t>
            </a:r>
          </a:p>
          <a:p>
            <a:r>
              <a:rPr lang="en-US" altLang="en-US" sz="2400" dirty="0"/>
              <a:t>Programs in pure functional languages</a:t>
            </a:r>
          </a:p>
          <a:p>
            <a:pPr lvl="1"/>
            <a:r>
              <a:rPr lang="en-US" altLang="en-US" sz="2000" dirty="0"/>
              <a:t>Do not have variables</a:t>
            </a:r>
          </a:p>
          <a:p>
            <a:pPr lvl="2"/>
            <a:r>
              <a:rPr lang="en-US" altLang="en-US" sz="2000" dirty="0" smtClean="0"/>
              <a:t>Consider </a:t>
            </a:r>
            <a:r>
              <a:rPr lang="en-US" altLang="en-US" sz="2000" dirty="0"/>
              <a:t>a </a:t>
            </a:r>
            <a:r>
              <a:rPr lang="en-US" altLang="en-US" sz="2000" dirty="0" smtClean="0"/>
              <a:t>function</a:t>
            </a:r>
            <a:endParaRPr lang="en-US" altLang="en-US" sz="2000" dirty="0"/>
          </a:p>
          <a:p>
            <a:pPr lvl="3"/>
            <a:r>
              <a:rPr lang="en-US" altLang="en-US" sz="1800" dirty="0" smtClean="0"/>
              <a:t>Global variables can’t exist (so can’t be modified)</a:t>
            </a:r>
          </a:p>
          <a:p>
            <a:pPr lvl="3"/>
            <a:r>
              <a:rPr lang="en-US" altLang="en-US" sz="1800" dirty="0" smtClean="0"/>
              <a:t>Parameter </a:t>
            </a:r>
            <a:r>
              <a:rPr lang="en-US" altLang="en-US" sz="1800" dirty="0"/>
              <a:t>value must be constant (no variables)</a:t>
            </a:r>
          </a:p>
          <a:p>
            <a:pPr lvl="3"/>
            <a:r>
              <a:rPr lang="en-US" altLang="en-US" sz="1800" dirty="0" smtClean="0"/>
              <a:t>This means there is no possibility of </a:t>
            </a:r>
            <a:r>
              <a:rPr lang="en-US" altLang="en-US" sz="1800" dirty="0"/>
              <a:t>side </a:t>
            </a:r>
            <a:r>
              <a:rPr lang="en-US" altLang="en-US" sz="1800" dirty="0" smtClean="0"/>
              <a:t>effects</a:t>
            </a:r>
            <a:endParaRPr lang="en-US" altLang="en-US" sz="1800" dirty="0"/>
          </a:p>
          <a:p>
            <a:pPr lvl="2"/>
            <a:r>
              <a:rPr lang="en-US" altLang="en-US" sz="2000" dirty="0" smtClean="0"/>
              <a:t>Functions </a:t>
            </a:r>
            <a:r>
              <a:rPr lang="en-US" altLang="en-US" sz="2000" dirty="0"/>
              <a:t>cannot have state</a:t>
            </a:r>
          </a:p>
          <a:p>
            <a:pPr lvl="3"/>
            <a:r>
              <a:rPr lang="en-US" altLang="en-US" sz="1800" dirty="0"/>
              <a:t>State must be stored in </a:t>
            </a:r>
            <a:r>
              <a:rPr lang="en-US" altLang="en-US" sz="1800" dirty="0" smtClean="0"/>
              <a:t>variables</a:t>
            </a:r>
          </a:p>
          <a:p>
            <a:pPr lvl="3"/>
            <a:r>
              <a:rPr lang="en-US" altLang="en-US" sz="1800" dirty="0"/>
              <a:t>Value of the function depends only on parameters</a:t>
            </a:r>
          </a:p>
          <a:p>
            <a:pPr lvl="2"/>
            <a:r>
              <a:rPr lang="en-US" altLang="en-US" sz="2000" dirty="0" smtClean="0"/>
              <a:t>Thus </a:t>
            </a:r>
            <a:r>
              <a:rPr lang="en-US" altLang="en-US" sz="2000" dirty="0"/>
              <a:t>such languages are referentially </a:t>
            </a:r>
            <a:r>
              <a:rPr lang="en-US" altLang="en-US" sz="2000" dirty="0" smtClean="0"/>
              <a:t>transparent</a:t>
            </a:r>
            <a:endParaRPr lang="en-US" altLang="en-US" sz="2000" dirty="0"/>
          </a:p>
        </p:txBody>
      </p:sp>
    </p:spTree>
    <p:extLst>
      <p:ext uri="{BB962C8B-B14F-4D97-AF65-F5344CB8AC3E}">
        <p14:creationId xmlns:p14="http://schemas.microsoft.com/office/powerpoint/2010/main" val="36015134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102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BF53103-DD7D-4028-8091-6BEC67822F6D}"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10244" name="Rectangle 4"/>
          <p:cNvSpPr>
            <a:spLocks noGrp="1" noChangeArrowheads="1"/>
          </p:cNvSpPr>
          <p:nvPr>
            <p:ph type="title"/>
          </p:nvPr>
        </p:nvSpPr>
        <p:spPr>
          <a:xfrm>
            <a:off x="609600" y="76200"/>
            <a:ext cx="8153400" cy="1143000"/>
          </a:xfrm>
        </p:spPr>
        <p:txBody>
          <a:bodyPr/>
          <a:lstStyle/>
          <a:p>
            <a:pPr eaLnBrk="1" hangingPunct="1"/>
            <a:r>
              <a:rPr lang="en-US" altLang="en-US" sz="3200" smtClean="0"/>
              <a:t>Fundamentals of Functional Programming Languages</a:t>
            </a:r>
          </a:p>
        </p:txBody>
      </p:sp>
      <p:sp>
        <p:nvSpPr>
          <p:cNvPr id="10245" name="Rectangle 5"/>
          <p:cNvSpPr>
            <a:spLocks noGrp="1" noChangeArrowheads="1"/>
          </p:cNvSpPr>
          <p:nvPr>
            <p:ph type="body" idx="1"/>
          </p:nvPr>
        </p:nvSpPr>
        <p:spPr>
          <a:xfrm>
            <a:off x="609600" y="1337440"/>
            <a:ext cx="8153400" cy="4419600"/>
          </a:xfrm>
        </p:spPr>
        <p:txBody>
          <a:bodyPr/>
          <a:lstStyle/>
          <a:p>
            <a:pPr eaLnBrk="1" hangingPunct="1"/>
            <a:r>
              <a:rPr lang="en-US" altLang="en-US" sz="2400" dirty="0" smtClean="0"/>
              <a:t>The objective of a functional language’s design</a:t>
            </a:r>
          </a:p>
          <a:p>
            <a:pPr lvl="1" eaLnBrk="1" hangingPunct="1"/>
            <a:r>
              <a:rPr lang="en-US" altLang="en-US" sz="2000" dirty="0" smtClean="0"/>
              <a:t>To mimic mathematical functions as closely as possible</a:t>
            </a:r>
          </a:p>
          <a:p>
            <a:pPr eaLnBrk="1" hangingPunct="1"/>
            <a:r>
              <a:rPr lang="en-US" altLang="en-US" sz="2400" dirty="0" smtClean="0"/>
              <a:t>The basic process of computation is fundamentally different in a FPL than in an imperative language</a:t>
            </a:r>
          </a:p>
          <a:p>
            <a:pPr lvl="1" eaLnBrk="1" hangingPunct="1"/>
            <a:r>
              <a:rPr lang="en-US" altLang="en-US" sz="2000" dirty="0" smtClean="0"/>
              <a:t>In an imperative language</a:t>
            </a:r>
          </a:p>
          <a:p>
            <a:pPr lvl="2" eaLnBrk="1" hangingPunct="1"/>
            <a:r>
              <a:rPr lang="en-US" altLang="en-US" sz="1900" dirty="0" smtClean="0"/>
              <a:t>Expressions are evaluated and the results are stored in variables for later use</a:t>
            </a:r>
          </a:p>
          <a:p>
            <a:pPr lvl="2" eaLnBrk="1" hangingPunct="1"/>
            <a:r>
              <a:rPr lang="en-US" altLang="en-US" sz="1900" dirty="0" smtClean="0"/>
              <a:t>Management of variables is a constant concern and a source of complexity for imperative programming</a:t>
            </a:r>
          </a:p>
          <a:p>
            <a:pPr lvl="1" eaLnBrk="1" hangingPunct="1"/>
            <a:r>
              <a:rPr lang="en-US" altLang="en-US" sz="2000" dirty="0" smtClean="0"/>
              <a:t>In a purely functional language</a:t>
            </a:r>
          </a:p>
          <a:p>
            <a:pPr lvl="2" eaLnBrk="1" hangingPunct="1"/>
            <a:r>
              <a:rPr lang="en-US" altLang="en-US" sz="1900" dirty="0" smtClean="0"/>
              <a:t>Variables are not used, as is the case in mathematics</a:t>
            </a:r>
          </a:p>
          <a:p>
            <a:pPr lvl="2" eaLnBrk="1" hangingPunct="1"/>
            <a:r>
              <a:rPr lang="en-US" altLang="en-US" sz="1900" dirty="0" smtClean="0"/>
              <a:t>We don’t need to worry about managing variables and the associated ambiguity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1843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7C5FE54-EE4A-4C88-8BF4-15BE92E843AF}"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18436" name="Rectangle 2"/>
          <p:cNvSpPr>
            <a:spLocks noGrp="1" noChangeArrowheads="1"/>
          </p:cNvSpPr>
          <p:nvPr>
            <p:ph type="title"/>
          </p:nvPr>
        </p:nvSpPr>
        <p:spPr/>
        <p:txBody>
          <a:bodyPr/>
          <a:lstStyle/>
          <a:p>
            <a:pPr eaLnBrk="1" hangingPunct="1"/>
            <a:r>
              <a:rPr lang="en-US" altLang="en-US" smtClean="0"/>
              <a:t>Origins of Scheme</a:t>
            </a:r>
          </a:p>
        </p:txBody>
      </p:sp>
      <p:sp>
        <p:nvSpPr>
          <p:cNvPr id="18437" name="Rectangle 3"/>
          <p:cNvSpPr>
            <a:spLocks noGrp="1" noChangeArrowheads="1"/>
          </p:cNvSpPr>
          <p:nvPr>
            <p:ph type="body" idx="1"/>
          </p:nvPr>
        </p:nvSpPr>
        <p:spPr>
          <a:xfrm>
            <a:off x="609600" y="1340070"/>
            <a:ext cx="8153400" cy="4572000"/>
          </a:xfrm>
        </p:spPr>
        <p:txBody>
          <a:bodyPr/>
          <a:lstStyle/>
          <a:p>
            <a:pPr eaLnBrk="1" hangingPunct="1"/>
            <a:r>
              <a:rPr lang="en-US" altLang="en-US" sz="2400" dirty="0" smtClean="0"/>
              <a:t>LISP</a:t>
            </a:r>
          </a:p>
          <a:p>
            <a:pPr lvl="1" eaLnBrk="1" hangingPunct="1"/>
            <a:r>
              <a:rPr lang="en-US" altLang="en-US" sz="2000" dirty="0"/>
              <a:t>T</a:t>
            </a:r>
            <a:r>
              <a:rPr lang="en-US" altLang="en-US" sz="2000" dirty="0" smtClean="0"/>
              <a:t>he first functional programming language</a:t>
            </a:r>
          </a:p>
          <a:p>
            <a:pPr eaLnBrk="1" hangingPunct="1"/>
            <a:r>
              <a:rPr lang="en-US" altLang="en-US" sz="2400" dirty="0" smtClean="0"/>
              <a:t>Scheme</a:t>
            </a:r>
          </a:p>
          <a:p>
            <a:pPr lvl="1" eaLnBrk="1" hangingPunct="1"/>
            <a:r>
              <a:rPr lang="en-US" altLang="en-US" sz="2000" dirty="0"/>
              <a:t>A</a:t>
            </a:r>
            <a:r>
              <a:rPr lang="en-US" altLang="en-US" sz="2000" dirty="0" smtClean="0"/>
              <a:t> mid-1970s dialect of LISP</a:t>
            </a:r>
          </a:p>
          <a:p>
            <a:pPr lvl="1" eaLnBrk="1" hangingPunct="1"/>
            <a:r>
              <a:rPr lang="en-US" altLang="en-US" sz="2000" dirty="0" smtClean="0"/>
              <a:t>Designed to be a cleaner, more modern, and simpler version than contemporary LISP dialects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1433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8DF60E3-5DF2-4889-93B4-02F2AEF351F6}"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14340" name="Rectangle 2"/>
          <p:cNvSpPr>
            <a:spLocks noGrp="1" noChangeArrowheads="1"/>
          </p:cNvSpPr>
          <p:nvPr>
            <p:ph type="title"/>
          </p:nvPr>
        </p:nvSpPr>
        <p:spPr/>
        <p:txBody>
          <a:bodyPr/>
          <a:lstStyle/>
          <a:p>
            <a:pPr eaLnBrk="1" hangingPunct="1"/>
            <a:r>
              <a:rPr lang="en-US" altLang="en-US" dirty="0" smtClean="0"/>
              <a:t>Scheme Data Objects </a:t>
            </a:r>
            <a:r>
              <a:rPr lang="en-US" altLang="en-US" dirty="0"/>
              <a:t>&amp;</a:t>
            </a:r>
            <a:r>
              <a:rPr lang="en-US" altLang="en-US" dirty="0" smtClean="0"/>
              <a:t> Structures</a:t>
            </a:r>
          </a:p>
        </p:txBody>
      </p:sp>
      <p:sp>
        <p:nvSpPr>
          <p:cNvPr id="14341" name="Rectangle 3"/>
          <p:cNvSpPr>
            <a:spLocks noGrp="1" noChangeArrowheads="1"/>
          </p:cNvSpPr>
          <p:nvPr>
            <p:ph type="body" idx="1"/>
          </p:nvPr>
        </p:nvSpPr>
        <p:spPr>
          <a:xfrm>
            <a:off x="609600" y="1340070"/>
            <a:ext cx="8153400" cy="4572000"/>
          </a:xfrm>
        </p:spPr>
        <p:txBody>
          <a:bodyPr/>
          <a:lstStyle/>
          <a:p>
            <a:pPr eaLnBrk="1" hangingPunct="1"/>
            <a:r>
              <a:rPr lang="en-US" altLang="en-US" sz="2400" u="sng" dirty="0" smtClean="0"/>
              <a:t>Data object categories</a:t>
            </a:r>
            <a:endParaRPr lang="en-US" altLang="en-US" sz="2400" dirty="0" smtClean="0"/>
          </a:p>
          <a:p>
            <a:pPr lvl="1" eaLnBrk="1" hangingPunct="1"/>
            <a:r>
              <a:rPr lang="en-US" altLang="en-US" sz="2000" dirty="0" smtClean="0"/>
              <a:t>Atoms and lists</a:t>
            </a:r>
          </a:p>
          <a:p>
            <a:pPr lvl="1" eaLnBrk="1" hangingPunct="1"/>
            <a:r>
              <a:rPr lang="en-US" altLang="en-US" sz="2000" dirty="0" smtClean="0"/>
              <a:t>Two kinds of atoms</a:t>
            </a:r>
          </a:p>
          <a:p>
            <a:pPr lvl="2" eaLnBrk="1" hangingPunct="1"/>
            <a:r>
              <a:rPr lang="en-US" altLang="en-US" sz="1700" dirty="0" smtClean="0"/>
              <a:t>Symbols (identifiers like </a:t>
            </a:r>
            <a:r>
              <a:rPr lang="en-US" altLang="en-US" sz="1700" dirty="0" smtClean="0">
                <a:latin typeface="Courier New" panose="02070309020205020404" pitchFamily="49" charset="0"/>
                <a:cs typeface="Courier New" panose="02070309020205020404" pitchFamily="49" charset="0"/>
              </a:rPr>
              <a:t>a</a:t>
            </a:r>
            <a:r>
              <a:rPr lang="en-US" altLang="en-US" sz="1700" dirty="0" smtClean="0"/>
              <a:t> </a:t>
            </a:r>
            <a:r>
              <a:rPr lang="en-US" altLang="en-US" sz="1700" dirty="0" smtClean="0"/>
              <a:t>and </a:t>
            </a:r>
            <a:r>
              <a:rPr lang="en-US" altLang="en-US" sz="1700" dirty="0" smtClean="0">
                <a:latin typeface="Courier New" panose="02070309020205020404" pitchFamily="49" charset="0"/>
                <a:cs typeface="Courier New" panose="02070309020205020404" pitchFamily="49" charset="0"/>
              </a:rPr>
              <a:t>x</a:t>
            </a:r>
            <a:r>
              <a:rPr lang="en-US" altLang="en-US" sz="1700" dirty="0" smtClean="0"/>
              <a:t>)</a:t>
            </a:r>
            <a:endParaRPr lang="en-US" altLang="en-US" sz="1700" dirty="0" smtClean="0"/>
          </a:p>
          <a:p>
            <a:pPr lvl="2" eaLnBrk="1" hangingPunct="1"/>
            <a:r>
              <a:rPr lang="en-US" altLang="en-US" sz="1700" dirty="0" smtClean="0"/>
              <a:t>Numeric literals (like </a:t>
            </a:r>
            <a:r>
              <a:rPr lang="en-US" altLang="en-US" sz="1700" dirty="0" smtClean="0">
                <a:latin typeface="Courier New" panose="02070309020205020404" pitchFamily="49" charset="0"/>
                <a:cs typeface="Courier New" panose="02070309020205020404" pitchFamily="49" charset="0"/>
              </a:rPr>
              <a:t>4.8</a:t>
            </a:r>
            <a:r>
              <a:rPr lang="en-US" altLang="en-US" sz="1700" dirty="0" smtClean="0"/>
              <a:t> and </a:t>
            </a:r>
            <a:r>
              <a:rPr lang="en-US" altLang="en-US" sz="1700" dirty="0" smtClean="0">
                <a:latin typeface="Courier New" panose="02070309020205020404" pitchFamily="49" charset="0"/>
                <a:cs typeface="Courier New" panose="02070309020205020404" pitchFamily="49" charset="0"/>
              </a:rPr>
              <a:t>26</a:t>
            </a:r>
            <a:r>
              <a:rPr lang="en-US" altLang="en-US" sz="1700" dirty="0" smtClean="0"/>
              <a:t>)</a:t>
            </a:r>
          </a:p>
          <a:p>
            <a:pPr eaLnBrk="1" hangingPunct="1"/>
            <a:r>
              <a:rPr lang="en-US" altLang="en-US" sz="2400" u="sng" dirty="0" smtClean="0"/>
              <a:t>List form</a:t>
            </a:r>
            <a:endParaRPr lang="en-US" altLang="en-US" sz="2400" dirty="0" smtClean="0"/>
          </a:p>
          <a:p>
            <a:pPr lvl="1" eaLnBrk="1" hangingPunct="1"/>
            <a:r>
              <a:rPr lang="en-US" altLang="en-US" sz="2000" dirty="0" smtClean="0"/>
              <a:t>Sequences of atoms and/or </a:t>
            </a:r>
            <a:r>
              <a:rPr lang="en-US" altLang="en-US" sz="2000" dirty="0" err="1"/>
              <a:t>sublists</a:t>
            </a:r>
            <a:endParaRPr lang="en-US" altLang="en-US" sz="2000" dirty="0" smtClean="0"/>
          </a:p>
          <a:p>
            <a:pPr lvl="1" eaLnBrk="1" hangingPunct="1"/>
            <a:r>
              <a:rPr lang="en-US" altLang="en-US" sz="2000" dirty="0" smtClean="0"/>
              <a:t>Stored internally as single-linked lists</a:t>
            </a:r>
          </a:p>
          <a:p>
            <a:pPr lvl="1" eaLnBrk="1" hangingPunct="1"/>
            <a:r>
              <a:rPr lang="en-US" altLang="en-US" sz="2000" dirty="0" smtClean="0">
                <a:latin typeface="Courier New" panose="02070309020205020404" pitchFamily="49" charset="0"/>
              </a:rPr>
              <a:t>(a b (c d) e)</a:t>
            </a:r>
            <a:endParaRPr lang="en-US" altLang="en-US" sz="2000" dirty="0" smtClean="0">
              <a:latin typeface="Courier New" panose="02070309020205020404" pitchFamily="49" charset="0"/>
            </a:endParaRPr>
          </a:p>
        </p:txBody>
      </p:sp>
    </p:spTree>
    <p:extLst>
      <p:ext uri="{BB962C8B-B14F-4D97-AF65-F5344CB8AC3E}">
        <p14:creationId xmlns:p14="http://schemas.microsoft.com/office/powerpoint/2010/main" val="12321854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1638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C5B36E5-897A-4095-830C-734C47F8A9A6}"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16388" name="Rectangle 2"/>
          <p:cNvSpPr>
            <a:spLocks noGrp="1" noChangeArrowheads="1"/>
          </p:cNvSpPr>
          <p:nvPr>
            <p:ph type="title"/>
          </p:nvPr>
        </p:nvSpPr>
        <p:spPr/>
        <p:txBody>
          <a:bodyPr/>
          <a:lstStyle/>
          <a:p>
            <a:pPr eaLnBrk="1" hangingPunct="1"/>
            <a:r>
              <a:rPr lang="en-US" altLang="en-US" dirty="0" smtClean="0"/>
              <a:t>The Scheme Interpreter</a:t>
            </a:r>
          </a:p>
        </p:txBody>
      </p:sp>
      <p:sp>
        <p:nvSpPr>
          <p:cNvPr id="16389" name="Rectangle 3"/>
          <p:cNvSpPr>
            <a:spLocks noGrp="1" noChangeArrowheads="1"/>
          </p:cNvSpPr>
          <p:nvPr>
            <p:ph type="body" idx="1"/>
          </p:nvPr>
        </p:nvSpPr>
        <p:spPr>
          <a:xfrm>
            <a:off x="609600" y="1371600"/>
            <a:ext cx="8305800" cy="4800600"/>
          </a:xfrm>
        </p:spPr>
        <p:txBody>
          <a:bodyPr/>
          <a:lstStyle/>
          <a:p>
            <a:pPr eaLnBrk="1" hangingPunct="1">
              <a:lnSpc>
                <a:spcPct val="90000"/>
              </a:lnSpc>
            </a:pPr>
            <a:r>
              <a:rPr lang="en-US" altLang="en-US" sz="2400" dirty="0" smtClean="0"/>
              <a:t>Data and function applications </a:t>
            </a:r>
            <a:r>
              <a:rPr lang="en-US" altLang="en-US" sz="2400" dirty="0"/>
              <a:t>have the same form</a:t>
            </a:r>
          </a:p>
          <a:p>
            <a:pPr lvl="1" eaLnBrk="1" hangingPunct="1">
              <a:lnSpc>
                <a:spcPct val="90000"/>
              </a:lnSpc>
            </a:pPr>
            <a:r>
              <a:rPr lang="en-US" altLang="en-US" sz="2000" dirty="0" smtClean="0"/>
              <a:t>The list </a:t>
            </a:r>
            <a:r>
              <a:rPr lang="en-US" altLang="en-US" sz="2000" dirty="0" smtClean="0">
                <a:latin typeface="Courier New" panose="02070309020205020404" pitchFamily="49" charset="0"/>
                <a:cs typeface="Courier New" panose="02070309020205020404" pitchFamily="49" charset="0"/>
              </a:rPr>
              <a:t>(a b c)</a:t>
            </a:r>
            <a:r>
              <a:rPr lang="en-US" altLang="en-US" sz="2000" dirty="0" smtClean="0"/>
              <a:t> </a:t>
            </a:r>
            <a:r>
              <a:rPr lang="en-US" altLang="en-US" sz="2000" dirty="0" smtClean="0"/>
              <a:t>interpreted </a:t>
            </a:r>
            <a:r>
              <a:rPr lang="en-US" altLang="en-US" sz="2000" dirty="0"/>
              <a:t>as data</a:t>
            </a:r>
          </a:p>
          <a:p>
            <a:pPr lvl="2" eaLnBrk="1" hangingPunct="1">
              <a:lnSpc>
                <a:spcPct val="90000"/>
              </a:lnSpc>
            </a:pPr>
            <a:r>
              <a:rPr lang="en-US" altLang="en-US" sz="1700" dirty="0"/>
              <a:t>A simple list of 3 atoms</a:t>
            </a:r>
            <a:r>
              <a:rPr lang="en-US" altLang="en-US" sz="1700" dirty="0" smtClean="0"/>
              <a:t>, namely </a:t>
            </a:r>
            <a:r>
              <a:rPr lang="en-US" altLang="en-US" sz="1700" dirty="0" smtClean="0">
                <a:latin typeface="Courier New" panose="02070309020205020404" pitchFamily="49" charset="0"/>
              </a:rPr>
              <a:t>a</a:t>
            </a:r>
            <a:r>
              <a:rPr lang="en-US" altLang="en-US" sz="1700" dirty="0" smtClean="0"/>
              <a:t>, </a:t>
            </a:r>
            <a:r>
              <a:rPr lang="en-US" altLang="en-US" sz="1700" dirty="0" smtClean="0">
                <a:latin typeface="Courier New" panose="02070309020205020404" pitchFamily="49" charset="0"/>
              </a:rPr>
              <a:t>b</a:t>
            </a:r>
            <a:r>
              <a:rPr lang="en-US" altLang="en-US" sz="1700" dirty="0" smtClean="0"/>
              <a:t>, </a:t>
            </a:r>
            <a:r>
              <a:rPr lang="en-US" altLang="en-US" sz="1700" dirty="0"/>
              <a:t>and </a:t>
            </a:r>
            <a:r>
              <a:rPr lang="en-US" altLang="en-US" sz="1700" dirty="0" smtClean="0">
                <a:latin typeface="Courier New" panose="02070309020205020404" pitchFamily="49" charset="0"/>
              </a:rPr>
              <a:t>c</a:t>
            </a:r>
            <a:endParaRPr lang="en-US" altLang="en-US" sz="1700" dirty="0">
              <a:latin typeface="Courier New" panose="02070309020205020404" pitchFamily="49" charset="0"/>
            </a:endParaRPr>
          </a:p>
          <a:p>
            <a:pPr lvl="1" eaLnBrk="1" hangingPunct="1">
              <a:lnSpc>
                <a:spcPct val="90000"/>
              </a:lnSpc>
            </a:pPr>
            <a:r>
              <a:rPr lang="en-US" altLang="en-US" sz="2000" dirty="0" smtClean="0"/>
              <a:t>The list </a:t>
            </a:r>
            <a:r>
              <a:rPr lang="en-US" altLang="en-US" sz="2000" dirty="0" smtClean="0">
                <a:latin typeface="Courier New" panose="02070309020205020404" pitchFamily="49" charset="0"/>
                <a:cs typeface="Courier New" panose="02070309020205020404" pitchFamily="49" charset="0"/>
              </a:rPr>
              <a:t>(a b c)</a:t>
            </a:r>
            <a:r>
              <a:rPr lang="en-US" altLang="en-US" sz="2000" dirty="0" smtClean="0"/>
              <a:t> </a:t>
            </a:r>
            <a:r>
              <a:rPr lang="en-US" altLang="en-US" sz="2000" dirty="0" smtClean="0"/>
              <a:t>interpreted </a:t>
            </a:r>
            <a:r>
              <a:rPr lang="en-US" altLang="en-US" sz="2000" dirty="0"/>
              <a:t>as a function application</a:t>
            </a:r>
          </a:p>
          <a:p>
            <a:pPr lvl="2" eaLnBrk="1" hangingPunct="1">
              <a:lnSpc>
                <a:spcPct val="90000"/>
              </a:lnSpc>
            </a:pPr>
            <a:r>
              <a:rPr lang="en-US" altLang="en-US" sz="1700" dirty="0" smtClean="0"/>
              <a:t>The function named </a:t>
            </a:r>
            <a:r>
              <a:rPr lang="en-US" altLang="en-US" sz="1700" dirty="0" smtClean="0">
                <a:latin typeface="Courier New" panose="02070309020205020404" pitchFamily="49" charset="0"/>
              </a:rPr>
              <a:t>a</a:t>
            </a:r>
            <a:r>
              <a:rPr lang="en-US" altLang="en-US" sz="1700" dirty="0" smtClean="0"/>
              <a:t> </a:t>
            </a:r>
            <a:r>
              <a:rPr lang="en-US" altLang="en-US" sz="1700" dirty="0" smtClean="0"/>
              <a:t>is applied to two parameters, </a:t>
            </a:r>
            <a:r>
              <a:rPr lang="en-US" altLang="en-US" sz="1700" dirty="0" smtClean="0">
                <a:latin typeface="Courier New" panose="02070309020205020404" pitchFamily="49" charset="0"/>
              </a:rPr>
              <a:t>b</a:t>
            </a:r>
            <a:r>
              <a:rPr lang="en-US" altLang="en-US" sz="1700" dirty="0" smtClean="0"/>
              <a:t> </a:t>
            </a:r>
            <a:r>
              <a:rPr lang="en-US" altLang="en-US" sz="1700" dirty="0" smtClean="0"/>
              <a:t>and </a:t>
            </a:r>
            <a:r>
              <a:rPr lang="en-US" altLang="en-US" sz="1700" dirty="0" smtClean="0">
                <a:latin typeface="Courier New" panose="02070309020205020404" pitchFamily="49" charset="0"/>
              </a:rPr>
              <a:t>c</a:t>
            </a:r>
            <a:endParaRPr lang="en-US" altLang="en-US" sz="1700" dirty="0" smtClean="0">
              <a:latin typeface="Courier New" panose="02070309020205020404" pitchFamily="49" charset="0"/>
            </a:endParaRPr>
          </a:p>
          <a:p>
            <a:pPr lvl="1" eaLnBrk="1" hangingPunct="1"/>
            <a:r>
              <a:rPr lang="en-US" altLang="en-US" sz="2000" dirty="0" smtClean="0"/>
              <a:t>The result is that functions are first-class entities</a:t>
            </a:r>
          </a:p>
          <a:p>
            <a:pPr lvl="2" eaLnBrk="1" hangingPunct="1"/>
            <a:r>
              <a:rPr lang="en-US" altLang="en-US" sz="1700" dirty="0" smtClean="0"/>
              <a:t>Functions can be passed as parameters to other functions</a:t>
            </a:r>
          </a:p>
          <a:p>
            <a:pPr lvl="2" eaLnBrk="1" hangingPunct="1"/>
            <a:r>
              <a:rPr lang="en-US" altLang="en-US" sz="1700" dirty="0" smtClean="0"/>
              <a:t>Functions can be returned by another function</a:t>
            </a:r>
          </a:p>
          <a:p>
            <a:pPr eaLnBrk="1" hangingPunct="1"/>
            <a:r>
              <a:rPr lang="en-US" altLang="en-US" sz="2400" dirty="0" smtClean="0"/>
              <a:t>Scheme </a:t>
            </a:r>
            <a:r>
              <a:rPr lang="en-US" altLang="en-US" sz="2400" dirty="0"/>
              <a:t>programs are built up of </a:t>
            </a:r>
            <a:r>
              <a:rPr lang="en-US" altLang="en-US" sz="2400" u="sng" dirty="0"/>
              <a:t>only</a:t>
            </a:r>
            <a:r>
              <a:rPr lang="en-US" altLang="en-US" sz="2400" dirty="0"/>
              <a:t> functions</a:t>
            </a:r>
          </a:p>
          <a:p>
            <a:pPr lvl="1" eaLnBrk="1" hangingPunct="1"/>
            <a:r>
              <a:rPr lang="en-US" altLang="en-US" sz="2000" dirty="0"/>
              <a:t>There are no operators or control </a:t>
            </a:r>
            <a:r>
              <a:rPr lang="en-US" altLang="en-US" sz="2000" dirty="0" smtClean="0"/>
              <a:t>structures</a:t>
            </a:r>
            <a:endParaRPr lang="en-US" altLang="en-US" sz="2000" dirty="0"/>
          </a:p>
        </p:txBody>
      </p:sp>
    </p:spTree>
    <p:extLst>
      <p:ext uri="{BB962C8B-B14F-4D97-AF65-F5344CB8AC3E}">
        <p14:creationId xmlns:p14="http://schemas.microsoft.com/office/powerpoint/2010/main" val="29548302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2253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F7E65B7-C026-49F0-8394-BD0FE8EF0080}"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22532" name="Rectangle 2"/>
          <p:cNvSpPr>
            <a:spLocks noGrp="1" noChangeArrowheads="1"/>
          </p:cNvSpPr>
          <p:nvPr>
            <p:ph type="title"/>
          </p:nvPr>
        </p:nvSpPr>
        <p:spPr/>
        <p:txBody>
          <a:bodyPr/>
          <a:lstStyle/>
          <a:p>
            <a:pPr eaLnBrk="1" hangingPunct="1"/>
            <a:r>
              <a:rPr lang="en-US" altLang="en-US" dirty="0" smtClean="0"/>
              <a:t>Function Evaluation</a:t>
            </a:r>
          </a:p>
        </p:txBody>
      </p:sp>
      <p:sp>
        <p:nvSpPr>
          <p:cNvPr id="22533" name="Rectangle 3"/>
          <p:cNvSpPr>
            <a:spLocks noGrp="1" noChangeArrowheads="1"/>
          </p:cNvSpPr>
          <p:nvPr>
            <p:ph type="body" idx="1"/>
          </p:nvPr>
        </p:nvSpPr>
        <p:spPr>
          <a:xfrm>
            <a:off x="609600" y="1337440"/>
            <a:ext cx="8153400" cy="4572000"/>
          </a:xfrm>
        </p:spPr>
        <p:txBody>
          <a:bodyPr/>
          <a:lstStyle/>
          <a:p>
            <a:pPr marL="357188" indent="-354013" eaLnBrk="1" hangingPunct="1"/>
            <a:r>
              <a:rPr lang="en-US" altLang="en-US" sz="2400" dirty="0" smtClean="0"/>
              <a:t>Literals evaluate to themselves</a:t>
            </a:r>
          </a:p>
          <a:p>
            <a:pPr marL="357188" indent="-354013" eaLnBrk="1" hangingPunct="1"/>
            <a:r>
              <a:rPr lang="en-US" altLang="en-US" sz="2400" dirty="0" smtClean="0"/>
              <a:t>Function applications evaluated as follows</a:t>
            </a:r>
          </a:p>
          <a:p>
            <a:pPr lvl="1" eaLnBrk="1" hangingPunct="1"/>
            <a:r>
              <a:rPr lang="en-US" altLang="en-US" sz="2000" dirty="0" smtClean="0"/>
              <a:t>Parameters are evaluated, </a:t>
            </a:r>
            <a:r>
              <a:rPr lang="en-US" altLang="en-US" sz="2000" u="sng" dirty="0" smtClean="0"/>
              <a:t>in no particular order</a:t>
            </a:r>
          </a:p>
          <a:p>
            <a:pPr lvl="1" eaLnBrk="1" hangingPunct="1"/>
            <a:r>
              <a:rPr lang="en-US" altLang="en-US" sz="2000" dirty="0"/>
              <a:t>V</a:t>
            </a:r>
            <a:r>
              <a:rPr lang="en-US" altLang="en-US" sz="2000" dirty="0" smtClean="0"/>
              <a:t>alues of parameters substituted into the function body</a:t>
            </a:r>
          </a:p>
          <a:p>
            <a:pPr lvl="1" eaLnBrk="1" hangingPunct="1"/>
            <a:r>
              <a:rPr lang="en-US" altLang="en-US" sz="2000" dirty="0" smtClean="0"/>
              <a:t>The function body is evaluated</a:t>
            </a:r>
          </a:p>
          <a:p>
            <a:pPr lvl="1" eaLnBrk="1" hangingPunct="1"/>
            <a:r>
              <a:rPr lang="en-US" altLang="en-US" sz="2000" dirty="0" smtClean="0"/>
              <a:t>The value of the last expression evaluated in the body is the value that the function defines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2457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CB2C43D-7501-49F8-8464-848CF67C1CC2}"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24580" name="Rectangle 2"/>
          <p:cNvSpPr>
            <a:spLocks noGrp="1" noChangeArrowheads="1"/>
          </p:cNvSpPr>
          <p:nvPr>
            <p:ph type="title"/>
          </p:nvPr>
        </p:nvSpPr>
        <p:spPr/>
        <p:txBody>
          <a:bodyPr/>
          <a:lstStyle/>
          <a:p>
            <a:pPr eaLnBrk="1" hangingPunct="1"/>
            <a:r>
              <a:rPr lang="en-US" altLang="en-US" smtClean="0"/>
              <a:t>Primitive Numeric Functions</a:t>
            </a:r>
          </a:p>
        </p:txBody>
      </p:sp>
      <p:sp>
        <p:nvSpPr>
          <p:cNvPr id="23557" name="Rectangle 3"/>
          <p:cNvSpPr>
            <a:spLocks noGrp="1" noChangeArrowheads="1"/>
          </p:cNvSpPr>
          <p:nvPr>
            <p:ph type="body" idx="1"/>
          </p:nvPr>
        </p:nvSpPr>
        <p:spPr>
          <a:xfrm>
            <a:off x="609600" y="1340070"/>
            <a:ext cx="8229600" cy="4572000"/>
          </a:xfrm>
        </p:spPr>
        <p:txBody>
          <a:bodyPr/>
          <a:lstStyle/>
          <a:p>
            <a:pPr marL="357188" indent="-336550" eaLnBrk="1" hangingPunct="1">
              <a:defRPr/>
            </a:pPr>
            <a:r>
              <a:rPr lang="en-US" altLang="en-US" sz="2400" dirty="0" smtClean="0"/>
              <a:t>Arithmetic operations</a:t>
            </a:r>
          </a:p>
          <a:p>
            <a:pPr marL="714375" lvl="1" indent="-261938" eaLnBrk="1" hangingPunct="1">
              <a:defRPr/>
            </a:pPr>
            <a:r>
              <a:rPr lang="en-US" altLang="en-US" sz="2000" dirty="0" smtClean="0"/>
              <a:t>Remember that these are all functions!</a:t>
            </a:r>
          </a:p>
          <a:p>
            <a:pPr marL="714375" lvl="1" indent="-261938" eaLnBrk="1" hangingPunct="1">
              <a:defRPr/>
            </a:pPr>
            <a:r>
              <a:rPr lang="en-US" altLang="en-US" sz="2000" dirty="0" smtClean="0"/>
              <a:t>Includes a set of primitive functions</a:t>
            </a:r>
          </a:p>
          <a:p>
            <a:pPr marL="1114425" lvl="2" indent="-261938" eaLnBrk="1" hangingPunct="1">
              <a:defRPr/>
            </a:pPr>
            <a:r>
              <a:rPr lang="en-US" altLang="en-US" sz="1700" dirty="0" smtClean="0"/>
              <a:t>We’ll use</a:t>
            </a:r>
            <a:r>
              <a:rPr lang="en-US" altLang="en-US" sz="1700" dirty="0" smtClean="0">
                <a:latin typeface="Courier New" panose="02070309020205020404" pitchFamily="49" charset="0"/>
              </a:rPr>
              <a:t> </a:t>
            </a:r>
            <a:r>
              <a:rPr lang="en-US" altLang="en-US" sz="1700" dirty="0" smtClean="0">
                <a:latin typeface="+mj-lt"/>
              </a:rPr>
              <a:t>‎</a:t>
            </a:r>
            <a:r>
              <a:rPr lang="en-US" altLang="en-US" sz="1700" dirty="0" smtClean="0">
                <a:latin typeface="Courier New" panose="02070309020205020404" pitchFamily="49" charset="0"/>
              </a:rPr>
              <a:t>+</a:t>
            </a:r>
            <a:r>
              <a:rPr lang="en-US" altLang="en-US" sz="1700" dirty="0" smtClean="0"/>
              <a:t>,</a:t>
            </a:r>
            <a:r>
              <a:rPr lang="en-US" altLang="en-US" sz="1700" dirty="0" smtClean="0">
                <a:latin typeface="Courier New" panose="02070309020205020404" pitchFamily="49" charset="0"/>
              </a:rPr>
              <a:t> -</a:t>
            </a:r>
            <a:r>
              <a:rPr lang="en-US" altLang="en-US" sz="1700" dirty="0" smtClean="0"/>
              <a:t>,</a:t>
            </a:r>
            <a:r>
              <a:rPr lang="en-US" altLang="en-US" sz="1700" dirty="0" smtClean="0">
                <a:latin typeface="Courier New" panose="02070309020205020404" pitchFamily="49" charset="0"/>
              </a:rPr>
              <a:t> *</a:t>
            </a:r>
            <a:r>
              <a:rPr lang="en-US" altLang="en-US" sz="1700" dirty="0" smtClean="0"/>
              <a:t>,</a:t>
            </a:r>
            <a:r>
              <a:rPr lang="en-US" altLang="en-US" sz="1700" dirty="0" smtClean="0">
                <a:latin typeface="Courier New" panose="02070309020205020404" pitchFamily="49" charset="0"/>
              </a:rPr>
              <a:t> /</a:t>
            </a:r>
            <a:r>
              <a:rPr lang="en-US" altLang="en-US" sz="1700" dirty="0" smtClean="0"/>
              <a:t>,</a:t>
            </a:r>
            <a:r>
              <a:rPr lang="en-US" altLang="en-US" sz="1700" dirty="0" smtClean="0">
                <a:latin typeface="Courier New" panose="02070309020205020404" pitchFamily="49" charset="0"/>
              </a:rPr>
              <a:t> abs</a:t>
            </a:r>
            <a:r>
              <a:rPr lang="en-US" altLang="en-US" sz="1700" dirty="0" smtClean="0"/>
              <a:t>,</a:t>
            </a:r>
            <a:r>
              <a:rPr lang="en-US" altLang="en-US" sz="1700" dirty="0" smtClean="0">
                <a:latin typeface="Courier New" panose="02070309020205020404" pitchFamily="49" charset="0"/>
              </a:rPr>
              <a:t> </a:t>
            </a:r>
            <a:r>
              <a:rPr lang="en-US" altLang="en-US" sz="1700" dirty="0" err="1" smtClean="0">
                <a:latin typeface="Courier New" panose="02070309020205020404" pitchFamily="49" charset="0"/>
              </a:rPr>
              <a:t>sqrt</a:t>
            </a:r>
            <a:r>
              <a:rPr lang="en-US" altLang="en-US" sz="1700" dirty="0" smtClean="0"/>
              <a:t>,</a:t>
            </a:r>
            <a:r>
              <a:rPr lang="en-US" altLang="en-US" sz="1700" dirty="0" smtClean="0">
                <a:latin typeface="Courier New" panose="02070309020205020404" pitchFamily="49" charset="0"/>
              </a:rPr>
              <a:t> remainder</a:t>
            </a:r>
            <a:r>
              <a:rPr lang="en-US" altLang="en-US" sz="1700" dirty="0" smtClean="0"/>
              <a:t>,</a:t>
            </a:r>
            <a:r>
              <a:rPr lang="en-US" altLang="en-US" sz="1700" dirty="0" smtClean="0">
                <a:latin typeface="Courier New" panose="02070309020205020404" pitchFamily="49" charset="0"/>
              </a:rPr>
              <a:t> min</a:t>
            </a:r>
            <a:r>
              <a:rPr lang="en-US" altLang="en-US" sz="1700" dirty="0" smtClean="0"/>
              <a:t>, and</a:t>
            </a:r>
            <a:r>
              <a:rPr lang="en-US" altLang="en-US" sz="1700" dirty="0" smtClean="0">
                <a:latin typeface="Courier New" panose="02070309020205020404" pitchFamily="49" charset="0"/>
              </a:rPr>
              <a:t> max</a:t>
            </a:r>
          </a:p>
          <a:p>
            <a:pPr marL="714375" lvl="1" indent="-261938" eaLnBrk="1" hangingPunct="1">
              <a:defRPr/>
            </a:pPr>
            <a:r>
              <a:rPr lang="en-US" altLang="en-US" sz="2000" dirty="0" smtClean="0"/>
              <a:t>For example</a:t>
            </a:r>
          </a:p>
          <a:p>
            <a:pPr marL="1114425" lvl="2" indent="-261938" eaLnBrk="1" hangingPunct="1">
              <a:defRPr/>
            </a:pPr>
            <a:r>
              <a:rPr lang="en-US" altLang="en-US" sz="1700" dirty="0" smtClean="0"/>
              <a:t>The function application </a:t>
            </a:r>
            <a:r>
              <a:rPr lang="en-US" altLang="en-US" sz="1700" dirty="0" smtClean="0">
                <a:latin typeface="Courier New" panose="02070309020205020404" pitchFamily="49" charset="0"/>
              </a:rPr>
              <a:t>(+ 5 2)</a:t>
            </a:r>
            <a:r>
              <a:rPr lang="en-US" altLang="en-US" sz="1700" dirty="0" smtClean="0"/>
              <a:t> yields </a:t>
            </a:r>
            <a:r>
              <a:rPr lang="en-US" altLang="en-US" sz="1700" dirty="0" smtClean="0">
                <a:latin typeface="Courier New" panose="02070309020205020404" pitchFamily="49" charset="0"/>
              </a:rPr>
              <a:t>7</a:t>
            </a:r>
            <a:endParaRPr lang="en-US" altLang="en-US" sz="1700" dirty="0" smtClean="0">
              <a:latin typeface="+mj-lt"/>
            </a:endParaRPr>
          </a:p>
          <a:p>
            <a:pPr lvl="1" eaLnBrk="1" hangingPunct="1">
              <a:defRPr/>
            </a:pPr>
            <a:r>
              <a:rPr lang="en-US" altLang="en-US" sz="2000" dirty="0" smtClean="0">
                <a:latin typeface="+mj-lt"/>
              </a:rPr>
              <a:t>Most can use multiple parameters</a:t>
            </a:r>
          </a:p>
          <a:p>
            <a:pPr marL="1071563" lvl="2" eaLnBrk="1" hangingPunct="1">
              <a:defRPr/>
            </a:pPr>
            <a:r>
              <a:rPr lang="en-US" altLang="en-US" sz="1700" dirty="0" smtClean="0">
                <a:latin typeface="+mj-lt"/>
              </a:rPr>
              <a:t>For example, </a:t>
            </a:r>
            <a:r>
              <a:rPr lang="en-US" altLang="en-US" sz="1700" dirty="0" smtClean="0">
                <a:latin typeface="Courier New" panose="02070309020205020404" pitchFamily="49" charset="0"/>
              </a:rPr>
              <a:t>(+ 5 2 8 9)</a:t>
            </a:r>
          </a:p>
          <a:p>
            <a:pPr marL="1071563" lvl="2" eaLnBrk="1" hangingPunct="1">
              <a:defRPr/>
            </a:pPr>
            <a:r>
              <a:rPr lang="en-US" altLang="en-US" sz="1700" dirty="0" smtClean="0"/>
              <a:t>Except </a:t>
            </a:r>
            <a:r>
              <a:rPr lang="en-US" altLang="en-US" sz="1700" dirty="0">
                <a:latin typeface="Courier New" panose="02070309020205020404" pitchFamily="49" charset="0"/>
                <a:cs typeface="Courier New" panose="02070309020205020404" pitchFamily="49" charset="0"/>
              </a:rPr>
              <a:t>abs</a:t>
            </a:r>
            <a:r>
              <a:rPr lang="en-US" altLang="en-US" sz="1700" dirty="0"/>
              <a:t>, </a:t>
            </a:r>
            <a:r>
              <a:rPr lang="en-US" altLang="en-US" sz="1700" dirty="0" err="1">
                <a:latin typeface="Courier New" panose="02070309020205020404" pitchFamily="49" charset="0"/>
                <a:cs typeface="Courier New" panose="02070309020205020404" pitchFamily="49" charset="0"/>
              </a:rPr>
              <a:t>sqrt</a:t>
            </a:r>
            <a:r>
              <a:rPr lang="en-US" altLang="en-US" sz="1700" dirty="0"/>
              <a:t>, and </a:t>
            </a:r>
            <a:r>
              <a:rPr lang="en-US" altLang="en-US" sz="1700" dirty="0" smtClean="0">
                <a:latin typeface="Courier New" panose="02070309020205020404" pitchFamily="49" charset="0"/>
                <a:cs typeface="Courier New" panose="02070309020205020404" pitchFamily="49" charset="0"/>
              </a:rPr>
              <a:t>remainder</a:t>
            </a:r>
            <a:endParaRPr lang="en-US" altLang="en-US" sz="17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dirty="0" smtClean="0"/>
              <a:t>Defining Functions</a:t>
            </a:r>
            <a:endParaRPr lang="en-GB" altLang="en-US" dirty="0" smtClean="0">
              <a:latin typeface="Courier New" panose="02070309020205020404" pitchFamily="49" charset="0"/>
            </a:endParaRPr>
          </a:p>
        </p:txBody>
      </p:sp>
      <p:sp>
        <p:nvSpPr>
          <p:cNvPr id="28675" name="Rectangle 3"/>
          <p:cNvSpPr>
            <a:spLocks noGrp="1" noChangeArrowheads="1"/>
          </p:cNvSpPr>
          <p:nvPr>
            <p:ph type="body" idx="1"/>
          </p:nvPr>
        </p:nvSpPr>
        <p:spPr>
          <a:xfrm>
            <a:off x="630620" y="1395250"/>
            <a:ext cx="8360980" cy="4572000"/>
          </a:xfrm>
        </p:spPr>
        <p:txBody>
          <a:bodyPr/>
          <a:lstStyle/>
          <a:p>
            <a:pPr marL="381000" indent="-381000">
              <a:lnSpc>
                <a:spcPct val="80000"/>
              </a:lnSpc>
            </a:pPr>
            <a:r>
              <a:rPr lang="en-ZA" altLang="en-US" sz="2400" dirty="0" smtClean="0"/>
              <a:t>Two general forms of </a:t>
            </a:r>
            <a:r>
              <a:rPr lang="en-ZA" altLang="en-US" sz="2400" dirty="0" smtClean="0">
                <a:latin typeface="Courier New" panose="02070309020205020404" pitchFamily="49" charset="0"/>
              </a:rPr>
              <a:t>define</a:t>
            </a:r>
            <a:endParaRPr lang="en-ZA" altLang="en-US" sz="2400" dirty="0" smtClean="0"/>
          </a:p>
          <a:p>
            <a:pPr marL="381000" indent="-381000">
              <a:lnSpc>
                <a:spcPct val="80000"/>
              </a:lnSpc>
              <a:buFontTx/>
              <a:buNone/>
            </a:pPr>
            <a:endParaRPr lang="en-ZA" altLang="en-US" sz="800" dirty="0" smtClean="0"/>
          </a:p>
          <a:p>
            <a:pPr marL="800100" lvl="1" indent="-342900">
              <a:lnSpc>
                <a:spcPct val="80000"/>
              </a:lnSpc>
              <a:buFontTx/>
              <a:buAutoNum type="arabicPeriod"/>
            </a:pPr>
            <a:r>
              <a:rPr lang="en-ZA" altLang="en-US" sz="2000" dirty="0" smtClean="0"/>
              <a:t>To bind a name to the value of an expression</a:t>
            </a:r>
          </a:p>
          <a:p>
            <a:pPr marL="1238250" lvl="2" indent="-323850">
              <a:lnSpc>
                <a:spcPct val="80000"/>
              </a:lnSpc>
            </a:pPr>
            <a:r>
              <a:rPr lang="en-ZA" altLang="en-US" sz="1900" dirty="0" smtClean="0"/>
              <a:t>Examples</a:t>
            </a:r>
          </a:p>
          <a:p>
            <a:pPr marL="381000" indent="-381000">
              <a:lnSpc>
                <a:spcPct val="80000"/>
              </a:lnSpc>
              <a:buFontTx/>
              <a:buNone/>
            </a:pPr>
            <a:r>
              <a:rPr lang="en-ZA" altLang="en-US" sz="2000" dirty="0" smtClean="0">
                <a:latin typeface="Courier New" panose="02070309020205020404" pitchFamily="49" charset="0"/>
              </a:rPr>
              <a:t>		    </a:t>
            </a:r>
            <a:r>
              <a:rPr lang="en-ZA" altLang="en-US" sz="1800" dirty="0" smtClean="0">
                <a:latin typeface="Courier New" panose="02070309020205020404" pitchFamily="49" charset="0"/>
              </a:rPr>
              <a:t>(define pi 3.141593)</a:t>
            </a:r>
          </a:p>
          <a:p>
            <a:pPr marL="381000" indent="-381000">
              <a:lnSpc>
                <a:spcPct val="80000"/>
              </a:lnSpc>
              <a:buFontTx/>
              <a:buNone/>
            </a:pPr>
            <a:r>
              <a:rPr lang="en-ZA" altLang="en-US" sz="2000" dirty="0" smtClean="0">
                <a:latin typeface="Courier New" panose="02070309020205020404" pitchFamily="49" charset="0"/>
              </a:rPr>
              <a:t>		    </a:t>
            </a:r>
            <a:r>
              <a:rPr lang="en-ZA" altLang="en-US" sz="1800" dirty="0" smtClean="0">
                <a:latin typeface="Courier New" panose="02070309020205020404" pitchFamily="49" charset="0"/>
              </a:rPr>
              <a:t>(define </a:t>
            </a:r>
            <a:r>
              <a:rPr lang="en-ZA" altLang="en-US" sz="1800" dirty="0" err="1" smtClean="0">
                <a:latin typeface="Courier New" panose="02070309020205020404" pitchFamily="49" charset="0"/>
              </a:rPr>
              <a:t>two_pi</a:t>
            </a:r>
            <a:r>
              <a:rPr lang="en-ZA" altLang="en-US" sz="1800" dirty="0" smtClean="0">
                <a:latin typeface="Courier New" panose="02070309020205020404" pitchFamily="49" charset="0"/>
              </a:rPr>
              <a:t> (* 2 pi))</a:t>
            </a:r>
            <a:endParaRPr lang="en-ZA" altLang="en-US" sz="1900" dirty="0" smtClean="0"/>
          </a:p>
          <a:p>
            <a:pPr marL="1238250" lvl="2" indent="-323850">
              <a:lnSpc>
                <a:spcPct val="80000"/>
              </a:lnSpc>
            </a:pPr>
            <a:endParaRPr lang="en-ZA" altLang="en-US" sz="400" dirty="0" smtClean="0"/>
          </a:p>
          <a:p>
            <a:pPr marL="1238250" lvl="2" indent="-323850">
              <a:lnSpc>
                <a:spcPct val="80000"/>
              </a:lnSpc>
            </a:pPr>
            <a:r>
              <a:rPr lang="en-ZA" altLang="en-US" sz="1900" dirty="0" smtClean="0"/>
              <a:t>The binding can happen only once (unlike a variable)</a:t>
            </a:r>
          </a:p>
          <a:p>
            <a:pPr marL="800100" lvl="1" indent="-342900">
              <a:lnSpc>
                <a:spcPct val="80000"/>
              </a:lnSpc>
              <a:buFontTx/>
              <a:buNone/>
            </a:pPr>
            <a:endParaRPr lang="en-ZA" altLang="en-US" sz="900" dirty="0" smtClean="0"/>
          </a:p>
          <a:p>
            <a:pPr marL="800100" lvl="1" indent="-342900">
              <a:lnSpc>
                <a:spcPct val="80000"/>
              </a:lnSpc>
              <a:buFontTx/>
              <a:buAutoNum type="arabicPeriod" startAt="2"/>
            </a:pPr>
            <a:r>
              <a:rPr lang="en-ZA" altLang="en-US" sz="2000" dirty="0" smtClean="0"/>
              <a:t>To bind names to functions</a:t>
            </a:r>
          </a:p>
          <a:p>
            <a:pPr marL="1238250" lvl="2" indent="-323850">
              <a:lnSpc>
                <a:spcPct val="80000"/>
              </a:lnSpc>
            </a:pPr>
            <a:r>
              <a:rPr lang="en-ZA" altLang="en-US" sz="1900" dirty="0" smtClean="0"/>
              <a:t>For example</a:t>
            </a:r>
          </a:p>
          <a:p>
            <a:pPr marL="381000" indent="-381000">
              <a:lnSpc>
                <a:spcPct val="80000"/>
              </a:lnSpc>
              <a:buFontTx/>
              <a:buNone/>
            </a:pPr>
            <a:r>
              <a:rPr lang="en-ZA" altLang="en-US" sz="2000" dirty="0" smtClean="0">
                <a:latin typeface="Courier New" panose="02070309020205020404" pitchFamily="49" charset="0"/>
              </a:rPr>
              <a:t>		    </a:t>
            </a:r>
            <a:r>
              <a:rPr lang="en-ZA" altLang="en-US" sz="1800" dirty="0" smtClean="0">
                <a:latin typeface="Courier New" panose="02070309020205020404" pitchFamily="49" charset="0"/>
              </a:rPr>
              <a:t>(define (square x) (* x x))</a:t>
            </a:r>
          </a:p>
          <a:p>
            <a:pPr marL="1238250" lvl="2" indent="-323850">
              <a:lnSpc>
                <a:spcPct val="80000"/>
              </a:lnSpc>
            </a:pPr>
            <a:endParaRPr lang="en-ZA" altLang="en-US" sz="400" dirty="0" smtClean="0"/>
          </a:p>
          <a:p>
            <a:pPr marL="1238250" lvl="2" indent="-323850">
              <a:lnSpc>
                <a:spcPct val="80000"/>
              </a:lnSpc>
            </a:pPr>
            <a:r>
              <a:rPr lang="en-ZA" altLang="en-US" sz="1900" dirty="0" smtClean="0"/>
              <a:t>We can now use the name in a function application</a:t>
            </a:r>
          </a:p>
          <a:p>
            <a:pPr marL="1238250" lvl="2" indent="-323850">
              <a:lnSpc>
                <a:spcPct val="80000"/>
              </a:lnSpc>
              <a:buFontTx/>
              <a:buNone/>
            </a:pPr>
            <a:r>
              <a:rPr lang="en-ZA" altLang="en-US" sz="1800" dirty="0" smtClean="0">
                <a:latin typeface="Courier New" panose="02070309020205020404" pitchFamily="49" charset="0"/>
              </a:rPr>
              <a:t>	  </a:t>
            </a:r>
            <a:r>
              <a:rPr lang="en-ZA" altLang="en-US" sz="1800" dirty="0" smtClean="0">
                <a:solidFill>
                  <a:srgbClr val="333399"/>
                </a:solidFill>
                <a:latin typeface="Courier New" panose="02070309020205020404" pitchFamily="49" charset="0"/>
              </a:rPr>
              <a:t>(square 5)</a:t>
            </a:r>
          </a:p>
          <a:p>
            <a:pPr marL="381000" indent="-381000">
              <a:lnSpc>
                <a:spcPct val="80000"/>
              </a:lnSpc>
            </a:pPr>
            <a:endParaRPr lang="en-ZA" altLang="en-US" sz="800" dirty="0" smtClean="0"/>
          </a:p>
          <a:p>
            <a:pPr marL="381000" indent="-381000">
              <a:lnSpc>
                <a:spcPct val="80000"/>
              </a:lnSpc>
            </a:pPr>
            <a:r>
              <a:rPr lang="en-ZA" altLang="en-US" sz="2400" dirty="0" smtClean="0"/>
              <a:t>The evaluation process for </a:t>
            </a:r>
            <a:r>
              <a:rPr lang="en-ZA" altLang="en-US" sz="2400" dirty="0" smtClean="0">
                <a:latin typeface="Courier New" panose="02070309020205020404" pitchFamily="49" charset="0"/>
              </a:rPr>
              <a:t>define</a:t>
            </a:r>
            <a:r>
              <a:rPr lang="en-ZA" altLang="en-US" sz="2400" dirty="0" smtClean="0"/>
              <a:t> is different!</a:t>
            </a:r>
          </a:p>
          <a:p>
            <a:pPr marL="800100" lvl="1" indent="-342900">
              <a:lnSpc>
                <a:spcPct val="80000"/>
              </a:lnSpc>
            </a:pPr>
            <a:r>
              <a:rPr lang="en-ZA" altLang="en-US" sz="2000" dirty="0" smtClean="0"/>
              <a:t>First parameter is not evaluated as a normal function would</a:t>
            </a:r>
          </a:p>
          <a:p>
            <a:pPr marL="800100" lvl="1" indent="-342900">
              <a:lnSpc>
                <a:spcPct val="80000"/>
              </a:lnSpc>
            </a:pPr>
            <a:r>
              <a:rPr lang="en-ZA" altLang="en-US" sz="2000" dirty="0" smtClean="0"/>
              <a:t>If it were evaluated, Scheme would find </a:t>
            </a:r>
            <a:r>
              <a:rPr lang="en-ZA" altLang="en-US" sz="2000" dirty="0" smtClean="0"/>
              <a:t>it was </a:t>
            </a:r>
            <a:r>
              <a:rPr lang="en-ZA" altLang="en-US" sz="2000" dirty="0" smtClean="0"/>
              <a:t>undefined</a:t>
            </a:r>
          </a:p>
          <a:p>
            <a:pPr marL="381000" indent="-381000">
              <a:lnSpc>
                <a:spcPct val="80000"/>
              </a:lnSpc>
            </a:pPr>
            <a:endParaRPr lang="en-GB" altLang="en-US" sz="2400" dirty="0" smtClean="0"/>
          </a:p>
        </p:txBody>
      </p:sp>
      <p:sp>
        <p:nvSpPr>
          <p:cNvPr id="28676" name="Footer Placeholder 3"/>
          <p:cNvSpPr txBox="1">
            <a:spLocks noGrp="1"/>
          </p:cNvSpPr>
          <p:nvPr/>
        </p:nvSpPr>
        <p:spPr bwMode="auto">
          <a:xfrm>
            <a:off x="685800" y="6248400"/>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a:solidFill>
                  <a:schemeClr val="tx1"/>
                </a:solidFill>
                <a:latin typeface="Arial" panose="020B0604020202020204" pitchFamily="34" charset="0"/>
              </a:rPr>
              <a:t>Copyright © </a:t>
            </a:r>
            <a:r>
              <a:rPr lang="en-US" altLang="en-US" sz="1000" dirty="0" smtClean="0">
                <a:solidFill>
                  <a:schemeClr val="tx1"/>
                </a:solidFill>
                <a:latin typeface="Arial" panose="020B0604020202020204" pitchFamily="34" charset="0"/>
              </a:rPr>
              <a:t>2023 </a:t>
            </a:r>
            <a:r>
              <a:rPr lang="en-US" altLang="en-US" sz="1000" dirty="0">
                <a:solidFill>
                  <a:schemeClr val="tx1"/>
                </a:solidFill>
                <a:latin typeface="Arial" panose="020B0604020202020204" pitchFamily="34" charset="0"/>
              </a:rPr>
              <a:t>Addison-Wesley. All rights reserved.</a:t>
            </a:r>
          </a:p>
        </p:txBody>
      </p:sp>
      <p:sp>
        <p:nvSpPr>
          <p:cNvPr id="28677" name="Slide Number Placeholder 4"/>
          <p:cNvSpPr txBox="1">
            <a:spLocks noGrp="1"/>
          </p:cNvSpPr>
          <p:nvPr/>
        </p:nvSpPr>
        <p:spPr bwMode="auto">
          <a:xfrm>
            <a:off x="6934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lgn="r">
              <a:spcBef>
                <a:spcPct val="0"/>
              </a:spcBef>
              <a:buFontTx/>
              <a:buNone/>
            </a:pPr>
            <a:r>
              <a:rPr lang="en-US" altLang="en-US" sz="1000">
                <a:solidFill>
                  <a:schemeClr val="tx1"/>
                </a:solidFill>
                <a:latin typeface="Arial" panose="020B0604020202020204" pitchFamily="34" charset="0"/>
              </a:rPr>
              <a:t>1-</a:t>
            </a:r>
            <a:fld id="{E137A83B-A733-48BC-94BE-3825F1215C2C}" type="slidenum">
              <a:rPr lang="en-US" altLang="en-US" sz="1000">
                <a:solidFill>
                  <a:schemeClr val="tx1"/>
                </a:solidFill>
                <a:latin typeface="Arial" panose="020B0604020202020204" pitchFamily="34" charset="0"/>
              </a:rPr>
              <a:pPr algn="r">
                <a:spcBef>
                  <a:spcPct val="0"/>
                </a:spcBef>
                <a:buFontTx/>
                <a:buNone/>
              </a:pPr>
              <a:t>14</a:t>
            </a:fld>
            <a:endParaRPr lang="en-US" altLang="en-US" sz="10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3072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C97B1BC-9A13-4AB4-B19E-B2942627EB24}"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30724" name="Rectangle 2"/>
          <p:cNvSpPr>
            <a:spLocks noGrp="1" noChangeArrowheads="1"/>
          </p:cNvSpPr>
          <p:nvPr>
            <p:ph type="title"/>
          </p:nvPr>
        </p:nvSpPr>
        <p:spPr/>
        <p:txBody>
          <a:bodyPr/>
          <a:lstStyle/>
          <a:p>
            <a:pPr eaLnBrk="1" hangingPunct="1"/>
            <a:r>
              <a:rPr lang="en-US" altLang="en-US" smtClean="0"/>
              <a:t>Output Functions</a:t>
            </a:r>
          </a:p>
        </p:txBody>
      </p:sp>
      <p:sp>
        <p:nvSpPr>
          <p:cNvPr id="30725" name="Rectangle 3"/>
          <p:cNvSpPr>
            <a:spLocks noGrp="1" noChangeArrowheads="1"/>
          </p:cNvSpPr>
          <p:nvPr>
            <p:ph type="body" idx="1"/>
          </p:nvPr>
        </p:nvSpPr>
        <p:spPr>
          <a:xfrm>
            <a:off x="630620" y="1340070"/>
            <a:ext cx="8153400" cy="4572000"/>
          </a:xfrm>
        </p:spPr>
        <p:txBody>
          <a:bodyPr/>
          <a:lstStyle/>
          <a:p>
            <a:pPr eaLnBrk="1" hangingPunct="1"/>
            <a:r>
              <a:rPr lang="en-US" altLang="en-US" sz="2400" dirty="0" smtClean="0"/>
              <a:t>To print an expression</a:t>
            </a:r>
          </a:p>
          <a:p>
            <a:pPr lvl="1" eaLnBrk="1" hangingPunct="1">
              <a:buFontTx/>
              <a:buNone/>
            </a:pPr>
            <a:r>
              <a:rPr lang="en-US" altLang="en-US" sz="2000" dirty="0" smtClean="0">
                <a:latin typeface="Courier New" panose="02070309020205020404" pitchFamily="49" charset="0"/>
              </a:rPr>
              <a:t>	(display expression)</a:t>
            </a:r>
          </a:p>
          <a:p>
            <a:pPr eaLnBrk="1" hangingPunct="1"/>
            <a:r>
              <a:rPr lang="en-US" altLang="en-US" sz="2400" dirty="0" smtClean="0"/>
              <a:t>To print a newline character</a:t>
            </a:r>
          </a:p>
          <a:p>
            <a:pPr lvl="1" eaLnBrk="1" hangingPunct="1">
              <a:buFontTx/>
              <a:buNone/>
            </a:pPr>
            <a:r>
              <a:rPr lang="en-US" altLang="en-US" sz="2000" dirty="0" smtClean="0">
                <a:latin typeface="Courier New" panose="02070309020205020404" pitchFamily="49" charset="0"/>
              </a:rPr>
              <a:t>	(newline)</a:t>
            </a:r>
          </a:p>
          <a:p>
            <a:pPr eaLnBrk="1" hangingPunct="1"/>
            <a:r>
              <a:rPr lang="en-US" altLang="en-US" sz="2400" dirty="0" smtClean="0"/>
              <a:t>Generally, however, output functions aren’t used</a:t>
            </a:r>
          </a:p>
          <a:p>
            <a:pPr lvl="1" eaLnBrk="1" hangingPunct="1"/>
            <a:r>
              <a:rPr lang="en-US" altLang="en-US" sz="2000" dirty="0"/>
              <a:t>P</a:t>
            </a:r>
            <a:r>
              <a:rPr lang="en-US" altLang="en-US" sz="2000" dirty="0" smtClean="0"/>
              <a:t>rograms simply use the interpreter’s normal output</a:t>
            </a:r>
          </a:p>
          <a:p>
            <a:pPr lvl="1" eaLnBrk="1" hangingPunct="1"/>
            <a:r>
              <a:rPr lang="en-US" altLang="en-US" sz="2000" dirty="0" smtClean="0"/>
              <a:t>Any top-level (not nested) function result is printed</a:t>
            </a:r>
          </a:p>
          <a:p>
            <a:pPr eaLnBrk="1" hangingPunct="1"/>
            <a:r>
              <a:rPr lang="en-US" altLang="en-US" sz="2400" dirty="0" smtClean="0"/>
              <a:t>Explicit input and output are not part of pure FP</a:t>
            </a:r>
          </a:p>
          <a:p>
            <a:pPr lvl="1" eaLnBrk="1" hangingPunct="1"/>
            <a:r>
              <a:rPr lang="en-US" altLang="en-US" sz="2000" dirty="0" smtClean="0"/>
              <a:t>Input operations change the state of the program</a:t>
            </a:r>
          </a:p>
          <a:p>
            <a:pPr lvl="1" eaLnBrk="1" hangingPunct="1"/>
            <a:r>
              <a:rPr lang="en-US" altLang="en-US" sz="2000" dirty="0" smtClean="0"/>
              <a:t>Output operations are side effects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327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7E2A572-3AC7-4B42-BA9B-841FD440B634}" type="slidenum">
              <a:rPr lang="en-US" altLang="en-US" sz="1000" smtClean="0">
                <a:solidFill>
                  <a:schemeClr val="tx1"/>
                </a:solidFill>
                <a:latin typeface="Arial" panose="020B0604020202020204" pitchFamily="34" charset="0"/>
              </a:rPr>
              <a:pPr>
                <a:spcBef>
                  <a:spcPct val="0"/>
                </a:spcBef>
                <a:buFontTx/>
                <a:buNone/>
              </a:pPr>
              <a:t>16</a:t>
            </a:fld>
            <a:endParaRPr lang="en-US" altLang="en-US" sz="1000" smtClean="0">
              <a:solidFill>
                <a:schemeClr val="tx1"/>
              </a:solidFill>
              <a:latin typeface="Arial" panose="020B0604020202020204" pitchFamily="34" charset="0"/>
            </a:endParaRPr>
          </a:p>
        </p:txBody>
      </p:sp>
      <p:sp>
        <p:nvSpPr>
          <p:cNvPr id="32772" name="Rectangle 2"/>
          <p:cNvSpPr>
            <a:spLocks noGrp="1" noChangeArrowheads="1"/>
          </p:cNvSpPr>
          <p:nvPr>
            <p:ph type="title"/>
          </p:nvPr>
        </p:nvSpPr>
        <p:spPr/>
        <p:txBody>
          <a:bodyPr/>
          <a:lstStyle/>
          <a:p>
            <a:pPr eaLnBrk="1" hangingPunct="1"/>
            <a:r>
              <a:rPr lang="en-US" altLang="en-US" smtClean="0"/>
              <a:t>Numeric Predicate Functions</a:t>
            </a:r>
          </a:p>
        </p:txBody>
      </p:sp>
      <p:sp>
        <p:nvSpPr>
          <p:cNvPr id="21509" name="Rectangle 3"/>
          <p:cNvSpPr>
            <a:spLocks noGrp="1" noChangeArrowheads="1"/>
          </p:cNvSpPr>
          <p:nvPr>
            <p:ph type="body" idx="1"/>
          </p:nvPr>
        </p:nvSpPr>
        <p:spPr>
          <a:xfrm>
            <a:off x="630620" y="1340070"/>
            <a:ext cx="8153400" cy="4572000"/>
          </a:xfrm>
        </p:spPr>
        <p:txBody>
          <a:bodyPr/>
          <a:lstStyle/>
          <a:p>
            <a:pPr eaLnBrk="1" hangingPunct="1">
              <a:defRPr/>
            </a:pPr>
            <a:r>
              <a:rPr lang="en-US" altLang="en-US" sz="2400" dirty="0" smtClean="0"/>
              <a:t>Predicate function</a:t>
            </a:r>
          </a:p>
          <a:p>
            <a:pPr lvl="1" eaLnBrk="1" hangingPunct="1">
              <a:defRPr/>
            </a:pPr>
            <a:r>
              <a:rPr lang="en-US" altLang="en-US" sz="2000" dirty="0" smtClean="0"/>
              <a:t>A function that defines a Boolean value</a:t>
            </a:r>
          </a:p>
          <a:p>
            <a:pPr lvl="1" eaLnBrk="1" hangingPunct="1">
              <a:defRPr/>
            </a:pPr>
            <a:r>
              <a:rPr lang="en-US" altLang="en-US" sz="1800" dirty="0" smtClean="0">
                <a:latin typeface="+mj-lt"/>
              </a:rPr>
              <a:t>The value </a:t>
            </a:r>
            <a:r>
              <a:rPr lang="en-US" altLang="en-US" sz="1800" dirty="0" smtClean="0">
                <a:latin typeface="Courier New" panose="02070309020205020404" pitchFamily="49" charset="0"/>
              </a:rPr>
              <a:t>#t</a:t>
            </a:r>
            <a:r>
              <a:rPr lang="en-US" altLang="en-US" sz="2000" dirty="0" smtClean="0"/>
              <a:t> is true, the value </a:t>
            </a:r>
            <a:r>
              <a:rPr lang="en-US" altLang="en-US" sz="1800" dirty="0" smtClean="0">
                <a:latin typeface="Courier New" panose="02070309020205020404" pitchFamily="49" charset="0"/>
              </a:rPr>
              <a:t>#f</a:t>
            </a:r>
            <a:r>
              <a:rPr lang="en-US" altLang="en-US" sz="2000" dirty="0" smtClean="0">
                <a:latin typeface="Courier New" panose="02070309020205020404" pitchFamily="49" charset="0"/>
              </a:rPr>
              <a:t> </a:t>
            </a:r>
            <a:r>
              <a:rPr lang="en-US" altLang="en-US" sz="2000" dirty="0" smtClean="0"/>
              <a:t>is false</a:t>
            </a:r>
          </a:p>
          <a:p>
            <a:pPr lvl="1" eaLnBrk="1" hangingPunct="1">
              <a:defRPr/>
            </a:pPr>
            <a:r>
              <a:rPr lang="en-US" altLang="en-US" sz="2000" dirty="0" smtClean="0"/>
              <a:t>Sometimes </a:t>
            </a:r>
            <a:r>
              <a:rPr lang="en-US" altLang="en-US" sz="1800" dirty="0" smtClean="0">
                <a:latin typeface="Courier New" panose="02070309020205020404" pitchFamily="49" charset="0"/>
              </a:rPr>
              <a:t>()</a:t>
            </a:r>
            <a:r>
              <a:rPr lang="en-US" altLang="en-US" sz="2000" dirty="0" smtClean="0"/>
              <a:t> is used for </a:t>
            </a:r>
            <a:r>
              <a:rPr lang="en-US" altLang="en-US" sz="1800" dirty="0" smtClean="0">
                <a:latin typeface="Courier New" panose="02070309020205020404" pitchFamily="49" charset="0"/>
              </a:rPr>
              <a:t>#f</a:t>
            </a:r>
          </a:p>
          <a:p>
            <a:pPr lvl="1" eaLnBrk="1" hangingPunct="1">
              <a:defRPr/>
            </a:pPr>
            <a:r>
              <a:rPr lang="en-US" altLang="en-US" sz="2000" dirty="0" smtClean="0"/>
              <a:t>Any non-null list is interpreted as </a:t>
            </a:r>
            <a:r>
              <a:rPr lang="en-US" altLang="en-US" sz="1800" dirty="0" smtClean="0">
                <a:latin typeface="Courier New" panose="02070309020205020404" pitchFamily="49" charset="0"/>
              </a:rPr>
              <a:t>#t</a:t>
            </a:r>
          </a:p>
          <a:p>
            <a:pPr eaLnBrk="1" hangingPunct="1">
              <a:defRPr/>
            </a:pPr>
            <a:endParaRPr lang="en-US" altLang="en-US" sz="400" dirty="0" smtClean="0"/>
          </a:p>
          <a:p>
            <a:pPr eaLnBrk="1" hangingPunct="1">
              <a:defRPr/>
            </a:pPr>
            <a:r>
              <a:rPr lang="en-US" altLang="en-US" sz="2400" dirty="0" smtClean="0"/>
              <a:t>Predefined predicate functions for numbers</a:t>
            </a:r>
          </a:p>
          <a:p>
            <a:pPr lvl="1" eaLnBrk="1" hangingPunct="1">
              <a:defRPr/>
            </a:pPr>
            <a:r>
              <a:rPr lang="en-US" altLang="en-US" sz="2000" dirty="0" smtClean="0"/>
              <a:t>For multiple parameters</a:t>
            </a:r>
            <a:endParaRPr lang="en-US" altLang="en-US" sz="2000" dirty="0">
              <a:latin typeface="Courier New" panose="02070309020205020404" pitchFamily="49" charset="0"/>
            </a:endParaRPr>
          </a:p>
          <a:p>
            <a:pPr lvl="2" eaLnBrk="1" hangingPunct="1">
              <a:defRPr/>
            </a:pPr>
            <a:r>
              <a:rPr lang="en-US" altLang="en-US" sz="1700" dirty="0"/>
              <a:t>We’ll use</a:t>
            </a:r>
            <a:r>
              <a:rPr lang="en-US" altLang="en-US" sz="1700" dirty="0">
                <a:latin typeface="Courier New" panose="02070309020205020404" pitchFamily="49" charset="0"/>
              </a:rPr>
              <a:t> </a:t>
            </a:r>
            <a:r>
              <a:rPr lang="en-US" altLang="en-US" sz="1700" dirty="0" smtClean="0">
                <a:latin typeface="+mj-lt"/>
              </a:rPr>
              <a:t>‎</a:t>
            </a:r>
            <a:r>
              <a:rPr lang="en-US" altLang="en-US" sz="1700" dirty="0" smtClean="0">
                <a:latin typeface="Courier New" panose="02070309020205020404" pitchFamily="49" charset="0"/>
              </a:rPr>
              <a:t>=</a:t>
            </a:r>
            <a:r>
              <a:rPr lang="en-US" altLang="en-US" sz="1700" dirty="0" smtClean="0"/>
              <a:t>,</a:t>
            </a:r>
            <a:r>
              <a:rPr lang="en-US" altLang="en-US" sz="1700" dirty="0" smtClean="0">
                <a:latin typeface="Courier New" panose="02070309020205020404" pitchFamily="49" charset="0"/>
              </a:rPr>
              <a:t> </a:t>
            </a:r>
            <a:r>
              <a:rPr lang="en-US" altLang="en-US" sz="1700" dirty="0" smtClean="0">
                <a:latin typeface="Courier New" panose="02070309020205020404" pitchFamily="49" charset="0"/>
              </a:rPr>
              <a:t>&gt;</a:t>
            </a:r>
            <a:r>
              <a:rPr lang="en-US" altLang="en-US" sz="1700" dirty="0" smtClean="0"/>
              <a:t>,</a:t>
            </a:r>
            <a:r>
              <a:rPr lang="en-US" altLang="en-US" sz="1700" dirty="0" smtClean="0">
                <a:latin typeface="Courier New" panose="02070309020205020404" pitchFamily="49" charset="0"/>
              </a:rPr>
              <a:t> &lt;</a:t>
            </a:r>
            <a:r>
              <a:rPr lang="en-US" altLang="en-US" sz="1700" dirty="0" smtClean="0"/>
              <a:t>,</a:t>
            </a:r>
            <a:r>
              <a:rPr lang="en-US" altLang="en-US" sz="1700" dirty="0" smtClean="0">
                <a:latin typeface="Courier New" panose="02070309020205020404" pitchFamily="49" charset="0"/>
              </a:rPr>
              <a:t> &gt;=</a:t>
            </a:r>
            <a:r>
              <a:rPr lang="en-US" altLang="en-US" sz="1700" dirty="0" smtClean="0"/>
              <a:t>, and</a:t>
            </a:r>
            <a:r>
              <a:rPr lang="en-US" altLang="en-US" sz="1700" dirty="0" smtClean="0">
                <a:latin typeface="Courier New" panose="02070309020205020404" pitchFamily="49" charset="0"/>
              </a:rPr>
              <a:t> &lt;=</a:t>
            </a:r>
          </a:p>
          <a:p>
            <a:pPr lvl="1" eaLnBrk="1" hangingPunct="1">
              <a:defRPr/>
            </a:pPr>
            <a:r>
              <a:rPr lang="en-US" altLang="en-US" sz="2000" dirty="0" smtClean="0"/>
              <a:t>Single value tests</a:t>
            </a:r>
          </a:p>
          <a:p>
            <a:pPr lvl="2" eaLnBrk="1" hangingPunct="1">
              <a:defRPr/>
            </a:pPr>
            <a:r>
              <a:rPr lang="en-US" altLang="en-US" sz="1700" dirty="0"/>
              <a:t>We’ll use</a:t>
            </a:r>
            <a:r>
              <a:rPr lang="en-US" altLang="en-US" sz="1700" dirty="0">
                <a:latin typeface="Courier New" panose="02070309020205020404" pitchFamily="49" charset="0"/>
              </a:rPr>
              <a:t> </a:t>
            </a:r>
            <a:r>
              <a:rPr lang="en-US" altLang="en-US" sz="1700" dirty="0" smtClean="0">
                <a:latin typeface="+mj-lt"/>
              </a:rPr>
              <a:t>‎</a:t>
            </a:r>
            <a:r>
              <a:rPr lang="en-US" altLang="en-US" sz="1700" dirty="0" smtClean="0">
                <a:latin typeface="Courier New" panose="02070309020205020404" pitchFamily="49" charset="0"/>
              </a:rPr>
              <a:t>even?</a:t>
            </a:r>
            <a:r>
              <a:rPr lang="en-US" altLang="en-US" sz="1700" dirty="0" smtClean="0"/>
              <a:t>,</a:t>
            </a:r>
            <a:r>
              <a:rPr lang="en-US" altLang="en-US" sz="1700" dirty="0" smtClean="0">
                <a:latin typeface="Courier New" panose="02070309020205020404" pitchFamily="49" charset="0"/>
              </a:rPr>
              <a:t> odd?</a:t>
            </a:r>
            <a:r>
              <a:rPr lang="en-US" altLang="en-US" sz="1700" dirty="0" smtClean="0"/>
              <a:t>,</a:t>
            </a:r>
            <a:r>
              <a:rPr lang="en-US" altLang="en-US" sz="1700" dirty="0" smtClean="0">
                <a:latin typeface="Courier New" panose="02070309020205020404" pitchFamily="49" charset="0"/>
              </a:rPr>
              <a:t> zero?</a:t>
            </a:r>
            <a:r>
              <a:rPr lang="en-US" altLang="en-US" sz="1700" dirty="0" smtClean="0"/>
              <a:t>,</a:t>
            </a:r>
            <a:r>
              <a:rPr lang="en-US" altLang="en-US" sz="1700" dirty="0" smtClean="0">
                <a:latin typeface="Courier New" panose="02070309020205020404" pitchFamily="49" charset="0"/>
              </a:rPr>
              <a:t> negative?, positive?</a:t>
            </a:r>
            <a:endParaRPr lang="en-US" altLang="en-US" sz="1700" dirty="0" smtClean="0"/>
          </a:p>
          <a:p>
            <a:pPr eaLnBrk="1" hangingPunct="1">
              <a:defRPr/>
            </a:pPr>
            <a:r>
              <a:rPr lang="en-US" altLang="en-US" sz="2400" dirty="0" smtClean="0"/>
              <a:t>The </a:t>
            </a:r>
            <a:r>
              <a:rPr lang="en-US" altLang="en-US" sz="2400" dirty="0" smtClean="0">
                <a:latin typeface="Courier New" panose="02070309020205020404" pitchFamily="49" charset="0"/>
              </a:rPr>
              <a:t>not</a:t>
            </a:r>
            <a:r>
              <a:rPr lang="en-US" altLang="en-US" sz="2400" dirty="0" smtClean="0"/>
              <a:t> function is applied to a Boolean parameter</a:t>
            </a:r>
          </a:p>
          <a:p>
            <a:pPr lvl="1" eaLnBrk="1" hangingPunct="1">
              <a:defRPr/>
            </a:pPr>
            <a:r>
              <a:rPr lang="en-US" altLang="en-US" sz="2000" dirty="0"/>
              <a:t>I</a:t>
            </a:r>
            <a:r>
              <a:rPr lang="en-US" altLang="en-US" sz="2000" dirty="0" smtClean="0"/>
              <a:t>nverts the logic of a Boolean expression</a:t>
            </a:r>
          </a:p>
        </p:txBody>
      </p:sp>
    </p:spTree>
    <p:extLst>
      <p:ext uri="{BB962C8B-B14F-4D97-AF65-F5344CB8AC3E}">
        <p14:creationId xmlns:p14="http://schemas.microsoft.com/office/powerpoint/2010/main" val="3270268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3481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BC6599E-AC0E-4C2A-83C0-76111E355672}" type="slidenum">
              <a:rPr lang="en-US" altLang="en-US" sz="1000" smtClean="0">
                <a:solidFill>
                  <a:schemeClr val="tx1"/>
                </a:solidFill>
                <a:latin typeface="Arial" panose="020B0604020202020204" pitchFamily="34" charset="0"/>
              </a:rPr>
              <a:pPr>
                <a:spcBef>
                  <a:spcPct val="0"/>
                </a:spcBef>
                <a:buFontTx/>
                <a:buNone/>
              </a:pPr>
              <a:t>17</a:t>
            </a:fld>
            <a:endParaRPr lang="en-US" altLang="en-US" sz="1000" smtClean="0">
              <a:solidFill>
                <a:schemeClr val="tx1"/>
              </a:solidFill>
              <a:latin typeface="Arial" panose="020B0604020202020204" pitchFamily="34" charset="0"/>
            </a:endParaRPr>
          </a:p>
        </p:txBody>
      </p:sp>
      <p:sp>
        <p:nvSpPr>
          <p:cNvPr id="34820" name="Rectangle 2"/>
          <p:cNvSpPr>
            <a:spLocks noGrp="1" noChangeArrowheads="1"/>
          </p:cNvSpPr>
          <p:nvPr>
            <p:ph type="title"/>
          </p:nvPr>
        </p:nvSpPr>
        <p:spPr/>
        <p:txBody>
          <a:bodyPr/>
          <a:lstStyle/>
          <a:p>
            <a:pPr eaLnBrk="1" hangingPunct="1"/>
            <a:r>
              <a:rPr lang="en-US" altLang="en-US" dirty="0" smtClean="0"/>
              <a:t>Control Flow: </a:t>
            </a:r>
            <a:r>
              <a:rPr lang="en-US" altLang="en-US" dirty="0" smtClean="0">
                <a:latin typeface="Courier New" panose="02070309020205020404" pitchFamily="49" charset="0"/>
              </a:rPr>
              <a:t>if</a:t>
            </a:r>
            <a:r>
              <a:rPr lang="en-US" altLang="en-US" dirty="0"/>
              <a:t> </a:t>
            </a:r>
            <a:r>
              <a:rPr lang="en-US" altLang="en-US" dirty="0" smtClean="0"/>
              <a:t>function</a:t>
            </a:r>
            <a:endParaRPr lang="en-US" altLang="en-US" dirty="0" smtClean="0">
              <a:latin typeface="Courier New" panose="02070309020205020404" pitchFamily="49" charset="0"/>
            </a:endParaRPr>
          </a:p>
        </p:txBody>
      </p:sp>
      <p:sp>
        <p:nvSpPr>
          <p:cNvPr id="34821" name="Rectangle 3"/>
          <p:cNvSpPr>
            <a:spLocks noGrp="1" noChangeArrowheads="1"/>
          </p:cNvSpPr>
          <p:nvPr>
            <p:ph type="body" idx="1"/>
          </p:nvPr>
        </p:nvSpPr>
        <p:spPr>
          <a:xfrm>
            <a:off x="630620" y="1340070"/>
            <a:ext cx="8153400" cy="4800600"/>
          </a:xfrm>
        </p:spPr>
        <p:txBody>
          <a:bodyPr/>
          <a:lstStyle/>
          <a:p>
            <a:pPr eaLnBrk="1" hangingPunct="1"/>
            <a:r>
              <a:rPr lang="en-US" altLang="en-US" sz="2400" dirty="0" smtClean="0"/>
              <a:t>Two-way selector, with the following general form</a:t>
            </a:r>
            <a:endParaRPr lang="en-US" altLang="en-US" sz="2400" dirty="0" smtClean="0">
              <a:latin typeface="Courier New" panose="02070309020205020404" pitchFamily="49" charset="0"/>
            </a:endParaRPr>
          </a:p>
          <a:p>
            <a:pPr eaLnBrk="1" hangingPunct="1">
              <a:buFontTx/>
              <a:buNone/>
            </a:pPr>
            <a:r>
              <a:rPr lang="en-US" altLang="en-US" sz="2000" b="1" dirty="0">
                <a:latin typeface="Courier New" panose="02070309020205020404" pitchFamily="49" charset="0"/>
              </a:rPr>
              <a:t> </a:t>
            </a:r>
            <a:r>
              <a:rPr lang="en-US" altLang="en-US" sz="2000" b="1" dirty="0" smtClean="0">
                <a:latin typeface="Courier New" panose="02070309020205020404" pitchFamily="49" charset="0"/>
              </a:rPr>
              <a:t>   </a:t>
            </a:r>
            <a:r>
              <a:rPr lang="en-US" altLang="en-US" sz="2000" dirty="0" smtClean="0">
                <a:latin typeface="Courier New" panose="02070309020205020404" pitchFamily="49" charset="0"/>
              </a:rPr>
              <a:t>(if predicate </a:t>
            </a:r>
            <a:r>
              <a:rPr lang="en-US" altLang="en-US" sz="2000" dirty="0" err="1" smtClean="0">
                <a:latin typeface="Courier New" panose="02070309020205020404" pitchFamily="49" charset="0"/>
              </a:rPr>
              <a:t>then_exp</a:t>
            </a: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else_exp</a:t>
            </a:r>
            <a:r>
              <a:rPr lang="en-US" altLang="en-US" sz="2000" dirty="0" smtClean="0">
                <a:latin typeface="Courier New" panose="02070309020205020404" pitchFamily="49" charset="0"/>
              </a:rPr>
              <a:t>)</a:t>
            </a:r>
          </a:p>
          <a:p>
            <a:pPr eaLnBrk="1" hangingPunct="1"/>
            <a:endParaRPr lang="en-US" altLang="en-US" sz="500" dirty="0" smtClean="0"/>
          </a:p>
          <a:p>
            <a:pPr eaLnBrk="1" hangingPunct="1"/>
            <a:r>
              <a:rPr lang="en-US" altLang="en-US" sz="2400" dirty="0" smtClean="0"/>
              <a:t>For example</a:t>
            </a:r>
          </a:p>
          <a:p>
            <a:pPr eaLnBrk="1" hangingPunct="1">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(define (divide </a:t>
            </a:r>
            <a:r>
              <a:rPr lang="en-US" altLang="en-US" sz="2000" dirty="0" err="1" smtClean="0">
                <a:latin typeface="Courier New" panose="02070309020205020404" pitchFamily="49" charset="0"/>
              </a:rPr>
              <a:t>numer</a:t>
            </a: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denom</a:t>
            </a:r>
            <a:r>
              <a:rPr lang="en-US" altLang="en-US" sz="2000" dirty="0" smtClean="0">
                <a:latin typeface="Courier New" panose="02070309020205020404" pitchFamily="49" charset="0"/>
              </a:rPr>
              <a:t>)</a:t>
            </a:r>
          </a:p>
          <a:p>
            <a:pPr eaLnBrk="1" hangingPunct="1">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a:t>
            </a:r>
            <a:r>
              <a:rPr lang="en-US" altLang="en-US" sz="2000" dirty="0" smtClean="0">
                <a:latin typeface="Courier New" panose="02070309020205020404" pitchFamily="49" charset="0"/>
              </a:rPr>
              <a:t> (</a:t>
            </a:r>
            <a:r>
              <a:rPr lang="en-US" altLang="en-US" sz="2000" dirty="0" smtClean="0">
                <a:latin typeface="Courier New" panose="02070309020205020404" pitchFamily="49" charset="0"/>
              </a:rPr>
              <a:t>if </a:t>
            </a: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denom</a:t>
            </a:r>
            <a:r>
              <a:rPr lang="en-US" altLang="en-US" sz="2000" dirty="0" smtClean="0">
                <a:latin typeface="Courier New" panose="02070309020205020404" pitchFamily="49" charset="0"/>
              </a:rPr>
              <a:t> 0)</a:t>
            </a:r>
          </a:p>
          <a:p>
            <a:pPr eaLnBrk="1" hangingPunct="1">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a:t>
            </a:r>
            <a:r>
              <a:rPr lang="en-US" altLang="en-US" sz="2000" dirty="0" smtClean="0">
                <a:latin typeface="Courier New" panose="02070309020205020404" pitchFamily="49" charset="0"/>
              </a:rPr>
              <a:t>    0</a:t>
            </a:r>
          </a:p>
          <a:p>
            <a:pPr eaLnBrk="1" hangingPunct="1">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a:t>
            </a: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numer</a:t>
            </a: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denom</a:t>
            </a:r>
            <a:r>
              <a:rPr lang="en-US" altLang="en-US" sz="2000" dirty="0" smtClean="0">
                <a:latin typeface="Courier New" panose="02070309020205020404" pitchFamily="49" charset="0"/>
              </a:rPr>
              <a:t>)</a:t>
            </a:r>
          </a:p>
          <a:p>
            <a:pPr eaLnBrk="1" hangingPunct="1">
              <a:buFontTx/>
              <a:buNone/>
            </a:pPr>
            <a:r>
              <a:rPr lang="en-US" altLang="en-US" sz="2000" dirty="0" smtClean="0">
                <a:latin typeface="Courier New" panose="02070309020205020404" pitchFamily="49" charset="0"/>
              </a:rPr>
              <a:t>       )</a:t>
            </a:r>
          </a:p>
          <a:p>
            <a:pPr eaLnBrk="1" hangingPunct="1">
              <a:buFontTx/>
              <a:buNone/>
            </a:pPr>
            <a:r>
              <a:rPr lang="en-US" altLang="en-US" sz="2000" dirty="0" smtClean="0">
                <a:latin typeface="Courier New" panose="02070309020205020404" pitchFamily="49" charset="0"/>
              </a:rPr>
              <a:t>    </a:t>
            </a:r>
            <a:r>
              <a:rPr lang="en-US" altLang="en-US" sz="2000" dirty="0" smtClean="0">
                <a:latin typeface="Courier New" panose="02070309020205020404" pitchFamily="49" charset="0"/>
              </a:rPr>
              <a:t>)</a:t>
            </a:r>
          </a:p>
          <a:p>
            <a:pPr eaLnBrk="1" hangingPunct="1">
              <a:buFontTx/>
              <a:buNone/>
            </a:pPr>
            <a:endParaRPr lang="en-US" altLang="en-US" sz="2000" dirty="0">
              <a:latin typeface="Courier New" panose="02070309020205020404" pitchFamily="49" charset="0"/>
            </a:endParaRPr>
          </a:p>
          <a:p>
            <a:pPr eaLnBrk="1" hangingPunct="1">
              <a:buFontTx/>
              <a:buNone/>
            </a:pPr>
            <a:r>
              <a:rPr lang="en-US" altLang="en-US" sz="2000" dirty="0" smtClean="0">
                <a:latin typeface="Courier New" panose="02070309020205020404" pitchFamily="49" charset="0"/>
              </a:rPr>
              <a:t>    (divide 1.0 2.0)</a:t>
            </a:r>
          </a:p>
          <a:p>
            <a:pPr eaLnBrk="1" hangingPunct="1">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(divide 5.0 0.0)</a:t>
            </a:r>
          </a:p>
        </p:txBody>
      </p:sp>
    </p:spTree>
    <p:extLst>
      <p:ext uri="{BB962C8B-B14F-4D97-AF65-F5344CB8AC3E}">
        <p14:creationId xmlns:p14="http://schemas.microsoft.com/office/powerpoint/2010/main" val="29212417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3686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99FA1E6-FB98-48AE-98C2-86289E7D0E2E}" type="slidenum">
              <a:rPr lang="en-US" altLang="en-US" sz="1000" smtClean="0">
                <a:solidFill>
                  <a:schemeClr val="tx1"/>
                </a:solidFill>
                <a:latin typeface="Arial" panose="020B0604020202020204" pitchFamily="34" charset="0"/>
              </a:rPr>
              <a:pPr>
                <a:spcBef>
                  <a:spcPct val="0"/>
                </a:spcBef>
                <a:buFontTx/>
                <a:buNone/>
              </a:pPr>
              <a:t>18</a:t>
            </a:fld>
            <a:endParaRPr lang="en-US" altLang="en-US" sz="1000" smtClean="0">
              <a:solidFill>
                <a:schemeClr val="tx1"/>
              </a:solidFill>
              <a:latin typeface="Arial" panose="020B0604020202020204" pitchFamily="34" charset="0"/>
            </a:endParaRPr>
          </a:p>
        </p:txBody>
      </p:sp>
      <p:sp>
        <p:nvSpPr>
          <p:cNvPr id="36868" name="Rectangle 2"/>
          <p:cNvSpPr>
            <a:spLocks noGrp="1" noChangeArrowheads="1"/>
          </p:cNvSpPr>
          <p:nvPr>
            <p:ph type="title"/>
          </p:nvPr>
        </p:nvSpPr>
        <p:spPr/>
        <p:txBody>
          <a:bodyPr/>
          <a:lstStyle/>
          <a:p>
            <a:pPr eaLnBrk="1" hangingPunct="1"/>
            <a:r>
              <a:rPr lang="en-US" altLang="en-US" dirty="0" smtClean="0"/>
              <a:t>Control Flow: </a:t>
            </a:r>
            <a:r>
              <a:rPr lang="en-US" altLang="en-US" dirty="0" err="1" smtClean="0">
                <a:latin typeface="Courier New" panose="02070309020205020404" pitchFamily="49" charset="0"/>
              </a:rPr>
              <a:t>cond</a:t>
            </a:r>
            <a:r>
              <a:rPr lang="en-US" altLang="en-US" dirty="0"/>
              <a:t> </a:t>
            </a:r>
            <a:r>
              <a:rPr lang="en-US" altLang="en-US" dirty="0" smtClean="0"/>
              <a:t>function</a:t>
            </a:r>
            <a:endParaRPr lang="en-US" altLang="en-US" dirty="0" smtClean="0">
              <a:latin typeface="Courier New" panose="02070309020205020404" pitchFamily="49" charset="0"/>
            </a:endParaRPr>
          </a:p>
        </p:txBody>
      </p:sp>
      <p:sp>
        <p:nvSpPr>
          <p:cNvPr id="36869" name="Rectangle 3"/>
          <p:cNvSpPr>
            <a:spLocks noGrp="1" noChangeArrowheads="1"/>
          </p:cNvSpPr>
          <p:nvPr>
            <p:ph type="body" idx="1"/>
          </p:nvPr>
        </p:nvSpPr>
        <p:spPr>
          <a:xfrm>
            <a:off x="630620" y="1371600"/>
            <a:ext cx="8153400" cy="4876800"/>
          </a:xfrm>
        </p:spPr>
        <p:txBody>
          <a:bodyPr/>
          <a:lstStyle/>
          <a:p>
            <a:pPr eaLnBrk="1" hangingPunct="1">
              <a:lnSpc>
                <a:spcPct val="90000"/>
              </a:lnSpc>
            </a:pPr>
            <a:r>
              <a:rPr lang="en-US" altLang="en-US" sz="2400" dirty="0" smtClean="0"/>
              <a:t>Multiple selector, with the following general form</a:t>
            </a:r>
          </a:p>
          <a:p>
            <a:pPr marL="0" indent="0" eaLnBrk="1" hangingPunct="1">
              <a:lnSpc>
                <a:spcPct val="90000"/>
              </a:lnSpc>
              <a:buNone/>
            </a:pPr>
            <a:endParaRPr lang="en-US" altLang="en-US" sz="500" dirty="0" smtClean="0">
              <a:latin typeface="Courier New" panose="02070309020205020404" pitchFamily="49" charset="0"/>
            </a:endParaRPr>
          </a:p>
          <a:p>
            <a:pPr eaLnBrk="1" hangingPunct="1">
              <a:lnSpc>
                <a:spcPct val="90000"/>
              </a:lnSpc>
              <a:buFontTx/>
              <a:buNone/>
            </a:pP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cond</a:t>
            </a:r>
            <a:endParaRPr lang="en-US" altLang="en-US" sz="2000" dirty="0" smtClean="0">
              <a:latin typeface="Courier New" panose="02070309020205020404" pitchFamily="49" charset="0"/>
            </a:endParaRPr>
          </a:p>
          <a:p>
            <a:pPr eaLnBrk="1" hangingPunct="1">
              <a:lnSpc>
                <a:spcPct val="90000"/>
              </a:lnSpc>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(predicate_1  expression)</a:t>
            </a:r>
          </a:p>
          <a:p>
            <a:pPr eaLnBrk="1" hangingPunct="1">
              <a:lnSpc>
                <a:spcPct val="90000"/>
              </a:lnSpc>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(predicate_2  expression)</a:t>
            </a:r>
          </a:p>
          <a:p>
            <a:pPr eaLnBrk="1" hangingPunct="1">
              <a:lnSpc>
                <a:spcPct val="90000"/>
              </a:lnSpc>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a:t>
            </a:r>
          </a:p>
          <a:p>
            <a:pPr eaLnBrk="1" hangingPunct="1">
              <a:lnSpc>
                <a:spcPct val="90000"/>
              </a:lnSpc>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predicate_n</a:t>
            </a:r>
            <a:r>
              <a:rPr lang="en-US" altLang="en-US" sz="2000" dirty="0" smtClean="0">
                <a:latin typeface="Courier New" panose="02070309020205020404" pitchFamily="49" charset="0"/>
              </a:rPr>
              <a:t>  expression)</a:t>
            </a:r>
          </a:p>
          <a:p>
            <a:pPr eaLnBrk="1" hangingPunct="1">
              <a:lnSpc>
                <a:spcPct val="90000"/>
              </a:lnSpc>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(else expression)</a:t>
            </a:r>
          </a:p>
          <a:p>
            <a:pPr eaLnBrk="1" hangingPunct="1">
              <a:lnSpc>
                <a:spcPct val="90000"/>
              </a:lnSpc>
              <a:buFontTx/>
              <a:buNone/>
            </a:pPr>
            <a:r>
              <a:rPr lang="en-US" altLang="en-US" sz="2000" dirty="0">
                <a:latin typeface="Courier New" panose="02070309020205020404" pitchFamily="49" charset="0"/>
              </a:rPr>
              <a:t> </a:t>
            </a:r>
            <a:r>
              <a:rPr lang="en-US" altLang="en-US" sz="2000" dirty="0" smtClean="0">
                <a:latin typeface="Courier New" panose="02070309020205020404" pitchFamily="49" charset="0"/>
              </a:rPr>
              <a:t>   )</a:t>
            </a:r>
          </a:p>
          <a:p>
            <a:pPr eaLnBrk="1" hangingPunct="1">
              <a:lnSpc>
                <a:spcPct val="90000"/>
              </a:lnSpc>
            </a:pPr>
            <a:endParaRPr lang="en-US" altLang="en-US" sz="700" dirty="0" smtClean="0"/>
          </a:p>
          <a:p>
            <a:pPr eaLnBrk="1" hangingPunct="1">
              <a:lnSpc>
                <a:spcPct val="90000"/>
              </a:lnSpc>
            </a:pPr>
            <a:r>
              <a:rPr lang="en-US" altLang="en-US" sz="2400" dirty="0" smtClean="0"/>
              <a:t>Evaluates to the value of the expression for the first predicate that evaluates to true</a:t>
            </a:r>
          </a:p>
          <a:p>
            <a:pPr eaLnBrk="1" hangingPunct="1">
              <a:lnSpc>
                <a:spcPct val="90000"/>
              </a:lnSpc>
            </a:pPr>
            <a:r>
              <a:rPr lang="en-US" altLang="en-US" sz="2400" dirty="0" smtClean="0"/>
              <a:t>If no predicate is true</a:t>
            </a:r>
          </a:p>
          <a:p>
            <a:pPr lvl="1" eaLnBrk="1" hangingPunct="1">
              <a:lnSpc>
                <a:spcPct val="90000"/>
              </a:lnSpc>
            </a:pPr>
            <a:r>
              <a:rPr lang="en-US" altLang="en-US" sz="2000" dirty="0" smtClean="0"/>
              <a:t>Evaluates to the optional </a:t>
            </a:r>
            <a:r>
              <a:rPr lang="en-US" altLang="en-US" sz="1800" dirty="0" smtClean="0">
                <a:latin typeface="Courier New" panose="02070309020205020404" pitchFamily="49" charset="0"/>
              </a:rPr>
              <a:t>else</a:t>
            </a:r>
            <a:r>
              <a:rPr lang="en-US" altLang="en-US" sz="2000" dirty="0" smtClean="0"/>
              <a:t> expression</a:t>
            </a:r>
          </a:p>
          <a:p>
            <a:pPr lvl="1" eaLnBrk="1" hangingPunct="1">
              <a:lnSpc>
                <a:spcPct val="90000"/>
              </a:lnSpc>
            </a:pPr>
            <a:r>
              <a:rPr lang="en-US" altLang="en-US" sz="2000" dirty="0" smtClean="0"/>
              <a:t>Evaluation is unspecified if no </a:t>
            </a:r>
            <a:r>
              <a:rPr lang="en-US" altLang="en-US" sz="1800" dirty="0" smtClean="0">
                <a:latin typeface="Courier New" panose="02070309020205020404" pitchFamily="49" charset="0"/>
              </a:rPr>
              <a:t>else</a:t>
            </a:r>
            <a:r>
              <a:rPr lang="en-US" altLang="en-US" sz="2000" dirty="0" smtClean="0"/>
              <a:t> is provided</a:t>
            </a:r>
          </a:p>
        </p:txBody>
      </p:sp>
    </p:spTree>
    <p:extLst>
      <p:ext uri="{BB962C8B-B14F-4D97-AF65-F5344CB8AC3E}">
        <p14:creationId xmlns:p14="http://schemas.microsoft.com/office/powerpoint/2010/main" val="4608555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3686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99FA1E6-FB98-48AE-98C2-86289E7D0E2E}" type="slidenum">
              <a:rPr lang="en-US" altLang="en-US" sz="1000" smtClean="0">
                <a:solidFill>
                  <a:schemeClr val="tx1"/>
                </a:solidFill>
                <a:latin typeface="Arial" panose="020B0604020202020204" pitchFamily="34" charset="0"/>
              </a:rPr>
              <a:pPr>
                <a:spcBef>
                  <a:spcPct val="0"/>
                </a:spcBef>
                <a:buFontTx/>
                <a:buNone/>
              </a:pPr>
              <a:t>19</a:t>
            </a:fld>
            <a:endParaRPr lang="en-US" altLang="en-US" sz="1000" smtClean="0">
              <a:solidFill>
                <a:schemeClr val="tx1"/>
              </a:solidFill>
              <a:latin typeface="Arial" panose="020B0604020202020204" pitchFamily="34" charset="0"/>
            </a:endParaRPr>
          </a:p>
        </p:txBody>
      </p:sp>
      <p:sp>
        <p:nvSpPr>
          <p:cNvPr id="36868" name="Rectangle 2"/>
          <p:cNvSpPr>
            <a:spLocks noGrp="1" noChangeArrowheads="1"/>
          </p:cNvSpPr>
          <p:nvPr>
            <p:ph type="title"/>
          </p:nvPr>
        </p:nvSpPr>
        <p:spPr/>
        <p:txBody>
          <a:bodyPr/>
          <a:lstStyle/>
          <a:p>
            <a:pPr eaLnBrk="1" hangingPunct="1"/>
            <a:r>
              <a:rPr lang="en-US" altLang="en-US" dirty="0" smtClean="0"/>
              <a:t>Control Flow: Repetition</a:t>
            </a:r>
            <a:endParaRPr lang="en-US" altLang="en-US" dirty="0" smtClean="0">
              <a:latin typeface="Courier New" panose="02070309020205020404" pitchFamily="49" charset="0"/>
            </a:endParaRPr>
          </a:p>
        </p:txBody>
      </p:sp>
      <p:sp>
        <p:nvSpPr>
          <p:cNvPr id="36869" name="Rectangle 3"/>
          <p:cNvSpPr>
            <a:spLocks noGrp="1" noChangeArrowheads="1"/>
          </p:cNvSpPr>
          <p:nvPr>
            <p:ph type="body" idx="1"/>
          </p:nvPr>
        </p:nvSpPr>
        <p:spPr>
          <a:xfrm>
            <a:off x="630620" y="1371600"/>
            <a:ext cx="8153400" cy="4876800"/>
          </a:xfrm>
        </p:spPr>
        <p:txBody>
          <a:bodyPr/>
          <a:lstStyle/>
          <a:p>
            <a:pPr eaLnBrk="1" hangingPunct="1">
              <a:lnSpc>
                <a:spcPct val="90000"/>
              </a:lnSpc>
            </a:pPr>
            <a:r>
              <a:rPr lang="en-US" altLang="en-US" sz="2400" dirty="0" smtClean="0"/>
              <a:t>How do we handle repetition in Scheme?</a:t>
            </a:r>
          </a:p>
          <a:p>
            <a:pPr lvl="1" eaLnBrk="1" hangingPunct="1">
              <a:lnSpc>
                <a:spcPct val="90000"/>
              </a:lnSpc>
            </a:pPr>
            <a:r>
              <a:rPr lang="en-US" altLang="en-US" sz="2000" dirty="0" smtClean="0"/>
              <a:t>Scheme is a pure functional programming language</a:t>
            </a:r>
          </a:p>
          <a:p>
            <a:pPr lvl="2" eaLnBrk="1" hangingPunct="1">
              <a:lnSpc>
                <a:spcPct val="90000"/>
              </a:lnSpc>
            </a:pPr>
            <a:r>
              <a:rPr lang="en-US" altLang="en-US" sz="1700" dirty="0" smtClean="0"/>
              <a:t>There are no variables</a:t>
            </a:r>
          </a:p>
          <a:p>
            <a:pPr lvl="2" eaLnBrk="1" hangingPunct="1">
              <a:lnSpc>
                <a:spcPct val="90000"/>
              </a:lnSpc>
            </a:pPr>
            <a:r>
              <a:rPr lang="en-US" altLang="en-US" sz="1700" dirty="0" smtClean="0"/>
              <a:t>Therefore no loop control variables or loops</a:t>
            </a:r>
          </a:p>
          <a:p>
            <a:pPr lvl="1" eaLnBrk="1" hangingPunct="1">
              <a:lnSpc>
                <a:spcPct val="90000"/>
              </a:lnSpc>
            </a:pPr>
            <a:r>
              <a:rPr lang="en-US" altLang="en-US" sz="2000" dirty="0" smtClean="0"/>
              <a:t>All repetition is handled through </a:t>
            </a:r>
            <a:r>
              <a:rPr lang="en-US" altLang="en-US" sz="2000" u="sng" dirty="0" smtClean="0"/>
              <a:t>recursion</a:t>
            </a:r>
          </a:p>
        </p:txBody>
      </p:sp>
    </p:spTree>
    <p:extLst>
      <p:ext uri="{BB962C8B-B14F-4D97-AF65-F5344CB8AC3E}">
        <p14:creationId xmlns:p14="http://schemas.microsoft.com/office/powerpoint/2010/main" val="1041387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18867</TotalTime>
  <Words>2216</Words>
  <Application>Microsoft Office PowerPoint</Application>
  <PresentationFormat>On-screen Show (4:3)</PresentationFormat>
  <Paragraphs>307</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Courier</vt:lpstr>
      <vt:lpstr>Courier New</vt:lpstr>
      <vt:lpstr>Lucida Sans Unicode</vt:lpstr>
      <vt:lpstr>Times</vt:lpstr>
      <vt:lpstr>1_sebesta</vt:lpstr>
      <vt:lpstr>Chapter 15 Part 1</vt:lpstr>
      <vt:lpstr>Chapter 15 Topics</vt:lpstr>
      <vt:lpstr>Introduction</vt:lpstr>
      <vt:lpstr>Mathematical Functions</vt:lpstr>
      <vt:lpstr>Mathematical Functions</vt:lpstr>
      <vt:lpstr>Mathematical Functions</vt:lpstr>
      <vt:lpstr>Mathematical Functions</vt:lpstr>
      <vt:lpstr>Fundamentals of Functional Programming Languages</vt:lpstr>
      <vt:lpstr>Origins of Scheme</vt:lpstr>
      <vt:lpstr>Scheme Data Objects &amp; Structures</vt:lpstr>
      <vt:lpstr>The Scheme Interpreter</vt:lpstr>
      <vt:lpstr>Function Evaluation</vt:lpstr>
      <vt:lpstr>Primitive Numeric Functions</vt:lpstr>
      <vt:lpstr>Defining Functions</vt:lpstr>
      <vt:lpstr>Output Functions</vt:lpstr>
      <vt:lpstr>Numeric Predicate Functions</vt:lpstr>
      <vt:lpstr>Control Flow: if function</vt:lpstr>
      <vt:lpstr>Control Flow: cond function</vt:lpstr>
      <vt:lpstr>Control Flow: Repetition</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449</cp:revision>
  <dcterms:created xsi:type="dcterms:W3CDTF">2003-08-01T12:29:19Z</dcterms:created>
  <dcterms:modified xsi:type="dcterms:W3CDTF">2026-03-05T13:30:26Z</dcterms:modified>
</cp:coreProperties>
</file>