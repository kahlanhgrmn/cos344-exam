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52" r:id="rId1"/>
  </p:sldMasterIdLst>
  <p:notesMasterIdLst>
    <p:notesMasterId r:id="rId17"/>
  </p:notesMasterIdLst>
  <p:sldIdLst>
    <p:sldId id="393" r:id="rId2"/>
    <p:sldId id="257" r:id="rId3"/>
    <p:sldId id="366" r:id="rId4"/>
    <p:sldId id="368" r:id="rId5"/>
    <p:sldId id="273" r:id="rId6"/>
    <p:sldId id="390" r:id="rId7"/>
    <p:sldId id="370" r:id="rId8"/>
    <p:sldId id="325" r:id="rId9"/>
    <p:sldId id="369" r:id="rId10"/>
    <p:sldId id="391" r:id="rId11"/>
    <p:sldId id="392" r:id="rId12"/>
    <p:sldId id="371" r:id="rId13"/>
    <p:sldId id="394" r:id="rId14"/>
    <p:sldId id="395" r:id="rId15"/>
    <p:sldId id="396" r:id="rId16"/>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2860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7432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2004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6576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99"/>
    <a:srgbClr val="666699"/>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743" autoAdjust="0"/>
    <p:restoredTop sz="86424" autoAdjust="0"/>
  </p:normalViewPr>
  <p:slideViewPr>
    <p:cSldViewPr>
      <p:cViewPr varScale="1">
        <p:scale>
          <a:sx n="73" d="100"/>
          <a:sy n="73" d="100"/>
        </p:scale>
        <p:origin x="1109"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54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mn-ea"/>
                <a:cs typeface="+mn-cs"/>
              </a:defRPr>
            </a:lvl1pPr>
          </a:lstStyle>
          <a:p>
            <a:pPr>
              <a:defRPr/>
            </a:pPr>
            <a:endParaRPr lang="en-US"/>
          </a:p>
        </p:txBody>
      </p:sp>
      <p:sp>
        <p:nvSpPr>
          <p:cNvPr id="409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mn-ea"/>
                <a:cs typeface="+mn-cs"/>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mn-ea"/>
                <a:cs typeface="+mn-cs"/>
              </a:defRPr>
            </a:lvl1pPr>
          </a:lstStyle>
          <a:p>
            <a:pPr>
              <a:defRPr/>
            </a:pPr>
            <a:endParaRPr lang="en-US"/>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ea typeface="Lucida Sans Unicode" panose="020B0602030504020204" pitchFamily="34" charset="0"/>
                <a:cs typeface="Lucida Sans Unicode" panose="020B0602030504020204" pitchFamily="34" charset="0"/>
              </a:defRPr>
            </a:lvl1pPr>
          </a:lstStyle>
          <a:p>
            <a:pPr>
              <a:defRPr/>
            </a:pPr>
            <a:fld id="{E870BC5F-F1FA-4E63-AAF5-2484B49BAB8D}" type="slidenum">
              <a:rPr lang="en-US" altLang="en-US"/>
              <a:pPr>
                <a:defRPr/>
              </a:pPr>
              <a:t>‹#›</a:t>
            </a:fld>
            <a:endParaRPr lang="en-US" altLang="en-US"/>
          </a:p>
        </p:txBody>
      </p:sp>
    </p:spTree>
    <p:extLst>
      <p:ext uri="{BB962C8B-B14F-4D97-AF65-F5344CB8AC3E}">
        <p14:creationId xmlns:p14="http://schemas.microsoft.com/office/powerpoint/2010/main" val="357588634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10095BF5-4AD6-463F-BFFB-74C71C30254D}" type="slidenum">
              <a:rPr lang="en-US" altLang="en-US" sz="1200" smtClean="0"/>
              <a:pPr/>
              <a:t>1</a:t>
            </a:fld>
            <a:endParaRPr lang="en-US" altLang="en-US" sz="1200" smtClean="0"/>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dirty="0" smtClean="0"/>
          </a:p>
        </p:txBody>
      </p:sp>
    </p:spTree>
    <p:extLst>
      <p:ext uri="{BB962C8B-B14F-4D97-AF65-F5344CB8AC3E}">
        <p14:creationId xmlns:p14="http://schemas.microsoft.com/office/powerpoint/2010/main" val="3967900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620B71E4-D86A-470A-B958-326C1BF58D6C}" type="slidenum">
              <a:rPr lang="en-US" altLang="en-US" sz="1200" smtClean="0"/>
              <a:pPr/>
              <a:t>2</a:t>
            </a:fld>
            <a:endParaRPr lang="en-US" altLang="en-US" sz="1200" smtClean="0"/>
          </a:p>
        </p:txBody>
      </p:sp>
      <p:sp>
        <p:nvSpPr>
          <p:cNvPr id="7171" name="Rectangle 2"/>
          <p:cNvSpPr>
            <a:spLocks noGrp="1" noRot="1" noChangeAspect="1" noChangeArrowheads="1" noTextEdit="1"/>
          </p:cNvSpPr>
          <p:nvPr>
            <p:ph type="sldImg"/>
          </p:nvPr>
        </p:nvSpPr>
        <p:spPr>
          <a:ln/>
        </p:spPr>
      </p:sp>
      <p:sp>
        <p:nvSpPr>
          <p:cNvPr id="71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2807248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ZA" altLang="en-US" dirty="0" smtClean="0"/>
              <a:t>List functions are discussed in Section 6.9 of the textbook.</a:t>
            </a:r>
          </a:p>
          <a:p>
            <a:endParaRPr lang="en-ZA" altLang="en-US" dirty="0" smtClean="0"/>
          </a:p>
          <a:p>
            <a:r>
              <a:rPr lang="en-ZA" altLang="en-US" dirty="0" smtClean="0"/>
              <a:t>In the example, </a:t>
            </a:r>
            <a:r>
              <a:rPr lang="en-US" altLang="en-US" dirty="0" smtClean="0">
                <a:latin typeface="Courier New" panose="02070309020205020404" pitchFamily="49" charset="0"/>
              </a:rPr>
              <a:t>(foo (quote </a:t>
            </a:r>
            <a:r>
              <a:rPr lang="en-US" altLang="en-US" dirty="0" smtClean="0">
                <a:latin typeface="Courier New" panose="02070309020205020404" pitchFamily="49" charset="0"/>
              </a:rPr>
              <a:t>(a b c))), </a:t>
            </a:r>
            <a:r>
              <a:rPr lang="en-US" altLang="en-US" dirty="0" smtClean="0">
                <a:latin typeface="Courier New" panose="02070309020205020404" pitchFamily="49" charset="0"/>
              </a:rPr>
              <a:t>the function named foo is applied to one parameter (a list containing the atoms </a:t>
            </a:r>
            <a:r>
              <a:rPr lang="en-US" altLang="en-US" dirty="0" smtClean="0">
                <a:latin typeface="Courier New" panose="02070309020205020404" pitchFamily="49" charset="0"/>
              </a:rPr>
              <a:t>a, b, </a:t>
            </a:r>
            <a:r>
              <a:rPr lang="en-US" altLang="en-US" dirty="0" smtClean="0">
                <a:latin typeface="Courier New" panose="02070309020205020404" pitchFamily="49" charset="0"/>
              </a:rPr>
              <a:t>and </a:t>
            </a:r>
            <a:r>
              <a:rPr lang="en-US" altLang="en-US" dirty="0" smtClean="0">
                <a:latin typeface="Courier New" panose="02070309020205020404" pitchFamily="49" charset="0"/>
              </a:rPr>
              <a:t>c). </a:t>
            </a:r>
            <a:r>
              <a:rPr lang="en-US" altLang="en-US" dirty="0" smtClean="0">
                <a:latin typeface="Courier New" panose="02070309020205020404" pitchFamily="49" charset="0"/>
              </a:rPr>
              <a:t>We prefer using (foo </a:t>
            </a:r>
            <a:r>
              <a:rPr lang="en-US" altLang="en-US" dirty="0" smtClean="0">
                <a:latin typeface="Courier New" panose="02070309020205020404" pitchFamily="49" charset="0"/>
              </a:rPr>
              <a:t>‘(a b c)) </a:t>
            </a:r>
            <a:r>
              <a:rPr lang="en-US" altLang="en-US" dirty="0" smtClean="0">
                <a:latin typeface="Courier New" panose="02070309020205020404" pitchFamily="49" charset="0"/>
              </a:rPr>
              <a:t>instead, because it is easier to read and less typing.</a:t>
            </a:r>
          </a:p>
          <a:p>
            <a:endParaRPr lang="en-US" altLang="en-US" dirty="0" smtClean="0">
              <a:latin typeface="Courier New" panose="02070309020205020404" pitchFamily="49" charset="0"/>
            </a:endParaRPr>
          </a:p>
          <a:p>
            <a:r>
              <a:rPr lang="en-US" altLang="en-US" dirty="0" smtClean="0">
                <a:latin typeface="Courier New" panose="02070309020205020404" pitchFamily="49" charset="0"/>
              </a:rPr>
              <a:t>In the example, (foo </a:t>
            </a:r>
            <a:r>
              <a:rPr lang="en-US" altLang="en-US" dirty="0" smtClean="0">
                <a:latin typeface="Courier New" panose="02070309020205020404" pitchFamily="49" charset="0"/>
              </a:rPr>
              <a:t>(a b c)), </a:t>
            </a:r>
            <a:r>
              <a:rPr lang="en-US" altLang="en-US" dirty="0" smtClean="0">
                <a:latin typeface="Courier New" panose="02070309020205020404" pitchFamily="49" charset="0"/>
              </a:rPr>
              <a:t>we are first applying the function named </a:t>
            </a:r>
            <a:r>
              <a:rPr lang="en-US" altLang="en-US" dirty="0" smtClean="0">
                <a:latin typeface="Courier New" panose="02070309020205020404" pitchFamily="49" charset="0"/>
              </a:rPr>
              <a:t>a </a:t>
            </a:r>
            <a:r>
              <a:rPr lang="en-US" altLang="en-US" dirty="0" smtClean="0">
                <a:latin typeface="Courier New" panose="02070309020205020404" pitchFamily="49" charset="0"/>
              </a:rPr>
              <a:t>to the parameters </a:t>
            </a:r>
            <a:r>
              <a:rPr lang="en-US" altLang="en-US" dirty="0" smtClean="0">
                <a:latin typeface="Courier New" panose="02070309020205020404" pitchFamily="49" charset="0"/>
              </a:rPr>
              <a:t>b </a:t>
            </a:r>
            <a:r>
              <a:rPr lang="en-US" altLang="en-US" dirty="0" smtClean="0">
                <a:latin typeface="Courier New" panose="02070309020205020404" pitchFamily="49" charset="0"/>
              </a:rPr>
              <a:t>and </a:t>
            </a:r>
            <a:r>
              <a:rPr lang="en-US" altLang="en-US" dirty="0" smtClean="0">
                <a:latin typeface="Courier New" panose="02070309020205020404" pitchFamily="49" charset="0"/>
              </a:rPr>
              <a:t>c, </a:t>
            </a:r>
            <a:r>
              <a:rPr lang="en-US" altLang="en-US" dirty="0" smtClean="0">
                <a:latin typeface="Courier New" panose="02070309020205020404" pitchFamily="49" charset="0"/>
              </a:rPr>
              <a:t>getting the result, and then applying the function named foo to the result. If there is no function named </a:t>
            </a:r>
            <a:r>
              <a:rPr lang="en-US" altLang="en-US" dirty="0" smtClean="0">
                <a:latin typeface="Courier New" panose="02070309020205020404" pitchFamily="49" charset="0"/>
              </a:rPr>
              <a:t>a, </a:t>
            </a:r>
            <a:r>
              <a:rPr lang="en-US" altLang="en-US" dirty="0" smtClean="0">
                <a:latin typeface="Courier New" panose="02070309020205020404" pitchFamily="49" charset="0"/>
              </a:rPr>
              <a:t>the interpreter will give you an error.</a:t>
            </a:r>
          </a:p>
          <a:p>
            <a:endParaRPr lang="en-US" altLang="en-US" dirty="0" smtClean="0">
              <a:latin typeface="Courier New" panose="02070309020205020404" pitchFamily="49" charset="0"/>
            </a:endParaRPr>
          </a:p>
          <a:p>
            <a:r>
              <a:rPr lang="en-US" altLang="en-US" dirty="0" smtClean="0">
                <a:latin typeface="Courier New" panose="02070309020205020404" pitchFamily="49" charset="0"/>
              </a:rPr>
              <a:t>What this implies is that a quote must be included whenever a list is used as a parameter.</a:t>
            </a:r>
            <a:endParaRPr lang="en-ZA" altLang="en-US" dirty="0" smtClean="0"/>
          </a:p>
        </p:txBody>
      </p:sp>
      <p:sp>
        <p:nvSpPr>
          <p:cNvPr id="399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47048BD6-FEE6-46DC-876A-6996E42BF5B9}" type="slidenum">
              <a:rPr lang="en-US" altLang="en-US" sz="1200" smtClean="0"/>
              <a:pPr/>
              <a:t>3</a:t>
            </a:fld>
            <a:endParaRPr lang="en-US" altLang="en-US" sz="1200" smtClean="0"/>
          </a:p>
        </p:txBody>
      </p:sp>
    </p:spTree>
    <p:extLst>
      <p:ext uri="{BB962C8B-B14F-4D97-AF65-F5344CB8AC3E}">
        <p14:creationId xmlns:p14="http://schemas.microsoft.com/office/powerpoint/2010/main" val="9172508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DBFA1851-F7F2-4A18-9E10-A224AD908396}" type="slidenum">
              <a:rPr lang="en-US" altLang="en-US" sz="1300" smtClean="0"/>
              <a:pPr/>
              <a:t>4</a:t>
            </a:fld>
            <a:endParaRPr lang="en-US" altLang="en-US" sz="1300" smtClean="0"/>
          </a:p>
        </p:txBody>
      </p:sp>
      <p:sp>
        <p:nvSpPr>
          <p:cNvPr id="41987" name="Rectangle 2"/>
          <p:cNvSpPr>
            <a:spLocks noGrp="1" noRot="1" noChangeAspect="1" noChangeArrowheads="1" noTextEdit="1"/>
          </p:cNvSpPr>
          <p:nvPr>
            <p:ph type="sldImg"/>
          </p:nvPr>
        </p:nvSpPr>
        <p:spPr>
          <a:xfrm>
            <a:off x="992188" y="768350"/>
            <a:ext cx="5114925" cy="3836988"/>
          </a:xfrm>
          <a:ln/>
        </p:spPr>
      </p:sp>
      <p:sp>
        <p:nvSpPr>
          <p:cNvPr id="41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en-US" dirty="0" smtClean="0"/>
              <a:t>Note how single symbolic atoms must also be quoted when they’re used as parameters. Without the quote, Scheme will interpret them as names. Therefore, </a:t>
            </a:r>
            <a:r>
              <a:rPr lang="en-US" altLang="en-US" dirty="0" smtClean="0"/>
              <a:t>a </a:t>
            </a:r>
            <a:r>
              <a:rPr lang="en-US" altLang="en-US" dirty="0" smtClean="0"/>
              <a:t>is interpreted as the name </a:t>
            </a:r>
            <a:r>
              <a:rPr lang="en-US" altLang="en-US" dirty="0" smtClean="0"/>
              <a:t>a, </a:t>
            </a:r>
            <a:r>
              <a:rPr lang="en-US" altLang="en-US" dirty="0" smtClean="0"/>
              <a:t>while </a:t>
            </a:r>
            <a:r>
              <a:rPr lang="en-US" altLang="en-US" dirty="0" smtClean="0"/>
              <a:t>‘a </a:t>
            </a:r>
            <a:r>
              <a:rPr lang="en-US" altLang="en-US" dirty="0" smtClean="0"/>
              <a:t>is interpreted as</a:t>
            </a:r>
            <a:r>
              <a:rPr lang="en-US" altLang="en-US" baseline="0" dirty="0" smtClean="0"/>
              <a:t> a symbolic atom </a:t>
            </a:r>
            <a:r>
              <a:rPr lang="en-US" altLang="en-US" baseline="0" dirty="0" smtClean="0"/>
              <a:t>a. </a:t>
            </a:r>
            <a:r>
              <a:rPr lang="en-GB" altLang="en-US" dirty="0" smtClean="0"/>
              <a:t>The atoms in quoted lists (in this</a:t>
            </a:r>
            <a:r>
              <a:rPr lang="en-GB" altLang="en-US" baseline="0" dirty="0" smtClean="0"/>
              <a:t> example, </a:t>
            </a:r>
            <a:r>
              <a:rPr lang="en-GB" altLang="en-US" baseline="0" dirty="0" smtClean="0"/>
              <a:t>c </a:t>
            </a:r>
            <a:r>
              <a:rPr lang="en-GB" altLang="en-US" baseline="0" dirty="0" smtClean="0"/>
              <a:t>and </a:t>
            </a:r>
            <a:r>
              <a:rPr lang="en-GB" altLang="en-US" baseline="0" dirty="0" smtClean="0"/>
              <a:t>d</a:t>
            </a:r>
            <a:r>
              <a:rPr lang="en-GB" altLang="en-US" dirty="0" smtClean="0"/>
              <a:t>) </a:t>
            </a:r>
            <a:r>
              <a:rPr lang="en-GB" altLang="en-US" dirty="0" smtClean="0"/>
              <a:t>aren’t quoted, because the lists aren’t being interpreted as functions.</a:t>
            </a:r>
          </a:p>
          <a:p>
            <a:pPr eaLnBrk="1" hangingPunct="1"/>
            <a:endParaRPr lang="en-GB" altLang="en-US" dirty="0" smtClean="0"/>
          </a:p>
          <a:p>
            <a:pPr eaLnBrk="1" hangingPunct="1"/>
            <a:r>
              <a:rPr lang="en-GB" altLang="en-US" dirty="0" smtClean="0"/>
              <a:t>The parameters of list are inserted without modification into the returned list. Therefore:</a:t>
            </a:r>
          </a:p>
          <a:p>
            <a:pPr eaLnBrk="1" hangingPunct="1"/>
            <a:endParaRPr lang="en-GB" altLang="en-US" dirty="0" smtClean="0"/>
          </a:p>
          <a:p>
            <a:pPr eaLnBrk="1" hangingPunct="1"/>
            <a:r>
              <a:rPr lang="en-GB" altLang="en-US" dirty="0" smtClean="0"/>
              <a:t>(list </a:t>
            </a:r>
            <a:r>
              <a:rPr lang="en-GB" altLang="en-US" dirty="0" smtClean="0"/>
              <a:t>‘(a) ‘(b) ‘(c)) </a:t>
            </a:r>
            <a:r>
              <a:rPr lang="en-GB" altLang="en-US" dirty="0" smtClean="0"/>
              <a:t>yields </a:t>
            </a:r>
            <a:r>
              <a:rPr lang="en-GB" altLang="en-US" dirty="0" smtClean="0"/>
              <a:t>((a) (b) (c))</a:t>
            </a:r>
            <a:endParaRPr lang="en-GB" altLang="en-US" dirty="0" smtClean="0"/>
          </a:p>
          <a:p>
            <a:pPr eaLnBrk="1" hangingPunct="1"/>
            <a:r>
              <a:rPr lang="en-GB" altLang="en-US" dirty="0" smtClean="0"/>
              <a:t>(list </a:t>
            </a:r>
            <a:r>
              <a:rPr lang="en-GB" altLang="en-US" dirty="0" smtClean="0"/>
              <a:t>‘(a) ‘b ‘c) </a:t>
            </a:r>
            <a:r>
              <a:rPr lang="en-GB" altLang="en-US" dirty="0" smtClean="0"/>
              <a:t>yields </a:t>
            </a:r>
            <a:r>
              <a:rPr lang="en-GB" altLang="en-US" dirty="0" smtClean="0"/>
              <a:t>((a) b c)</a:t>
            </a:r>
            <a:endParaRPr lang="en-GB" altLang="en-US" dirty="0" smtClean="0"/>
          </a:p>
          <a:p>
            <a:pPr eaLnBrk="1" hangingPunct="1"/>
            <a:r>
              <a:rPr lang="en-GB" altLang="en-US" dirty="0" smtClean="0"/>
              <a:t>(list </a:t>
            </a:r>
            <a:r>
              <a:rPr lang="en-GB" altLang="en-US" dirty="0" smtClean="0"/>
              <a:t>‘(a)) </a:t>
            </a:r>
            <a:r>
              <a:rPr lang="en-GB" altLang="en-US" dirty="0" smtClean="0"/>
              <a:t>yields </a:t>
            </a:r>
            <a:r>
              <a:rPr lang="en-GB" altLang="en-US" dirty="0" smtClean="0"/>
              <a:t>((a))</a:t>
            </a:r>
            <a:endParaRPr lang="en-GB" altLang="en-US" dirty="0" smtClean="0"/>
          </a:p>
        </p:txBody>
      </p:sp>
    </p:spTree>
    <p:extLst>
      <p:ext uri="{BB962C8B-B14F-4D97-AF65-F5344CB8AC3E}">
        <p14:creationId xmlns:p14="http://schemas.microsoft.com/office/powerpoint/2010/main" val="26987326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0EE35AE5-599C-40B8-B4F2-64519FEBDD38}" type="slidenum">
              <a:rPr lang="en-US" altLang="en-US" sz="1200" smtClean="0"/>
              <a:pPr/>
              <a:t>5</a:t>
            </a:fld>
            <a:endParaRPr lang="en-US" altLang="en-US" sz="1200" smtClean="0"/>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smtClean="0"/>
              <a:t>Lists in Scheme are immutable. This means that functions producing lists as a result generate a new list (in other words, a </a:t>
            </a:r>
            <a:r>
              <a:rPr lang="en-US" altLang="en-US" dirty="0" err="1" smtClean="0"/>
              <a:t>cdr</a:t>
            </a:r>
            <a:r>
              <a:rPr lang="en-US" altLang="en-US" dirty="0" smtClean="0"/>
              <a:t> produces a new list, not a pointer or reference into the parameter list).</a:t>
            </a:r>
          </a:p>
          <a:p>
            <a:endParaRPr lang="en-US" altLang="en-US" dirty="0" smtClean="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dirty="0" smtClean="0"/>
              <a:t>Note, in particular, that the result of a</a:t>
            </a:r>
            <a:r>
              <a:rPr lang="en-US" altLang="en-US" baseline="0" dirty="0" smtClean="0"/>
              <a:t> </a:t>
            </a:r>
            <a:r>
              <a:rPr lang="en-US" altLang="en-US" baseline="0" dirty="0" err="1" smtClean="0"/>
              <a:t>cdr</a:t>
            </a:r>
            <a:r>
              <a:rPr lang="en-US" altLang="en-US" baseline="0" dirty="0" smtClean="0"/>
              <a:t> on a list containing a single element is an empty list.</a:t>
            </a:r>
            <a:r>
              <a:rPr lang="en-US" altLang="en-US" dirty="0" smtClean="0"/>
              <a:t> It helps if you think about lists as containers for elements, where the last element is implicitly an empty list. This idea is often used as a base case in a recursive function, to determine when the end of the list has been reached.</a:t>
            </a:r>
          </a:p>
        </p:txBody>
      </p:sp>
    </p:spTree>
    <p:extLst>
      <p:ext uri="{BB962C8B-B14F-4D97-AF65-F5344CB8AC3E}">
        <p14:creationId xmlns:p14="http://schemas.microsoft.com/office/powerpoint/2010/main" val="37981558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0EE35AE5-599C-40B8-B4F2-64519FEBDD38}" type="slidenum">
              <a:rPr lang="en-US" altLang="en-US" sz="1200" smtClean="0"/>
              <a:pPr/>
              <a:t>6</a:t>
            </a:fld>
            <a:endParaRPr lang="en-US" altLang="en-US" sz="1200" smtClean="0"/>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baseline="0" dirty="0" smtClean="0"/>
              <a:t>L</a:t>
            </a:r>
            <a:r>
              <a:rPr lang="en-US" altLang="en-US" dirty="0" smtClean="0"/>
              <a:t>ists in Scheme are immutable. This means that </a:t>
            </a:r>
            <a:r>
              <a:rPr lang="en-US" altLang="en-US" dirty="0" smtClean="0"/>
              <a:t>cons </a:t>
            </a:r>
            <a:r>
              <a:rPr lang="en-US" altLang="en-US" dirty="0" smtClean="0"/>
              <a:t>does not modify any parameters, but produces a new list.</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en-US" dirty="0" smtClean="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dirty="0" smtClean="0"/>
              <a:t>If the second parameter of a cons is an empty list, the result is simply the first parameter placed inside a list. So the result of (cons </a:t>
            </a:r>
            <a:r>
              <a:rPr lang="en-US" altLang="en-US" dirty="0" smtClean="0"/>
              <a:t>‘a </a:t>
            </a:r>
            <a:r>
              <a:rPr lang="en-US" altLang="en-US" dirty="0" smtClean="0"/>
              <a:t>‘()) is </a:t>
            </a:r>
            <a:r>
              <a:rPr lang="en-US" altLang="en-US" dirty="0" smtClean="0"/>
              <a:t>(a), </a:t>
            </a:r>
            <a:r>
              <a:rPr lang="en-US" altLang="en-US" dirty="0" smtClean="0"/>
              <a:t>while the result of (cons </a:t>
            </a:r>
            <a:r>
              <a:rPr lang="en-US" altLang="en-US" dirty="0" smtClean="0"/>
              <a:t>‘(a b) </a:t>
            </a:r>
            <a:r>
              <a:rPr lang="en-US" altLang="en-US" dirty="0" smtClean="0"/>
              <a:t>‘()) is </a:t>
            </a:r>
            <a:r>
              <a:rPr lang="en-US" altLang="en-US" dirty="0" smtClean="0"/>
              <a:t>((a b)).</a:t>
            </a:r>
            <a:endParaRPr lang="en-US" altLang="en-US" dirty="0" smtClean="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en-US" dirty="0" smtClean="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dirty="0" smtClean="0"/>
              <a:t>If the last parameter of cons is a single element, you get what is called a dotted pair, which does not work like a list. Generating a dotted pair is usually not what you want when working with lists.</a:t>
            </a:r>
            <a:r>
              <a:rPr lang="en-US" altLang="en-US" baseline="0" dirty="0" smtClean="0"/>
              <a:t> </a:t>
            </a:r>
            <a:r>
              <a:rPr lang="en-US" altLang="en-US" dirty="0" smtClean="0"/>
              <a:t>If you get output with dots in when you expect a list, you are probably trying to apply cons with a second parameter that is an atom. Try using list instead of cons if this happens</a:t>
            </a:r>
            <a:r>
              <a:rPr lang="en-US" altLang="en-US" dirty="0" smtClean="0"/>
              <a:t>.</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en-US" dirty="0" smtClean="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dirty="0" smtClean="0"/>
              <a:t>Dotted pairs do</a:t>
            </a:r>
            <a:r>
              <a:rPr lang="en-US" altLang="en-US" baseline="0" dirty="0" smtClean="0"/>
              <a:t> have a use in Scheme. They are essentially key-value pairs. We won’t be using them for this purpose, however.</a:t>
            </a:r>
            <a:endParaRPr lang="en-US" altLang="en-US" dirty="0" smtClean="0"/>
          </a:p>
        </p:txBody>
      </p:sp>
    </p:spTree>
    <p:extLst>
      <p:ext uri="{BB962C8B-B14F-4D97-AF65-F5344CB8AC3E}">
        <p14:creationId xmlns:p14="http://schemas.microsoft.com/office/powerpoint/2010/main" val="15891931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C5D1DC75-F73A-4ACF-8B99-4BC52B0169E9}" type="slidenum">
              <a:rPr lang="en-US" altLang="en-US" sz="1300" smtClean="0"/>
              <a:pPr/>
              <a:t>7</a:t>
            </a:fld>
            <a:endParaRPr lang="en-US" altLang="en-US" sz="1300" smtClean="0"/>
          </a:p>
        </p:txBody>
      </p:sp>
      <p:sp>
        <p:nvSpPr>
          <p:cNvPr id="50179" name="Rectangle 2"/>
          <p:cNvSpPr>
            <a:spLocks noGrp="1" noRot="1" noChangeAspect="1" noChangeArrowheads="1" noTextEdit="1"/>
          </p:cNvSpPr>
          <p:nvPr>
            <p:ph type="sldImg"/>
          </p:nvPr>
        </p:nvSpPr>
        <p:spPr>
          <a:xfrm>
            <a:off x="992188" y="768350"/>
            <a:ext cx="5114925" cy="3836988"/>
          </a:xfrm>
          <a:ln/>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13744695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481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ZA" altLang="en-US" dirty="0" smtClean="0"/>
              <a:t>The last point highlights that we should generally</a:t>
            </a:r>
            <a:r>
              <a:rPr lang="en-ZA" altLang="en-US" baseline="0" dirty="0" smtClean="0"/>
              <a:t> use the = function for comparing numeric atoms. The </a:t>
            </a:r>
            <a:r>
              <a:rPr lang="en-ZA" altLang="en-US" baseline="0" dirty="0" err="1" smtClean="0"/>
              <a:t>eqv</a:t>
            </a:r>
            <a:r>
              <a:rPr lang="en-ZA" altLang="en-US" baseline="0" dirty="0" smtClean="0"/>
              <a:t>? function is usually used only to compare symbolic atoms like ‘a and ‘b.</a:t>
            </a:r>
            <a:endParaRPr lang="en-ZA" altLang="en-US" dirty="0" smtClean="0"/>
          </a:p>
        </p:txBody>
      </p:sp>
      <p:sp>
        <p:nvSpPr>
          <p:cNvPr id="481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55EAA95A-991A-4B25-A422-D933A08B1B7B}" type="slidenum">
              <a:rPr lang="en-US" altLang="en-US" sz="1200" smtClean="0"/>
              <a:pPr/>
              <a:t>8</a:t>
            </a:fld>
            <a:endParaRPr lang="en-US" altLang="en-US" sz="1200" smtClean="0"/>
          </a:p>
        </p:txBody>
      </p:sp>
    </p:spTree>
    <p:extLst>
      <p:ext uri="{BB962C8B-B14F-4D97-AF65-F5344CB8AC3E}">
        <p14:creationId xmlns:p14="http://schemas.microsoft.com/office/powerpoint/2010/main" val="4232017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29EF2454-F3D1-4090-97C8-906845E42673}" type="slidenum">
              <a:rPr lang="en-US" altLang="en-US" sz="1300" smtClean="0"/>
              <a:pPr/>
              <a:t>9</a:t>
            </a:fld>
            <a:endParaRPr lang="en-US" altLang="en-US" sz="1300" smtClean="0"/>
          </a:p>
        </p:txBody>
      </p:sp>
      <p:sp>
        <p:nvSpPr>
          <p:cNvPr id="46083" name="Rectangle 2"/>
          <p:cNvSpPr>
            <a:spLocks noGrp="1" noRot="1" noChangeAspect="1" noChangeArrowheads="1" noTextEdit="1"/>
          </p:cNvSpPr>
          <p:nvPr>
            <p:ph type="sldImg"/>
          </p:nvPr>
        </p:nvSpPr>
        <p:spPr>
          <a:xfrm>
            <a:off x="992188" y="768350"/>
            <a:ext cx="5114925" cy="3836988"/>
          </a:xfrm>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In this case, “not reliable” means that the result is dependent on context</a:t>
            </a:r>
            <a:r>
              <a:rPr lang="en-GB" altLang="en-US" baseline="0" dirty="0" smtClean="0"/>
              <a:t> in a program and </a:t>
            </a:r>
            <a:r>
              <a:rPr lang="en-GB" altLang="en-US" dirty="0" smtClean="0"/>
              <a:t>the Scheme interpreter’s implementation. Depending on how lists and</a:t>
            </a:r>
            <a:r>
              <a:rPr lang="en-GB" altLang="en-US" baseline="0" dirty="0" smtClean="0"/>
              <a:t> numeric atoms are created on a lower level, the results vary</a:t>
            </a:r>
            <a:r>
              <a:rPr lang="en-GB" altLang="en-US" dirty="0" smtClean="0"/>
              <a:t> (sometimes they are the same object in memory, sometimes not).</a:t>
            </a:r>
          </a:p>
        </p:txBody>
      </p:sp>
    </p:spTree>
    <p:extLst>
      <p:ext uri="{BB962C8B-B14F-4D97-AF65-F5344CB8AC3E}">
        <p14:creationId xmlns:p14="http://schemas.microsoft.com/office/powerpoint/2010/main" val="34851741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463F8A42-4B57-4F1E-A94E-8E0150415231}" type="slidenum">
              <a:rPr lang="en-US" altLang="en-US" sz="1300" smtClean="0"/>
              <a:pPr/>
              <a:t>10</a:t>
            </a:fld>
            <a:endParaRPr lang="en-US" altLang="en-US" sz="1300" smtClean="0"/>
          </a:p>
        </p:txBody>
      </p:sp>
      <p:sp>
        <p:nvSpPr>
          <p:cNvPr id="60419" name="Rectangle 2"/>
          <p:cNvSpPr>
            <a:spLocks noGrp="1" noRot="1" noChangeAspect="1" noChangeArrowheads="1" noTextEdit="1"/>
          </p:cNvSpPr>
          <p:nvPr>
            <p:ph type="sldImg"/>
          </p:nvPr>
        </p:nvSpPr>
        <p:spPr>
          <a:xfrm>
            <a:off x="992188" y="768350"/>
            <a:ext cx="5114925" cy="3836988"/>
          </a:xfrm>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The let function is discussed in</a:t>
            </a:r>
            <a:r>
              <a:rPr lang="en-GB" altLang="en-US" baseline="0" dirty="0" smtClean="0"/>
              <a:t> Section 5.5.2 of the textbook</a:t>
            </a:r>
            <a:r>
              <a:rPr lang="en-GB" altLang="en-US" baseline="0" dirty="0" smtClean="0"/>
              <a:t>.</a:t>
            </a:r>
          </a:p>
          <a:p>
            <a:pPr eaLnBrk="1" hangingPunct="1"/>
            <a:endParaRPr lang="en-GB" altLang="en-US" baseline="0" dirty="0" smtClean="0"/>
          </a:p>
          <a:p>
            <a:pPr eaLnBrk="1" hangingPunct="1"/>
            <a:r>
              <a:rPr lang="en-GB" altLang="en-US" baseline="0" dirty="0" smtClean="0"/>
              <a:t>Remember that name bindings can also be performed by the define function. The difference between a name binding using a let is that the name is defined only in the body of the let function. A name binding performed using the define function holds for the entire program.</a:t>
            </a:r>
            <a:endParaRPr lang="en-GB" altLang="en-US" dirty="0" smtClean="0"/>
          </a:p>
        </p:txBody>
      </p:sp>
    </p:spTree>
    <p:extLst>
      <p:ext uri="{BB962C8B-B14F-4D97-AF65-F5344CB8AC3E}">
        <p14:creationId xmlns:p14="http://schemas.microsoft.com/office/powerpoint/2010/main" val="36818818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36281836-8AE1-40E1-B4A6-08E67A18CE29}" type="slidenum">
              <a:rPr lang="en-US" altLang="en-US" sz="1300" smtClean="0"/>
              <a:pPr/>
              <a:t>11</a:t>
            </a:fld>
            <a:endParaRPr lang="en-US" altLang="en-US" sz="1300" smtClean="0"/>
          </a:p>
        </p:txBody>
      </p:sp>
      <p:sp>
        <p:nvSpPr>
          <p:cNvPr id="62467" name="Rectangle 2"/>
          <p:cNvSpPr>
            <a:spLocks noGrp="1" noRot="1" noChangeAspect="1" noChangeArrowheads="1" noTextEdit="1"/>
          </p:cNvSpPr>
          <p:nvPr>
            <p:ph type="sldImg"/>
          </p:nvPr>
        </p:nvSpPr>
        <p:spPr>
          <a:xfrm>
            <a:off x="992188" y="768350"/>
            <a:ext cx="5114925" cy="3836988"/>
          </a:xfrm>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In both of these</a:t>
            </a:r>
            <a:r>
              <a:rPr lang="en-GB" altLang="en-US" baseline="0" dirty="0" smtClean="0"/>
              <a:t> examples, we are defining a function named computation, which is applied to four parameters (a, b, c, and d).</a:t>
            </a:r>
            <a:endParaRPr lang="en-GB" altLang="en-US" dirty="0" smtClean="0"/>
          </a:p>
          <a:p>
            <a:pPr eaLnBrk="1" hangingPunct="1"/>
            <a:endParaRPr lang="en-GB" altLang="en-US" dirty="0" smtClean="0"/>
          </a:p>
          <a:p>
            <a:pPr eaLnBrk="1" hangingPunct="1"/>
            <a:r>
              <a:rPr lang="en-GB" altLang="en-US" dirty="0" smtClean="0"/>
              <a:t>In the first example, (+ a b) is evaluated, yielding a numeric result, which is then bound to the name top. Similarly, (- c d) is evaluated, yielding a numeric result, which is then bound to the name bottom. Note that top and bottom are names, not variables. This means that they behave like constants. You cannot</a:t>
            </a:r>
            <a:r>
              <a:rPr lang="en-GB" altLang="en-US" baseline="0" dirty="0" smtClean="0"/>
              <a:t> do something like increment the value of top or bottom. Finally, (/ top bottom) is evaluated, producing a numeric result. Because this is the last function application in the body of the let, the entire let evaluates to the result of the division. The let, in turn, is the last function in the body of the computation function, and so the entire computation function also yields the result of the division.</a:t>
            </a:r>
          </a:p>
          <a:p>
            <a:pPr eaLnBrk="1" hangingPunct="1"/>
            <a:endParaRPr lang="en-GB" altLang="en-US" baseline="0" dirty="0" smtClean="0"/>
          </a:p>
          <a:p>
            <a:pPr eaLnBrk="1" hangingPunct="1"/>
            <a:r>
              <a:rPr lang="en-GB" altLang="en-US" dirty="0" smtClean="0"/>
              <a:t>In the second example, the same two bindings to top and bottom are performed</a:t>
            </a:r>
            <a:r>
              <a:rPr lang="en-GB" altLang="en-US" baseline="0" dirty="0" smtClean="0"/>
              <a:t>. In the body of the let, there are three function applications. The first function application first results in (/ top bottom) being applied, the result of is printed to the screen by the display function. Next, the newline function is evaluated, printing a newline character. Finally, the function (* top bottom) is applied, which yields a numeric result. This is the final function application in the body of the let, so the entire let evaluates to the result of the multiplication. The let, in turn, is the last function in the body of the computation function, and so the entire computation function also yields the result of the multiplication.</a:t>
            </a:r>
            <a:endParaRPr lang="en-GB" altLang="en-US" dirty="0" smtClean="0"/>
          </a:p>
        </p:txBody>
      </p:sp>
    </p:spTree>
    <p:extLst>
      <p:ext uri="{BB962C8B-B14F-4D97-AF65-F5344CB8AC3E}">
        <p14:creationId xmlns:p14="http://schemas.microsoft.com/office/powerpoint/2010/main" val="29753892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FD9CF4BA-8F32-4FC8-B6A8-6713727A317D}" type="slidenum">
              <a:rPr lang="en-US" altLang="en-US" sz="1300" smtClean="0"/>
              <a:pPr/>
              <a:t>12</a:t>
            </a:fld>
            <a:endParaRPr lang="en-US" altLang="en-US" sz="1300" smtClean="0"/>
          </a:p>
        </p:txBody>
      </p:sp>
      <p:sp>
        <p:nvSpPr>
          <p:cNvPr id="52227" name="Rectangle 2"/>
          <p:cNvSpPr>
            <a:spLocks noGrp="1" noRot="1" noChangeAspect="1" noChangeArrowheads="1" noTextEdit="1"/>
          </p:cNvSpPr>
          <p:nvPr>
            <p:ph type="sldImg"/>
          </p:nvPr>
        </p:nvSpPr>
        <p:spPr>
          <a:xfrm>
            <a:off x="992188" y="768350"/>
            <a:ext cx="5114925" cy="3836988"/>
          </a:xfrm>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In the second semester </a:t>
            </a:r>
            <a:r>
              <a:rPr lang="en-GB" altLang="en-US" smtClean="0"/>
              <a:t>test and exam</a:t>
            </a:r>
            <a:r>
              <a:rPr lang="en-GB" altLang="en-US" dirty="0" smtClean="0"/>
              <a:t>, I will ask you to write code. The programs will never be more complex that the ones in these slides. I very strongly recommend that you ensure that you can write the programs in the Scheme practical as well.</a:t>
            </a:r>
          </a:p>
          <a:p>
            <a:pPr eaLnBrk="1" hangingPunct="1"/>
            <a:endParaRPr lang="en-GB" altLang="en-US" dirty="0" smtClean="0"/>
          </a:p>
          <a:p>
            <a:pPr eaLnBrk="1" hangingPunct="1"/>
            <a:r>
              <a:rPr lang="en-GB" altLang="en-US" dirty="0" smtClean="0"/>
              <a:t>This example defines a function named member, which is applied to two parameters, </a:t>
            </a:r>
            <a:r>
              <a:rPr lang="en-GB" altLang="en-US" dirty="0" err="1" smtClean="0"/>
              <a:t>atm</a:t>
            </a:r>
            <a:r>
              <a:rPr lang="en-GB" altLang="en-US" dirty="0" smtClean="0"/>
              <a:t> (the atom being searched for) and </a:t>
            </a:r>
            <a:r>
              <a:rPr lang="en-GB" altLang="en-US" dirty="0" err="1" smtClean="0"/>
              <a:t>lis</a:t>
            </a:r>
            <a:r>
              <a:rPr lang="en-GB" altLang="en-US" dirty="0" smtClean="0"/>
              <a:t> (the list in which we’re searching for </a:t>
            </a:r>
            <a:r>
              <a:rPr lang="en-GB" altLang="en-US" dirty="0" err="1" smtClean="0"/>
              <a:t>atm</a:t>
            </a:r>
            <a:r>
              <a:rPr lang="en-GB" altLang="en-US" dirty="0" smtClean="0"/>
              <a:t>).</a:t>
            </a:r>
          </a:p>
          <a:p>
            <a:pPr eaLnBrk="1" hangingPunct="1"/>
            <a:endParaRPr lang="en-GB" altLang="en-US" dirty="0" smtClean="0"/>
          </a:p>
          <a:p>
            <a:pPr eaLnBrk="1" hangingPunct="1"/>
            <a:r>
              <a:rPr lang="en-GB" altLang="en-US" dirty="0" smtClean="0"/>
              <a:t>The function is recursive, because it uses the member function. It has two base cases, and one recursive case.</a:t>
            </a:r>
          </a:p>
          <a:p>
            <a:pPr eaLnBrk="1" hangingPunct="1"/>
            <a:endParaRPr lang="en-GB" altLang="en-US" dirty="0" smtClean="0"/>
          </a:p>
          <a:p>
            <a:pPr eaLnBrk="1" hangingPunct="1"/>
            <a:r>
              <a:rPr lang="en-GB" altLang="en-US" dirty="0" smtClean="0"/>
              <a:t>Our strategy is as follows: We check to see if the first item in the list is the atom we’re looking for. If it is, the result is true (we’ve found the item). If it isn’t, we ignore the first item in the list, and do a membership test on the remaining items. We keep doing this until either we’ve found the atom we’re looking for, or we run out of elements. If we run out of elements, we know the item isn’t in the list, and the result is false.</a:t>
            </a:r>
          </a:p>
          <a:p>
            <a:pPr eaLnBrk="1" hangingPunct="1"/>
            <a:endParaRPr lang="en-GB" altLang="en-US" dirty="0" smtClean="0"/>
          </a:p>
          <a:p>
            <a:pPr eaLnBrk="1" hangingPunct="1"/>
            <a:r>
              <a:rPr lang="en-GB" altLang="en-US" dirty="0" smtClean="0"/>
              <a:t>The first base case is if the list is empty (tested by null?). This happens if either an empty list is provided as input when the user calls member, or if we’ve run out of elements to check (i.e. the entire list has been searched). In both cases we haven’t found </a:t>
            </a:r>
            <a:r>
              <a:rPr lang="en-GB" altLang="en-US" dirty="0" err="1" smtClean="0"/>
              <a:t>atm</a:t>
            </a:r>
            <a:r>
              <a:rPr lang="en-GB" altLang="en-US" dirty="0" smtClean="0"/>
              <a:t>, so the result of the member function is #f.</a:t>
            </a:r>
          </a:p>
          <a:p>
            <a:pPr eaLnBrk="1" hangingPunct="1"/>
            <a:endParaRPr lang="en-GB" altLang="en-US" dirty="0" smtClean="0"/>
          </a:p>
          <a:p>
            <a:pPr eaLnBrk="1" hangingPunct="1"/>
            <a:r>
              <a:rPr lang="en-GB" altLang="en-US" dirty="0" smtClean="0"/>
              <a:t>The second base case is if the head of the list (retrieved using car) is equivalent to </a:t>
            </a:r>
            <a:r>
              <a:rPr lang="en-GB" altLang="en-US" dirty="0" err="1" smtClean="0"/>
              <a:t>atm</a:t>
            </a:r>
            <a:r>
              <a:rPr lang="en-GB" altLang="en-US" dirty="0" smtClean="0"/>
              <a:t> (the atom we’re looking for). If this is the case, we know we’ve found the atom, so the result is #t.</a:t>
            </a:r>
          </a:p>
          <a:p>
            <a:pPr eaLnBrk="1" hangingPunct="1"/>
            <a:endParaRPr lang="en-GB" altLang="en-US" dirty="0" smtClean="0"/>
          </a:p>
          <a:p>
            <a:pPr eaLnBrk="1" hangingPunct="1"/>
            <a:r>
              <a:rPr lang="en-GB" altLang="en-US" dirty="0" smtClean="0"/>
              <a:t>Finally, the recursive case removes the first element of the list (we only want the tail) using the </a:t>
            </a:r>
            <a:r>
              <a:rPr lang="en-GB" altLang="en-US" dirty="0" err="1" smtClean="0"/>
              <a:t>cdr</a:t>
            </a:r>
            <a:r>
              <a:rPr lang="en-GB" altLang="en-US" dirty="0" smtClean="0"/>
              <a:t> function. We then recursively apply the member function to the tail of the list. This call will continue executing while there are elements in the list, and will eventually lead to the first base case (because we’ve ignored the only element left in the list, and the </a:t>
            </a:r>
            <a:r>
              <a:rPr lang="en-GB" altLang="en-US" dirty="0" err="1" smtClean="0"/>
              <a:t>cdr</a:t>
            </a:r>
            <a:r>
              <a:rPr lang="en-GB" altLang="en-US" dirty="0" smtClean="0"/>
              <a:t> of the list is now an empty list).</a:t>
            </a:r>
          </a:p>
          <a:p>
            <a:pPr eaLnBrk="1" hangingPunct="1"/>
            <a:endParaRPr lang="en-GB" altLang="en-US" dirty="0" smtClean="0"/>
          </a:p>
          <a:p>
            <a:pPr eaLnBrk="1" hangingPunct="1"/>
            <a:r>
              <a:rPr lang="en-GB" altLang="en-US" dirty="0" smtClean="0"/>
              <a:t>It’s important to note that we have to solve this problem recursively, because there are no loops in Scheme (there are no loops because there are no variables). What does this imply about the efficiency and resource usage of the Scheme program in comparison to an implementation in a language like C++?</a:t>
            </a:r>
          </a:p>
          <a:p>
            <a:pPr eaLnBrk="1" hangingPunct="1"/>
            <a:endParaRPr lang="en-GB" altLang="en-US" dirty="0" smtClean="0"/>
          </a:p>
          <a:p>
            <a:pPr eaLnBrk="1" hangingPunct="1"/>
            <a:r>
              <a:rPr lang="en-GB" altLang="en-US" dirty="0" smtClean="0"/>
              <a:t>Also note the order of the cases. The two base cases must be before the recursive case, otherwise we will get an infinite recursion. Can you explain why this will happen? It is also necessary for the null? test to appear before the </a:t>
            </a:r>
            <a:r>
              <a:rPr lang="en-GB" altLang="en-US" dirty="0" err="1" smtClean="0"/>
              <a:t>eqv</a:t>
            </a:r>
            <a:r>
              <a:rPr lang="en-GB" altLang="en-US" dirty="0" smtClean="0"/>
              <a:t>? comparison. What will happen if the list is empty and the </a:t>
            </a:r>
            <a:r>
              <a:rPr lang="en-GB" altLang="en-US" dirty="0" err="1" smtClean="0"/>
              <a:t>eqv</a:t>
            </a:r>
            <a:r>
              <a:rPr lang="en-GB" altLang="en-US" dirty="0" smtClean="0"/>
              <a:t>? test happens before the null? test (hint: look at the car function)?</a:t>
            </a:r>
          </a:p>
          <a:p>
            <a:pPr eaLnBrk="1" hangingPunct="1"/>
            <a:endParaRPr lang="en-GB" altLang="en-US" dirty="0" smtClean="0"/>
          </a:p>
          <a:p>
            <a:pPr eaLnBrk="1" hangingPunct="1"/>
            <a:r>
              <a:rPr lang="en-GB" altLang="en-US" dirty="0" smtClean="0"/>
              <a:t>Also note that the textbook uses the </a:t>
            </a:r>
            <a:r>
              <a:rPr lang="en-GB" altLang="en-US" dirty="0" err="1" smtClean="0"/>
              <a:t>eq</a:t>
            </a:r>
            <a:r>
              <a:rPr lang="en-GB" altLang="en-US" dirty="0" smtClean="0"/>
              <a:t>? function rather than the </a:t>
            </a:r>
            <a:r>
              <a:rPr lang="en-GB" altLang="en-US" dirty="0" err="1" smtClean="0"/>
              <a:t>eqv</a:t>
            </a:r>
            <a:r>
              <a:rPr lang="en-GB" altLang="en-US" dirty="0" smtClean="0"/>
              <a:t>? function. Both work, but I recommended that </a:t>
            </a:r>
            <a:r>
              <a:rPr lang="en-GB" altLang="en-US" dirty="0" err="1" smtClean="0"/>
              <a:t>eqv</a:t>
            </a:r>
            <a:r>
              <a:rPr lang="en-GB" altLang="en-US" dirty="0" smtClean="0"/>
              <a:t>? be used instead of </a:t>
            </a:r>
            <a:r>
              <a:rPr lang="en-GB" altLang="en-US" dirty="0" err="1" smtClean="0"/>
              <a:t>eq</a:t>
            </a:r>
            <a:r>
              <a:rPr lang="en-GB" altLang="en-US" dirty="0" smtClean="0"/>
              <a:t>? due to reliability concerns.</a:t>
            </a:r>
          </a:p>
        </p:txBody>
      </p:sp>
    </p:spTree>
    <p:extLst>
      <p:ext uri="{BB962C8B-B14F-4D97-AF65-F5344CB8AC3E}">
        <p14:creationId xmlns:p14="http://schemas.microsoft.com/office/powerpoint/2010/main" val="27765014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EFA7C048-25E5-4DC6-8590-A31F715C2B61}" type="slidenum">
              <a:rPr lang="en-US" altLang="en-US" sz="1300" smtClean="0"/>
              <a:pPr/>
              <a:t>13</a:t>
            </a:fld>
            <a:endParaRPr lang="en-US" altLang="en-US" sz="1300" smtClean="0"/>
          </a:p>
        </p:txBody>
      </p:sp>
      <p:sp>
        <p:nvSpPr>
          <p:cNvPr id="54275" name="Rectangle 2"/>
          <p:cNvSpPr>
            <a:spLocks noGrp="1" noRot="1" noChangeAspect="1" noChangeArrowheads="1" noTextEdit="1"/>
          </p:cNvSpPr>
          <p:nvPr>
            <p:ph type="sldImg"/>
          </p:nvPr>
        </p:nvSpPr>
        <p:spPr>
          <a:xfrm>
            <a:off x="992188" y="768350"/>
            <a:ext cx="5114925" cy="3836988"/>
          </a:xfrm>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This example defines a function named </a:t>
            </a:r>
            <a:r>
              <a:rPr lang="en-GB" altLang="en-US" dirty="0" err="1" smtClean="0"/>
              <a:t>equalsimp</a:t>
            </a:r>
            <a:r>
              <a:rPr lang="en-GB" altLang="en-US" dirty="0" smtClean="0"/>
              <a:t>, which is applied to two parameters, lis1 and lis2 (both lists). The lists are both “simple”, meaning that we assume they hold only atoms, and no </a:t>
            </a:r>
            <a:r>
              <a:rPr lang="en-GB" altLang="en-US" dirty="0" err="1" smtClean="0"/>
              <a:t>sublists</a:t>
            </a:r>
            <a:r>
              <a:rPr lang="en-GB" altLang="en-US" dirty="0" smtClean="0"/>
              <a:t>. The function results in a true if the lists contain exactly the same elements, and false otherwise.</a:t>
            </a:r>
          </a:p>
          <a:p>
            <a:pPr eaLnBrk="1" hangingPunct="1"/>
            <a:endParaRPr lang="en-GB" altLang="en-US" dirty="0" smtClean="0"/>
          </a:p>
          <a:p>
            <a:pPr eaLnBrk="1" hangingPunct="1"/>
            <a:r>
              <a:rPr lang="en-GB" altLang="en-US" dirty="0" smtClean="0"/>
              <a:t>The function is again recursive, because it uses the </a:t>
            </a:r>
            <a:r>
              <a:rPr lang="en-GB" altLang="en-US" dirty="0" err="1" smtClean="0"/>
              <a:t>equalsimp</a:t>
            </a:r>
            <a:r>
              <a:rPr lang="en-GB" altLang="en-US" dirty="0" smtClean="0"/>
              <a:t> function. It has three base cases, and one recursive case.</a:t>
            </a:r>
          </a:p>
          <a:p>
            <a:pPr eaLnBrk="1" hangingPunct="1"/>
            <a:endParaRPr lang="en-GB" altLang="en-US" dirty="0" smtClean="0"/>
          </a:p>
          <a:p>
            <a:pPr eaLnBrk="1" hangingPunct="1"/>
            <a:r>
              <a:rPr lang="en-GB" altLang="en-US" dirty="0" smtClean="0"/>
              <a:t>Our strategy is as follows: We compare the first element in each list. If we see that they’re the same, we can continue checking the rest of the lists by ignoring the first elements of each and testing the tails. We can conclude they the lists aren’t the same if we find one pair of elements that doesn’t match. Also, if one of the lists runs out of elements before the other, the lists are different lengths, so we can conclude that they aren’t equal.</a:t>
            </a:r>
          </a:p>
          <a:p>
            <a:pPr eaLnBrk="1" hangingPunct="1"/>
            <a:endParaRPr lang="en-GB" altLang="en-US" dirty="0" smtClean="0"/>
          </a:p>
          <a:p>
            <a:pPr eaLnBrk="1" hangingPunct="1"/>
            <a:r>
              <a:rPr lang="en-GB" altLang="en-US" dirty="0" smtClean="0"/>
              <a:t>The first two base cases deal with either the first or second list being empty. Look at the first base case. It tests whether the first list is empty. If the first list is empty, then we need to look at the second list. If the second list is also empty, then the two lists are equal (they are both empty lists). If the second list is not empty (it contains one or more elements), then the lists obviously aren’t equal (lis2 is longer than lis1). In other words, if the second list is empty, the null? function produces a #t result, and the </a:t>
            </a:r>
            <a:r>
              <a:rPr lang="en-GB" altLang="en-US" dirty="0" err="1" smtClean="0"/>
              <a:t>equalsimp</a:t>
            </a:r>
            <a:r>
              <a:rPr lang="en-GB" altLang="en-US" dirty="0" smtClean="0"/>
              <a:t> function’s result is also #t. If the second list is not empty, the null? function produces a #f result, which also becomes the result of </a:t>
            </a:r>
            <a:r>
              <a:rPr lang="en-GB" altLang="en-US" dirty="0" err="1" smtClean="0"/>
              <a:t>equalsimp</a:t>
            </a:r>
            <a:r>
              <a:rPr lang="en-GB" altLang="en-US" dirty="0" smtClean="0"/>
              <a:t>.</a:t>
            </a:r>
          </a:p>
          <a:p>
            <a:pPr eaLnBrk="1" hangingPunct="1"/>
            <a:endParaRPr lang="en-GB" altLang="en-US" dirty="0" smtClean="0"/>
          </a:p>
          <a:p>
            <a:pPr eaLnBrk="1" hangingPunct="1"/>
            <a:r>
              <a:rPr lang="en-GB" altLang="en-US" dirty="0" smtClean="0"/>
              <a:t>Let’s look at the second base case. Remember that the first base case has eliminated the possibility that lis1 is empty. So if lis2 is empty, we know lis1 must be longer than lis2, and therefore the lists are not equal. The result is therefore #f, and we don’t need to check whether lis1 is empty.</a:t>
            </a:r>
          </a:p>
          <a:p>
            <a:pPr eaLnBrk="1" hangingPunct="1"/>
            <a:endParaRPr lang="en-GB" altLang="en-US" dirty="0" smtClean="0"/>
          </a:p>
          <a:p>
            <a:pPr eaLnBrk="1" hangingPunct="1"/>
            <a:r>
              <a:rPr lang="en-GB" altLang="en-US" dirty="0" smtClean="0"/>
              <a:t>The final base case is for when both lists still have elements, but we’ve found that the first elements in each don’t match. Obviously we know that the lists can’t be equal in this case. Now we could have checked for that explicitly (can you write the predicate that would test this?), but because the recursive case needs to handle the situation where the first elements in each list match, we can simply specify it as the else part, which will be used if none of the previous tests are successful. If we have eliminated all the conditions before the else, we can see that the only other outcome possible is if the first elements in the lists don’t match, and the result must be #f.</a:t>
            </a:r>
          </a:p>
          <a:p>
            <a:pPr eaLnBrk="1" hangingPunct="1"/>
            <a:endParaRPr lang="en-GB" altLang="en-US" dirty="0" smtClean="0"/>
          </a:p>
          <a:p>
            <a:pPr eaLnBrk="1" hangingPunct="1"/>
            <a:r>
              <a:rPr lang="en-GB" altLang="en-US" dirty="0" smtClean="0"/>
              <a:t>Now for the recursive case. What we want to do here is confirm that the first elements of the two lists are the same. This is done using the </a:t>
            </a:r>
            <a:r>
              <a:rPr lang="en-GB" altLang="en-US" dirty="0" err="1" smtClean="0"/>
              <a:t>eqv</a:t>
            </a:r>
            <a:r>
              <a:rPr lang="en-GB" altLang="en-US" dirty="0" smtClean="0"/>
              <a:t>? function on the car of each list. If the elements match, we know we can continue testing the remaining elements in the lists. So we ignore the first elements (we’ve already found that they’re the same) and call the </a:t>
            </a:r>
            <a:r>
              <a:rPr lang="en-GB" altLang="en-US" dirty="0" err="1" smtClean="0"/>
              <a:t>equalsimp</a:t>
            </a:r>
            <a:r>
              <a:rPr lang="en-GB" altLang="en-US" dirty="0" smtClean="0"/>
              <a:t> function itself on the </a:t>
            </a:r>
            <a:r>
              <a:rPr lang="en-GB" altLang="en-US" dirty="0" err="1" smtClean="0"/>
              <a:t>cdr</a:t>
            </a:r>
            <a:r>
              <a:rPr lang="en-GB" altLang="en-US" dirty="0" smtClean="0"/>
              <a:t> of each list. This will continue until either the first list or the second runs out of elements before the other list (the first two base cases), an element is found that doesn’t match (the final base case), or both lists run out of elements at the same time (the first base case again). Only in the last case do we get a #t.</a:t>
            </a:r>
          </a:p>
          <a:p>
            <a:pPr eaLnBrk="1" hangingPunct="1"/>
            <a:endParaRPr lang="en-GB" altLang="en-US" dirty="0" smtClean="0"/>
          </a:p>
          <a:p>
            <a:pPr eaLnBrk="1" hangingPunct="1"/>
            <a:r>
              <a:rPr lang="en-GB" altLang="en-US" dirty="0" smtClean="0"/>
              <a:t>Again, we have to solve this problem recursively, not iteratively.</a:t>
            </a:r>
          </a:p>
          <a:p>
            <a:pPr eaLnBrk="1" hangingPunct="1"/>
            <a:endParaRPr lang="en-GB" altLang="en-US" dirty="0" smtClean="0"/>
          </a:p>
          <a:p>
            <a:pPr eaLnBrk="1" hangingPunct="1"/>
            <a:r>
              <a:rPr lang="en-GB" altLang="en-US" dirty="0" smtClean="0"/>
              <a:t>Now consider the order of the base and recursive cases. What happens if we move the recursive case to the top of the </a:t>
            </a:r>
            <a:r>
              <a:rPr lang="en-GB" altLang="en-US" dirty="0" err="1" smtClean="0"/>
              <a:t>cond</a:t>
            </a:r>
            <a:r>
              <a:rPr lang="en-GB" altLang="en-US" dirty="0" smtClean="0"/>
              <a:t>? What happens if we place the null? check on lis2 above the null? check on lis1? If we have an explicit test to check for when the first elements in the lists don’t match, where can we place it?</a:t>
            </a:r>
          </a:p>
          <a:p>
            <a:pPr eaLnBrk="1" hangingPunct="1"/>
            <a:endParaRPr lang="en-GB" altLang="en-US" dirty="0" smtClean="0"/>
          </a:p>
          <a:p>
            <a:pPr eaLnBrk="1" hangingPunct="1"/>
            <a:r>
              <a:rPr lang="en-GB" altLang="en-US" dirty="0" smtClean="0"/>
              <a:t>Again, note</a:t>
            </a:r>
            <a:r>
              <a:rPr lang="en-GB" altLang="en-US" baseline="0" dirty="0" smtClean="0"/>
              <a:t> that this example used the </a:t>
            </a:r>
            <a:r>
              <a:rPr lang="en-GB" altLang="en-US" baseline="0" dirty="0" err="1" smtClean="0"/>
              <a:t>eqv</a:t>
            </a:r>
            <a:r>
              <a:rPr lang="en-GB" altLang="en-US" baseline="0" dirty="0" smtClean="0"/>
              <a:t>? function, while the textbook uses the </a:t>
            </a:r>
            <a:r>
              <a:rPr lang="en-GB" altLang="en-US" baseline="0" dirty="0" err="1" smtClean="0"/>
              <a:t>eq</a:t>
            </a:r>
            <a:r>
              <a:rPr lang="en-GB" altLang="en-US" baseline="0" dirty="0" smtClean="0"/>
              <a:t>? function. The </a:t>
            </a:r>
            <a:r>
              <a:rPr lang="en-GB" altLang="en-US" baseline="0" dirty="0" err="1" smtClean="0"/>
              <a:t>eqv</a:t>
            </a:r>
            <a:r>
              <a:rPr lang="en-GB" altLang="en-US" baseline="0" dirty="0" smtClean="0"/>
              <a:t>? function is preferred.</a:t>
            </a:r>
            <a:endParaRPr lang="en-GB" altLang="en-US" dirty="0" smtClean="0"/>
          </a:p>
        </p:txBody>
      </p:sp>
    </p:spTree>
    <p:extLst>
      <p:ext uri="{BB962C8B-B14F-4D97-AF65-F5344CB8AC3E}">
        <p14:creationId xmlns:p14="http://schemas.microsoft.com/office/powerpoint/2010/main" val="6725239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E8C70651-F383-47EF-B190-40ADBC3E094B}" type="slidenum">
              <a:rPr lang="en-US" altLang="en-US" sz="1300" smtClean="0"/>
              <a:pPr/>
              <a:t>14</a:t>
            </a:fld>
            <a:endParaRPr lang="en-US" altLang="en-US" sz="1300" smtClean="0"/>
          </a:p>
        </p:txBody>
      </p:sp>
      <p:sp>
        <p:nvSpPr>
          <p:cNvPr id="56323" name="Rectangle 2"/>
          <p:cNvSpPr>
            <a:spLocks noGrp="1" noRot="1" noChangeAspect="1" noChangeArrowheads="1" noTextEdit="1"/>
          </p:cNvSpPr>
          <p:nvPr>
            <p:ph type="sldImg"/>
          </p:nvPr>
        </p:nvSpPr>
        <p:spPr>
          <a:xfrm>
            <a:off x="992188" y="768350"/>
            <a:ext cx="5114925" cy="3836988"/>
          </a:xfrm>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The issue with the previous program is that it doesn’t work if we have </a:t>
            </a:r>
            <a:r>
              <a:rPr lang="en-GB" altLang="en-US" dirty="0" err="1" smtClean="0"/>
              <a:t>sublists</a:t>
            </a:r>
            <a:r>
              <a:rPr lang="en-GB" altLang="en-US" dirty="0" smtClean="0"/>
              <a:t> in either lis1 or lis2. Why is this? Because </a:t>
            </a:r>
            <a:r>
              <a:rPr lang="en-GB" altLang="en-US" dirty="0" err="1" smtClean="0"/>
              <a:t>eqv</a:t>
            </a:r>
            <a:r>
              <a:rPr lang="en-GB" altLang="en-US" dirty="0" smtClean="0"/>
              <a:t>? always</a:t>
            </a:r>
            <a:r>
              <a:rPr lang="en-GB" altLang="en-US" baseline="0" dirty="0" smtClean="0"/>
              <a:t> yields #f</a:t>
            </a:r>
            <a:r>
              <a:rPr lang="en-GB" altLang="en-US" dirty="0" smtClean="0"/>
              <a:t> when it compares lists. This function overcomes this problem.</a:t>
            </a:r>
          </a:p>
          <a:p>
            <a:pPr eaLnBrk="1" hangingPunct="1"/>
            <a:endParaRPr lang="en-GB" altLang="en-US" dirty="0" smtClean="0"/>
          </a:p>
          <a:p>
            <a:pPr eaLnBrk="1" hangingPunct="1"/>
            <a:r>
              <a:rPr lang="en-GB" altLang="en-US" dirty="0" smtClean="0"/>
              <a:t>Compare this function to </a:t>
            </a:r>
            <a:r>
              <a:rPr lang="en-GB" altLang="en-US" dirty="0" err="1" smtClean="0"/>
              <a:t>equalsimp</a:t>
            </a:r>
            <a:r>
              <a:rPr lang="en-GB" altLang="en-US" dirty="0" smtClean="0"/>
              <a:t>. You’ll see that the three base cases and the recursive case are almost the same. Firstly, we’ve replaced the </a:t>
            </a:r>
            <a:r>
              <a:rPr lang="en-GB" altLang="en-US" dirty="0" err="1" smtClean="0"/>
              <a:t>eqv</a:t>
            </a:r>
            <a:r>
              <a:rPr lang="en-GB" altLang="en-US" dirty="0" smtClean="0"/>
              <a:t>? function with another recursive call to the equal function. What is the result of this? Because the equal function tests whether two lists are equal, it will now be able to compare items in lis1 and lis2 that are also lists. Are we done? Not yet. We’ve now also removed the mechanism for testing individual atoms (we don’t use </a:t>
            </a:r>
            <a:r>
              <a:rPr lang="en-GB" altLang="en-US" dirty="0" err="1" smtClean="0"/>
              <a:t>eqv</a:t>
            </a:r>
            <a:r>
              <a:rPr lang="en-GB" altLang="en-US" dirty="0" smtClean="0"/>
              <a:t>? in the predicate of the recursive case, and </a:t>
            </a:r>
            <a:r>
              <a:rPr lang="en-GB" altLang="en-US" dirty="0" err="1" smtClean="0"/>
              <a:t>equalsimp</a:t>
            </a:r>
            <a:r>
              <a:rPr lang="en-GB" altLang="en-US" dirty="0" smtClean="0"/>
              <a:t> doesn’t have base cases to deal specifically with atoms). So how do we solve this? We need to add base cases to handle atoms.</a:t>
            </a:r>
          </a:p>
          <a:p>
            <a:pPr eaLnBrk="1" hangingPunct="1"/>
            <a:endParaRPr lang="en-GB" altLang="en-US" dirty="0" smtClean="0"/>
          </a:p>
          <a:p>
            <a:pPr eaLnBrk="1" hangingPunct="1"/>
            <a:r>
              <a:rPr lang="en-GB" altLang="en-US" dirty="0" smtClean="0"/>
              <a:t>The additional base cases are at the top of the program. The first one tests whether lis1 is not a list. This will only be the case if lis1 is an atom. In that case we use </a:t>
            </a:r>
            <a:r>
              <a:rPr lang="en-GB" altLang="en-US" dirty="0" err="1" smtClean="0"/>
              <a:t>eqv</a:t>
            </a:r>
            <a:r>
              <a:rPr lang="en-GB" altLang="en-US" dirty="0" smtClean="0"/>
              <a:t>? on lis1 and lis2. Remember that </a:t>
            </a:r>
            <a:r>
              <a:rPr lang="en-GB" altLang="en-US" dirty="0" err="1" smtClean="0"/>
              <a:t>eqv</a:t>
            </a:r>
            <a:r>
              <a:rPr lang="en-GB" altLang="en-US" dirty="0" smtClean="0"/>
              <a:t>? yields #t if its parameters are atoms that are the same, and #f otherwise. So if lis1 is an atom, and lis2 is the same atom, the result is #t. Obviously if lis1 and lis2 are different atoms, the result is #f. What if lis1 is an atom, but lis2 is a list? The </a:t>
            </a:r>
            <a:r>
              <a:rPr lang="en-GB" altLang="en-US" dirty="0" err="1" smtClean="0"/>
              <a:t>eqv</a:t>
            </a:r>
            <a:r>
              <a:rPr lang="en-GB" altLang="en-US" dirty="0" smtClean="0"/>
              <a:t>? fails, and the result is #f, as we expect. So all of these cases are handled by the first base case.</a:t>
            </a:r>
          </a:p>
          <a:p>
            <a:pPr eaLnBrk="1" hangingPunct="1"/>
            <a:endParaRPr lang="en-GB" altLang="en-US" dirty="0" smtClean="0"/>
          </a:p>
          <a:p>
            <a:pPr eaLnBrk="1" hangingPunct="1"/>
            <a:r>
              <a:rPr lang="en-GB" altLang="en-US" dirty="0" smtClean="0"/>
              <a:t>Now let’s consider what we haven’t handled yet. We need to look at the case where lis1 is a list, and lis2 is an atom. This is handled by the second base case, which is triggered if lis2 is not a list (i.e. an atom). Because of the first base case, we know lis1 can’t be an atom, so it must be a list. So the second base case only handles the case where lis1 is a list, and lis2 is an atom. In this case the result must obviously be #f.</a:t>
            </a:r>
          </a:p>
          <a:p>
            <a:pPr eaLnBrk="1" hangingPunct="1"/>
            <a:endParaRPr lang="en-GB" altLang="en-US" dirty="0" smtClean="0"/>
          </a:p>
          <a:p>
            <a:pPr marL="0" marR="0" lvl="0" indent="0" algn="l" defTabSz="914400" rtl="0" eaLnBrk="1" fontAlgn="base" latinLnBrk="0" hangingPunct="1">
              <a:lnSpc>
                <a:spcPct val="100000"/>
              </a:lnSpc>
              <a:spcBef>
                <a:spcPct val="30000"/>
              </a:spcBef>
              <a:spcAft>
                <a:spcPct val="0"/>
              </a:spcAft>
              <a:buClrTx/>
              <a:buSzTx/>
              <a:buFontTx/>
              <a:buNone/>
              <a:tabLst/>
              <a:defRPr/>
            </a:pPr>
            <a:r>
              <a:rPr lang="en-GB" altLang="en-US" dirty="0" smtClean="0"/>
              <a:t>Again, note</a:t>
            </a:r>
            <a:r>
              <a:rPr lang="en-GB" altLang="en-US" baseline="0" dirty="0" smtClean="0"/>
              <a:t> that this example used the </a:t>
            </a:r>
            <a:r>
              <a:rPr lang="en-GB" altLang="en-US" baseline="0" dirty="0" err="1" smtClean="0"/>
              <a:t>eqv</a:t>
            </a:r>
            <a:r>
              <a:rPr lang="en-GB" altLang="en-US" baseline="0" dirty="0" smtClean="0"/>
              <a:t>? function, while the textbook uses the </a:t>
            </a:r>
            <a:r>
              <a:rPr lang="en-GB" altLang="en-US" baseline="0" dirty="0" err="1" smtClean="0"/>
              <a:t>eq</a:t>
            </a:r>
            <a:r>
              <a:rPr lang="en-GB" altLang="en-US" baseline="0" dirty="0" smtClean="0"/>
              <a:t>? function. The </a:t>
            </a:r>
            <a:r>
              <a:rPr lang="en-GB" altLang="en-US" baseline="0" dirty="0" err="1" smtClean="0"/>
              <a:t>eqv</a:t>
            </a:r>
            <a:r>
              <a:rPr lang="en-GB" altLang="en-US" baseline="0" dirty="0" smtClean="0"/>
              <a:t>? function is preferred.</a:t>
            </a:r>
          </a:p>
        </p:txBody>
      </p:sp>
    </p:spTree>
    <p:extLst>
      <p:ext uri="{BB962C8B-B14F-4D97-AF65-F5344CB8AC3E}">
        <p14:creationId xmlns:p14="http://schemas.microsoft.com/office/powerpoint/2010/main" val="2178344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5B86A9A4-542C-40FF-8F1F-D6DEAE305791}" type="slidenum">
              <a:rPr lang="en-US" altLang="en-US" sz="1300" smtClean="0"/>
              <a:pPr/>
              <a:t>15</a:t>
            </a:fld>
            <a:endParaRPr lang="en-US" altLang="en-US" sz="1300" smtClean="0"/>
          </a:p>
        </p:txBody>
      </p:sp>
      <p:sp>
        <p:nvSpPr>
          <p:cNvPr id="58371" name="Rectangle 2"/>
          <p:cNvSpPr>
            <a:spLocks noGrp="1" noRot="1" noChangeAspect="1" noChangeArrowheads="1" noTextEdit="1"/>
          </p:cNvSpPr>
          <p:nvPr>
            <p:ph type="sldImg"/>
          </p:nvPr>
        </p:nvSpPr>
        <p:spPr>
          <a:xfrm>
            <a:off x="992188" y="768350"/>
            <a:ext cx="5114925" cy="3836988"/>
          </a:xfrm>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This example is a bit simpler than the previous one. Here we want to append lis2 to lis1.</a:t>
            </a:r>
          </a:p>
          <a:p>
            <a:pPr eaLnBrk="1" hangingPunct="1"/>
            <a:endParaRPr lang="en-GB" altLang="en-US" dirty="0" smtClean="0"/>
          </a:p>
          <a:p>
            <a:pPr eaLnBrk="1" hangingPunct="1"/>
            <a:r>
              <a:rPr lang="en-GB" altLang="en-US" dirty="0" smtClean="0"/>
              <a:t>The function has a base case and a recursive case. The base case handles the case where lis1 is empty. In this case the result is simply lis2, because it has been appended to nothing.</a:t>
            </a:r>
          </a:p>
          <a:p>
            <a:pPr eaLnBrk="1" hangingPunct="1"/>
            <a:endParaRPr lang="en-GB" altLang="en-US" dirty="0" smtClean="0"/>
          </a:p>
          <a:p>
            <a:pPr eaLnBrk="1" hangingPunct="1"/>
            <a:r>
              <a:rPr lang="en-GB" altLang="en-US" dirty="0" smtClean="0"/>
              <a:t>The recursive case adds the head of lis1 to the result of appending lis2 to the tail of lis1. So the result is that lis2 is passed along lis1, until the end of lis1 (remember, there is effectively an empty list at the end of every list). This produces lis2, and then we use cons to add the last element in lis1 to lis2. Then we add the second last element. Then the third last. And so on until we reach the first element in lis1, which is also added to the resulting list.</a:t>
            </a:r>
          </a:p>
          <a:p>
            <a:pPr eaLnBrk="1" hangingPunct="1"/>
            <a:endParaRPr lang="en-GB" altLang="en-US" dirty="0" smtClean="0"/>
          </a:p>
          <a:p>
            <a:pPr eaLnBrk="1" hangingPunct="1"/>
            <a:r>
              <a:rPr lang="en-GB" altLang="en-US" dirty="0" smtClean="0"/>
              <a:t>So we get something like this, given the code (append (A B) (C D)):</a:t>
            </a:r>
          </a:p>
          <a:p>
            <a:pPr eaLnBrk="1" hangingPunct="1"/>
            <a:r>
              <a:rPr lang="en-GB" altLang="en-US" dirty="0" smtClean="0"/>
              <a:t>(cons A (append (B) (C D)))</a:t>
            </a:r>
          </a:p>
          <a:p>
            <a:pPr eaLnBrk="1" hangingPunct="1"/>
            <a:r>
              <a:rPr lang="en-GB" altLang="en-US" dirty="0" smtClean="0"/>
              <a:t>Then (append (B) (C D)) =&gt; (cons B (append () (C D)))</a:t>
            </a:r>
          </a:p>
          <a:p>
            <a:pPr eaLnBrk="1" hangingPunct="1"/>
            <a:r>
              <a:rPr lang="en-GB" altLang="en-US" dirty="0" smtClean="0"/>
              <a:t>Then (append () (C D)) =&gt; (C D)</a:t>
            </a:r>
          </a:p>
          <a:p>
            <a:pPr eaLnBrk="1" hangingPunct="1"/>
            <a:endParaRPr lang="en-GB" altLang="en-US" dirty="0" smtClean="0"/>
          </a:p>
          <a:p>
            <a:pPr eaLnBrk="1" hangingPunct="1"/>
            <a:r>
              <a:rPr lang="en-GB" altLang="en-US" dirty="0" smtClean="0"/>
              <a:t>And substituting results back as the recursive calls terminate:</a:t>
            </a:r>
          </a:p>
          <a:p>
            <a:pPr eaLnBrk="1" hangingPunct="1"/>
            <a:r>
              <a:rPr lang="en-GB" altLang="en-US" dirty="0" smtClean="0"/>
              <a:t>(cons B (C D)) producing the list (B C D)</a:t>
            </a:r>
          </a:p>
          <a:p>
            <a:pPr eaLnBrk="1" hangingPunct="1"/>
            <a:r>
              <a:rPr lang="en-GB" altLang="en-US" dirty="0" smtClean="0"/>
              <a:t>(cons A (B C D)) producing the list (A B C D)</a:t>
            </a:r>
          </a:p>
          <a:p>
            <a:pPr eaLnBrk="1" hangingPunct="1"/>
            <a:endParaRPr lang="en-GB" altLang="en-US" dirty="0" smtClean="0"/>
          </a:p>
          <a:p>
            <a:pPr eaLnBrk="1" hangingPunct="1"/>
            <a:r>
              <a:rPr lang="en-GB" altLang="en-US" dirty="0" smtClean="0"/>
              <a:t>Now try to answer the question on this slide (Hint: consider what will happen if you use cons to append C to (A B), and also what will happen if you use the list function instead of cons).</a:t>
            </a:r>
          </a:p>
        </p:txBody>
      </p:sp>
    </p:spTree>
    <p:extLst>
      <p:ext uri="{BB962C8B-B14F-4D97-AF65-F5344CB8AC3E}">
        <p14:creationId xmlns:p14="http://schemas.microsoft.com/office/powerpoint/2010/main" val="14796336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Text Box 4"/>
          <p:cNvSpPr txBox="1">
            <a:spLocks noChangeArrowheads="1"/>
          </p:cNvSpPr>
          <p:nvPr/>
        </p:nvSpPr>
        <p:spPr bwMode="auto">
          <a:xfrm>
            <a:off x="7448550" y="6542088"/>
            <a:ext cx="1841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pPr algn="r">
              <a:defRPr/>
            </a:pPr>
            <a:endParaRPr lang="en-US" altLang="en-US" sz="1200" smtClean="0">
              <a:latin typeface="Courier" pitchFamily="49" charset="0"/>
            </a:endParaRPr>
          </a:p>
        </p:txBody>
      </p:sp>
      <p:sp>
        <p:nvSpPr>
          <p:cNvPr id="73730" name="Rectangle 2"/>
          <p:cNvSpPr>
            <a:spLocks noGrp="1" noChangeArrowheads="1"/>
          </p:cNvSpPr>
          <p:nvPr>
            <p:ph type="ctrTitle"/>
          </p:nvPr>
        </p:nvSpPr>
        <p:spPr>
          <a:xfrm>
            <a:off x="381000" y="1371600"/>
            <a:ext cx="3657600" cy="1143000"/>
          </a:xfrm>
        </p:spPr>
        <p:txBody>
          <a:bodyPr/>
          <a:lstStyle>
            <a:lvl1pPr>
              <a:defRPr b="1">
                <a:solidFill>
                  <a:schemeClr val="accent2"/>
                </a:solidFill>
              </a:defRPr>
            </a:lvl1pPr>
          </a:lstStyle>
          <a:p>
            <a:r>
              <a:rPr lang="en-US" dirty="0"/>
              <a:t>Click to edit Master title style</a:t>
            </a:r>
          </a:p>
        </p:txBody>
      </p:sp>
      <p:sp>
        <p:nvSpPr>
          <p:cNvPr id="73731" name="Rectangle 3"/>
          <p:cNvSpPr>
            <a:spLocks noGrp="1" noChangeArrowheads="1"/>
          </p:cNvSpPr>
          <p:nvPr>
            <p:ph type="subTitle" idx="1"/>
          </p:nvPr>
        </p:nvSpPr>
        <p:spPr>
          <a:xfrm>
            <a:off x="381000" y="3276600"/>
            <a:ext cx="3657600" cy="1752600"/>
          </a:xfrm>
        </p:spPr>
        <p:txBody>
          <a:bodyPr/>
          <a:lstStyle>
            <a:lvl1pPr marL="0" indent="0">
              <a:buFontTx/>
              <a:buNone/>
              <a:defRPr>
                <a:solidFill>
                  <a:srgbClr val="CC3300"/>
                </a:solidFill>
              </a:defRPr>
            </a:lvl1pPr>
          </a:lstStyle>
          <a:p>
            <a:r>
              <a:rPr lang="en-US" dirty="0"/>
              <a:t>Click to edit Master subtitle style</a:t>
            </a:r>
          </a:p>
        </p:txBody>
      </p:sp>
      <p:sp>
        <p:nvSpPr>
          <p:cNvPr id="6" name="Slide Number Placeholder 5"/>
          <p:cNvSpPr>
            <a:spLocks noGrp="1"/>
          </p:cNvSpPr>
          <p:nvPr>
            <p:ph type="sldNum" sz="quarter" idx="10"/>
          </p:nvPr>
        </p:nvSpPr>
        <p:spPr/>
        <p:txBody>
          <a:bodyPr/>
          <a:lstStyle>
            <a:lvl1pPr>
              <a:defRPr/>
            </a:lvl1pPr>
          </a:lstStyle>
          <a:p>
            <a:pPr>
              <a:defRPr/>
            </a:pPr>
            <a:r>
              <a:rPr lang="en-US" altLang="en-US"/>
              <a:t>1-</a:t>
            </a:r>
            <a:fld id="{4BD9F492-C94D-4E48-9F45-86C8BE70204D}" type="slidenum">
              <a:rPr lang="en-US" altLang="en-US"/>
              <a:pPr>
                <a:defRPr/>
              </a:pPr>
              <a:t>‹#›</a:t>
            </a:fld>
            <a:endParaRPr lang="en-US" altLang="en-US"/>
          </a:p>
        </p:txBody>
      </p:sp>
      <p:sp>
        <p:nvSpPr>
          <p:cNvPr id="7" name="Footer Placeholder 6"/>
          <p:cNvSpPr>
            <a:spLocks noGrp="1"/>
          </p:cNvSpPr>
          <p:nvPr>
            <p:ph type="ftr" sz="quarter" idx="11"/>
          </p:nvPr>
        </p:nvSpPr>
        <p:spPr/>
        <p:txBody>
          <a:bodyPr/>
          <a:lstStyle>
            <a:lvl1pPr>
              <a:defRPr/>
            </a:lvl1pPr>
          </a:lstStyle>
          <a:p>
            <a:pPr>
              <a:defRPr/>
            </a:pPr>
            <a:r>
              <a:rPr lang="en-US"/>
              <a:t>Copyright © 2012 Addison-Wesley. All rights reserved.</a:t>
            </a:r>
          </a:p>
        </p:txBody>
      </p:sp>
    </p:spTree>
    <p:extLst>
      <p:ext uri="{BB962C8B-B14F-4D97-AF65-F5344CB8AC3E}">
        <p14:creationId xmlns:p14="http://schemas.microsoft.com/office/powerpoint/2010/main" val="24289305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8D864D7A-05B3-4629-8E2E-1630D33CA660}" type="slidenum">
              <a:rPr lang="en-US" altLang="en-US"/>
              <a:pPr>
                <a:defRPr/>
              </a:pPr>
              <a:t>‹#›</a:t>
            </a:fld>
            <a:endParaRPr lang="en-US" altLang="en-US"/>
          </a:p>
        </p:txBody>
      </p:sp>
    </p:spTree>
    <p:extLst>
      <p:ext uri="{BB962C8B-B14F-4D97-AF65-F5344CB8AC3E}">
        <p14:creationId xmlns:p14="http://schemas.microsoft.com/office/powerpoint/2010/main" val="37604859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dirty="0"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smtClean="0"/>
              <a:t>Click to edit Master text styles</a:t>
            </a:r>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7B51FB13-B91B-4FA7-AADB-5E725FF9119B}" type="slidenum">
              <a:rPr lang="en-US" altLang="en-US"/>
              <a:pPr>
                <a:defRPr/>
              </a:pPr>
              <a:t>‹#›</a:t>
            </a:fld>
            <a:endParaRPr lang="en-US" altLang="en-US"/>
          </a:p>
        </p:txBody>
      </p:sp>
    </p:spTree>
    <p:extLst>
      <p:ext uri="{BB962C8B-B14F-4D97-AF65-F5344CB8AC3E}">
        <p14:creationId xmlns:p14="http://schemas.microsoft.com/office/powerpoint/2010/main" val="39409045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40005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62500" y="1600200"/>
            <a:ext cx="40005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324ECCE3-87AB-49A1-A38A-FA0DDF2A1A48}" type="slidenum">
              <a:rPr lang="en-US" altLang="en-US"/>
              <a:pPr>
                <a:defRPr/>
              </a:pPr>
              <a:t>‹#›</a:t>
            </a:fld>
            <a:endParaRPr lang="en-US" altLang="en-US"/>
          </a:p>
        </p:txBody>
      </p:sp>
    </p:spTree>
    <p:extLst>
      <p:ext uri="{BB962C8B-B14F-4D97-AF65-F5344CB8AC3E}">
        <p14:creationId xmlns:p14="http://schemas.microsoft.com/office/powerpoint/2010/main" val="12313250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8" name="Rectangle 5"/>
          <p:cNvSpPr>
            <a:spLocks noGrp="1" noChangeArrowheads="1"/>
          </p:cNvSpPr>
          <p:nvPr>
            <p:ph type="sldNum" sz="quarter" idx="11"/>
          </p:nvPr>
        </p:nvSpPr>
        <p:spPr>
          <a:ln/>
        </p:spPr>
        <p:txBody>
          <a:bodyPr/>
          <a:lstStyle>
            <a:lvl1pPr>
              <a:defRPr/>
            </a:lvl1pPr>
          </a:lstStyle>
          <a:p>
            <a:pPr>
              <a:defRPr/>
            </a:pPr>
            <a:r>
              <a:rPr lang="en-US" altLang="en-US"/>
              <a:t>1-</a:t>
            </a:r>
            <a:fld id="{13217127-C237-4239-83FC-7312F947063F}" type="slidenum">
              <a:rPr lang="en-US" altLang="en-US"/>
              <a:pPr>
                <a:defRPr/>
              </a:pPr>
              <a:t>‹#›</a:t>
            </a:fld>
            <a:endParaRPr lang="en-US" altLang="en-US"/>
          </a:p>
        </p:txBody>
      </p:sp>
    </p:spTree>
    <p:extLst>
      <p:ext uri="{BB962C8B-B14F-4D97-AF65-F5344CB8AC3E}">
        <p14:creationId xmlns:p14="http://schemas.microsoft.com/office/powerpoint/2010/main" val="25596477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4" name="Rectangle 5"/>
          <p:cNvSpPr>
            <a:spLocks noGrp="1" noChangeArrowheads="1"/>
          </p:cNvSpPr>
          <p:nvPr>
            <p:ph type="sldNum" sz="quarter" idx="11"/>
          </p:nvPr>
        </p:nvSpPr>
        <p:spPr>
          <a:ln/>
        </p:spPr>
        <p:txBody>
          <a:bodyPr/>
          <a:lstStyle>
            <a:lvl1pPr>
              <a:defRPr/>
            </a:lvl1pPr>
          </a:lstStyle>
          <a:p>
            <a:pPr>
              <a:defRPr/>
            </a:pPr>
            <a:r>
              <a:rPr lang="en-US" altLang="en-US"/>
              <a:t>1-</a:t>
            </a:r>
            <a:fld id="{E62BD9C9-406C-45C6-A5A7-6EFA1612077F}" type="slidenum">
              <a:rPr lang="en-US" altLang="en-US"/>
              <a:pPr>
                <a:defRPr/>
              </a:pPr>
              <a:t>‹#›</a:t>
            </a:fld>
            <a:endParaRPr lang="en-US" altLang="en-US"/>
          </a:p>
        </p:txBody>
      </p:sp>
    </p:spTree>
    <p:extLst>
      <p:ext uri="{BB962C8B-B14F-4D97-AF65-F5344CB8AC3E}">
        <p14:creationId xmlns:p14="http://schemas.microsoft.com/office/powerpoint/2010/main" val="21222947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3" name="Rectangle 5"/>
          <p:cNvSpPr>
            <a:spLocks noGrp="1" noChangeArrowheads="1"/>
          </p:cNvSpPr>
          <p:nvPr>
            <p:ph type="sldNum" sz="quarter" idx="11"/>
          </p:nvPr>
        </p:nvSpPr>
        <p:spPr>
          <a:ln/>
        </p:spPr>
        <p:txBody>
          <a:bodyPr/>
          <a:lstStyle>
            <a:lvl1pPr>
              <a:defRPr/>
            </a:lvl1pPr>
          </a:lstStyle>
          <a:p>
            <a:pPr>
              <a:defRPr/>
            </a:pPr>
            <a:r>
              <a:rPr lang="en-US" altLang="en-US"/>
              <a:t>1-</a:t>
            </a:r>
            <a:fld id="{32DD89E6-BA6D-4E0E-975E-FBC680F9A4AD}" type="slidenum">
              <a:rPr lang="en-US" altLang="en-US"/>
              <a:pPr>
                <a:defRPr/>
              </a:pPr>
              <a:t>‹#›</a:t>
            </a:fld>
            <a:endParaRPr lang="en-US" altLang="en-US"/>
          </a:p>
        </p:txBody>
      </p:sp>
    </p:spTree>
    <p:extLst>
      <p:ext uri="{BB962C8B-B14F-4D97-AF65-F5344CB8AC3E}">
        <p14:creationId xmlns:p14="http://schemas.microsoft.com/office/powerpoint/2010/main" val="780247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6D75CCFE-BEAB-4D21-98E3-D0B9C806988B}" type="slidenum">
              <a:rPr lang="en-US" altLang="en-US"/>
              <a:pPr>
                <a:defRPr/>
              </a:pPr>
              <a:t>‹#›</a:t>
            </a:fld>
            <a:endParaRPr lang="en-US" altLang="en-US"/>
          </a:p>
        </p:txBody>
      </p:sp>
    </p:spTree>
    <p:extLst>
      <p:ext uri="{BB962C8B-B14F-4D97-AF65-F5344CB8AC3E}">
        <p14:creationId xmlns:p14="http://schemas.microsoft.com/office/powerpoint/2010/main" val="10740191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D9954F60-C442-45DB-8F68-E9DC6A5ED23E}" type="slidenum">
              <a:rPr lang="en-US" altLang="en-US"/>
              <a:pPr>
                <a:defRPr/>
              </a:pPr>
              <a:t>‹#›</a:t>
            </a:fld>
            <a:endParaRPr lang="en-US" altLang="en-US"/>
          </a:p>
        </p:txBody>
      </p:sp>
    </p:spTree>
    <p:extLst>
      <p:ext uri="{BB962C8B-B14F-4D97-AF65-F5344CB8AC3E}">
        <p14:creationId xmlns:p14="http://schemas.microsoft.com/office/powerpoint/2010/main" val="28877706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38E498FC-529E-4B29-BFA7-855F80ED8FFF}" type="slidenum">
              <a:rPr lang="en-US" altLang="en-US"/>
              <a:pPr>
                <a:defRPr/>
              </a:pPr>
              <a:t>‹#›</a:t>
            </a:fld>
            <a:endParaRPr lang="en-US" altLang="en-US"/>
          </a:p>
        </p:txBody>
      </p:sp>
    </p:spTree>
    <p:extLst>
      <p:ext uri="{BB962C8B-B14F-4D97-AF65-F5344CB8AC3E}">
        <p14:creationId xmlns:p14="http://schemas.microsoft.com/office/powerpoint/2010/main" val="24396913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24650" y="381000"/>
            <a:ext cx="2038350" cy="57912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381000"/>
            <a:ext cx="5962650" cy="5791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73D1268C-ECC3-43A3-A3A0-F4BFEC5FED4E}" type="slidenum">
              <a:rPr lang="en-US" altLang="en-US"/>
              <a:pPr>
                <a:defRPr/>
              </a:pPr>
              <a:t>‹#›</a:t>
            </a:fld>
            <a:endParaRPr lang="en-US" altLang="en-US"/>
          </a:p>
        </p:txBody>
      </p:sp>
    </p:spTree>
    <p:extLst>
      <p:ext uri="{BB962C8B-B14F-4D97-AF65-F5344CB8AC3E}">
        <p14:creationId xmlns:p14="http://schemas.microsoft.com/office/powerpoint/2010/main" val="3212033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381000"/>
            <a:ext cx="8153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09600" y="1600200"/>
            <a:ext cx="8153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72708" name="Rectangle 4"/>
          <p:cNvSpPr>
            <a:spLocks noGrp="1" noChangeArrowheads="1"/>
          </p:cNvSpPr>
          <p:nvPr>
            <p:ph type="ftr" sz="quarter" idx="3"/>
          </p:nvPr>
        </p:nvSpPr>
        <p:spPr bwMode="auto">
          <a:xfrm>
            <a:off x="685800" y="6248400"/>
            <a:ext cx="4191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000">
                <a:latin typeface="Arial" charset="0"/>
                <a:ea typeface="+mn-ea"/>
                <a:cs typeface="+mn-cs"/>
              </a:defRPr>
            </a:lvl1pPr>
          </a:lstStyle>
          <a:p>
            <a:pPr>
              <a:defRPr/>
            </a:pPr>
            <a:r>
              <a:rPr lang="en-US"/>
              <a:t>Copyright © 2012 Addison-Wesley. All rights reserved.</a:t>
            </a:r>
          </a:p>
        </p:txBody>
      </p:sp>
      <p:sp>
        <p:nvSpPr>
          <p:cNvPr id="72709" name="Rectangle 5"/>
          <p:cNvSpPr>
            <a:spLocks noGrp="1" noChangeArrowheads="1"/>
          </p:cNvSpPr>
          <p:nvPr>
            <p:ph type="sldNum" sz="quarter" idx="4"/>
          </p:nvPr>
        </p:nvSpPr>
        <p:spPr bwMode="auto">
          <a:xfrm>
            <a:off x="6934200"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000">
                <a:latin typeface="Arial" panose="020B0604020202020204" pitchFamily="34" charset="0"/>
                <a:ea typeface="+mn-ea"/>
                <a:cs typeface="+mn-cs"/>
              </a:defRPr>
            </a:lvl1pPr>
          </a:lstStyle>
          <a:p>
            <a:pPr>
              <a:defRPr/>
            </a:pPr>
            <a:r>
              <a:rPr lang="en-US" altLang="en-US"/>
              <a:t>1-</a:t>
            </a:r>
            <a:fld id="{13F8B0F9-8E54-4F9B-8F51-E8A3B34435D2}" type="slidenum">
              <a:rPr lang="en-US" altLang="en-US"/>
              <a:pPr>
                <a:defRPr/>
              </a:pPr>
              <a:t>‹#›</a:t>
            </a:fld>
            <a:endParaRPr lang="en-US" altLang="en-US"/>
          </a:p>
        </p:txBody>
      </p:sp>
      <p:sp>
        <p:nvSpPr>
          <p:cNvPr id="1030" name="Line 6"/>
          <p:cNvSpPr>
            <a:spLocks noChangeShapeType="1"/>
          </p:cNvSpPr>
          <p:nvPr/>
        </p:nvSpPr>
        <p:spPr bwMode="auto">
          <a:xfrm>
            <a:off x="609600" y="15240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ZA"/>
          </a:p>
        </p:txBody>
      </p:sp>
      <p:sp>
        <p:nvSpPr>
          <p:cNvPr id="1031" name="Line 7"/>
          <p:cNvSpPr>
            <a:spLocks noChangeShapeType="1"/>
          </p:cNvSpPr>
          <p:nvPr/>
        </p:nvSpPr>
        <p:spPr bwMode="auto">
          <a:xfrm>
            <a:off x="609600" y="1219200"/>
            <a:ext cx="8153400" cy="0"/>
          </a:xfrm>
          <a:prstGeom prst="line">
            <a:avLst/>
          </a:prstGeom>
          <a:noFill/>
          <a:ln w="57150">
            <a:solidFill>
              <a:srgbClr val="CC3300"/>
            </a:solidFill>
            <a:round/>
            <a:headEnd/>
            <a:tailEnd/>
          </a:ln>
          <a:extLst>
            <a:ext uri="{909E8E84-426E-40DD-AFC4-6F175D3DCCD1}">
              <a14:hiddenFill xmlns:a14="http://schemas.microsoft.com/office/drawing/2010/main">
                <a:noFill/>
              </a14:hiddenFill>
            </a:ext>
          </a:extLst>
        </p:spPr>
        <p:txBody>
          <a:bodyPr/>
          <a:lstStyle/>
          <a:p>
            <a:endParaRPr lang="en-ZA"/>
          </a:p>
        </p:txBody>
      </p:sp>
    </p:spTree>
  </p:cSld>
  <p:clrMap bg1="lt1" tx1="dk1" bg2="lt2" tx2="dk2" accent1="accent1" accent2="accent2" accent3="accent3" accent4="accent4" accent5="accent5" accent6="accent6" hlink="hlink" folHlink="folHlink"/>
  <p:sldLayoutIdLst>
    <p:sldLayoutId id="2147483939" r:id="rId1"/>
    <p:sldLayoutId id="2147483929" r:id="rId2"/>
    <p:sldLayoutId id="2147483930" r:id="rId3"/>
    <p:sldLayoutId id="2147483931" r:id="rId4"/>
    <p:sldLayoutId id="2147483932" r:id="rId5"/>
    <p:sldLayoutId id="2147483933" r:id="rId6"/>
    <p:sldLayoutId id="2147483934" r:id="rId7"/>
    <p:sldLayoutId id="2147483935" r:id="rId8"/>
    <p:sldLayoutId id="2147483936" r:id="rId9"/>
    <p:sldLayoutId id="2147483937" r:id="rId10"/>
    <p:sldLayoutId id="2147483938" r:id="rId11"/>
  </p:sldLayoutIdLst>
  <p:hf hdr="0" dt="0"/>
  <p:txStyles>
    <p:titleStyle>
      <a:lvl1pPr algn="l" rtl="0" eaLnBrk="0" fontAlgn="base" hangingPunct="0">
        <a:spcBef>
          <a:spcPct val="0"/>
        </a:spcBef>
        <a:spcAft>
          <a:spcPct val="0"/>
        </a:spcAft>
        <a:defRPr sz="3600">
          <a:solidFill>
            <a:srgbClr val="666699"/>
          </a:solidFill>
          <a:latin typeface="+mj-lt"/>
          <a:ea typeface="+mj-ea"/>
          <a:cs typeface="+mj-cs"/>
        </a:defRPr>
      </a:lvl1pPr>
      <a:lvl2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2pPr>
      <a:lvl3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3pPr>
      <a:lvl4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4pPr>
      <a:lvl5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5pPr>
      <a:lvl6pPr marL="4572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6pPr>
      <a:lvl7pPr marL="9144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7pPr>
      <a:lvl8pPr marL="13716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8pPr>
      <a:lvl9pPr marL="18288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9pPr>
    </p:titleStyle>
    <p:bodyStyle>
      <a:lvl1pPr marL="342900" indent="-342900" algn="l" rtl="0" eaLnBrk="0" fontAlgn="base" hangingPunct="0">
        <a:spcBef>
          <a:spcPct val="20000"/>
        </a:spcBef>
        <a:spcAft>
          <a:spcPct val="0"/>
        </a:spcAft>
        <a:buChar char="•"/>
        <a:defRPr sz="28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400">
          <a:solidFill>
            <a:schemeClr val="accent2"/>
          </a:solidFill>
          <a:latin typeface="+mn-lt"/>
          <a:ea typeface="+mn-ea"/>
          <a:cs typeface="+mn-cs"/>
        </a:defRPr>
      </a:lvl2pPr>
      <a:lvl3pPr marL="1143000" indent="-228600" algn="l" rtl="0" eaLnBrk="0" fontAlgn="base" hangingPunct="0">
        <a:spcBef>
          <a:spcPct val="20000"/>
        </a:spcBef>
        <a:spcAft>
          <a:spcPct val="0"/>
        </a:spcAft>
        <a:buChar char="•"/>
        <a:defRPr sz="21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a:solidFill>
            <a:schemeClr val="accent2"/>
          </a:solidFill>
          <a:latin typeface="+mn-lt"/>
          <a:ea typeface="+mn-ea"/>
          <a:cs typeface="+mn-cs"/>
        </a:defRPr>
      </a:lvl4pPr>
      <a:lvl5pPr marL="2057400" indent="-228600" algn="l" rtl="0" eaLnBrk="0" fontAlgn="base" hangingPunct="0">
        <a:spcBef>
          <a:spcPct val="20000"/>
        </a:spcBef>
        <a:spcAft>
          <a:spcPct val="0"/>
        </a:spcAft>
        <a:buChar char="»"/>
        <a:defRPr sz="2000">
          <a:solidFill>
            <a:srgbClr val="666699"/>
          </a:solidFill>
          <a:latin typeface="+mn-lt"/>
          <a:ea typeface="+mn-ea"/>
          <a:cs typeface="+mn-cs"/>
        </a:defRPr>
      </a:lvl5pPr>
      <a:lvl6pPr marL="2514600" indent="-228600" algn="l" rtl="0" fontAlgn="base">
        <a:spcBef>
          <a:spcPct val="20000"/>
        </a:spcBef>
        <a:spcAft>
          <a:spcPct val="0"/>
        </a:spcAft>
        <a:buChar char="»"/>
        <a:defRPr>
          <a:solidFill>
            <a:srgbClr val="666699"/>
          </a:solidFill>
          <a:latin typeface="+mn-lt"/>
          <a:ea typeface="+mn-ea"/>
          <a:cs typeface="+mn-cs"/>
        </a:defRPr>
      </a:lvl6pPr>
      <a:lvl7pPr marL="2971800" indent="-228600" algn="l" rtl="0" fontAlgn="base">
        <a:spcBef>
          <a:spcPct val="20000"/>
        </a:spcBef>
        <a:spcAft>
          <a:spcPct val="0"/>
        </a:spcAft>
        <a:buChar char="»"/>
        <a:defRPr>
          <a:solidFill>
            <a:srgbClr val="666699"/>
          </a:solidFill>
          <a:latin typeface="+mn-lt"/>
          <a:ea typeface="+mn-ea"/>
          <a:cs typeface="+mn-cs"/>
        </a:defRPr>
      </a:lvl7pPr>
      <a:lvl8pPr marL="3429000" indent="-228600" algn="l" rtl="0" fontAlgn="base">
        <a:spcBef>
          <a:spcPct val="20000"/>
        </a:spcBef>
        <a:spcAft>
          <a:spcPct val="0"/>
        </a:spcAft>
        <a:buChar char="»"/>
        <a:defRPr>
          <a:solidFill>
            <a:srgbClr val="666699"/>
          </a:solidFill>
          <a:latin typeface="+mn-lt"/>
          <a:ea typeface="+mn-ea"/>
          <a:cs typeface="+mn-cs"/>
        </a:defRPr>
      </a:lvl8pPr>
      <a:lvl9pPr marL="3886200" indent="-228600" algn="l" rtl="0" fontAlgn="base">
        <a:spcBef>
          <a:spcPct val="20000"/>
        </a:spcBef>
        <a:spcAft>
          <a:spcPct val="0"/>
        </a:spcAft>
        <a:buChar char="»"/>
        <a:defRPr>
          <a:solidFill>
            <a:srgbClr val="666699"/>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Grp="1" noChangeArrowheads="1"/>
          </p:cNvSpPr>
          <p:nvPr>
            <p:ph type="ctrTitle"/>
          </p:nvPr>
        </p:nvSpPr>
        <p:spPr/>
        <p:txBody>
          <a:bodyPr/>
          <a:lstStyle/>
          <a:p>
            <a:pPr eaLnBrk="1" hangingPunct="1"/>
            <a:r>
              <a:rPr lang="en-ZA" altLang="en-US" noProof="0" dirty="0" smtClean="0"/>
              <a:t>Chapter 15</a:t>
            </a:r>
            <a:br>
              <a:rPr lang="en-ZA" altLang="en-US" noProof="0" dirty="0" smtClean="0"/>
            </a:br>
            <a:r>
              <a:rPr lang="en-ZA" altLang="en-US" sz="2800" dirty="0" smtClean="0"/>
              <a:t>Part 2</a:t>
            </a:r>
            <a:endParaRPr lang="en-ZA" altLang="en-US" sz="2800" noProof="0" dirty="0" smtClean="0"/>
          </a:p>
        </p:txBody>
      </p:sp>
      <p:sp>
        <p:nvSpPr>
          <p:cNvPr id="5123" name="Rectangle 5"/>
          <p:cNvSpPr>
            <a:spLocks noGrp="1" noChangeArrowheads="1"/>
          </p:cNvSpPr>
          <p:nvPr>
            <p:ph type="subTitle" idx="1"/>
          </p:nvPr>
        </p:nvSpPr>
        <p:spPr/>
        <p:txBody>
          <a:bodyPr/>
          <a:lstStyle/>
          <a:p>
            <a:pPr eaLnBrk="1" hangingPunct="1"/>
            <a:r>
              <a:rPr lang="en-ZA" altLang="en-US" noProof="0" dirty="0" smtClean="0"/>
              <a:t>Functional Programming Languages</a:t>
            </a:r>
          </a:p>
        </p:txBody>
      </p:sp>
      <p:pic>
        <p:nvPicPr>
          <p:cNvPr id="5" name="Picture 8" descr="Front Cover: Concepts of Programming Languages, Global Edition, by Robert W Sebesta&#10;"/>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19600" y="0"/>
            <a:ext cx="4724400" cy="5867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10811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dirty="0" smtClean="0">
                <a:solidFill>
                  <a:schemeClr val="tx1"/>
                </a:solidFill>
                <a:latin typeface="Arial" panose="020B0604020202020204" pitchFamily="34" charset="0"/>
              </a:rPr>
              <a:t>Copyright © 2023 Addison-Wesley. All rights reserved.</a:t>
            </a:r>
          </a:p>
        </p:txBody>
      </p:sp>
      <p:sp>
        <p:nvSpPr>
          <p:cNvPr id="614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DC201F67-919E-4203-A255-C2668DF92B25}" type="slidenum">
              <a:rPr lang="en-US" altLang="en-US" sz="1000" smtClean="0">
                <a:solidFill>
                  <a:schemeClr val="tx1"/>
                </a:solidFill>
                <a:latin typeface="Arial" panose="020B0604020202020204" pitchFamily="34" charset="0"/>
              </a:rPr>
              <a:pPr>
                <a:spcBef>
                  <a:spcPct val="0"/>
                </a:spcBef>
                <a:buFontTx/>
                <a:buNone/>
              </a:pPr>
              <a:t>2</a:t>
            </a:fld>
            <a:endParaRPr lang="en-US" altLang="en-US" sz="1000" smtClean="0">
              <a:solidFill>
                <a:schemeClr val="tx1"/>
              </a:solidFill>
              <a:latin typeface="Arial" panose="020B0604020202020204" pitchFamily="34" charset="0"/>
            </a:endParaRPr>
          </a:p>
        </p:txBody>
      </p:sp>
      <p:sp>
        <p:nvSpPr>
          <p:cNvPr id="6148" name="Rectangle 4"/>
          <p:cNvSpPr>
            <a:spLocks noGrp="1" noChangeArrowheads="1"/>
          </p:cNvSpPr>
          <p:nvPr>
            <p:ph type="title"/>
          </p:nvPr>
        </p:nvSpPr>
        <p:spPr/>
        <p:txBody>
          <a:bodyPr/>
          <a:lstStyle/>
          <a:p>
            <a:pPr eaLnBrk="1" hangingPunct="1"/>
            <a:r>
              <a:rPr lang="en-US" altLang="en-US" smtClean="0"/>
              <a:t>Chapter 15 Topics</a:t>
            </a:r>
          </a:p>
        </p:txBody>
      </p:sp>
      <p:sp>
        <p:nvSpPr>
          <p:cNvPr id="6149" name="Rectangle 5"/>
          <p:cNvSpPr>
            <a:spLocks noGrp="1" noChangeArrowheads="1"/>
          </p:cNvSpPr>
          <p:nvPr>
            <p:ph type="body" idx="1"/>
          </p:nvPr>
        </p:nvSpPr>
        <p:spPr>
          <a:xfrm>
            <a:off x="609600" y="1361090"/>
            <a:ext cx="8305800" cy="4800600"/>
          </a:xfrm>
        </p:spPr>
        <p:txBody>
          <a:bodyPr/>
          <a:lstStyle/>
          <a:p>
            <a:pPr eaLnBrk="1" hangingPunct="1"/>
            <a:r>
              <a:rPr lang="en-US" altLang="en-US" sz="2200" dirty="0" smtClean="0"/>
              <a:t>Introduction to Scheme</a:t>
            </a:r>
          </a:p>
          <a:p>
            <a:pPr lvl="1" eaLnBrk="1" hangingPunct="1"/>
            <a:r>
              <a:rPr lang="en-ZA" altLang="en-US" sz="1800" dirty="0" smtClean="0"/>
              <a:t>List </a:t>
            </a:r>
            <a:r>
              <a:rPr lang="en-ZA" altLang="en-US" sz="1800" dirty="0"/>
              <a:t>Functions</a:t>
            </a:r>
          </a:p>
          <a:p>
            <a:pPr lvl="1" eaLnBrk="1" hangingPunct="1"/>
            <a:r>
              <a:rPr lang="en-ZA" altLang="en-US" sz="1800" dirty="0"/>
              <a:t>Predicate </a:t>
            </a:r>
            <a:r>
              <a:rPr lang="en-ZA" altLang="en-US" sz="1800" dirty="0" smtClean="0"/>
              <a:t>Functions for Lists</a:t>
            </a:r>
          </a:p>
          <a:p>
            <a:pPr lvl="1" eaLnBrk="1" hangingPunct="1"/>
            <a:r>
              <a:rPr lang="en-ZA" altLang="en-US" sz="1800" dirty="0" smtClean="0"/>
              <a:t>Predicate Functions for Equivalence</a:t>
            </a:r>
            <a:endParaRPr lang="en-ZA" altLang="en-US" sz="1800" dirty="0"/>
          </a:p>
          <a:p>
            <a:pPr lvl="1" eaLnBrk="1" hangingPunct="1"/>
            <a:r>
              <a:rPr lang="en-ZA" altLang="en-US" sz="1800" dirty="0"/>
              <a:t>The </a:t>
            </a:r>
            <a:r>
              <a:rPr lang="en-ZA" altLang="en-US" sz="1800" dirty="0" smtClean="0">
                <a:latin typeface="Courier New" panose="02070309020205020404" pitchFamily="49" charset="0"/>
                <a:cs typeface="Courier New" panose="02070309020205020404" pitchFamily="49" charset="0"/>
              </a:rPr>
              <a:t>let</a:t>
            </a:r>
            <a:r>
              <a:rPr lang="en-ZA" altLang="en-US" sz="1800" dirty="0" smtClean="0"/>
              <a:t> </a:t>
            </a:r>
            <a:r>
              <a:rPr lang="en-ZA" altLang="en-US" sz="1800" dirty="0"/>
              <a:t>Function</a:t>
            </a:r>
          </a:p>
          <a:p>
            <a:pPr lvl="1" eaLnBrk="1" hangingPunct="1"/>
            <a:r>
              <a:rPr lang="en-ZA" altLang="en-US" sz="1800" dirty="0"/>
              <a:t>Example Scheme </a:t>
            </a:r>
            <a:r>
              <a:rPr lang="en-ZA" altLang="en-US" sz="1800" dirty="0" smtClean="0"/>
              <a:t>Functions</a:t>
            </a:r>
            <a:endParaRPr lang="en-ZA" altLang="en-US" sz="18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ZA" altLang="en-US" dirty="0" smtClean="0"/>
              <a:t>List Functions: </a:t>
            </a:r>
            <a:r>
              <a:rPr lang="en-ZA" altLang="en-US" dirty="0" smtClean="0">
                <a:latin typeface="Courier New" panose="02070309020205020404" pitchFamily="49" charset="0"/>
              </a:rPr>
              <a:t>quote</a:t>
            </a:r>
            <a:endParaRPr lang="en-GB" altLang="en-US" dirty="0" smtClean="0"/>
          </a:p>
        </p:txBody>
      </p:sp>
      <p:sp>
        <p:nvSpPr>
          <p:cNvPr id="38915" name="Rectangle 3"/>
          <p:cNvSpPr>
            <a:spLocks noGrp="1" noChangeArrowheads="1"/>
          </p:cNvSpPr>
          <p:nvPr>
            <p:ph type="body" idx="1"/>
          </p:nvPr>
        </p:nvSpPr>
        <p:spPr>
          <a:xfrm>
            <a:off x="630620" y="1374230"/>
            <a:ext cx="8360980" cy="4572000"/>
          </a:xfrm>
        </p:spPr>
        <p:txBody>
          <a:bodyPr/>
          <a:lstStyle/>
          <a:p>
            <a:pPr eaLnBrk="1" hangingPunct="1">
              <a:lnSpc>
                <a:spcPct val="90000"/>
              </a:lnSpc>
            </a:pPr>
            <a:r>
              <a:rPr lang="en-US" altLang="en-US" sz="2400" dirty="0" smtClean="0"/>
              <a:t>The Scheme interpreter</a:t>
            </a:r>
          </a:p>
          <a:p>
            <a:pPr lvl="1" eaLnBrk="1" hangingPunct="1">
              <a:lnSpc>
                <a:spcPct val="90000"/>
              </a:lnSpc>
            </a:pPr>
            <a:r>
              <a:rPr lang="en-US" altLang="en-US" sz="2000" dirty="0" smtClean="0"/>
              <a:t>Always evaluates parameters of function applications</a:t>
            </a:r>
          </a:p>
          <a:p>
            <a:pPr eaLnBrk="1" hangingPunct="1">
              <a:lnSpc>
                <a:spcPct val="90000"/>
              </a:lnSpc>
            </a:pPr>
            <a:endParaRPr lang="en-US" altLang="en-US" sz="800" dirty="0" smtClean="0"/>
          </a:p>
          <a:p>
            <a:pPr eaLnBrk="1" hangingPunct="1">
              <a:lnSpc>
                <a:spcPct val="90000"/>
              </a:lnSpc>
            </a:pPr>
            <a:r>
              <a:rPr lang="en-US" altLang="en-US" sz="2400" dirty="0" smtClean="0"/>
              <a:t>Lists have the same form as functions</a:t>
            </a:r>
          </a:p>
          <a:p>
            <a:pPr lvl="1" eaLnBrk="1" hangingPunct="1">
              <a:lnSpc>
                <a:spcPct val="90000"/>
              </a:lnSpc>
            </a:pPr>
            <a:r>
              <a:rPr lang="en-US" altLang="en-US" sz="2000" dirty="0" smtClean="0">
                <a:solidFill>
                  <a:srgbClr val="666699"/>
                </a:solidFill>
                <a:latin typeface="Courier New" panose="02070309020205020404" pitchFamily="49" charset="0"/>
              </a:rPr>
              <a:t>(a b c)</a:t>
            </a:r>
            <a:r>
              <a:rPr lang="en-US" altLang="en-US" sz="2000" dirty="0" smtClean="0">
                <a:latin typeface="Courier New" panose="02070309020205020404" pitchFamily="49" charset="0"/>
              </a:rPr>
              <a:t> </a:t>
            </a:r>
            <a:r>
              <a:rPr lang="en-US" altLang="en-US" sz="2000" dirty="0" smtClean="0"/>
              <a:t>versus</a:t>
            </a:r>
            <a:r>
              <a:rPr lang="en-US" altLang="en-US" sz="2000" dirty="0" smtClean="0">
                <a:latin typeface="Courier New" panose="02070309020205020404" pitchFamily="49" charset="0"/>
              </a:rPr>
              <a:t> </a:t>
            </a:r>
            <a:r>
              <a:rPr lang="en-US" altLang="en-US" sz="2000" dirty="0" smtClean="0">
                <a:solidFill>
                  <a:srgbClr val="666699"/>
                </a:solidFill>
                <a:latin typeface="Courier New" panose="02070309020205020404" pitchFamily="49" charset="0"/>
              </a:rPr>
              <a:t>(member </a:t>
            </a:r>
            <a:r>
              <a:rPr lang="en-US" altLang="en-US" sz="2000" dirty="0" smtClean="0">
                <a:solidFill>
                  <a:srgbClr val="666699"/>
                </a:solidFill>
                <a:latin typeface="Courier New" panose="02070309020205020404" pitchFamily="49" charset="0"/>
              </a:rPr>
              <a:t>a </a:t>
            </a:r>
            <a:r>
              <a:rPr lang="en-US" altLang="en-US" sz="2000" dirty="0" smtClean="0">
                <a:solidFill>
                  <a:srgbClr val="666699"/>
                </a:solidFill>
                <a:latin typeface="Courier New" panose="02070309020205020404" pitchFamily="49" charset="0"/>
              </a:rPr>
              <a:t>list)</a:t>
            </a:r>
          </a:p>
          <a:p>
            <a:pPr lvl="1" eaLnBrk="1" hangingPunct="1">
              <a:lnSpc>
                <a:spcPct val="90000"/>
              </a:lnSpc>
            </a:pPr>
            <a:r>
              <a:rPr lang="en-US" altLang="en-US" sz="2000" dirty="0" smtClean="0"/>
              <a:t>Lists should </a:t>
            </a:r>
            <a:r>
              <a:rPr lang="en-US" altLang="en-US" sz="2000" u="sng" dirty="0" smtClean="0"/>
              <a:t>not</a:t>
            </a:r>
            <a:r>
              <a:rPr lang="en-US" altLang="en-US" sz="2000" dirty="0" smtClean="0"/>
              <a:t> be evaluated when they are parameters</a:t>
            </a:r>
          </a:p>
          <a:p>
            <a:pPr eaLnBrk="1" hangingPunct="1">
              <a:lnSpc>
                <a:spcPct val="90000"/>
              </a:lnSpc>
            </a:pPr>
            <a:endParaRPr lang="en-US" altLang="en-US" sz="800" dirty="0" smtClean="0"/>
          </a:p>
          <a:p>
            <a:pPr eaLnBrk="1" hangingPunct="1">
              <a:lnSpc>
                <a:spcPct val="90000"/>
              </a:lnSpc>
            </a:pPr>
            <a:r>
              <a:rPr lang="en-US" altLang="en-US" sz="2400" dirty="0" smtClean="0"/>
              <a:t>The </a:t>
            </a:r>
            <a:r>
              <a:rPr lang="en-US" altLang="en-US" sz="2400" dirty="0" smtClean="0">
                <a:latin typeface="Courier New" panose="02070309020205020404" pitchFamily="49" charset="0"/>
              </a:rPr>
              <a:t>quote</a:t>
            </a:r>
            <a:r>
              <a:rPr lang="en-US" altLang="en-US" sz="2400" dirty="0" smtClean="0"/>
              <a:t> primitive function</a:t>
            </a:r>
          </a:p>
          <a:p>
            <a:pPr lvl="1" eaLnBrk="1" hangingPunct="1">
              <a:lnSpc>
                <a:spcPct val="90000"/>
              </a:lnSpc>
            </a:pPr>
            <a:r>
              <a:rPr lang="en-US" altLang="en-US" sz="2000" dirty="0" smtClean="0"/>
              <a:t>Used to avoid parameter evaluation when not appropriate</a:t>
            </a:r>
          </a:p>
          <a:p>
            <a:pPr lvl="1" eaLnBrk="1" hangingPunct="1">
              <a:lnSpc>
                <a:spcPct val="90000"/>
              </a:lnSpc>
            </a:pPr>
            <a:r>
              <a:rPr lang="en-US" altLang="en-US" sz="2000" dirty="0" smtClean="0"/>
              <a:t>Takes one parameter, returns parameter without evaluation</a:t>
            </a:r>
          </a:p>
          <a:p>
            <a:pPr lvl="1" eaLnBrk="1" hangingPunct="1">
              <a:lnSpc>
                <a:spcPct val="90000"/>
              </a:lnSpc>
            </a:pPr>
            <a:r>
              <a:rPr lang="en-US" altLang="en-US" sz="2000" dirty="0" smtClean="0"/>
              <a:t>For example</a:t>
            </a:r>
          </a:p>
          <a:p>
            <a:pPr lvl="1" eaLnBrk="1" hangingPunct="1">
              <a:lnSpc>
                <a:spcPct val="90000"/>
              </a:lnSpc>
              <a:buFontTx/>
              <a:buNone/>
            </a:pPr>
            <a:r>
              <a:rPr lang="en-US" altLang="en-US" sz="1800" dirty="0" smtClean="0"/>
              <a:t>		 </a:t>
            </a:r>
            <a:r>
              <a:rPr lang="en-US" altLang="en-US" sz="1800" dirty="0" smtClean="0">
                <a:solidFill>
                  <a:srgbClr val="666699"/>
                </a:solidFill>
                <a:latin typeface="Courier New" panose="02070309020205020404" pitchFamily="49" charset="0"/>
              </a:rPr>
              <a:t>(foo (quote </a:t>
            </a:r>
            <a:r>
              <a:rPr lang="en-US" altLang="en-US" sz="1800" dirty="0" smtClean="0">
                <a:solidFill>
                  <a:srgbClr val="666699"/>
                </a:solidFill>
                <a:latin typeface="Courier New" panose="02070309020205020404" pitchFamily="49" charset="0"/>
              </a:rPr>
              <a:t>(a b c)))</a:t>
            </a:r>
            <a:r>
              <a:rPr lang="en-US" altLang="en-US" sz="1800" dirty="0" smtClean="0">
                <a:latin typeface="Courier New" panose="02070309020205020404" pitchFamily="49" charset="0"/>
              </a:rPr>
              <a:t> </a:t>
            </a:r>
            <a:r>
              <a:rPr lang="en-US" altLang="en-US" sz="1800" dirty="0" smtClean="0"/>
              <a:t>rather than</a:t>
            </a:r>
            <a:r>
              <a:rPr lang="en-US" altLang="en-US" sz="1800" dirty="0" smtClean="0">
                <a:latin typeface="Courier New" panose="02070309020205020404" pitchFamily="49" charset="0"/>
              </a:rPr>
              <a:t> </a:t>
            </a:r>
            <a:r>
              <a:rPr lang="en-US" altLang="en-US" sz="1800" dirty="0" smtClean="0">
                <a:solidFill>
                  <a:srgbClr val="666699"/>
                </a:solidFill>
                <a:latin typeface="Courier New" panose="02070309020205020404" pitchFamily="49" charset="0"/>
              </a:rPr>
              <a:t>(foo </a:t>
            </a:r>
            <a:r>
              <a:rPr lang="en-US" altLang="en-US" sz="1800" dirty="0" smtClean="0">
                <a:solidFill>
                  <a:srgbClr val="666699"/>
                </a:solidFill>
                <a:latin typeface="Courier New" panose="02070309020205020404" pitchFamily="49" charset="0"/>
              </a:rPr>
              <a:t>(a b c))</a:t>
            </a:r>
            <a:endParaRPr lang="en-US" altLang="en-US" sz="1800" dirty="0" smtClean="0">
              <a:solidFill>
                <a:srgbClr val="666699"/>
              </a:solidFill>
              <a:latin typeface="Courier New" panose="02070309020205020404" pitchFamily="49" charset="0"/>
            </a:endParaRPr>
          </a:p>
          <a:p>
            <a:pPr lvl="1" eaLnBrk="1" hangingPunct="1">
              <a:lnSpc>
                <a:spcPct val="90000"/>
              </a:lnSpc>
            </a:pPr>
            <a:endParaRPr lang="en-US" altLang="en-US" sz="400" dirty="0" smtClean="0"/>
          </a:p>
          <a:p>
            <a:pPr lvl="1" eaLnBrk="1" hangingPunct="1">
              <a:lnSpc>
                <a:spcPct val="90000"/>
              </a:lnSpc>
            </a:pPr>
            <a:r>
              <a:rPr lang="en-US" altLang="en-US" sz="2000" dirty="0" smtClean="0"/>
              <a:t>Can be abbreviated with the apostrophe prefix operator</a:t>
            </a:r>
          </a:p>
          <a:p>
            <a:pPr lvl="1" eaLnBrk="1" hangingPunct="1">
              <a:lnSpc>
                <a:spcPct val="90000"/>
              </a:lnSpc>
              <a:buFontTx/>
              <a:buNone/>
            </a:pPr>
            <a:r>
              <a:rPr lang="en-US" altLang="en-US" sz="1800" dirty="0" smtClean="0">
                <a:latin typeface="Courier New" panose="02070309020205020404" pitchFamily="49" charset="0"/>
              </a:rPr>
              <a:t>		 </a:t>
            </a:r>
            <a:r>
              <a:rPr lang="en-US" altLang="en-US" sz="1800" dirty="0" smtClean="0">
                <a:solidFill>
                  <a:srgbClr val="666699"/>
                </a:solidFill>
                <a:latin typeface="Courier New" panose="02070309020205020404" pitchFamily="49" charset="0"/>
              </a:rPr>
              <a:t>'(</a:t>
            </a:r>
            <a:r>
              <a:rPr lang="en-US" altLang="en-US" sz="1800" dirty="0">
                <a:solidFill>
                  <a:srgbClr val="666699"/>
                </a:solidFill>
                <a:latin typeface="Courier New" panose="02070309020205020404" pitchFamily="49" charset="0"/>
              </a:rPr>
              <a:t>a</a:t>
            </a:r>
            <a:r>
              <a:rPr lang="en-US" altLang="en-US" sz="1800" dirty="0" smtClean="0">
                <a:solidFill>
                  <a:srgbClr val="666699"/>
                </a:solidFill>
                <a:latin typeface="Courier New" panose="02070309020205020404" pitchFamily="49" charset="0"/>
              </a:rPr>
              <a:t> b)</a:t>
            </a:r>
            <a:r>
              <a:rPr lang="en-US" altLang="en-US" sz="1800" dirty="0" smtClean="0"/>
              <a:t> </a:t>
            </a:r>
            <a:r>
              <a:rPr lang="en-US" altLang="en-US" sz="1800" dirty="0" smtClean="0"/>
              <a:t>is equivalent to </a:t>
            </a:r>
            <a:r>
              <a:rPr lang="en-US" altLang="en-US" sz="1800" dirty="0" smtClean="0">
                <a:solidFill>
                  <a:srgbClr val="666699"/>
                </a:solidFill>
                <a:latin typeface="Courier New" panose="02070309020205020404" pitchFamily="49" charset="0"/>
              </a:rPr>
              <a:t>(quote </a:t>
            </a:r>
            <a:r>
              <a:rPr lang="en-US" altLang="en-US" sz="1800" dirty="0" smtClean="0">
                <a:solidFill>
                  <a:srgbClr val="666699"/>
                </a:solidFill>
                <a:latin typeface="Courier New" panose="02070309020205020404" pitchFamily="49" charset="0"/>
              </a:rPr>
              <a:t>(a b))</a:t>
            </a:r>
            <a:endParaRPr lang="en-GB" altLang="en-US" sz="1800" dirty="0" smtClean="0">
              <a:solidFill>
                <a:srgbClr val="666699"/>
              </a:solidFill>
              <a:latin typeface="Courier New" panose="02070309020205020404" pitchFamily="49" charset="0"/>
            </a:endParaRPr>
          </a:p>
        </p:txBody>
      </p:sp>
      <p:sp>
        <p:nvSpPr>
          <p:cNvPr id="38916" name="Footer Placeholder 3"/>
          <p:cNvSpPr txBox="1">
            <a:spLocks noGrp="1"/>
          </p:cNvSpPr>
          <p:nvPr/>
        </p:nvSpPr>
        <p:spPr bwMode="auto">
          <a:xfrm>
            <a:off x="685800" y="6248400"/>
            <a:ext cx="419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dirty="0">
                <a:solidFill>
                  <a:schemeClr val="tx1"/>
                </a:solidFill>
                <a:latin typeface="Arial" panose="020B0604020202020204" pitchFamily="34" charset="0"/>
              </a:rPr>
              <a:t>Copyright © </a:t>
            </a:r>
            <a:r>
              <a:rPr lang="en-US" altLang="en-US" sz="1000" dirty="0" smtClean="0">
                <a:solidFill>
                  <a:schemeClr val="tx1"/>
                </a:solidFill>
                <a:latin typeface="Arial" panose="020B0604020202020204" pitchFamily="34" charset="0"/>
              </a:rPr>
              <a:t>2023 </a:t>
            </a:r>
            <a:r>
              <a:rPr lang="en-US" altLang="en-US" sz="1000" dirty="0">
                <a:solidFill>
                  <a:schemeClr val="tx1"/>
                </a:solidFill>
                <a:latin typeface="Arial" panose="020B0604020202020204" pitchFamily="34" charset="0"/>
              </a:rPr>
              <a:t>Addison-Wesley. All rights reserved.</a:t>
            </a:r>
          </a:p>
        </p:txBody>
      </p:sp>
      <p:sp>
        <p:nvSpPr>
          <p:cNvPr id="38917" name="Slide Number Placeholder 4"/>
          <p:cNvSpPr txBox="1">
            <a:spLocks noGrp="1"/>
          </p:cNvSpPr>
          <p:nvPr/>
        </p:nvSpPr>
        <p:spPr bwMode="auto">
          <a:xfrm>
            <a:off x="69342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lgn="r">
              <a:spcBef>
                <a:spcPct val="0"/>
              </a:spcBef>
              <a:buFontTx/>
              <a:buNone/>
            </a:pPr>
            <a:r>
              <a:rPr lang="en-US" altLang="en-US" sz="1000">
                <a:solidFill>
                  <a:schemeClr val="tx1"/>
                </a:solidFill>
                <a:latin typeface="Arial" panose="020B0604020202020204" pitchFamily="34" charset="0"/>
              </a:rPr>
              <a:t>1-</a:t>
            </a:r>
            <a:fld id="{12479A71-128A-4A2F-89D1-871F7713F7AB}" type="slidenum">
              <a:rPr lang="en-US" altLang="en-US" sz="1000">
                <a:solidFill>
                  <a:schemeClr val="tx1"/>
                </a:solidFill>
                <a:latin typeface="Arial" panose="020B0604020202020204" pitchFamily="34" charset="0"/>
              </a:rPr>
              <a:pPr algn="r">
                <a:spcBef>
                  <a:spcPct val="0"/>
                </a:spcBef>
                <a:buFontTx/>
                <a:buNone/>
              </a:pPr>
              <a:t>3</a:t>
            </a:fld>
            <a:endParaRPr lang="en-US" altLang="en-US" sz="1000">
              <a:solidFill>
                <a:schemeClr val="tx1"/>
              </a:solidFill>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dirty="0" smtClean="0">
                <a:solidFill>
                  <a:schemeClr val="tx1"/>
                </a:solidFill>
                <a:latin typeface="Arial" panose="020B0604020202020204" pitchFamily="34" charset="0"/>
              </a:rPr>
              <a:t>Copyright © 2023 Addison-Wesley. All rights reserved.</a:t>
            </a:r>
          </a:p>
        </p:txBody>
      </p:sp>
      <p:sp>
        <p:nvSpPr>
          <p:cNvPr id="4096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6AF2B826-EFFD-42FF-8DBC-95E9E8BB1221}" type="slidenum">
              <a:rPr lang="en-US" altLang="en-US" sz="1000" smtClean="0">
                <a:solidFill>
                  <a:schemeClr val="tx1"/>
                </a:solidFill>
                <a:latin typeface="Arial" panose="020B0604020202020204" pitchFamily="34" charset="0"/>
              </a:rPr>
              <a:pPr>
                <a:spcBef>
                  <a:spcPct val="0"/>
                </a:spcBef>
                <a:buFontTx/>
                <a:buNone/>
              </a:pPr>
              <a:t>4</a:t>
            </a:fld>
            <a:endParaRPr lang="en-US" altLang="en-US" sz="1000" smtClean="0">
              <a:solidFill>
                <a:schemeClr val="tx1"/>
              </a:solidFill>
              <a:latin typeface="Arial" panose="020B0604020202020204" pitchFamily="34" charset="0"/>
            </a:endParaRPr>
          </a:p>
        </p:txBody>
      </p:sp>
      <p:sp>
        <p:nvSpPr>
          <p:cNvPr id="40964" name="Rectangle 2"/>
          <p:cNvSpPr>
            <a:spLocks noGrp="1" noChangeArrowheads="1"/>
          </p:cNvSpPr>
          <p:nvPr>
            <p:ph type="title"/>
          </p:nvPr>
        </p:nvSpPr>
        <p:spPr/>
        <p:txBody>
          <a:bodyPr/>
          <a:lstStyle/>
          <a:p>
            <a:pPr eaLnBrk="1" hangingPunct="1"/>
            <a:r>
              <a:rPr lang="en-US" altLang="en-US" dirty="0" smtClean="0"/>
              <a:t>List Functions: </a:t>
            </a:r>
            <a:r>
              <a:rPr lang="en-US" altLang="en-US" dirty="0" smtClean="0">
                <a:latin typeface="Courier New" panose="02070309020205020404" pitchFamily="49" charset="0"/>
              </a:rPr>
              <a:t>list</a:t>
            </a:r>
            <a:r>
              <a:rPr lang="en-US" altLang="en-US" dirty="0" smtClean="0"/>
              <a:t> function</a:t>
            </a:r>
            <a:endParaRPr lang="en-US" altLang="en-US" dirty="0" smtClean="0">
              <a:latin typeface="Courier New" panose="02070309020205020404" pitchFamily="49" charset="0"/>
            </a:endParaRPr>
          </a:p>
        </p:txBody>
      </p:sp>
      <p:sp>
        <p:nvSpPr>
          <p:cNvPr id="40965" name="Rectangle 3"/>
          <p:cNvSpPr>
            <a:spLocks noGrp="1" noChangeArrowheads="1"/>
          </p:cNvSpPr>
          <p:nvPr>
            <p:ph type="body" idx="1"/>
          </p:nvPr>
        </p:nvSpPr>
        <p:spPr>
          <a:xfrm>
            <a:off x="633250" y="1337440"/>
            <a:ext cx="8153400" cy="5029200"/>
          </a:xfrm>
        </p:spPr>
        <p:txBody>
          <a:bodyPr/>
          <a:lstStyle/>
          <a:p>
            <a:pPr eaLnBrk="1" hangingPunct="1"/>
            <a:r>
              <a:rPr lang="en-US" altLang="en-US" sz="2400" dirty="0" smtClean="0"/>
              <a:t>The </a:t>
            </a:r>
            <a:r>
              <a:rPr lang="en-US" altLang="en-US" sz="2400" dirty="0" smtClean="0">
                <a:latin typeface="Courier New" panose="02070309020205020404" pitchFamily="49" charset="0"/>
              </a:rPr>
              <a:t>list</a:t>
            </a:r>
            <a:r>
              <a:rPr lang="en-US" altLang="en-US" sz="2400" dirty="0" smtClean="0"/>
              <a:t> function</a:t>
            </a:r>
          </a:p>
          <a:p>
            <a:pPr lvl="1" eaLnBrk="1" hangingPunct="1"/>
            <a:r>
              <a:rPr lang="en-US" altLang="en-US" sz="2000" dirty="0" smtClean="0"/>
              <a:t>Takes any number of parameters</a:t>
            </a:r>
          </a:p>
          <a:p>
            <a:pPr lvl="1" eaLnBrk="1" hangingPunct="1"/>
            <a:r>
              <a:rPr lang="en-US" altLang="en-US" sz="2000" dirty="0" smtClean="0"/>
              <a:t>Yields a list with the parameters as elements</a:t>
            </a:r>
          </a:p>
          <a:p>
            <a:pPr lvl="1" eaLnBrk="1" hangingPunct="1">
              <a:buFontTx/>
              <a:buNone/>
            </a:pPr>
            <a:r>
              <a:rPr lang="en-US" altLang="en-US" sz="2000" dirty="0" smtClean="0">
                <a:latin typeface="Courier New" panose="02070309020205020404" pitchFamily="49" charset="0"/>
              </a:rPr>
              <a:t>	  </a:t>
            </a:r>
            <a:r>
              <a:rPr lang="en-US" altLang="en-US" sz="2000" dirty="0" smtClean="0">
                <a:solidFill>
                  <a:srgbClr val="666699"/>
                </a:solidFill>
                <a:latin typeface="Courier New" panose="02070309020205020404" pitchFamily="49" charset="0"/>
              </a:rPr>
              <a:t>(list </a:t>
            </a:r>
            <a:r>
              <a:rPr lang="en-US" altLang="en-US" sz="2000" dirty="0" smtClean="0">
                <a:solidFill>
                  <a:srgbClr val="666699"/>
                </a:solidFill>
                <a:latin typeface="Courier New" panose="02070309020205020404" pitchFamily="49" charset="0"/>
              </a:rPr>
              <a:t>'a 'b 'c)</a:t>
            </a:r>
            <a:r>
              <a:rPr lang="en-US" altLang="en-US" sz="2000" dirty="0" smtClean="0">
                <a:latin typeface="Courier New" panose="02070309020205020404" pitchFamily="49" charset="0"/>
              </a:rPr>
              <a:t> </a:t>
            </a:r>
            <a:r>
              <a:rPr lang="en-US" altLang="en-US" sz="2000" dirty="0" smtClean="0"/>
              <a:t>yields</a:t>
            </a:r>
            <a:r>
              <a:rPr lang="en-US" altLang="en-US" sz="2000" dirty="0" smtClean="0">
                <a:latin typeface="Courier New" panose="02070309020205020404" pitchFamily="49" charset="0"/>
              </a:rPr>
              <a:t> </a:t>
            </a:r>
            <a:r>
              <a:rPr lang="en-US" altLang="en-US" sz="2000" dirty="0" smtClean="0">
                <a:solidFill>
                  <a:srgbClr val="666699"/>
                </a:solidFill>
                <a:latin typeface="Courier New" panose="02070309020205020404" pitchFamily="49" charset="0"/>
              </a:rPr>
              <a:t>(a b c)</a:t>
            </a:r>
            <a:endParaRPr lang="en-US" altLang="en-US" sz="2000" dirty="0" smtClean="0">
              <a:solidFill>
                <a:srgbClr val="666699"/>
              </a:solidFill>
              <a:latin typeface="Courier New" panose="02070309020205020404" pitchFamily="49" charset="0"/>
            </a:endParaRPr>
          </a:p>
          <a:p>
            <a:pPr lvl="1" eaLnBrk="1" hangingPunct="1">
              <a:buFontTx/>
              <a:buNone/>
            </a:pPr>
            <a:r>
              <a:rPr lang="en-US" altLang="en-US" sz="2000" dirty="0" smtClean="0">
                <a:solidFill>
                  <a:srgbClr val="333399"/>
                </a:solidFill>
                <a:latin typeface="Courier New" panose="02070309020205020404" pitchFamily="49" charset="0"/>
                <a:cs typeface="Courier New" panose="02070309020205020404" pitchFamily="49" charset="0"/>
              </a:rPr>
              <a:t>    </a:t>
            </a:r>
            <a:r>
              <a:rPr lang="en-US" altLang="en-US" sz="2000" dirty="0" smtClean="0">
                <a:solidFill>
                  <a:srgbClr val="666699"/>
                </a:solidFill>
                <a:latin typeface="Courier New" panose="02070309020205020404" pitchFamily="49" charset="0"/>
                <a:cs typeface="Courier New" panose="02070309020205020404" pitchFamily="49" charset="0"/>
              </a:rPr>
              <a:t>(list </a:t>
            </a:r>
            <a:r>
              <a:rPr lang="en-US" altLang="en-US" sz="2000" dirty="0" smtClean="0">
                <a:solidFill>
                  <a:srgbClr val="666699"/>
                </a:solidFill>
                <a:latin typeface="Courier New" panose="02070309020205020404" pitchFamily="49" charset="0"/>
                <a:cs typeface="Courier New" panose="02070309020205020404" pitchFamily="49" charset="0"/>
              </a:rPr>
              <a:t>'a 'b '(</a:t>
            </a:r>
            <a:r>
              <a:rPr lang="en-US" altLang="en-US" sz="2000" dirty="0">
                <a:solidFill>
                  <a:srgbClr val="666699"/>
                </a:solidFill>
                <a:latin typeface="Courier New" panose="02070309020205020404" pitchFamily="49" charset="0"/>
                <a:cs typeface="Courier New" panose="02070309020205020404" pitchFamily="49" charset="0"/>
              </a:rPr>
              <a:t>c</a:t>
            </a:r>
            <a:r>
              <a:rPr lang="en-US" altLang="en-US" sz="2000" dirty="0" smtClean="0">
                <a:solidFill>
                  <a:srgbClr val="666699"/>
                </a:solidFill>
                <a:latin typeface="Courier New" panose="02070309020205020404" pitchFamily="49" charset="0"/>
                <a:cs typeface="Courier New" panose="02070309020205020404" pitchFamily="49" charset="0"/>
              </a:rPr>
              <a:t> </a:t>
            </a:r>
            <a:r>
              <a:rPr lang="en-US" altLang="en-US" sz="2000" dirty="0">
                <a:solidFill>
                  <a:srgbClr val="666699"/>
                </a:solidFill>
                <a:latin typeface="Courier New" panose="02070309020205020404" pitchFamily="49" charset="0"/>
                <a:cs typeface="Courier New" panose="02070309020205020404" pitchFamily="49" charset="0"/>
              </a:rPr>
              <a:t>d</a:t>
            </a:r>
            <a:r>
              <a:rPr lang="en-US" altLang="en-US" sz="2000" dirty="0" smtClean="0">
                <a:solidFill>
                  <a:srgbClr val="666699"/>
                </a:solidFill>
                <a:latin typeface="Courier New" panose="02070309020205020404" pitchFamily="49" charset="0"/>
                <a:cs typeface="Courier New" panose="02070309020205020404" pitchFamily="49" charset="0"/>
              </a:rPr>
              <a:t>))</a:t>
            </a:r>
            <a:r>
              <a:rPr lang="en-US" altLang="en-US" sz="2000" dirty="0" smtClean="0">
                <a:solidFill>
                  <a:srgbClr val="333399"/>
                </a:solidFill>
                <a:cs typeface="Courier New" panose="02070309020205020404" pitchFamily="49" charset="0"/>
              </a:rPr>
              <a:t> </a:t>
            </a:r>
            <a:r>
              <a:rPr lang="en-US" altLang="en-US" sz="2000" dirty="0" smtClean="0">
                <a:solidFill>
                  <a:srgbClr val="333399"/>
                </a:solidFill>
                <a:cs typeface="Courier New" panose="02070309020205020404" pitchFamily="49" charset="0"/>
              </a:rPr>
              <a:t>yields </a:t>
            </a:r>
            <a:r>
              <a:rPr lang="en-US" altLang="en-US" sz="2000" dirty="0" smtClean="0">
                <a:solidFill>
                  <a:srgbClr val="666699"/>
                </a:solidFill>
                <a:latin typeface="Courier New" panose="02070309020205020404" pitchFamily="49" charset="0"/>
                <a:cs typeface="Courier New" panose="02070309020205020404" pitchFamily="49" charset="0"/>
              </a:rPr>
              <a:t>(a </a:t>
            </a:r>
            <a:r>
              <a:rPr lang="en-US" altLang="en-US" sz="2000" dirty="0">
                <a:solidFill>
                  <a:srgbClr val="666699"/>
                </a:solidFill>
                <a:latin typeface="Courier New" panose="02070309020205020404" pitchFamily="49" charset="0"/>
                <a:cs typeface="Courier New" panose="02070309020205020404" pitchFamily="49" charset="0"/>
              </a:rPr>
              <a:t>b</a:t>
            </a:r>
            <a:r>
              <a:rPr lang="en-US" altLang="en-US" sz="2000" dirty="0" smtClean="0">
                <a:solidFill>
                  <a:srgbClr val="666699"/>
                </a:solidFill>
                <a:latin typeface="Courier New" panose="02070309020205020404" pitchFamily="49" charset="0"/>
                <a:cs typeface="Courier New" panose="02070309020205020404" pitchFamily="49" charset="0"/>
              </a:rPr>
              <a:t> (c </a:t>
            </a:r>
            <a:r>
              <a:rPr lang="en-US" altLang="en-US" sz="2000" dirty="0">
                <a:solidFill>
                  <a:srgbClr val="666699"/>
                </a:solidFill>
                <a:latin typeface="Courier New" panose="02070309020205020404" pitchFamily="49" charset="0"/>
                <a:cs typeface="Courier New" panose="02070309020205020404" pitchFamily="49" charset="0"/>
              </a:rPr>
              <a:t>d</a:t>
            </a:r>
            <a:r>
              <a:rPr lang="en-US" altLang="en-US" sz="2000" dirty="0" smtClean="0">
                <a:solidFill>
                  <a:srgbClr val="666699"/>
                </a:solidFill>
                <a:latin typeface="Courier New" panose="02070309020205020404" pitchFamily="49" charset="0"/>
                <a:cs typeface="Courier New" panose="02070309020205020404" pitchFamily="49" charset="0"/>
              </a:rPr>
              <a:t>))</a:t>
            </a:r>
            <a:endParaRPr lang="en-US" altLang="en-US" sz="2000" dirty="0" smtClean="0">
              <a:solidFill>
                <a:srgbClr val="666699"/>
              </a:solidFill>
              <a:latin typeface="Courier New" panose="02070309020205020404" pitchFamily="49"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dirty="0" smtClean="0">
                <a:solidFill>
                  <a:schemeClr val="tx1"/>
                </a:solidFill>
                <a:latin typeface="Arial" panose="020B0604020202020204" pitchFamily="34" charset="0"/>
              </a:rPr>
              <a:t>Copyright © 2023 Addison-Wesley. All rights reserved.</a:t>
            </a:r>
          </a:p>
        </p:txBody>
      </p:sp>
      <p:sp>
        <p:nvSpPr>
          <p:cNvPr id="4301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97D85609-4D24-452B-BAAC-2D76B6FCE476}" type="slidenum">
              <a:rPr lang="en-US" altLang="en-US" sz="1000" smtClean="0">
                <a:solidFill>
                  <a:schemeClr val="tx1"/>
                </a:solidFill>
                <a:latin typeface="Arial" panose="020B0604020202020204" pitchFamily="34" charset="0"/>
              </a:rPr>
              <a:pPr>
                <a:spcBef>
                  <a:spcPct val="0"/>
                </a:spcBef>
                <a:buFontTx/>
                <a:buNone/>
              </a:pPr>
              <a:t>5</a:t>
            </a:fld>
            <a:endParaRPr lang="en-US" altLang="en-US" sz="1000" smtClean="0">
              <a:solidFill>
                <a:schemeClr val="tx1"/>
              </a:solidFill>
              <a:latin typeface="Arial" panose="020B0604020202020204" pitchFamily="34" charset="0"/>
            </a:endParaRPr>
          </a:p>
        </p:txBody>
      </p:sp>
      <p:sp>
        <p:nvSpPr>
          <p:cNvPr id="43012" name="Rectangle 2"/>
          <p:cNvSpPr>
            <a:spLocks noGrp="1" noChangeArrowheads="1"/>
          </p:cNvSpPr>
          <p:nvPr>
            <p:ph type="title"/>
          </p:nvPr>
        </p:nvSpPr>
        <p:spPr/>
        <p:txBody>
          <a:bodyPr/>
          <a:lstStyle/>
          <a:p>
            <a:pPr eaLnBrk="1" hangingPunct="1"/>
            <a:r>
              <a:rPr lang="en-US" altLang="en-US" dirty="0" smtClean="0"/>
              <a:t>List Functions: </a:t>
            </a:r>
            <a:r>
              <a:rPr lang="en-US" altLang="en-US" dirty="0" smtClean="0">
                <a:latin typeface="Courier New" panose="02070309020205020404" pitchFamily="49" charset="0"/>
                <a:cs typeface="Courier New" panose="02070309020205020404" pitchFamily="49" charset="0"/>
              </a:rPr>
              <a:t>car</a:t>
            </a:r>
            <a:r>
              <a:rPr lang="en-US" altLang="en-US" dirty="0" smtClean="0"/>
              <a:t> and </a:t>
            </a:r>
            <a:r>
              <a:rPr lang="en-US" altLang="en-US" dirty="0" err="1" smtClean="0">
                <a:latin typeface="Courier New" panose="02070309020205020404" pitchFamily="49" charset="0"/>
                <a:cs typeface="Courier New" panose="02070309020205020404" pitchFamily="49" charset="0"/>
              </a:rPr>
              <a:t>cdr</a:t>
            </a:r>
            <a:endParaRPr lang="en-US" altLang="en-US" sz="2800" dirty="0" smtClean="0">
              <a:latin typeface="Courier New" panose="02070309020205020404" pitchFamily="49" charset="0"/>
              <a:cs typeface="Courier New" panose="02070309020205020404" pitchFamily="49" charset="0"/>
            </a:endParaRPr>
          </a:p>
        </p:txBody>
      </p:sp>
      <p:sp>
        <p:nvSpPr>
          <p:cNvPr id="43013" name="Rectangle 3"/>
          <p:cNvSpPr>
            <a:spLocks noGrp="1" noChangeArrowheads="1"/>
          </p:cNvSpPr>
          <p:nvPr>
            <p:ph type="body" idx="1"/>
          </p:nvPr>
        </p:nvSpPr>
        <p:spPr>
          <a:xfrm>
            <a:off x="630620" y="1340070"/>
            <a:ext cx="8284780" cy="4572000"/>
          </a:xfrm>
        </p:spPr>
        <p:txBody>
          <a:bodyPr/>
          <a:lstStyle/>
          <a:p>
            <a:pPr lvl="0"/>
            <a:r>
              <a:rPr lang="en-US" altLang="en-US" sz="2400" dirty="0">
                <a:solidFill>
                  <a:srgbClr val="333399"/>
                </a:solidFill>
                <a:cs typeface="Courier New" panose="02070309020205020404" pitchFamily="49" charset="0"/>
              </a:rPr>
              <a:t>List </a:t>
            </a:r>
            <a:r>
              <a:rPr lang="en-US" altLang="en-US" sz="2400" dirty="0" smtClean="0">
                <a:solidFill>
                  <a:srgbClr val="333399"/>
                </a:solidFill>
                <a:cs typeface="Courier New" panose="02070309020205020404" pitchFamily="49" charset="0"/>
              </a:rPr>
              <a:t>functions </a:t>
            </a:r>
            <a:r>
              <a:rPr lang="en-US" altLang="en-US" sz="2400" dirty="0">
                <a:solidFill>
                  <a:srgbClr val="333399"/>
                </a:solidFill>
                <a:cs typeface="Courier New" panose="02070309020205020404" pitchFamily="49" charset="0"/>
              </a:rPr>
              <a:t>in Scheme</a:t>
            </a:r>
          </a:p>
          <a:p>
            <a:pPr lvl="1"/>
            <a:r>
              <a:rPr lang="en-US" altLang="en-US" sz="2000" dirty="0" smtClean="0">
                <a:solidFill>
                  <a:srgbClr val="333399"/>
                </a:solidFill>
                <a:latin typeface="+mj-lt"/>
                <a:cs typeface="Courier New" panose="02070309020205020404" pitchFamily="49" charset="0"/>
              </a:rPr>
              <a:t>The </a:t>
            </a:r>
            <a:r>
              <a:rPr lang="en-US" altLang="en-US" sz="2000" dirty="0" smtClean="0">
                <a:solidFill>
                  <a:srgbClr val="333399"/>
                </a:solidFill>
                <a:latin typeface="Courier New" panose="02070309020205020404" pitchFamily="49" charset="0"/>
                <a:cs typeface="Courier New" panose="02070309020205020404" pitchFamily="49" charset="0"/>
              </a:rPr>
              <a:t>car</a:t>
            </a:r>
            <a:r>
              <a:rPr lang="en-US" altLang="en-US" sz="2000" dirty="0" smtClean="0">
                <a:solidFill>
                  <a:srgbClr val="333399"/>
                </a:solidFill>
                <a:cs typeface="Courier New" panose="02070309020205020404" pitchFamily="49" charset="0"/>
              </a:rPr>
              <a:t> function yields first </a:t>
            </a:r>
            <a:r>
              <a:rPr lang="en-US" altLang="en-US" sz="2000" dirty="0">
                <a:solidFill>
                  <a:srgbClr val="333399"/>
                </a:solidFill>
                <a:cs typeface="Courier New" panose="02070309020205020404" pitchFamily="49" charset="0"/>
              </a:rPr>
              <a:t>element of its list parameter</a:t>
            </a:r>
          </a:p>
          <a:p>
            <a:pPr lvl="1">
              <a:buNone/>
            </a:pPr>
            <a:r>
              <a:rPr lang="en-US" altLang="en-US" sz="1800" dirty="0">
                <a:solidFill>
                  <a:srgbClr val="333399"/>
                </a:solidFill>
                <a:latin typeface="Courier"/>
                <a:cs typeface="Courier New" panose="02070309020205020404" pitchFamily="49" charset="0"/>
              </a:rPr>
              <a:t>  </a:t>
            </a:r>
            <a:r>
              <a:rPr lang="en-US" altLang="en-US" sz="1800" dirty="0" smtClean="0">
                <a:solidFill>
                  <a:srgbClr val="333399"/>
                </a:solidFill>
                <a:latin typeface="Courier"/>
                <a:cs typeface="Courier New" panose="02070309020205020404" pitchFamily="49" charset="0"/>
              </a:rPr>
              <a:t>  </a:t>
            </a:r>
            <a:r>
              <a:rPr lang="en-US" altLang="en-US" sz="1800" dirty="0" smtClean="0">
                <a:solidFill>
                  <a:srgbClr val="666699"/>
                </a:solidFill>
                <a:latin typeface="Courier New" panose="02070309020205020404" pitchFamily="49" charset="0"/>
                <a:cs typeface="Courier New" panose="02070309020205020404" pitchFamily="49" charset="0"/>
              </a:rPr>
              <a:t>(car </a:t>
            </a:r>
            <a:r>
              <a:rPr lang="en-US" altLang="en-US" sz="1800" dirty="0" smtClean="0">
                <a:solidFill>
                  <a:srgbClr val="666699"/>
                </a:solidFill>
                <a:latin typeface="Courier New" panose="02070309020205020404" pitchFamily="49" charset="0"/>
                <a:cs typeface="Courier New" panose="02070309020205020404" pitchFamily="49" charset="0"/>
              </a:rPr>
              <a:t>'(a b c))</a:t>
            </a:r>
            <a:r>
              <a:rPr lang="en-US" altLang="en-US" sz="2000" dirty="0" smtClean="0">
                <a:solidFill>
                  <a:srgbClr val="333399"/>
                </a:solidFill>
                <a:cs typeface="Courier New" panose="02070309020205020404" pitchFamily="49" charset="0"/>
              </a:rPr>
              <a:t> </a:t>
            </a:r>
            <a:r>
              <a:rPr lang="en-US" altLang="en-US" sz="2000" dirty="0" smtClean="0">
                <a:solidFill>
                  <a:srgbClr val="333399"/>
                </a:solidFill>
                <a:cs typeface="Courier New" panose="02070309020205020404" pitchFamily="49" charset="0"/>
              </a:rPr>
              <a:t>yields </a:t>
            </a:r>
            <a:r>
              <a:rPr lang="en-US" altLang="en-US" sz="1800" dirty="0" smtClean="0">
                <a:solidFill>
                  <a:srgbClr val="666699"/>
                </a:solidFill>
                <a:latin typeface="Courier New" panose="02070309020205020404" pitchFamily="49" charset="0"/>
                <a:cs typeface="Courier New" panose="02070309020205020404" pitchFamily="49" charset="0"/>
              </a:rPr>
              <a:t>a</a:t>
            </a:r>
            <a:endParaRPr lang="en-US" altLang="en-US" sz="1800" dirty="0" smtClean="0">
              <a:solidFill>
                <a:srgbClr val="666699"/>
              </a:solidFill>
              <a:latin typeface="Courier New" panose="02070309020205020404" pitchFamily="49" charset="0"/>
              <a:cs typeface="Courier New" panose="02070309020205020404" pitchFamily="49" charset="0"/>
            </a:endParaRPr>
          </a:p>
          <a:p>
            <a:pPr lvl="1">
              <a:buNone/>
            </a:pPr>
            <a:r>
              <a:rPr lang="en-US" altLang="en-US" sz="1800" dirty="0">
                <a:solidFill>
                  <a:srgbClr val="333399"/>
                </a:solidFill>
                <a:latin typeface="Courier"/>
                <a:cs typeface="Courier New" panose="02070309020205020404" pitchFamily="49" charset="0"/>
              </a:rPr>
              <a:t> </a:t>
            </a:r>
            <a:r>
              <a:rPr lang="en-US" altLang="en-US" sz="1800" dirty="0" smtClean="0">
                <a:solidFill>
                  <a:srgbClr val="333399"/>
                </a:solidFill>
                <a:latin typeface="Courier"/>
                <a:cs typeface="Courier New" panose="02070309020205020404" pitchFamily="49" charset="0"/>
              </a:rPr>
              <a:t>   </a:t>
            </a:r>
            <a:r>
              <a:rPr lang="en-US" altLang="en-US" sz="1800" dirty="0" smtClean="0">
                <a:solidFill>
                  <a:srgbClr val="666699"/>
                </a:solidFill>
                <a:latin typeface="Courier New" panose="02070309020205020404" pitchFamily="49" charset="0"/>
                <a:cs typeface="Courier New" panose="02070309020205020404" pitchFamily="49" charset="0"/>
              </a:rPr>
              <a:t>(car </a:t>
            </a:r>
            <a:r>
              <a:rPr lang="en-US" altLang="en-US" sz="1800" dirty="0" smtClean="0">
                <a:solidFill>
                  <a:srgbClr val="666699"/>
                </a:solidFill>
                <a:latin typeface="Courier New" panose="02070309020205020404" pitchFamily="49" charset="0"/>
                <a:cs typeface="Courier New" panose="02070309020205020404" pitchFamily="49" charset="0"/>
              </a:rPr>
              <a:t>'((a b) </a:t>
            </a:r>
            <a:r>
              <a:rPr lang="en-US" altLang="en-US" sz="1800" dirty="0">
                <a:solidFill>
                  <a:srgbClr val="666699"/>
                </a:solidFill>
                <a:latin typeface="Courier New" panose="02070309020205020404" pitchFamily="49" charset="0"/>
                <a:cs typeface="Courier New" panose="02070309020205020404" pitchFamily="49" charset="0"/>
              </a:rPr>
              <a:t>c</a:t>
            </a:r>
            <a:r>
              <a:rPr lang="en-US" altLang="en-US" sz="1800" dirty="0" smtClean="0">
                <a:solidFill>
                  <a:srgbClr val="666699"/>
                </a:solidFill>
                <a:latin typeface="Courier New" panose="02070309020205020404" pitchFamily="49" charset="0"/>
                <a:cs typeface="Courier New" panose="02070309020205020404" pitchFamily="49" charset="0"/>
              </a:rPr>
              <a:t> </a:t>
            </a:r>
            <a:r>
              <a:rPr lang="en-US" altLang="en-US" sz="1800" dirty="0">
                <a:solidFill>
                  <a:srgbClr val="666699"/>
                </a:solidFill>
                <a:latin typeface="Courier New" panose="02070309020205020404" pitchFamily="49" charset="0"/>
                <a:cs typeface="Courier New" panose="02070309020205020404" pitchFamily="49" charset="0"/>
              </a:rPr>
              <a:t>d</a:t>
            </a:r>
            <a:r>
              <a:rPr lang="en-US" altLang="en-US" sz="1800" dirty="0" smtClean="0">
                <a:solidFill>
                  <a:srgbClr val="666699"/>
                </a:solidFill>
                <a:latin typeface="Courier New" panose="02070309020205020404" pitchFamily="49" charset="0"/>
                <a:cs typeface="Courier New" panose="02070309020205020404" pitchFamily="49" charset="0"/>
              </a:rPr>
              <a:t>))</a:t>
            </a:r>
            <a:r>
              <a:rPr lang="en-US" altLang="en-US" sz="1800" dirty="0" smtClean="0">
                <a:cs typeface="Courier New" panose="02070309020205020404" pitchFamily="49" charset="0"/>
              </a:rPr>
              <a:t> </a:t>
            </a:r>
            <a:r>
              <a:rPr lang="en-US" altLang="en-US" sz="2000" dirty="0" smtClean="0">
                <a:cs typeface="Courier New" panose="02070309020205020404" pitchFamily="49" charset="0"/>
              </a:rPr>
              <a:t>yields</a:t>
            </a:r>
            <a:r>
              <a:rPr lang="en-US" altLang="en-US" sz="1800" dirty="0" smtClean="0">
                <a:cs typeface="Courier New" panose="02070309020205020404" pitchFamily="49" charset="0"/>
              </a:rPr>
              <a:t> </a:t>
            </a:r>
            <a:r>
              <a:rPr lang="en-US" altLang="en-US" sz="1800" dirty="0" smtClean="0">
                <a:solidFill>
                  <a:srgbClr val="666699"/>
                </a:solidFill>
                <a:latin typeface="Courier New" panose="02070309020205020404" pitchFamily="49" charset="0"/>
                <a:cs typeface="Courier New" panose="02070309020205020404" pitchFamily="49" charset="0"/>
              </a:rPr>
              <a:t>(a b)</a:t>
            </a:r>
            <a:endParaRPr lang="en-US" altLang="en-US" sz="1800" dirty="0">
              <a:solidFill>
                <a:srgbClr val="666699"/>
              </a:solidFill>
              <a:latin typeface="Courier New" panose="02070309020205020404" pitchFamily="49" charset="0"/>
              <a:cs typeface="Courier New" panose="02070309020205020404" pitchFamily="49" charset="0"/>
            </a:endParaRPr>
          </a:p>
          <a:p>
            <a:pPr lvl="1">
              <a:buNone/>
            </a:pPr>
            <a:r>
              <a:rPr lang="en-US" altLang="en-US" sz="1800" dirty="0">
                <a:solidFill>
                  <a:srgbClr val="333399"/>
                </a:solidFill>
                <a:latin typeface="Courier"/>
                <a:cs typeface="Courier New" panose="02070309020205020404" pitchFamily="49" charset="0"/>
              </a:rPr>
              <a:t> </a:t>
            </a:r>
            <a:r>
              <a:rPr lang="en-US" altLang="en-US" sz="1800" dirty="0" smtClean="0">
                <a:solidFill>
                  <a:srgbClr val="333399"/>
                </a:solidFill>
                <a:latin typeface="Courier"/>
                <a:cs typeface="Courier New" panose="02070309020205020404" pitchFamily="49" charset="0"/>
              </a:rPr>
              <a:t>   </a:t>
            </a:r>
            <a:r>
              <a:rPr lang="en-US" altLang="en-US" sz="1800" dirty="0" smtClean="0">
                <a:solidFill>
                  <a:srgbClr val="666699"/>
                </a:solidFill>
                <a:latin typeface="Courier New" panose="02070309020205020404" pitchFamily="49" charset="0"/>
                <a:cs typeface="Courier New" panose="02070309020205020404" pitchFamily="49" charset="0"/>
              </a:rPr>
              <a:t>(car </a:t>
            </a:r>
            <a:r>
              <a:rPr lang="en-US" altLang="en-US" sz="1800" dirty="0" smtClean="0">
                <a:solidFill>
                  <a:srgbClr val="666699"/>
                </a:solidFill>
                <a:latin typeface="Courier New" panose="02070309020205020404" pitchFamily="49" charset="0"/>
                <a:cs typeface="Courier New" panose="02070309020205020404" pitchFamily="49" charset="0"/>
              </a:rPr>
              <a:t>'a)</a:t>
            </a:r>
            <a:r>
              <a:rPr lang="en-US" altLang="en-US" sz="1800" dirty="0" smtClean="0">
                <a:solidFill>
                  <a:srgbClr val="333399"/>
                </a:solidFill>
                <a:cs typeface="Courier New" panose="02070309020205020404" pitchFamily="49" charset="0"/>
              </a:rPr>
              <a:t> </a:t>
            </a:r>
            <a:r>
              <a:rPr lang="en-US" altLang="en-US" sz="2000" dirty="0" smtClean="0">
                <a:solidFill>
                  <a:srgbClr val="333399"/>
                </a:solidFill>
                <a:cs typeface="Courier New" panose="02070309020205020404" pitchFamily="49" charset="0"/>
              </a:rPr>
              <a:t>produces an error</a:t>
            </a:r>
          </a:p>
          <a:p>
            <a:pPr lvl="1">
              <a:buNone/>
            </a:pPr>
            <a:r>
              <a:rPr lang="en-US" altLang="en-US" sz="1800" dirty="0" smtClean="0">
                <a:solidFill>
                  <a:srgbClr val="333399"/>
                </a:solidFill>
                <a:latin typeface="Courier"/>
                <a:cs typeface="Courier New" panose="02070309020205020404" pitchFamily="49" charset="0"/>
              </a:rPr>
              <a:t>    </a:t>
            </a:r>
            <a:r>
              <a:rPr lang="en-US" altLang="en-US" sz="1800" dirty="0" smtClean="0">
                <a:solidFill>
                  <a:srgbClr val="666699"/>
                </a:solidFill>
                <a:latin typeface="Courier New" panose="02070309020205020404" pitchFamily="49" charset="0"/>
                <a:cs typeface="Courier New" panose="02070309020205020404" pitchFamily="49" charset="0"/>
              </a:rPr>
              <a:t>(car '())</a:t>
            </a:r>
            <a:r>
              <a:rPr lang="en-US" altLang="en-US" sz="1800" dirty="0" smtClean="0">
                <a:solidFill>
                  <a:srgbClr val="333399"/>
                </a:solidFill>
                <a:cs typeface="Courier New" panose="02070309020205020404" pitchFamily="49" charset="0"/>
              </a:rPr>
              <a:t> </a:t>
            </a:r>
            <a:r>
              <a:rPr lang="en-US" altLang="en-US" sz="2000" dirty="0">
                <a:solidFill>
                  <a:srgbClr val="333399"/>
                </a:solidFill>
                <a:cs typeface="Courier New" panose="02070309020205020404" pitchFamily="49" charset="0"/>
              </a:rPr>
              <a:t>produces an </a:t>
            </a:r>
            <a:r>
              <a:rPr lang="en-US" altLang="en-US" sz="2000" dirty="0" smtClean="0">
                <a:solidFill>
                  <a:srgbClr val="333399"/>
                </a:solidFill>
                <a:cs typeface="Courier New" panose="02070309020205020404" pitchFamily="49" charset="0"/>
              </a:rPr>
              <a:t>error</a:t>
            </a:r>
          </a:p>
          <a:p>
            <a:pPr lvl="1"/>
            <a:endParaRPr lang="en-US" altLang="en-US" sz="500" dirty="0" smtClean="0">
              <a:solidFill>
                <a:srgbClr val="333399"/>
              </a:solidFill>
              <a:latin typeface="+mj-lt"/>
              <a:cs typeface="Courier New" panose="02070309020205020404" pitchFamily="49" charset="0"/>
            </a:endParaRPr>
          </a:p>
          <a:p>
            <a:pPr lvl="1"/>
            <a:r>
              <a:rPr lang="en-US" altLang="en-US" sz="2000" dirty="0" smtClean="0">
                <a:solidFill>
                  <a:srgbClr val="333399"/>
                </a:solidFill>
                <a:latin typeface="+mj-lt"/>
                <a:cs typeface="Courier New" panose="02070309020205020404" pitchFamily="49" charset="0"/>
              </a:rPr>
              <a:t>The </a:t>
            </a:r>
            <a:r>
              <a:rPr lang="en-US" altLang="en-US" sz="2000" dirty="0" err="1" smtClean="0">
                <a:solidFill>
                  <a:srgbClr val="333399"/>
                </a:solidFill>
                <a:latin typeface="Courier New" panose="02070309020205020404" pitchFamily="49" charset="0"/>
                <a:cs typeface="Courier New" panose="02070309020205020404" pitchFamily="49" charset="0"/>
              </a:rPr>
              <a:t>cdr</a:t>
            </a:r>
            <a:r>
              <a:rPr lang="en-US" altLang="en-US" sz="2000" dirty="0" smtClean="0">
                <a:solidFill>
                  <a:srgbClr val="333399"/>
                </a:solidFill>
                <a:cs typeface="Courier New" panose="02070309020205020404" pitchFamily="49" charset="0"/>
              </a:rPr>
              <a:t> function yields remainder </a:t>
            </a:r>
            <a:r>
              <a:rPr lang="en-US" altLang="en-US" sz="2000" dirty="0">
                <a:solidFill>
                  <a:srgbClr val="333399"/>
                </a:solidFill>
                <a:cs typeface="Courier New" panose="02070309020205020404" pitchFamily="49" charset="0"/>
              </a:rPr>
              <a:t>of its list parameter after </a:t>
            </a:r>
            <a:r>
              <a:rPr lang="en-US" altLang="en-US" sz="2000" dirty="0" smtClean="0">
                <a:solidFill>
                  <a:srgbClr val="333399"/>
                </a:solidFill>
                <a:cs typeface="Courier New" panose="02070309020205020404" pitchFamily="49" charset="0"/>
              </a:rPr>
              <a:t>first </a:t>
            </a:r>
            <a:r>
              <a:rPr lang="en-US" altLang="en-US" sz="2000" dirty="0">
                <a:solidFill>
                  <a:srgbClr val="333399"/>
                </a:solidFill>
                <a:cs typeface="Courier New" panose="02070309020205020404" pitchFamily="49" charset="0"/>
              </a:rPr>
              <a:t>element has been removed</a:t>
            </a:r>
          </a:p>
          <a:p>
            <a:pPr lvl="1">
              <a:buNone/>
            </a:pPr>
            <a:r>
              <a:rPr lang="en-US" altLang="en-US" sz="1800" dirty="0">
                <a:solidFill>
                  <a:srgbClr val="333399"/>
                </a:solidFill>
                <a:cs typeface="Courier New" panose="02070309020205020404" pitchFamily="49" charset="0"/>
              </a:rPr>
              <a:t>       </a:t>
            </a:r>
            <a:r>
              <a:rPr lang="en-US" altLang="en-US" sz="1800" dirty="0" smtClean="0">
                <a:solidFill>
                  <a:srgbClr val="666699"/>
                </a:solidFill>
                <a:latin typeface="Courier New" panose="02070309020205020404" pitchFamily="49" charset="0"/>
                <a:cs typeface="Courier New" panose="02070309020205020404" pitchFamily="49" charset="0"/>
              </a:rPr>
              <a:t>(</a:t>
            </a:r>
            <a:r>
              <a:rPr lang="en-US" altLang="en-US" sz="1800" dirty="0" err="1" smtClean="0">
                <a:solidFill>
                  <a:srgbClr val="666699"/>
                </a:solidFill>
                <a:latin typeface="Courier New" panose="02070309020205020404" pitchFamily="49" charset="0"/>
                <a:cs typeface="Courier New" panose="02070309020205020404" pitchFamily="49" charset="0"/>
              </a:rPr>
              <a:t>cdr</a:t>
            </a:r>
            <a:r>
              <a:rPr lang="en-US" altLang="en-US" sz="1800" dirty="0" smtClean="0">
                <a:solidFill>
                  <a:srgbClr val="666699"/>
                </a:solidFill>
                <a:latin typeface="Courier New" panose="02070309020205020404" pitchFamily="49" charset="0"/>
                <a:cs typeface="Courier New" panose="02070309020205020404" pitchFamily="49" charset="0"/>
              </a:rPr>
              <a:t> </a:t>
            </a:r>
            <a:r>
              <a:rPr lang="en-US" altLang="en-US" sz="1800" dirty="0" smtClean="0">
                <a:solidFill>
                  <a:srgbClr val="666699"/>
                </a:solidFill>
                <a:latin typeface="Courier New" panose="02070309020205020404" pitchFamily="49" charset="0"/>
                <a:cs typeface="Courier New" panose="02070309020205020404" pitchFamily="49" charset="0"/>
              </a:rPr>
              <a:t>'(a b c))</a:t>
            </a:r>
            <a:r>
              <a:rPr lang="en-US" altLang="en-US" sz="2000" dirty="0" smtClean="0">
                <a:solidFill>
                  <a:srgbClr val="333399"/>
                </a:solidFill>
                <a:latin typeface="+mj-lt"/>
                <a:cs typeface="Courier New" panose="02070309020205020404" pitchFamily="49" charset="0"/>
              </a:rPr>
              <a:t> </a:t>
            </a:r>
            <a:r>
              <a:rPr lang="en-US" altLang="en-US" sz="2000" dirty="0" smtClean="0">
                <a:solidFill>
                  <a:srgbClr val="333399"/>
                </a:solidFill>
                <a:cs typeface="Courier New" panose="02070309020205020404" pitchFamily="49" charset="0"/>
              </a:rPr>
              <a:t>yields </a:t>
            </a:r>
            <a:r>
              <a:rPr lang="en-US" altLang="en-US" sz="1800" dirty="0" smtClean="0">
                <a:solidFill>
                  <a:srgbClr val="666699"/>
                </a:solidFill>
                <a:latin typeface="Courier New" panose="02070309020205020404" pitchFamily="49" charset="0"/>
                <a:cs typeface="Courier New" panose="02070309020205020404" pitchFamily="49" charset="0"/>
              </a:rPr>
              <a:t>(b c)</a:t>
            </a:r>
            <a:endParaRPr lang="en-US" altLang="en-US" sz="1800" dirty="0" smtClean="0">
              <a:solidFill>
                <a:srgbClr val="666699"/>
              </a:solidFill>
              <a:latin typeface="Courier New" panose="02070309020205020404" pitchFamily="49" charset="0"/>
              <a:cs typeface="Courier New" panose="02070309020205020404" pitchFamily="49" charset="0"/>
            </a:endParaRPr>
          </a:p>
          <a:p>
            <a:pPr lvl="1">
              <a:buNone/>
            </a:pPr>
            <a:r>
              <a:rPr lang="en-US" altLang="en-US" sz="1800" dirty="0" smtClean="0">
                <a:solidFill>
                  <a:srgbClr val="333399"/>
                </a:solidFill>
                <a:cs typeface="Courier New" panose="02070309020205020404" pitchFamily="49" charset="0"/>
              </a:rPr>
              <a:t>       </a:t>
            </a:r>
            <a:r>
              <a:rPr lang="en-US" altLang="en-US" sz="1800" dirty="0" smtClean="0">
                <a:solidFill>
                  <a:srgbClr val="666699"/>
                </a:solidFill>
                <a:latin typeface="Courier New" panose="02070309020205020404" pitchFamily="49" charset="0"/>
                <a:cs typeface="Courier New" panose="02070309020205020404" pitchFamily="49" charset="0"/>
              </a:rPr>
              <a:t>(</a:t>
            </a:r>
            <a:r>
              <a:rPr lang="en-US" altLang="en-US" sz="1800" dirty="0" err="1" smtClean="0">
                <a:solidFill>
                  <a:srgbClr val="666699"/>
                </a:solidFill>
                <a:latin typeface="Courier New" panose="02070309020205020404" pitchFamily="49" charset="0"/>
                <a:cs typeface="Courier New" panose="02070309020205020404" pitchFamily="49" charset="0"/>
              </a:rPr>
              <a:t>cdr</a:t>
            </a:r>
            <a:r>
              <a:rPr lang="en-US" altLang="en-US" sz="1800" dirty="0" smtClean="0">
                <a:solidFill>
                  <a:srgbClr val="666699"/>
                </a:solidFill>
                <a:latin typeface="Courier New" panose="02070309020205020404" pitchFamily="49" charset="0"/>
                <a:cs typeface="Courier New" panose="02070309020205020404" pitchFamily="49" charset="0"/>
              </a:rPr>
              <a:t> </a:t>
            </a:r>
            <a:r>
              <a:rPr lang="en-US" altLang="en-US" sz="1800" dirty="0" smtClean="0">
                <a:solidFill>
                  <a:srgbClr val="666699"/>
                </a:solidFill>
                <a:latin typeface="Courier New" panose="02070309020205020404" pitchFamily="49" charset="0"/>
                <a:cs typeface="Courier New" panose="02070309020205020404" pitchFamily="49" charset="0"/>
              </a:rPr>
              <a:t>'((a b) c d))</a:t>
            </a:r>
            <a:r>
              <a:rPr lang="en-US" altLang="en-US" sz="2000" dirty="0" smtClean="0">
                <a:solidFill>
                  <a:srgbClr val="333399"/>
                </a:solidFill>
                <a:cs typeface="Courier New" panose="02070309020205020404" pitchFamily="49" charset="0"/>
              </a:rPr>
              <a:t> </a:t>
            </a:r>
            <a:r>
              <a:rPr lang="en-US" altLang="en-US" sz="2000" dirty="0">
                <a:solidFill>
                  <a:srgbClr val="333399"/>
                </a:solidFill>
                <a:cs typeface="Courier New" panose="02070309020205020404" pitchFamily="49" charset="0"/>
              </a:rPr>
              <a:t>yields </a:t>
            </a:r>
            <a:r>
              <a:rPr lang="en-US" altLang="en-US" sz="1800" dirty="0" smtClean="0">
                <a:solidFill>
                  <a:srgbClr val="666699"/>
                </a:solidFill>
                <a:latin typeface="Courier New" panose="02070309020205020404" pitchFamily="49" charset="0"/>
                <a:cs typeface="Courier New" panose="02070309020205020404" pitchFamily="49" charset="0"/>
              </a:rPr>
              <a:t>(c d)</a:t>
            </a:r>
            <a:endParaRPr lang="en-US" altLang="en-US" sz="1800" dirty="0" smtClean="0">
              <a:solidFill>
                <a:srgbClr val="666699"/>
              </a:solidFill>
              <a:latin typeface="Courier New" panose="02070309020205020404" pitchFamily="49" charset="0"/>
              <a:cs typeface="Courier New" panose="02070309020205020404" pitchFamily="49" charset="0"/>
            </a:endParaRPr>
          </a:p>
          <a:p>
            <a:pPr lvl="1">
              <a:buNone/>
            </a:pPr>
            <a:r>
              <a:rPr lang="en-US" altLang="en-US" sz="1800" dirty="0" smtClean="0">
                <a:solidFill>
                  <a:srgbClr val="333399"/>
                </a:solidFill>
                <a:cs typeface="Courier New" panose="02070309020205020404" pitchFamily="49" charset="0"/>
              </a:rPr>
              <a:t>       </a:t>
            </a:r>
            <a:r>
              <a:rPr lang="en-US" altLang="en-US" sz="1800" dirty="0" smtClean="0">
                <a:solidFill>
                  <a:srgbClr val="666699"/>
                </a:solidFill>
                <a:latin typeface="Courier New" panose="02070309020205020404" pitchFamily="49" charset="0"/>
                <a:cs typeface="Courier New" panose="02070309020205020404" pitchFamily="49" charset="0"/>
              </a:rPr>
              <a:t>(</a:t>
            </a:r>
            <a:r>
              <a:rPr lang="en-US" altLang="en-US" sz="1800" dirty="0" err="1" smtClean="0">
                <a:solidFill>
                  <a:srgbClr val="666699"/>
                </a:solidFill>
                <a:latin typeface="Courier New" panose="02070309020205020404" pitchFamily="49" charset="0"/>
                <a:cs typeface="Courier New" panose="02070309020205020404" pitchFamily="49" charset="0"/>
              </a:rPr>
              <a:t>cdr</a:t>
            </a:r>
            <a:r>
              <a:rPr lang="en-US" altLang="en-US" sz="1800" dirty="0" smtClean="0">
                <a:solidFill>
                  <a:srgbClr val="666699"/>
                </a:solidFill>
                <a:latin typeface="Courier New" panose="02070309020205020404" pitchFamily="49" charset="0"/>
                <a:cs typeface="Courier New" panose="02070309020205020404" pitchFamily="49" charset="0"/>
              </a:rPr>
              <a:t> </a:t>
            </a:r>
            <a:r>
              <a:rPr lang="en-US" altLang="en-US" sz="1800" dirty="0" smtClean="0">
                <a:solidFill>
                  <a:srgbClr val="666699"/>
                </a:solidFill>
                <a:latin typeface="Courier New" panose="02070309020205020404" pitchFamily="49" charset="0"/>
                <a:cs typeface="Courier New" panose="02070309020205020404" pitchFamily="49" charset="0"/>
              </a:rPr>
              <a:t>'(a))</a:t>
            </a:r>
            <a:r>
              <a:rPr lang="en-US" altLang="en-US" sz="2000" dirty="0" smtClean="0">
                <a:solidFill>
                  <a:srgbClr val="333399"/>
                </a:solidFill>
                <a:cs typeface="Courier New" panose="02070309020205020404" pitchFamily="49" charset="0"/>
              </a:rPr>
              <a:t> </a:t>
            </a:r>
            <a:r>
              <a:rPr lang="en-US" altLang="en-US" sz="2000" dirty="0">
                <a:solidFill>
                  <a:srgbClr val="333399"/>
                </a:solidFill>
                <a:cs typeface="Courier New" panose="02070309020205020404" pitchFamily="49" charset="0"/>
              </a:rPr>
              <a:t>yields </a:t>
            </a:r>
            <a:r>
              <a:rPr lang="en-US" altLang="en-US" sz="1800" dirty="0" smtClean="0">
                <a:solidFill>
                  <a:srgbClr val="666699"/>
                </a:solidFill>
                <a:latin typeface="Courier New" panose="02070309020205020404" pitchFamily="49" charset="0"/>
                <a:cs typeface="Courier New" panose="02070309020205020404" pitchFamily="49" charset="0"/>
              </a:rPr>
              <a:t>()</a:t>
            </a:r>
          </a:p>
          <a:p>
            <a:pPr lvl="1">
              <a:buNone/>
            </a:pPr>
            <a:r>
              <a:rPr lang="en-US" altLang="en-US" sz="1800" dirty="0" smtClean="0">
                <a:solidFill>
                  <a:srgbClr val="333399"/>
                </a:solidFill>
                <a:cs typeface="Courier New" panose="02070309020205020404" pitchFamily="49" charset="0"/>
              </a:rPr>
              <a:t>       </a:t>
            </a:r>
            <a:r>
              <a:rPr lang="en-US" altLang="en-US" sz="1800" dirty="0" smtClean="0">
                <a:solidFill>
                  <a:srgbClr val="666699"/>
                </a:solidFill>
                <a:latin typeface="Courier New" panose="02070309020205020404" pitchFamily="49" charset="0"/>
                <a:cs typeface="Courier New" panose="02070309020205020404" pitchFamily="49" charset="0"/>
              </a:rPr>
              <a:t>(</a:t>
            </a:r>
            <a:r>
              <a:rPr lang="en-US" altLang="en-US" sz="1800" dirty="0" err="1" smtClean="0">
                <a:solidFill>
                  <a:srgbClr val="666699"/>
                </a:solidFill>
                <a:latin typeface="Courier New" panose="02070309020205020404" pitchFamily="49" charset="0"/>
                <a:cs typeface="Courier New" panose="02070309020205020404" pitchFamily="49" charset="0"/>
              </a:rPr>
              <a:t>cdr</a:t>
            </a:r>
            <a:r>
              <a:rPr lang="en-US" altLang="en-US" sz="1800" dirty="0" smtClean="0">
                <a:solidFill>
                  <a:srgbClr val="666699"/>
                </a:solidFill>
                <a:latin typeface="Courier New" panose="02070309020205020404" pitchFamily="49" charset="0"/>
                <a:cs typeface="Courier New" panose="02070309020205020404" pitchFamily="49" charset="0"/>
              </a:rPr>
              <a:t> </a:t>
            </a:r>
            <a:r>
              <a:rPr lang="en-US" altLang="en-US" sz="1800" dirty="0" smtClean="0">
                <a:solidFill>
                  <a:srgbClr val="666699"/>
                </a:solidFill>
                <a:latin typeface="Courier New" panose="02070309020205020404" pitchFamily="49" charset="0"/>
                <a:cs typeface="Courier New" panose="02070309020205020404" pitchFamily="49" charset="0"/>
              </a:rPr>
              <a:t>'a</a:t>
            </a:r>
            <a:r>
              <a:rPr lang="en-US" altLang="en-US" sz="1800" dirty="0" smtClean="0">
                <a:solidFill>
                  <a:srgbClr val="666699"/>
                </a:solidFill>
                <a:latin typeface="Courier New" panose="02070309020205020404" pitchFamily="49" charset="0"/>
                <a:cs typeface="Courier New" panose="02070309020205020404" pitchFamily="49" charset="0"/>
              </a:rPr>
              <a:t>)</a:t>
            </a:r>
            <a:r>
              <a:rPr lang="en-US" altLang="en-US" sz="2000" dirty="0" smtClean="0">
                <a:solidFill>
                  <a:srgbClr val="333399"/>
                </a:solidFill>
                <a:cs typeface="Courier New" panose="02070309020205020404" pitchFamily="49" charset="0"/>
              </a:rPr>
              <a:t> </a:t>
            </a:r>
            <a:r>
              <a:rPr lang="en-US" altLang="en-US" sz="2000" dirty="0" smtClean="0">
                <a:solidFill>
                  <a:srgbClr val="333399"/>
                </a:solidFill>
                <a:cs typeface="Courier New" panose="02070309020205020404" pitchFamily="49" charset="0"/>
              </a:rPr>
              <a:t>produces an error</a:t>
            </a:r>
          </a:p>
          <a:p>
            <a:pPr lvl="1">
              <a:buNone/>
            </a:pPr>
            <a:r>
              <a:rPr lang="en-US" altLang="en-US" sz="1800" dirty="0" smtClean="0">
                <a:solidFill>
                  <a:srgbClr val="333399"/>
                </a:solidFill>
                <a:cs typeface="Courier New" panose="02070309020205020404" pitchFamily="49" charset="0"/>
              </a:rPr>
              <a:t>       </a:t>
            </a:r>
            <a:r>
              <a:rPr lang="en-US" altLang="en-US" sz="1800" dirty="0" smtClean="0">
                <a:solidFill>
                  <a:srgbClr val="666699"/>
                </a:solidFill>
                <a:latin typeface="Courier New" panose="02070309020205020404" pitchFamily="49" charset="0"/>
                <a:cs typeface="Courier New" panose="02070309020205020404" pitchFamily="49" charset="0"/>
              </a:rPr>
              <a:t>(</a:t>
            </a:r>
            <a:r>
              <a:rPr lang="en-US" altLang="en-US" sz="1800" dirty="0" err="1" smtClean="0">
                <a:solidFill>
                  <a:srgbClr val="666699"/>
                </a:solidFill>
                <a:latin typeface="Courier New" panose="02070309020205020404" pitchFamily="49" charset="0"/>
                <a:cs typeface="Courier New" panose="02070309020205020404" pitchFamily="49" charset="0"/>
              </a:rPr>
              <a:t>cdr</a:t>
            </a:r>
            <a:r>
              <a:rPr lang="en-US" altLang="en-US" sz="1800" dirty="0" smtClean="0">
                <a:solidFill>
                  <a:srgbClr val="666699"/>
                </a:solidFill>
                <a:latin typeface="Courier New" panose="02070309020205020404" pitchFamily="49" charset="0"/>
                <a:cs typeface="Courier New" panose="02070309020205020404" pitchFamily="49" charset="0"/>
              </a:rPr>
              <a:t> '())</a:t>
            </a:r>
            <a:r>
              <a:rPr lang="en-US" altLang="en-US" sz="2000" dirty="0" smtClean="0">
                <a:solidFill>
                  <a:srgbClr val="333399"/>
                </a:solidFill>
                <a:cs typeface="Courier New" panose="02070309020205020404" pitchFamily="49" charset="0"/>
              </a:rPr>
              <a:t> produces an error</a:t>
            </a:r>
            <a:endParaRPr lang="en-US" altLang="en-US" sz="1800" dirty="0" smtClean="0">
              <a:latin typeface="Courier New" panose="02070309020205020404" pitchFamily="49" charset="0"/>
              <a:cs typeface="Courier New" panose="02070309020205020404" pitchFamily="49"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dirty="0" smtClean="0">
                <a:solidFill>
                  <a:schemeClr val="tx1"/>
                </a:solidFill>
                <a:latin typeface="Arial" panose="020B0604020202020204" pitchFamily="34" charset="0"/>
              </a:rPr>
              <a:t>Copyright © 2023 Addison-Wesley. All rights reserved.</a:t>
            </a:r>
          </a:p>
        </p:txBody>
      </p:sp>
      <p:sp>
        <p:nvSpPr>
          <p:cNvPr id="4301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97D85609-4D24-452B-BAAC-2D76B6FCE476}" type="slidenum">
              <a:rPr lang="en-US" altLang="en-US" sz="1000" smtClean="0">
                <a:solidFill>
                  <a:schemeClr val="tx1"/>
                </a:solidFill>
                <a:latin typeface="Arial" panose="020B0604020202020204" pitchFamily="34" charset="0"/>
              </a:rPr>
              <a:pPr>
                <a:spcBef>
                  <a:spcPct val="0"/>
                </a:spcBef>
                <a:buFontTx/>
                <a:buNone/>
              </a:pPr>
              <a:t>6</a:t>
            </a:fld>
            <a:endParaRPr lang="en-US" altLang="en-US" sz="1000" smtClean="0">
              <a:solidFill>
                <a:schemeClr val="tx1"/>
              </a:solidFill>
              <a:latin typeface="Arial" panose="020B0604020202020204" pitchFamily="34" charset="0"/>
            </a:endParaRPr>
          </a:p>
        </p:txBody>
      </p:sp>
      <p:sp>
        <p:nvSpPr>
          <p:cNvPr id="43012" name="Rectangle 2"/>
          <p:cNvSpPr>
            <a:spLocks noGrp="1" noChangeArrowheads="1"/>
          </p:cNvSpPr>
          <p:nvPr>
            <p:ph type="title"/>
          </p:nvPr>
        </p:nvSpPr>
        <p:spPr/>
        <p:txBody>
          <a:bodyPr/>
          <a:lstStyle/>
          <a:p>
            <a:pPr eaLnBrk="1" hangingPunct="1"/>
            <a:r>
              <a:rPr lang="en-US" altLang="en-US" dirty="0" smtClean="0"/>
              <a:t>List Functions: </a:t>
            </a:r>
            <a:r>
              <a:rPr lang="en-US" altLang="en-US" dirty="0" smtClean="0">
                <a:latin typeface="Courier New" panose="02070309020205020404" pitchFamily="49" charset="0"/>
                <a:cs typeface="Courier New" panose="02070309020205020404" pitchFamily="49" charset="0"/>
              </a:rPr>
              <a:t>cons</a:t>
            </a:r>
            <a:r>
              <a:rPr lang="en-US" altLang="en-US" sz="2800" dirty="0" smtClean="0"/>
              <a:t> function</a:t>
            </a:r>
            <a:endParaRPr lang="en-US" altLang="en-US" sz="2800" dirty="0" smtClean="0">
              <a:latin typeface="Courier New" panose="02070309020205020404" pitchFamily="49" charset="0"/>
              <a:cs typeface="Courier New" panose="02070309020205020404" pitchFamily="49" charset="0"/>
            </a:endParaRPr>
          </a:p>
        </p:txBody>
      </p:sp>
      <p:sp>
        <p:nvSpPr>
          <p:cNvPr id="43013" name="Rectangle 3"/>
          <p:cNvSpPr>
            <a:spLocks noGrp="1" noChangeArrowheads="1"/>
          </p:cNvSpPr>
          <p:nvPr>
            <p:ph type="body" idx="1"/>
          </p:nvPr>
        </p:nvSpPr>
        <p:spPr>
          <a:xfrm>
            <a:off x="630620" y="1340070"/>
            <a:ext cx="8153400" cy="4572000"/>
          </a:xfrm>
        </p:spPr>
        <p:txBody>
          <a:bodyPr/>
          <a:lstStyle/>
          <a:p>
            <a:pPr lvl="0"/>
            <a:r>
              <a:rPr lang="en-US" altLang="en-US" sz="2400" dirty="0">
                <a:solidFill>
                  <a:srgbClr val="333399"/>
                </a:solidFill>
                <a:cs typeface="Courier New" panose="02070309020205020404" pitchFamily="49" charset="0"/>
              </a:rPr>
              <a:t>List </a:t>
            </a:r>
            <a:r>
              <a:rPr lang="en-US" altLang="en-US" sz="2400" dirty="0" smtClean="0">
                <a:solidFill>
                  <a:srgbClr val="333399"/>
                </a:solidFill>
                <a:cs typeface="Courier New" panose="02070309020205020404" pitchFamily="49" charset="0"/>
              </a:rPr>
              <a:t>functions in </a:t>
            </a:r>
            <a:r>
              <a:rPr lang="en-US" altLang="en-US" sz="2400" dirty="0">
                <a:solidFill>
                  <a:srgbClr val="333399"/>
                </a:solidFill>
                <a:cs typeface="Courier New" panose="02070309020205020404" pitchFamily="49" charset="0"/>
              </a:rPr>
              <a:t>Scheme</a:t>
            </a:r>
          </a:p>
          <a:p>
            <a:pPr lvl="1"/>
            <a:r>
              <a:rPr lang="en-US" altLang="en-US" sz="2000" dirty="0" smtClean="0">
                <a:solidFill>
                  <a:srgbClr val="333399"/>
                </a:solidFill>
                <a:latin typeface="+mj-lt"/>
                <a:cs typeface="Courier New" panose="02070309020205020404" pitchFamily="49" charset="0"/>
              </a:rPr>
              <a:t>The </a:t>
            </a:r>
            <a:r>
              <a:rPr lang="en-US" altLang="en-US" sz="2000" dirty="0" smtClean="0">
                <a:solidFill>
                  <a:srgbClr val="333399"/>
                </a:solidFill>
                <a:latin typeface="Courier New" panose="02070309020205020404" pitchFamily="49" charset="0"/>
                <a:cs typeface="Courier New" panose="02070309020205020404" pitchFamily="49" charset="0"/>
              </a:rPr>
              <a:t>cons</a:t>
            </a:r>
            <a:r>
              <a:rPr lang="en-US" altLang="en-US" sz="2000" dirty="0" smtClean="0">
                <a:solidFill>
                  <a:srgbClr val="333399"/>
                </a:solidFill>
                <a:cs typeface="Courier New" panose="02070309020205020404" pitchFamily="49" charset="0"/>
              </a:rPr>
              <a:t> function puts </a:t>
            </a:r>
            <a:r>
              <a:rPr lang="en-US" altLang="en-US" sz="2000" dirty="0">
                <a:solidFill>
                  <a:srgbClr val="333399"/>
                </a:solidFill>
                <a:cs typeface="Courier New" panose="02070309020205020404" pitchFamily="49" charset="0"/>
              </a:rPr>
              <a:t>its first parameter into its second parameter, a list, to make a new list</a:t>
            </a:r>
          </a:p>
          <a:p>
            <a:pPr lvl="1">
              <a:buNone/>
            </a:pPr>
            <a:r>
              <a:rPr lang="en-US" altLang="en-US" sz="2000" dirty="0">
                <a:solidFill>
                  <a:srgbClr val="333399"/>
                </a:solidFill>
                <a:cs typeface="Courier New" panose="02070309020205020404" pitchFamily="49" charset="0"/>
              </a:rPr>
              <a:t>       </a:t>
            </a:r>
            <a:r>
              <a:rPr lang="en-US" altLang="en-US" sz="1800" dirty="0" smtClean="0">
                <a:solidFill>
                  <a:srgbClr val="666699"/>
                </a:solidFill>
                <a:latin typeface="Courier New" panose="02070309020205020404" pitchFamily="49" charset="0"/>
                <a:cs typeface="Courier New" panose="02070309020205020404" pitchFamily="49" charset="0"/>
              </a:rPr>
              <a:t>(cons </a:t>
            </a:r>
            <a:r>
              <a:rPr lang="en-US" altLang="en-US" sz="1800" dirty="0" smtClean="0">
                <a:solidFill>
                  <a:srgbClr val="666699"/>
                </a:solidFill>
                <a:latin typeface="Courier New" panose="02070309020205020404" pitchFamily="49" charset="0"/>
                <a:cs typeface="Courier New" panose="02070309020205020404" pitchFamily="49" charset="0"/>
              </a:rPr>
              <a:t>'a '(b </a:t>
            </a:r>
            <a:r>
              <a:rPr lang="en-US" altLang="en-US" sz="1800" dirty="0">
                <a:solidFill>
                  <a:srgbClr val="666699"/>
                </a:solidFill>
                <a:latin typeface="Courier New" panose="02070309020205020404" pitchFamily="49" charset="0"/>
                <a:cs typeface="Courier New" panose="02070309020205020404" pitchFamily="49" charset="0"/>
              </a:rPr>
              <a:t>c</a:t>
            </a:r>
            <a:r>
              <a:rPr lang="en-US" altLang="en-US" sz="1800" dirty="0" smtClean="0">
                <a:solidFill>
                  <a:srgbClr val="666699"/>
                </a:solidFill>
                <a:latin typeface="Courier New" panose="02070309020205020404" pitchFamily="49" charset="0"/>
                <a:cs typeface="Courier New" panose="02070309020205020404" pitchFamily="49" charset="0"/>
              </a:rPr>
              <a:t>))</a:t>
            </a:r>
            <a:r>
              <a:rPr lang="en-US" altLang="en-US" sz="1800" dirty="0" smtClean="0">
                <a:solidFill>
                  <a:srgbClr val="333399"/>
                </a:solidFill>
                <a:latin typeface="Courier New" panose="02070309020205020404" pitchFamily="49" charset="0"/>
                <a:cs typeface="Courier New" panose="02070309020205020404" pitchFamily="49" charset="0"/>
              </a:rPr>
              <a:t> </a:t>
            </a:r>
            <a:r>
              <a:rPr lang="en-US" altLang="en-US" sz="2000" dirty="0" smtClean="0">
                <a:solidFill>
                  <a:srgbClr val="333399"/>
                </a:solidFill>
                <a:cs typeface="Courier New" panose="02070309020205020404" pitchFamily="49" charset="0"/>
              </a:rPr>
              <a:t>yields </a:t>
            </a:r>
            <a:r>
              <a:rPr lang="en-US" altLang="en-US" sz="1800" dirty="0" smtClean="0">
                <a:solidFill>
                  <a:srgbClr val="666699"/>
                </a:solidFill>
                <a:latin typeface="Courier New" panose="02070309020205020404" pitchFamily="49" charset="0"/>
                <a:cs typeface="Courier New" panose="02070309020205020404" pitchFamily="49" charset="0"/>
              </a:rPr>
              <a:t>(a b c)</a:t>
            </a:r>
            <a:endParaRPr lang="en-US" altLang="en-US" sz="1800" dirty="0" smtClean="0">
              <a:solidFill>
                <a:srgbClr val="666699"/>
              </a:solidFill>
              <a:latin typeface="Courier New" panose="02070309020205020404" pitchFamily="49" charset="0"/>
              <a:cs typeface="Courier New" panose="02070309020205020404" pitchFamily="49" charset="0"/>
            </a:endParaRPr>
          </a:p>
          <a:p>
            <a:pPr lvl="1">
              <a:buNone/>
            </a:pPr>
            <a:r>
              <a:rPr lang="en-US" altLang="en-US" sz="2000" dirty="0" smtClean="0">
                <a:solidFill>
                  <a:srgbClr val="333399"/>
                </a:solidFill>
                <a:cs typeface="Courier New" panose="02070309020205020404" pitchFamily="49" charset="0"/>
              </a:rPr>
              <a:t>       </a:t>
            </a:r>
            <a:r>
              <a:rPr lang="en-US" altLang="en-US" sz="1800" dirty="0" smtClean="0">
                <a:solidFill>
                  <a:srgbClr val="666699"/>
                </a:solidFill>
                <a:latin typeface="Courier New" panose="02070309020205020404" pitchFamily="49" charset="0"/>
                <a:cs typeface="Courier New" panose="02070309020205020404" pitchFamily="49" charset="0"/>
              </a:rPr>
              <a:t>(cons </a:t>
            </a:r>
            <a:r>
              <a:rPr lang="en-US" altLang="en-US" sz="1800" dirty="0" smtClean="0">
                <a:solidFill>
                  <a:srgbClr val="666699"/>
                </a:solidFill>
                <a:latin typeface="Courier New" panose="02070309020205020404" pitchFamily="49" charset="0"/>
                <a:cs typeface="Courier New" panose="02070309020205020404" pitchFamily="49" charset="0"/>
              </a:rPr>
              <a:t>'(a b) '(c d))</a:t>
            </a:r>
            <a:r>
              <a:rPr lang="en-US" altLang="en-US" sz="1800" dirty="0" smtClean="0">
                <a:solidFill>
                  <a:srgbClr val="333399"/>
                </a:solidFill>
                <a:latin typeface="Courier New" panose="02070309020205020404" pitchFamily="49" charset="0"/>
                <a:cs typeface="Courier New" panose="02070309020205020404" pitchFamily="49" charset="0"/>
              </a:rPr>
              <a:t> </a:t>
            </a:r>
            <a:r>
              <a:rPr lang="en-US" altLang="en-US" sz="2000" dirty="0">
                <a:solidFill>
                  <a:srgbClr val="333399"/>
                </a:solidFill>
                <a:cs typeface="Courier New" panose="02070309020205020404" pitchFamily="49" charset="0"/>
              </a:rPr>
              <a:t>yields </a:t>
            </a:r>
            <a:r>
              <a:rPr lang="en-US" altLang="en-US" sz="1800" dirty="0" smtClean="0">
                <a:solidFill>
                  <a:srgbClr val="666699"/>
                </a:solidFill>
                <a:latin typeface="Courier New" panose="02070309020205020404" pitchFamily="49" charset="0"/>
                <a:cs typeface="Courier New" panose="02070309020205020404" pitchFamily="49" charset="0"/>
              </a:rPr>
              <a:t>((a b) c d)</a:t>
            </a:r>
          </a:p>
          <a:p>
            <a:pPr lvl="1">
              <a:buNone/>
            </a:pPr>
            <a:r>
              <a:rPr lang="en-US" altLang="en-US" sz="2000" dirty="0" smtClean="0">
                <a:solidFill>
                  <a:srgbClr val="333399"/>
                </a:solidFill>
                <a:cs typeface="Courier New" panose="02070309020205020404" pitchFamily="49" charset="0"/>
              </a:rPr>
              <a:t>       </a:t>
            </a:r>
            <a:r>
              <a:rPr lang="en-US" altLang="en-US" sz="1800" dirty="0" smtClean="0">
                <a:solidFill>
                  <a:srgbClr val="666699"/>
                </a:solidFill>
                <a:latin typeface="Courier New" panose="02070309020205020404" pitchFamily="49" charset="0"/>
                <a:cs typeface="Courier New" panose="02070309020205020404" pitchFamily="49" charset="0"/>
              </a:rPr>
              <a:t>(cons '() </a:t>
            </a:r>
            <a:r>
              <a:rPr lang="en-US" altLang="en-US" sz="1800" dirty="0" smtClean="0">
                <a:solidFill>
                  <a:srgbClr val="666699"/>
                </a:solidFill>
                <a:latin typeface="Courier New" panose="02070309020205020404" pitchFamily="49" charset="0"/>
                <a:cs typeface="Courier New" panose="02070309020205020404" pitchFamily="49" charset="0"/>
              </a:rPr>
              <a:t>'(</a:t>
            </a:r>
            <a:r>
              <a:rPr lang="en-US" altLang="en-US" sz="1800" dirty="0" smtClean="0">
                <a:solidFill>
                  <a:srgbClr val="666699"/>
                </a:solidFill>
                <a:latin typeface="Courier New" panose="02070309020205020404" pitchFamily="49" charset="0"/>
                <a:cs typeface="Courier New" panose="02070309020205020404" pitchFamily="49" charset="0"/>
              </a:rPr>
              <a:t>a b</a:t>
            </a:r>
            <a:r>
              <a:rPr lang="en-US" altLang="en-US" sz="1800" dirty="0" smtClean="0">
                <a:solidFill>
                  <a:srgbClr val="666699"/>
                </a:solidFill>
                <a:latin typeface="Courier New" panose="02070309020205020404" pitchFamily="49" charset="0"/>
                <a:cs typeface="Courier New" panose="02070309020205020404" pitchFamily="49" charset="0"/>
              </a:rPr>
              <a:t>))</a:t>
            </a:r>
            <a:r>
              <a:rPr lang="en-US" altLang="en-US" sz="1800" dirty="0" smtClean="0">
                <a:solidFill>
                  <a:srgbClr val="333399"/>
                </a:solidFill>
                <a:latin typeface="Courier New" panose="02070309020205020404" pitchFamily="49" charset="0"/>
                <a:cs typeface="Courier New" panose="02070309020205020404" pitchFamily="49" charset="0"/>
              </a:rPr>
              <a:t> </a:t>
            </a:r>
            <a:r>
              <a:rPr lang="en-US" altLang="en-US" sz="2000" dirty="0">
                <a:solidFill>
                  <a:srgbClr val="333399"/>
                </a:solidFill>
                <a:cs typeface="Courier New" panose="02070309020205020404" pitchFamily="49" charset="0"/>
              </a:rPr>
              <a:t>yields </a:t>
            </a:r>
            <a:r>
              <a:rPr lang="en-US" altLang="en-US" sz="1800" dirty="0" smtClean="0">
                <a:solidFill>
                  <a:srgbClr val="666699"/>
                </a:solidFill>
                <a:latin typeface="Courier New" panose="02070309020205020404" pitchFamily="49" charset="0"/>
                <a:cs typeface="Courier New" panose="02070309020205020404" pitchFamily="49" charset="0"/>
              </a:rPr>
              <a:t>(() </a:t>
            </a:r>
            <a:r>
              <a:rPr lang="en-US" altLang="en-US" sz="1800" dirty="0" smtClean="0">
                <a:solidFill>
                  <a:srgbClr val="666699"/>
                </a:solidFill>
                <a:latin typeface="Courier New" panose="02070309020205020404" pitchFamily="49" charset="0"/>
                <a:cs typeface="Courier New" panose="02070309020205020404" pitchFamily="49" charset="0"/>
              </a:rPr>
              <a:t>a b</a:t>
            </a:r>
            <a:r>
              <a:rPr lang="en-US" altLang="en-US" sz="1800" dirty="0" smtClean="0">
                <a:solidFill>
                  <a:srgbClr val="666699"/>
                </a:solidFill>
                <a:latin typeface="Courier New" panose="02070309020205020404" pitchFamily="49" charset="0"/>
                <a:cs typeface="Courier New" panose="02070309020205020404" pitchFamily="49" charset="0"/>
              </a:rPr>
              <a:t>)</a:t>
            </a:r>
            <a:endParaRPr lang="en-US" altLang="en-US" sz="1800" dirty="0" smtClean="0">
              <a:solidFill>
                <a:srgbClr val="666699"/>
              </a:solidFill>
              <a:latin typeface="Courier New" panose="02070309020205020404" pitchFamily="49" charset="0"/>
              <a:cs typeface="Courier New" panose="02070309020205020404" pitchFamily="49" charset="0"/>
            </a:endParaRPr>
          </a:p>
          <a:p>
            <a:pPr lvl="1">
              <a:buNone/>
            </a:pPr>
            <a:endParaRPr lang="en-US" altLang="en-US" sz="1100" dirty="0" smtClean="0">
              <a:solidFill>
                <a:srgbClr val="666699"/>
              </a:solidFill>
              <a:latin typeface="Courier New" panose="02070309020205020404" pitchFamily="49" charset="0"/>
              <a:cs typeface="Courier New" panose="02070309020205020404" pitchFamily="49" charset="0"/>
            </a:endParaRPr>
          </a:p>
          <a:p>
            <a:pPr lvl="1">
              <a:buNone/>
            </a:pPr>
            <a:r>
              <a:rPr lang="en-US" altLang="en-US" sz="2000" dirty="0" smtClean="0">
                <a:solidFill>
                  <a:srgbClr val="333399"/>
                </a:solidFill>
                <a:cs typeface="Courier New" panose="02070309020205020404" pitchFamily="49" charset="0"/>
              </a:rPr>
              <a:t>       </a:t>
            </a:r>
            <a:r>
              <a:rPr lang="en-US" altLang="en-US" sz="1800" dirty="0">
                <a:solidFill>
                  <a:srgbClr val="666699"/>
                </a:solidFill>
                <a:latin typeface="Courier New" panose="02070309020205020404" pitchFamily="49" charset="0"/>
                <a:cs typeface="Courier New" panose="02070309020205020404" pitchFamily="49" charset="0"/>
              </a:rPr>
              <a:t>(cons 'a '())</a:t>
            </a:r>
            <a:r>
              <a:rPr lang="en-US" altLang="en-US" sz="1800" dirty="0">
                <a:solidFill>
                  <a:srgbClr val="333399"/>
                </a:solidFill>
                <a:latin typeface="Courier New" panose="02070309020205020404" pitchFamily="49" charset="0"/>
                <a:cs typeface="Courier New" panose="02070309020205020404" pitchFamily="49" charset="0"/>
              </a:rPr>
              <a:t> </a:t>
            </a:r>
            <a:r>
              <a:rPr lang="en-US" altLang="en-US" sz="1800" dirty="0">
                <a:solidFill>
                  <a:srgbClr val="333399"/>
                </a:solidFill>
                <a:cs typeface="Courier New" panose="02070309020205020404" pitchFamily="49" charset="0"/>
              </a:rPr>
              <a:t>yields </a:t>
            </a:r>
            <a:r>
              <a:rPr lang="en-US" altLang="en-US" sz="1800" dirty="0">
                <a:solidFill>
                  <a:srgbClr val="666699"/>
                </a:solidFill>
                <a:latin typeface="Courier New" panose="02070309020205020404" pitchFamily="49" charset="0"/>
                <a:cs typeface="Courier New" panose="02070309020205020404" pitchFamily="49" charset="0"/>
              </a:rPr>
              <a:t>(a)</a:t>
            </a:r>
            <a:endParaRPr lang="en-US" altLang="en-US" sz="1800" dirty="0" smtClean="0">
              <a:solidFill>
                <a:srgbClr val="333399"/>
              </a:solidFill>
              <a:cs typeface="Courier New" panose="02070309020205020404" pitchFamily="49" charset="0"/>
            </a:endParaRPr>
          </a:p>
          <a:p>
            <a:pPr lvl="1">
              <a:buNone/>
            </a:pPr>
            <a:endParaRPr lang="en-US" altLang="en-US" sz="1100" dirty="0" smtClean="0">
              <a:solidFill>
                <a:srgbClr val="333399"/>
              </a:solidFill>
              <a:cs typeface="Courier New" panose="02070309020205020404" pitchFamily="49" charset="0"/>
            </a:endParaRPr>
          </a:p>
          <a:p>
            <a:pPr lvl="1">
              <a:buNone/>
            </a:pPr>
            <a:r>
              <a:rPr lang="en-US" altLang="en-US" sz="2000" dirty="0" smtClean="0">
                <a:solidFill>
                  <a:srgbClr val="333399"/>
                </a:solidFill>
                <a:cs typeface="Courier New" panose="02070309020205020404" pitchFamily="49" charset="0"/>
              </a:rPr>
              <a:t>       </a:t>
            </a:r>
            <a:r>
              <a:rPr lang="en-US" altLang="en-US" sz="1800" dirty="0" smtClean="0">
                <a:solidFill>
                  <a:srgbClr val="666699"/>
                </a:solidFill>
                <a:latin typeface="Courier New" panose="02070309020205020404" pitchFamily="49" charset="0"/>
                <a:cs typeface="Courier New" panose="02070309020205020404" pitchFamily="49" charset="0"/>
              </a:rPr>
              <a:t>(cons </a:t>
            </a:r>
            <a:r>
              <a:rPr lang="en-US" altLang="en-US" sz="1800" dirty="0" smtClean="0">
                <a:solidFill>
                  <a:srgbClr val="666699"/>
                </a:solidFill>
                <a:latin typeface="Courier New" panose="02070309020205020404" pitchFamily="49" charset="0"/>
                <a:cs typeface="Courier New" panose="02070309020205020404" pitchFamily="49" charset="0"/>
              </a:rPr>
              <a:t>'a 'b)</a:t>
            </a:r>
            <a:r>
              <a:rPr lang="en-US" altLang="en-US" sz="1800" dirty="0" smtClean="0">
                <a:solidFill>
                  <a:srgbClr val="333399"/>
                </a:solidFill>
                <a:latin typeface="Courier New" panose="02070309020205020404" pitchFamily="49" charset="0"/>
                <a:cs typeface="Courier New" panose="02070309020205020404" pitchFamily="49" charset="0"/>
              </a:rPr>
              <a:t> </a:t>
            </a:r>
            <a:r>
              <a:rPr lang="en-US" altLang="en-US" sz="1800" dirty="0" smtClean="0">
                <a:solidFill>
                  <a:srgbClr val="333399"/>
                </a:solidFill>
                <a:cs typeface="Courier New" panose="02070309020205020404" pitchFamily="49" charset="0"/>
              </a:rPr>
              <a:t>yields the </a:t>
            </a:r>
            <a:r>
              <a:rPr lang="en-US" altLang="en-US" sz="1800" u="sng" dirty="0" smtClean="0">
                <a:solidFill>
                  <a:srgbClr val="333399"/>
                </a:solidFill>
                <a:cs typeface="Courier New" panose="02070309020205020404" pitchFamily="49" charset="0"/>
              </a:rPr>
              <a:t>dotted pair</a:t>
            </a:r>
            <a:r>
              <a:rPr lang="en-US" altLang="en-US" sz="1800" dirty="0" smtClean="0">
                <a:solidFill>
                  <a:srgbClr val="333399"/>
                </a:solidFill>
                <a:cs typeface="Courier New" panose="02070309020205020404" pitchFamily="49" charset="0"/>
              </a:rPr>
              <a:t> </a:t>
            </a:r>
            <a:r>
              <a:rPr lang="en-US" altLang="en-US" sz="1800" dirty="0" smtClean="0">
                <a:solidFill>
                  <a:srgbClr val="666699"/>
                </a:solidFill>
                <a:latin typeface="Courier New" panose="02070309020205020404" pitchFamily="49" charset="0"/>
                <a:cs typeface="Courier New" panose="02070309020205020404" pitchFamily="49" charset="0"/>
              </a:rPr>
              <a:t>(a </a:t>
            </a:r>
            <a:r>
              <a:rPr lang="en-US" altLang="en-US" sz="1800" dirty="0" smtClean="0">
                <a:solidFill>
                  <a:srgbClr val="666699"/>
                </a:solidFill>
                <a:latin typeface="Courier New" panose="02070309020205020404" pitchFamily="49" charset="0"/>
                <a:cs typeface="Courier New" panose="02070309020205020404" pitchFamily="49" charset="0"/>
              </a:rPr>
              <a:t>. </a:t>
            </a:r>
            <a:r>
              <a:rPr lang="en-US" altLang="en-US" sz="1800" dirty="0" smtClean="0">
                <a:solidFill>
                  <a:srgbClr val="666699"/>
                </a:solidFill>
                <a:latin typeface="Courier New" panose="02070309020205020404" pitchFamily="49" charset="0"/>
                <a:cs typeface="Courier New" panose="02070309020205020404" pitchFamily="49" charset="0"/>
              </a:rPr>
              <a:t>b)</a:t>
            </a:r>
            <a:endParaRPr lang="en-US" altLang="en-US" sz="1800" dirty="0" smtClean="0">
              <a:solidFill>
                <a:srgbClr val="666699"/>
              </a:solidFill>
              <a:latin typeface="Courier New" panose="02070309020205020404" pitchFamily="49" charset="0"/>
              <a:cs typeface="Courier New" panose="02070309020205020404" pitchFamily="49" charset="0"/>
            </a:endParaRPr>
          </a:p>
          <a:p>
            <a:pPr lvl="1">
              <a:buNone/>
            </a:pPr>
            <a:r>
              <a:rPr lang="en-US" altLang="en-US" sz="2000" dirty="0" smtClean="0">
                <a:solidFill>
                  <a:srgbClr val="333399"/>
                </a:solidFill>
                <a:cs typeface="Courier New" panose="02070309020205020404" pitchFamily="49" charset="0"/>
              </a:rPr>
              <a:t>       </a:t>
            </a:r>
            <a:r>
              <a:rPr lang="en-US" altLang="en-US" sz="1800" dirty="0" smtClean="0">
                <a:solidFill>
                  <a:srgbClr val="666699"/>
                </a:solidFill>
                <a:latin typeface="Courier New" panose="02070309020205020404" pitchFamily="49" charset="0"/>
                <a:cs typeface="Courier New" panose="02070309020205020404" pitchFamily="49" charset="0"/>
              </a:rPr>
              <a:t>(cons </a:t>
            </a:r>
            <a:r>
              <a:rPr lang="en-US" altLang="en-US" sz="1800" dirty="0" smtClean="0">
                <a:solidFill>
                  <a:srgbClr val="666699"/>
                </a:solidFill>
                <a:latin typeface="Courier New" panose="02070309020205020404" pitchFamily="49" charset="0"/>
                <a:cs typeface="Courier New" panose="02070309020205020404" pitchFamily="49" charset="0"/>
              </a:rPr>
              <a:t>'(a b) 'c)</a:t>
            </a:r>
            <a:r>
              <a:rPr lang="en-US" altLang="en-US" sz="1800" dirty="0" smtClean="0">
                <a:solidFill>
                  <a:srgbClr val="333399"/>
                </a:solidFill>
                <a:latin typeface="Courier New" panose="02070309020205020404" pitchFamily="49" charset="0"/>
                <a:cs typeface="Courier New" panose="02070309020205020404" pitchFamily="49" charset="0"/>
              </a:rPr>
              <a:t> </a:t>
            </a:r>
            <a:r>
              <a:rPr lang="en-US" altLang="en-US" sz="1800" dirty="0">
                <a:solidFill>
                  <a:srgbClr val="333399"/>
                </a:solidFill>
                <a:cs typeface="Courier New" panose="02070309020205020404" pitchFamily="49" charset="0"/>
              </a:rPr>
              <a:t>yields the </a:t>
            </a:r>
            <a:r>
              <a:rPr lang="en-US" altLang="en-US" sz="1800" u="sng" dirty="0">
                <a:solidFill>
                  <a:srgbClr val="333399"/>
                </a:solidFill>
                <a:cs typeface="Courier New" panose="02070309020205020404" pitchFamily="49" charset="0"/>
              </a:rPr>
              <a:t>dotted pair</a:t>
            </a:r>
            <a:r>
              <a:rPr lang="en-US" altLang="en-US" sz="1800" dirty="0">
                <a:solidFill>
                  <a:srgbClr val="333399"/>
                </a:solidFill>
                <a:cs typeface="Courier New" panose="02070309020205020404" pitchFamily="49" charset="0"/>
              </a:rPr>
              <a:t> </a:t>
            </a:r>
            <a:r>
              <a:rPr lang="en-US" altLang="en-US" sz="1800" dirty="0" smtClean="0">
                <a:solidFill>
                  <a:srgbClr val="666699"/>
                </a:solidFill>
                <a:latin typeface="Courier New" panose="02070309020205020404" pitchFamily="49" charset="0"/>
                <a:cs typeface="Courier New" panose="02070309020205020404" pitchFamily="49" charset="0"/>
              </a:rPr>
              <a:t>((a b) </a:t>
            </a:r>
            <a:r>
              <a:rPr lang="en-US" altLang="en-US" sz="1800" dirty="0">
                <a:solidFill>
                  <a:srgbClr val="666699"/>
                </a:solidFill>
                <a:latin typeface="Courier New" panose="02070309020205020404" pitchFamily="49" charset="0"/>
                <a:cs typeface="Courier New" panose="02070309020205020404" pitchFamily="49" charset="0"/>
              </a:rPr>
              <a:t>. </a:t>
            </a:r>
            <a:r>
              <a:rPr lang="en-US" altLang="en-US" sz="1800" dirty="0" smtClean="0">
                <a:solidFill>
                  <a:srgbClr val="666699"/>
                </a:solidFill>
                <a:latin typeface="Courier New" panose="02070309020205020404" pitchFamily="49" charset="0"/>
                <a:cs typeface="Courier New" panose="02070309020205020404" pitchFamily="49" charset="0"/>
              </a:rPr>
              <a:t>c)</a:t>
            </a:r>
            <a:endParaRPr lang="en-US" altLang="en-US" sz="1800" dirty="0" smtClean="0">
              <a:solidFill>
                <a:srgbClr val="666699"/>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0857431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dirty="0" smtClean="0">
                <a:solidFill>
                  <a:schemeClr val="tx1"/>
                </a:solidFill>
                <a:latin typeface="Arial" panose="020B0604020202020204" pitchFamily="34" charset="0"/>
              </a:rPr>
              <a:t>Copyright © 2023 Addison-Wesley. All rights reserved.</a:t>
            </a:r>
          </a:p>
        </p:txBody>
      </p:sp>
      <p:sp>
        <p:nvSpPr>
          <p:cNvPr id="4915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27D1605E-B3FE-4A58-BF57-385923BA9A20}" type="slidenum">
              <a:rPr lang="en-US" altLang="en-US" sz="1000" smtClean="0">
                <a:solidFill>
                  <a:schemeClr val="tx1"/>
                </a:solidFill>
                <a:latin typeface="Arial" panose="020B0604020202020204" pitchFamily="34" charset="0"/>
              </a:rPr>
              <a:pPr>
                <a:spcBef>
                  <a:spcPct val="0"/>
                </a:spcBef>
                <a:buFontTx/>
                <a:buNone/>
              </a:pPr>
              <a:t>7</a:t>
            </a:fld>
            <a:endParaRPr lang="en-US" altLang="en-US" sz="1000" smtClean="0">
              <a:solidFill>
                <a:schemeClr val="tx1"/>
              </a:solidFill>
              <a:latin typeface="Arial" panose="020B0604020202020204" pitchFamily="34" charset="0"/>
            </a:endParaRPr>
          </a:p>
        </p:txBody>
      </p:sp>
      <p:sp>
        <p:nvSpPr>
          <p:cNvPr id="49156" name="Rectangle 2"/>
          <p:cNvSpPr>
            <a:spLocks noGrp="1" noChangeArrowheads="1"/>
          </p:cNvSpPr>
          <p:nvPr>
            <p:ph type="title"/>
          </p:nvPr>
        </p:nvSpPr>
        <p:spPr/>
        <p:txBody>
          <a:bodyPr/>
          <a:lstStyle/>
          <a:p>
            <a:pPr eaLnBrk="1" hangingPunct="1"/>
            <a:r>
              <a:rPr lang="en-US" altLang="en-US" dirty="0" smtClean="0"/>
              <a:t>List Predicates: </a:t>
            </a:r>
            <a:r>
              <a:rPr lang="en-US" altLang="en-US" dirty="0" smtClean="0">
                <a:latin typeface="Courier New" panose="02070309020205020404" pitchFamily="49" charset="0"/>
              </a:rPr>
              <a:t>list?</a:t>
            </a:r>
            <a:r>
              <a:rPr lang="en-US" altLang="en-US" dirty="0" smtClean="0"/>
              <a:t> </a:t>
            </a:r>
            <a:r>
              <a:rPr lang="en-US" altLang="en-US" dirty="0"/>
              <a:t>&amp;</a:t>
            </a:r>
            <a:r>
              <a:rPr lang="en-US" altLang="en-US" dirty="0" smtClean="0"/>
              <a:t> </a:t>
            </a:r>
            <a:r>
              <a:rPr lang="en-US" altLang="en-US" dirty="0" smtClean="0">
                <a:latin typeface="Courier New" panose="02070309020205020404" pitchFamily="49" charset="0"/>
              </a:rPr>
              <a:t>null?</a:t>
            </a:r>
          </a:p>
        </p:txBody>
      </p:sp>
      <p:sp>
        <p:nvSpPr>
          <p:cNvPr id="49157" name="Rectangle 3"/>
          <p:cNvSpPr>
            <a:spLocks noGrp="1" noChangeArrowheads="1"/>
          </p:cNvSpPr>
          <p:nvPr>
            <p:ph type="body" idx="1"/>
          </p:nvPr>
        </p:nvSpPr>
        <p:spPr>
          <a:xfrm>
            <a:off x="630620" y="1340070"/>
            <a:ext cx="8153400" cy="4800600"/>
          </a:xfrm>
        </p:spPr>
        <p:txBody>
          <a:bodyPr/>
          <a:lstStyle/>
          <a:p>
            <a:pPr marL="280988" indent="-280988" eaLnBrk="1" hangingPunct="1"/>
            <a:r>
              <a:rPr lang="en-US" altLang="en-US" sz="2400" dirty="0" smtClean="0"/>
              <a:t>The </a:t>
            </a:r>
            <a:r>
              <a:rPr lang="en-US" altLang="en-US" sz="2400" dirty="0" smtClean="0">
                <a:latin typeface="Courier New" panose="02070309020205020404" pitchFamily="49" charset="0"/>
              </a:rPr>
              <a:t>list?</a:t>
            </a:r>
            <a:r>
              <a:rPr lang="en-US" altLang="en-US" sz="2400" dirty="0" smtClean="0"/>
              <a:t> predicate function</a:t>
            </a:r>
          </a:p>
          <a:p>
            <a:pPr marL="909638" lvl="1" indent="-390525" eaLnBrk="1" hangingPunct="1"/>
            <a:r>
              <a:rPr lang="en-US" altLang="en-US" sz="2000" dirty="0" smtClean="0"/>
              <a:t>Takes one parameter</a:t>
            </a:r>
          </a:p>
          <a:p>
            <a:pPr marL="909638" lvl="1" indent="-390525" eaLnBrk="1" hangingPunct="1"/>
            <a:r>
              <a:rPr lang="en-US" altLang="en-US" sz="2000" dirty="0" smtClean="0"/>
              <a:t>Yields </a:t>
            </a:r>
            <a:r>
              <a:rPr lang="en-US" altLang="en-US" sz="2000" dirty="0" smtClean="0">
                <a:latin typeface="Courier New" panose="02070309020205020404" pitchFamily="49" charset="0"/>
              </a:rPr>
              <a:t>#t</a:t>
            </a:r>
            <a:r>
              <a:rPr lang="en-US" altLang="en-US" sz="2000" dirty="0" smtClean="0"/>
              <a:t> if parameter is a list, </a:t>
            </a:r>
            <a:r>
              <a:rPr lang="en-US" altLang="en-US" sz="2000" dirty="0" smtClean="0">
                <a:latin typeface="Courier New" panose="02070309020205020404" pitchFamily="49" charset="0"/>
              </a:rPr>
              <a:t>#f</a:t>
            </a:r>
            <a:r>
              <a:rPr lang="en-US" altLang="en-US" sz="2000" dirty="0" smtClean="0"/>
              <a:t> otherwise</a:t>
            </a:r>
            <a:endParaRPr lang="en-US" altLang="en-US" sz="2000" dirty="0" smtClean="0">
              <a:latin typeface="Courier New" panose="02070309020205020404" pitchFamily="49" charset="0"/>
            </a:endParaRPr>
          </a:p>
          <a:p>
            <a:pPr marL="280988" indent="-280988" eaLnBrk="1" hangingPunct="1"/>
            <a:r>
              <a:rPr lang="en-US" altLang="en-US" sz="2400" dirty="0" smtClean="0"/>
              <a:t>The </a:t>
            </a:r>
            <a:r>
              <a:rPr lang="en-US" altLang="en-US" sz="2400" dirty="0" smtClean="0">
                <a:latin typeface="Courier New" panose="02070309020205020404" pitchFamily="49" charset="0"/>
              </a:rPr>
              <a:t>null?</a:t>
            </a:r>
            <a:r>
              <a:rPr lang="en-US" altLang="en-US" sz="2400" dirty="0" smtClean="0"/>
              <a:t> predicate function</a:t>
            </a:r>
          </a:p>
          <a:p>
            <a:pPr marL="909638" lvl="1" indent="-390525" eaLnBrk="1" hangingPunct="1"/>
            <a:r>
              <a:rPr lang="en-US" altLang="en-US" sz="2000" dirty="0" smtClean="0"/>
              <a:t>Takes one parameter</a:t>
            </a:r>
          </a:p>
          <a:p>
            <a:pPr marL="909638" lvl="1" indent="-390525" eaLnBrk="1" hangingPunct="1"/>
            <a:r>
              <a:rPr lang="en-US" altLang="en-US" sz="2000" dirty="0" smtClean="0"/>
              <a:t>Yields </a:t>
            </a:r>
            <a:r>
              <a:rPr lang="en-US" altLang="en-US" sz="2000" dirty="0" smtClean="0">
                <a:latin typeface="Courier New" panose="02070309020205020404" pitchFamily="49" charset="0"/>
              </a:rPr>
              <a:t>#t</a:t>
            </a:r>
            <a:r>
              <a:rPr lang="en-US" altLang="en-US" sz="2000" dirty="0" smtClean="0"/>
              <a:t> if parameter is empty list, otherwise yields </a:t>
            </a:r>
            <a:r>
              <a:rPr lang="en-US" altLang="en-US" sz="2000" dirty="0" smtClean="0">
                <a:latin typeface="Courier New" panose="02070309020205020404" pitchFamily="49" charset="0"/>
              </a:rPr>
              <a:t>#f</a:t>
            </a:r>
            <a:endParaRPr lang="en-US" altLang="en-US" sz="2000" b="1" dirty="0" smtClean="0">
              <a:latin typeface="Courier New" panose="02070309020205020404" pitchFamily="49" charset="0"/>
            </a:endParaRPr>
          </a:p>
          <a:p>
            <a:pPr marL="909638" lvl="1" indent="-390525" eaLnBrk="1" hangingPunct="1"/>
            <a:r>
              <a:rPr lang="en-US" altLang="en-US" sz="2000" dirty="0" smtClean="0"/>
              <a:t>Note that the parameter must be completely empty</a:t>
            </a:r>
          </a:p>
          <a:p>
            <a:pPr marL="1309688" lvl="2" indent="-390525" eaLnBrk="1" hangingPunct="1"/>
            <a:r>
              <a:rPr lang="en-US" altLang="en-US" sz="1700" dirty="0" smtClean="0">
                <a:latin typeface="Courier New" panose="02070309020205020404" pitchFamily="49" charset="0"/>
              </a:rPr>
              <a:t>null?</a:t>
            </a:r>
            <a:r>
              <a:rPr lang="en-US" altLang="en-US" sz="1700" dirty="0" smtClean="0"/>
              <a:t> will yield </a:t>
            </a:r>
            <a:r>
              <a:rPr lang="en-US" altLang="en-US" sz="1700" dirty="0" smtClean="0">
                <a:latin typeface="Courier New" panose="02070309020205020404" pitchFamily="49" charset="0"/>
              </a:rPr>
              <a:t>#t</a:t>
            </a:r>
            <a:r>
              <a:rPr lang="en-US" altLang="en-US" sz="1700" dirty="0" smtClean="0"/>
              <a:t> if the parameter is </a:t>
            </a:r>
            <a:r>
              <a:rPr lang="en-US" altLang="en-US" sz="1700" dirty="0" smtClean="0">
                <a:latin typeface="Courier New" panose="02070309020205020404" pitchFamily="49" charset="0"/>
              </a:rPr>
              <a:t>()</a:t>
            </a:r>
          </a:p>
          <a:p>
            <a:pPr marL="1309688" lvl="2" indent="-390525" eaLnBrk="1" hangingPunct="1"/>
            <a:r>
              <a:rPr lang="en-US" altLang="en-US" sz="1700" dirty="0" smtClean="0">
                <a:latin typeface="Courier New" panose="02070309020205020404" pitchFamily="49" charset="0"/>
              </a:rPr>
              <a:t>null?</a:t>
            </a:r>
            <a:r>
              <a:rPr lang="en-US" altLang="en-US" sz="1700" dirty="0" smtClean="0"/>
              <a:t> </a:t>
            </a:r>
            <a:r>
              <a:rPr lang="en-US" altLang="en-US" sz="1700" dirty="0"/>
              <a:t>will </a:t>
            </a:r>
            <a:r>
              <a:rPr lang="en-US" altLang="en-US" sz="1700" dirty="0" smtClean="0"/>
              <a:t>yield </a:t>
            </a:r>
            <a:r>
              <a:rPr lang="en-US" altLang="en-US" sz="1700" dirty="0" smtClean="0">
                <a:latin typeface="Courier New" panose="02070309020205020404" pitchFamily="49" charset="0"/>
              </a:rPr>
              <a:t>#f</a:t>
            </a:r>
            <a:r>
              <a:rPr lang="en-US" altLang="en-US" sz="1700" dirty="0" smtClean="0"/>
              <a:t> if the parameter is </a:t>
            </a:r>
            <a:r>
              <a:rPr lang="en-US" altLang="en-US" sz="1700" dirty="0" smtClean="0">
                <a:latin typeface="Courier New" panose="02070309020205020404" pitchFamily="49" charset="0"/>
              </a:rPr>
              <a:t>(())</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r>
              <a:rPr lang="en-US" altLang="en-US" dirty="0" smtClean="0"/>
              <a:t>Equivalence Predicates: </a:t>
            </a:r>
            <a:r>
              <a:rPr lang="en-US" altLang="en-US" dirty="0" err="1" smtClean="0">
                <a:latin typeface="Courier New" panose="02070309020205020404" pitchFamily="49" charset="0"/>
              </a:rPr>
              <a:t>eqv</a:t>
            </a:r>
            <a:r>
              <a:rPr lang="en-US" altLang="en-US" dirty="0" smtClean="0">
                <a:latin typeface="Courier New" panose="02070309020205020404" pitchFamily="49" charset="0"/>
              </a:rPr>
              <a:t>?</a:t>
            </a:r>
            <a:endParaRPr lang="en-US" altLang="en-US" dirty="0" smtClean="0"/>
          </a:p>
        </p:txBody>
      </p:sp>
      <p:sp>
        <p:nvSpPr>
          <p:cNvPr id="26627" name="Content Placeholder 2"/>
          <p:cNvSpPr>
            <a:spLocks noGrp="1"/>
          </p:cNvSpPr>
          <p:nvPr>
            <p:ph idx="1"/>
          </p:nvPr>
        </p:nvSpPr>
        <p:spPr>
          <a:xfrm>
            <a:off x="630620" y="1342700"/>
            <a:ext cx="8153400" cy="4572000"/>
          </a:xfrm>
        </p:spPr>
        <p:txBody>
          <a:bodyPr/>
          <a:lstStyle/>
          <a:p>
            <a:pPr>
              <a:defRPr/>
            </a:pPr>
            <a:r>
              <a:rPr lang="en-US" altLang="en-US" sz="2400" dirty="0" smtClean="0">
                <a:latin typeface="+mj-lt"/>
                <a:cs typeface="Courier New" panose="02070309020205020404" pitchFamily="49" charset="0"/>
              </a:rPr>
              <a:t>The </a:t>
            </a:r>
            <a:r>
              <a:rPr lang="en-US" altLang="en-US" sz="2400" dirty="0" err="1" smtClean="0">
                <a:latin typeface="Courier New" panose="02070309020205020404" pitchFamily="49" charset="0"/>
                <a:cs typeface="Courier New" panose="02070309020205020404" pitchFamily="49" charset="0"/>
              </a:rPr>
              <a:t>eqv</a:t>
            </a:r>
            <a:r>
              <a:rPr lang="en-US" altLang="en-US" sz="2400" dirty="0" smtClean="0">
                <a:latin typeface="Courier New" panose="02070309020205020404" pitchFamily="49" charset="0"/>
                <a:cs typeface="Courier New" panose="02070309020205020404" pitchFamily="49" charset="0"/>
              </a:rPr>
              <a:t>?</a:t>
            </a:r>
            <a:r>
              <a:rPr lang="en-US" altLang="en-US" sz="2400" dirty="0" smtClean="0">
                <a:latin typeface="+mj-lt"/>
                <a:cs typeface="Courier New" panose="02070309020205020404" pitchFamily="49" charset="0"/>
              </a:rPr>
              <a:t> predicate function</a:t>
            </a:r>
            <a:endParaRPr lang="en-US" altLang="en-US" sz="2400" dirty="0" smtClean="0"/>
          </a:p>
          <a:p>
            <a:pPr lvl="1">
              <a:defRPr/>
            </a:pPr>
            <a:r>
              <a:rPr lang="en-US" altLang="en-US" sz="2000" dirty="0" smtClean="0"/>
              <a:t>Yields </a:t>
            </a:r>
            <a:r>
              <a:rPr lang="en-US" altLang="en-US" sz="2000" dirty="0" smtClean="0">
                <a:latin typeface="Courier New" panose="02070309020205020404" pitchFamily="49" charset="0"/>
                <a:cs typeface="Courier New" panose="02070309020205020404" pitchFamily="49" charset="0"/>
              </a:rPr>
              <a:t>#t</a:t>
            </a:r>
            <a:r>
              <a:rPr lang="en-US" altLang="en-US" sz="2000" dirty="0" smtClean="0"/>
              <a:t> if two </a:t>
            </a:r>
            <a:r>
              <a:rPr lang="en-US" altLang="en-US" sz="2000" u="sng" dirty="0" smtClean="0"/>
              <a:t>values</a:t>
            </a:r>
            <a:r>
              <a:rPr lang="en-US" altLang="en-US" sz="2000" dirty="0" smtClean="0"/>
              <a:t> are the same</a:t>
            </a:r>
            <a:endParaRPr lang="en-US" altLang="en-US" sz="2000" dirty="0"/>
          </a:p>
          <a:p>
            <a:pPr lvl="1">
              <a:defRPr/>
            </a:pPr>
            <a:r>
              <a:rPr lang="en-US" altLang="en-US" sz="2000" dirty="0" smtClean="0"/>
              <a:t>Works for both symbolic and numeric atoms</a:t>
            </a:r>
          </a:p>
          <a:p>
            <a:pPr lvl="1">
              <a:defRPr/>
            </a:pPr>
            <a:r>
              <a:rPr lang="en-US" altLang="en-US" sz="2000" dirty="0" smtClean="0"/>
              <a:t>For example</a:t>
            </a:r>
          </a:p>
          <a:p>
            <a:pPr>
              <a:spcBef>
                <a:spcPts val="480"/>
              </a:spcBef>
              <a:buFontTx/>
              <a:buNone/>
              <a:defRPr/>
            </a:pPr>
            <a:r>
              <a:rPr lang="en-US" altLang="en-US" sz="2000" dirty="0" smtClean="0">
                <a:latin typeface="Courier New" panose="02070309020205020404" pitchFamily="49" charset="0"/>
                <a:cs typeface="Courier New" panose="02070309020205020404" pitchFamily="49" charset="0"/>
              </a:rPr>
              <a:t>		 </a:t>
            </a:r>
            <a:r>
              <a:rPr lang="en-US" altLang="en-US" sz="2000" dirty="0" smtClean="0">
                <a:solidFill>
                  <a:srgbClr val="666699"/>
                </a:solidFill>
                <a:latin typeface="Courier New" panose="02070309020205020404" pitchFamily="49" charset="0"/>
                <a:cs typeface="Courier New" panose="02070309020205020404" pitchFamily="49" charset="0"/>
              </a:rPr>
              <a:t>(</a:t>
            </a:r>
            <a:r>
              <a:rPr lang="en-US" altLang="en-US" sz="2000" dirty="0" err="1" smtClean="0">
                <a:solidFill>
                  <a:srgbClr val="666699"/>
                </a:solidFill>
                <a:latin typeface="Courier New" panose="02070309020205020404" pitchFamily="49" charset="0"/>
                <a:cs typeface="Courier New" panose="02070309020205020404" pitchFamily="49" charset="0"/>
              </a:rPr>
              <a:t>eqv</a:t>
            </a:r>
            <a:r>
              <a:rPr lang="en-US" altLang="en-US" sz="2000" dirty="0" smtClean="0">
                <a:solidFill>
                  <a:srgbClr val="666699"/>
                </a:solidFill>
                <a:latin typeface="Courier New" panose="02070309020205020404" pitchFamily="49" charset="0"/>
                <a:cs typeface="Courier New" panose="02070309020205020404" pitchFamily="49" charset="0"/>
              </a:rPr>
              <a:t>? 3 3)</a:t>
            </a:r>
            <a:r>
              <a:rPr lang="en-US" altLang="en-US" sz="2000" dirty="0" smtClean="0">
                <a:cs typeface="Courier New" panose="02070309020205020404" pitchFamily="49" charset="0"/>
              </a:rPr>
              <a:t> yields </a:t>
            </a:r>
            <a:r>
              <a:rPr lang="en-US" altLang="en-US" sz="2000" dirty="0" smtClean="0">
                <a:solidFill>
                  <a:srgbClr val="666699"/>
                </a:solidFill>
                <a:latin typeface="Courier New" panose="02070309020205020404" pitchFamily="49" charset="0"/>
                <a:cs typeface="Courier New" panose="02070309020205020404" pitchFamily="49" charset="0"/>
              </a:rPr>
              <a:t>#t</a:t>
            </a:r>
          </a:p>
          <a:p>
            <a:pPr>
              <a:spcBef>
                <a:spcPts val="480"/>
              </a:spcBef>
              <a:buNone/>
              <a:defRPr/>
            </a:pPr>
            <a:r>
              <a:rPr lang="en-US" altLang="en-US" sz="2000" dirty="0">
                <a:latin typeface="Courier New" panose="02070309020205020404" pitchFamily="49" charset="0"/>
                <a:cs typeface="Courier New" panose="02070309020205020404" pitchFamily="49" charset="0"/>
              </a:rPr>
              <a:t>		</a:t>
            </a:r>
            <a:r>
              <a:rPr lang="en-US" altLang="en-US" sz="2000" dirty="0" smtClean="0">
                <a:latin typeface="Courier New" panose="02070309020205020404" pitchFamily="49" charset="0"/>
                <a:cs typeface="Courier New" panose="02070309020205020404" pitchFamily="49" charset="0"/>
              </a:rPr>
              <a:t> </a:t>
            </a:r>
            <a:r>
              <a:rPr lang="en-US" altLang="en-US" sz="2000" dirty="0" smtClean="0">
                <a:solidFill>
                  <a:srgbClr val="666699"/>
                </a:solidFill>
                <a:latin typeface="Courier New" panose="02070309020205020404" pitchFamily="49" charset="0"/>
                <a:cs typeface="Courier New" panose="02070309020205020404" pitchFamily="49" charset="0"/>
              </a:rPr>
              <a:t>(</a:t>
            </a:r>
            <a:r>
              <a:rPr lang="en-US" altLang="en-US" sz="2000" dirty="0" err="1" smtClean="0">
                <a:solidFill>
                  <a:srgbClr val="666699"/>
                </a:solidFill>
                <a:latin typeface="Courier New" panose="02070309020205020404" pitchFamily="49" charset="0"/>
                <a:cs typeface="Courier New" panose="02070309020205020404" pitchFamily="49" charset="0"/>
              </a:rPr>
              <a:t>eqv</a:t>
            </a:r>
            <a:r>
              <a:rPr lang="en-US" altLang="en-US" sz="2000" dirty="0" smtClean="0">
                <a:solidFill>
                  <a:srgbClr val="666699"/>
                </a:solidFill>
                <a:latin typeface="Courier New" panose="02070309020205020404" pitchFamily="49" charset="0"/>
                <a:cs typeface="Courier New" panose="02070309020205020404" pitchFamily="49" charset="0"/>
              </a:rPr>
              <a:t>? </a:t>
            </a:r>
            <a:r>
              <a:rPr lang="en-US" altLang="en-US" sz="2000" dirty="0" smtClean="0">
                <a:solidFill>
                  <a:srgbClr val="666699"/>
                </a:solidFill>
                <a:latin typeface="Courier New" panose="02070309020205020404" pitchFamily="49" charset="0"/>
                <a:cs typeface="Courier New" panose="02070309020205020404" pitchFamily="49" charset="0"/>
              </a:rPr>
              <a:t>'a 'a)</a:t>
            </a:r>
            <a:r>
              <a:rPr lang="en-US" altLang="en-US" sz="2000" dirty="0" smtClean="0">
                <a:cs typeface="Courier New" panose="02070309020205020404" pitchFamily="49" charset="0"/>
              </a:rPr>
              <a:t> </a:t>
            </a:r>
            <a:r>
              <a:rPr lang="en-US" altLang="en-US" sz="2000" dirty="0">
                <a:cs typeface="Courier New" panose="02070309020205020404" pitchFamily="49" charset="0"/>
              </a:rPr>
              <a:t>yields </a:t>
            </a:r>
            <a:r>
              <a:rPr lang="en-US" altLang="en-US" sz="2000" dirty="0" smtClean="0">
                <a:solidFill>
                  <a:srgbClr val="666699"/>
                </a:solidFill>
                <a:latin typeface="Courier New" panose="02070309020205020404" pitchFamily="49" charset="0"/>
                <a:cs typeface="Courier New" panose="02070309020205020404" pitchFamily="49" charset="0"/>
              </a:rPr>
              <a:t>#t</a:t>
            </a:r>
          </a:p>
          <a:p>
            <a:pPr>
              <a:spcBef>
                <a:spcPts val="480"/>
              </a:spcBef>
              <a:buNone/>
              <a:defRPr/>
            </a:pPr>
            <a:r>
              <a:rPr lang="en-US" altLang="en-US" sz="2000" dirty="0">
                <a:latin typeface="Courier New" panose="02070309020205020404" pitchFamily="49" charset="0"/>
                <a:cs typeface="Courier New" panose="02070309020205020404" pitchFamily="49" charset="0"/>
              </a:rPr>
              <a:t>		</a:t>
            </a:r>
            <a:r>
              <a:rPr lang="en-US" altLang="en-US" sz="2000" dirty="0" smtClean="0">
                <a:latin typeface="Courier New" panose="02070309020205020404" pitchFamily="49" charset="0"/>
                <a:cs typeface="Courier New" panose="02070309020205020404" pitchFamily="49" charset="0"/>
              </a:rPr>
              <a:t> </a:t>
            </a:r>
            <a:r>
              <a:rPr lang="en-US" altLang="en-US" sz="2000" dirty="0" smtClean="0">
                <a:solidFill>
                  <a:srgbClr val="666699"/>
                </a:solidFill>
                <a:latin typeface="Courier New" panose="02070309020205020404" pitchFamily="49" charset="0"/>
                <a:cs typeface="Courier New" panose="02070309020205020404" pitchFamily="49" charset="0"/>
              </a:rPr>
              <a:t>(</a:t>
            </a:r>
            <a:r>
              <a:rPr lang="en-US" altLang="en-US" sz="2000" dirty="0" err="1" smtClean="0">
                <a:solidFill>
                  <a:srgbClr val="666699"/>
                </a:solidFill>
                <a:latin typeface="Courier New" panose="02070309020205020404" pitchFamily="49" charset="0"/>
                <a:cs typeface="Courier New" panose="02070309020205020404" pitchFamily="49" charset="0"/>
              </a:rPr>
              <a:t>eqv</a:t>
            </a:r>
            <a:r>
              <a:rPr lang="en-US" altLang="en-US" sz="2000" dirty="0" smtClean="0">
                <a:solidFill>
                  <a:srgbClr val="666699"/>
                </a:solidFill>
                <a:latin typeface="Courier New" panose="02070309020205020404" pitchFamily="49" charset="0"/>
                <a:cs typeface="Courier New" panose="02070309020205020404" pitchFamily="49" charset="0"/>
              </a:rPr>
              <a:t>? </a:t>
            </a:r>
            <a:r>
              <a:rPr lang="en-US" altLang="en-US" sz="2000" dirty="0" smtClean="0">
                <a:solidFill>
                  <a:srgbClr val="666699"/>
                </a:solidFill>
                <a:latin typeface="Courier New" panose="02070309020205020404" pitchFamily="49" charset="0"/>
              </a:rPr>
              <a:t>'</a:t>
            </a:r>
            <a:r>
              <a:rPr lang="en-US" altLang="en-US" sz="2000" dirty="0" smtClean="0">
                <a:solidFill>
                  <a:srgbClr val="666699"/>
                </a:solidFill>
                <a:latin typeface="Courier New" panose="02070309020205020404" pitchFamily="49" charset="0"/>
                <a:cs typeface="Courier New" panose="02070309020205020404" pitchFamily="49" charset="0"/>
              </a:rPr>
              <a:t>a 'b)</a:t>
            </a:r>
            <a:r>
              <a:rPr lang="en-US" altLang="en-US" sz="2000" dirty="0" smtClean="0">
                <a:cs typeface="Courier New" panose="02070309020205020404" pitchFamily="49" charset="0"/>
              </a:rPr>
              <a:t> </a:t>
            </a:r>
            <a:r>
              <a:rPr lang="en-US" altLang="en-US" sz="2000" dirty="0">
                <a:cs typeface="Courier New" panose="02070309020205020404" pitchFamily="49" charset="0"/>
              </a:rPr>
              <a:t>yields </a:t>
            </a:r>
            <a:r>
              <a:rPr lang="en-US" altLang="en-US" sz="2000" dirty="0" smtClean="0">
                <a:solidFill>
                  <a:srgbClr val="666699"/>
                </a:solidFill>
                <a:latin typeface="Courier New" panose="02070309020205020404" pitchFamily="49" charset="0"/>
                <a:cs typeface="Courier New" panose="02070309020205020404" pitchFamily="49" charset="0"/>
              </a:rPr>
              <a:t>#f</a:t>
            </a:r>
          </a:p>
          <a:p>
            <a:pPr>
              <a:buFontTx/>
              <a:buNone/>
              <a:defRPr/>
            </a:pPr>
            <a:r>
              <a:rPr lang="en-US" altLang="en-US" sz="2000" dirty="0" smtClean="0">
                <a:latin typeface="Courier New" panose="02070309020205020404" pitchFamily="49" charset="0"/>
                <a:cs typeface="Courier New" panose="02070309020205020404" pitchFamily="49" charset="0"/>
              </a:rPr>
              <a:t>		 </a:t>
            </a:r>
            <a:r>
              <a:rPr lang="en-US" altLang="en-US" sz="2000" dirty="0" smtClean="0">
                <a:solidFill>
                  <a:srgbClr val="666699"/>
                </a:solidFill>
                <a:latin typeface="Courier New" panose="02070309020205020404" pitchFamily="49" charset="0"/>
                <a:cs typeface="Courier New" panose="02070309020205020404" pitchFamily="49" charset="0"/>
              </a:rPr>
              <a:t>(</a:t>
            </a:r>
            <a:r>
              <a:rPr lang="en-US" altLang="en-US" sz="2000" dirty="0" err="1" smtClean="0">
                <a:solidFill>
                  <a:srgbClr val="666699"/>
                </a:solidFill>
                <a:latin typeface="Courier New" panose="02070309020205020404" pitchFamily="49" charset="0"/>
                <a:cs typeface="Courier New" panose="02070309020205020404" pitchFamily="49" charset="0"/>
              </a:rPr>
              <a:t>eqv</a:t>
            </a:r>
            <a:r>
              <a:rPr lang="en-US" altLang="en-US" sz="2000" dirty="0" smtClean="0">
                <a:solidFill>
                  <a:srgbClr val="666699"/>
                </a:solidFill>
                <a:latin typeface="Courier New" panose="02070309020205020404" pitchFamily="49" charset="0"/>
                <a:cs typeface="Courier New" panose="02070309020205020404" pitchFamily="49" charset="0"/>
              </a:rPr>
              <a:t>? 3.4 (+ 3 0.4))</a:t>
            </a:r>
            <a:r>
              <a:rPr lang="en-US" altLang="en-US" sz="2000" dirty="0" smtClean="0">
                <a:cs typeface="Courier New" panose="02070309020205020404" pitchFamily="49" charset="0"/>
              </a:rPr>
              <a:t> yields </a:t>
            </a:r>
            <a:r>
              <a:rPr lang="en-US" altLang="en-US" sz="2000" dirty="0" smtClean="0">
                <a:solidFill>
                  <a:srgbClr val="666699"/>
                </a:solidFill>
                <a:latin typeface="Courier New" panose="02070309020205020404" pitchFamily="49" charset="0"/>
                <a:cs typeface="Courier New" panose="02070309020205020404" pitchFamily="49" charset="0"/>
              </a:rPr>
              <a:t>#t</a:t>
            </a:r>
            <a:endParaRPr lang="en-US" altLang="en-US" sz="2000" dirty="0" smtClean="0">
              <a:solidFill>
                <a:srgbClr val="666699"/>
              </a:solidFill>
            </a:endParaRPr>
          </a:p>
          <a:p>
            <a:pPr lvl="1">
              <a:defRPr/>
            </a:pPr>
            <a:r>
              <a:rPr lang="en-US" altLang="en-US" sz="2000" dirty="0" smtClean="0"/>
              <a:t>Does not work for lists</a:t>
            </a:r>
          </a:p>
          <a:p>
            <a:pPr marL="357188" lvl="1" indent="-357188">
              <a:buNone/>
              <a:defRPr/>
            </a:pPr>
            <a:r>
              <a:rPr lang="en-US" altLang="en-US" sz="2000" dirty="0">
                <a:latin typeface="Courier New" panose="02070309020205020404" pitchFamily="49" charset="0"/>
                <a:cs typeface="Courier New" panose="02070309020205020404" pitchFamily="49" charset="0"/>
              </a:rPr>
              <a:t>		</a:t>
            </a:r>
            <a:r>
              <a:rPr lang="en-US" altLang="en-US" sz="2000" dirty="0" smtClean="0">
                <a:latin typeface="Courier New" panose="02070309020205020404" pitchFamily="49" charset="0"/>
                <a:cs typeface="Courier New" panose="02070309020205020404" pitchFamily="49" charset="0"/>
              </a:rPr>
              <a:t> </a:t>
            </a:r>
            <a:r>
              <a:rPr lang="en-US" altLang="en-US" sz="2000" dirty="0" smtClean="0">
                <a:solidFill>
                  <a:srgbClr val="666699"/>
                </a:solidFill>
                <a:latin typeface="Courier New" panose="02070309020205020404" pitchFamily="49" charset="0"/>
                <a:cs typeface="Courier New" panose="02070309020205020404" pitchFamily="49" charset="0"/>
              </a:rPr>
              <a:t>(</a:t>
            </a:r>
            <a:r>
              <a:rPr lang="en-US" altLang="en-US" sz="2000" dirty="0" err="1" smtClean="0">
                <a:solidFill>
                  <a:srgbClr val="666699"/>
                </a:solidFill>
                <a:latin typeface="Courier New" panose="02070309020205020404" pitchFamily="49" charset="0"/>
                <a:cs typeface="Courier New" panose="02070309020205020404" pitchFamily="49" charset="0"/>
              </a:rPr>
              <a:t>eqv</a:t>
            </a:r>
            <a:r>
              <a:rPr lang="en-US" altLang="en-US" sz="2000" dirty="0" smtClean="0">
                <a:solidFill>
                  <a:srgbClr val="666699"/>
                </a:solidFill>
                <a:latin typeface="Courier New" panose="02070309020205020404" pitchFamily="49" charset="0"/>
                <a:cs typeface="Courier New" panose="02070309020205020404" pitchFamily="49" charset="0"/>
              </a:rPr>
              <a:t>? </a:t>
            </a:r>
            <a:r>
              <a:rPr lang="en-US" altLang="en-US" sz="2000" dirty="0" smtClean="0">
                <a:solidFill>
                  <a:srgbClr val="666699"/>
                </a:solidFill>
                <a:latin typeface="Courier New" panose="02070309020205020404" pitchFamily="49" charset="0"/>
                <a:cs typeface="Courier New" panose="02070309020205020404" pitchFamily="49" charset="0"/>
              </a:rPr>
              <a:t>'(a b) '(a b))</a:t>
            </a:r>
            <a:r>
              <a:rPr lang="en-US" altLang="en-US" sz="2000" dirty="0" smtClean="0">
                <a:cs typeface="Courier New" panose="02070309020205020404" pitchFamily="49" charset="0"/>
              </a:rPr>
              <a:t> </a:t>
            </a:r>
            <a:r>
              <a:rPr lang="en-US" altLang="en-US" sz="2000" dirty="0">
                <a:cs typeface="Courier New" panose="02070309020205020404" pitchFamily="49" charset="0"/>
              </a:rPr>
              <a:t>yields </a:t>
            </a:r>
            <a:r>
              <a:rPr lang="en-US" altLang="en-US" sz="2000" dirty="0" smtClean="0">
                <a:solidFill>
                  <a:srgbClr val="666699"/>
                </a:solidFill>
                <a:latin typeface="Courier New" panose="02070309020205020404" pitchFamily="49" charset="0"/>
                <a:cs typeface="Courier New" panose="02070309020205020404" pitchFamily="49" charset="0"/>
              </a:rPr>
              <a:t>#f</a:t>
            </a:r>
            <a:endParaRPr lang="en-US" altLang="en-US" sz="2000" dirty="0" smtClean="0">
              <a:solidFill>
                <a:srgbClr val="666699"/>
              </a:solidFill>
            </a:endParaRPr>
          </a:p>
          <a:p>
            <a:pPr lvl="1">
              <a:defRPr/>
            </a:pPr>
            <a:r>
              <a:rPr lang="en-US" altLang="en-US" sz="2000" dirty="0" smtClean="0"/>
              <a:t>Floats and integers are </a:t>
            </a:r>
            <a:r>
              <a:rPr lang="en-US" altLang="en-US" sz="2000" u="sng" dirty="0" smtClean="0"/>
              <a:t>different values</a:t>
            </a:r>
          </a:p>
          <a:p>
            <a:pPr>
              <a:buFontTx/>
              <a:buNone/>
              <a:defRPr/>
            </a:pPr>
            <a:r>
              <a:rPr lang="en-US" altLang="en-US" sz="2000" dirty="0" smtClean="0">
                <a:latin typeface="Courier New" panose="02070309020205020404" pitchFamily="49" charset="0"/>
                <a:cs typeface="Courier New" panose="02070309020205020404" pitchFamily="49" charset="0"/>
              </a:rPr>
              <a:t>		 </a:t>
            </a:r>
            <a:r>
              <a:rPr lang="en-US" altLang="en-US" sz="2000" dirty="0" smtClean="0">
                <a:solidFill>
                  <a:srgbClr val="666699"/>
                </a:solidFill>
                <a:latin typeface="Courier New" panose="02070309020205020404" pitchFamily="49" charset="0"/>
                <a:cs typeface="Courier New" panose="02070309020205020404" pitchFamily="49" charset="0"/>
              </a:rPr>
              <a:t>(</a:t>
            </a:r>
            <a:r>
              <a:rPr lang="en-US" altLang="en-US" sz="2000" dirty="0" err="1" smtClean="0">
                <a:solidFill>
                  <a:srgbClr val="666699"/>
                </a:solidFill>
                <a:latin typeface="Courier New" panose="02070309020205020404" pitchFamily="49" charset="0"/>
                <a:cs typeface="Courier New" panose="02070309020205020404" pitchFamily="49" charset="0"/>
              </a:rPr>
              <a:t>eqv</a:t>
            </a:r>
            <a:r>
              <a:rPr lang="en-US" altLang="en-US" sz="2000" dirty="0" smtClean="0">
                <a:solidFill>
                  <a:srgbClr val="666699"/>
                </a:solidFill>
                <a:latin typeface="Courier New" panose="02070309020205020404" pitchFamily="49" charset="0"/>
                <a:cs typeface="Courier New" panose="02070309020205020404" pitchFamily="49" charset="0"/>
              </a:rPr>
              <a:t>? 3.0 3)</a:t>
            </a:r>
            <a:r>
              <a:rPr lang="en-US" altLang="en-US" sz="2000" dirty="0" smtClean="0">
                <a:cs typeface="Courier New" panose="02070309020205020404" pitchFamily="49" charset="0"/>
              </a:rPr>
              <a:t> yields </a:t>
            </a:r>
            <a:r>
              <a:rPr lang="en-US" altLang="en-US" sz="2000" dirty="0" smtClean="0">
                <a:solidFill>
                  <a:srgbClr val="666699"/>
                </a:solidFill>
                <a:latin typeface="Courier New" panose="02070309020205020404" pitchFamily="49" charset="0"/>
                <a:cs typeface="Courier New" panose="02070309020205020404" pitchFamily="49" charset="0"/>
              </a:rPr>
              <a:t>#f</a:t>
            </a:r>
            <a:endParaRPr lang="en-US" altLang="en-US" sz="2000" dirty="0" smtClean="0">
              <a:solidFill>
                <a:srgbClr val="666699"/>
              </a:solidFill>
            </a:endParaRPr>
          </a:p>
          <a:p>
            <a:pPr lvl="0">
              <a:buNone/>
              <a:defRPr/>
            </a:pPr>
            <a:r>
              <a:rPr lang="en-US" altLang="en-US" sz="2000" dirty="0">
                <a:solidFill>
                  <a:srgbClr val="333399"/>
                </a:solidFill>
                <a:latin typeface="Courier New" panose="02070309020205020404" pitchFamily="49" charset="0"/>
                <a:cs typeface="Courier New" panose="02070309020205020404" pitchFamily="49" charset="0"/>
              </a:rPr>
              <a:t>		 </a:t>
            </a:r>
            <a:r>
              <a:rPr lang="en-US" altLang="en-US" sz="2000" dirty="0" smtClean="0">
                <a:solidFill>
                  <a:srgbClr val="666699"/>
                </a:solidFill>
                <a:latin typeface="Courier New" panose="02070309020205020404" pitchFamily="49" charset="0"/>
                <a:cs typeface="Courier New" panose="02070309020205020404" pitchFamily="49" charset="0"/>
              </a:rPr>
              <a:t>(</a:t>
            </a:r>
            <a:r>
              <a:rPr lang="en-US" altLang="en-US" sz="2000" dirty="0">
                <a:solidFill>
                  <a:srgbClr val="666699"/>
                </a:solidFill>
                <a:latin typeface="Courier New" panose="02070309020205020404" pitchFamily="49" charset="0"/>
                <a:cs typeface="Courier New" panose="02070309020205020404" pitchFamily="49" charset="0"/>
              </a:rPr>
              <a:t>=</a:t>
            </a:r>
            <a:r>
              <a:rPr lang="en-US" altLang="en-US" sz="2000" dirty="0" smtClean="0">
                <a:solidFill>
                  <a:srgbClr val="666699"/>
                </a:solidFill>
                <a:latin typeface="Courier New" panose="02070309020205020404" pitchFamily="49" charset="0"/>
                <a:cs typeface="Courier New" panose="02070309020205020404" pitchFamily="49" charset="0"/>
              </a:rPr>
              <a:t> </a:t>
            </a:r>
            <a:r>
              <a:rPr lang="en-US" altLang="en-US" sz="2000" dirty="0">
                <a:solidFill>
                  <a:srgbClr val="666699"/>
                </a:solidFill>
                <a:latin typeface="Courier New" panose="02070309020205020404" pitchFamily="49" charset="0"/>
                <a:cs typeface="Courier New" panose="02070309020205020404" pitchFamily="49" charset="0"/>
              </a:rPr>
              <a:t>3.0 3)</a:t>
            </a:r>
            <a:r>
              <a:rPr lang="en-US" altLang="en-US" sz="2000" dirty="0">
                <a:solidFill>
                  <a:srgbClr val="333399"/>
                </a:solidFill>
                <a:cs typeface="Courier New" panose="02070309020205020404" pitchFamily="49" charset="0"/>
              </a:rPr>
              <a:t> yields </a:t>
            </a:r>
            <a:r>
              <a:rPr lang="en-US" altLang="en-US" sz="2000" dirty="0" smtClean="0">
                <a:solidFill>
                  <a:srgbClr val="666699"/>
                </a:solidFill>
                <a:latin typeface="Courier New" panose="02070309020205020404" pitchFamily="49" charset="0"/>
                <a:cs typeface="Courier New" panose="02070309020205020404" pitchFamily="49" charset="0"/>
              </a:rPr>
              <a:t>#t</a:t>
            </a:r>
            <a:endParaRPr lang="en-US" altLang="en-US" sz="2000" dirty="0">
              <a:solidFill>
                <a:srgbClr val="666699"/>
              </a:solidFill>
              <a:latin typeface="Courier New" panose="02070309020205020404" pitchFamily="49" charset="0"/>
              <a:cs typeface="Courier New" panose="02070309020205020404" pitchFamily="49" charset="0"/>
            </a:endParaRPr>
          </a:p>
          <a:p>
            <a:pPr>
              <a:buFontTx/>
              <a:buNone/>
              <a:defRPr/>
            </a:pPr>
            <a:endParaRPr lang="en-US" altLang="en-US" dirty="0" smtClean="0"/>
          </a:p>
        </p:txBody>
      </p:sp>
      <p:sp>
        <p:nvSpPr>
          <p:cNvPr id="4710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dirty="0" smtClean="0">
                <a:solidFill>
                  <a:schemeClr val="tx1"/>
                </a:solidFill>
                <a:latin typeface="Arial" panose="020B0604020202020204" pitchFamily="34" charset="0"/>
              </a:rPr>
              <a:t>Copyright © 2023 Addison-Wesley. All rights reserved.</a:t>
            </a:r>
          </a:p>
        </p:txBody>
      </p:sp>
      <p:sp>
        <p:nvSpPr>
          <p:cNvPr id="4710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DD551C7F-F5B1-4736-A646-3DACE0715D08}" type="slidenum">
              <a:rPr lang="en-US" altLang="en-US" sz="1000" smtClean="0">
                <a:solidFill>
                  <a:schemeClr val="tx1"/>
                </a:solidFill>
                <a:latin typeface="Arial" panose="020B0604020202020204" pitchFamily="34" charset="0"/>
              </a:rPr>
              <a:pPr>
                <a:spcBef>
                  <a:spcPct val="0"/>
                </a:spcBef>
                <a:buFontTx/>
                <a:buNone/>
              </a:pPr>
              <a:t>8</a:t>
            </a:fld>
            <a:endParaRPr lang="en-US" altLang="en-US" sz="1000" smtClean="0">
              <a:solidFill>
                <a:schemeClr val="tx1"/>
              </a:solidFill>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dirty="0" smtClean="0">
                <a:solidFill>
                  <a:schemeClr val="tx1"/>
                </a:solidFill>
                <a:latin typeface="Arial" panose="020B0604020202020204" pitchFamily="34" charset="0"/>
              </a:rPr>
              <a:t>Copyright © 2023 Addison-Wesley. All rights reserved.</a:t>
            </a:r>
          </a:p>
        </p:txBody>
      </p:sp>
      <p:sp>
        <p:nvSpPr>
          <p:cNvPr id="4505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7CBACE90-FD84-4C8B-A411-9D97D3B893C7}" type="slidenum">
              <a:rPr lang="en-US" altLang="en-US" sz="1000" smtClean="0">
                <a:solidFill>
                  <a:schemeClr val="tx1"/>
                </a:solidFill>
                <a:latin typeface="Arial" panose="020B0604020202020204" pitchFamily="34" charset="0"/>
              </a:rPr>
              <a:pPr>
                <a:spcBef>
                  <a:spcPct val="0"/>
                </a:spcBef>
                <a:buFontTx/>
                <a:buNone/>
              </a:pPr>
              <a:t>9</a:t>
            </a:fld>
            <a:endParaRPr lang="en-US" altLang="en-US" sz="1000" smtClean="0">
              <a:solidFill>
                <a:schemeClr val="tx1"/>
              </a:solidFill>
              <a:latin typeface="Arial" panose="020B0604020202020204" pitchFamily="34" charset="0"/>
            </a:endParaRPr>
          </a:p>
        </p:txBody>
      </p:sp>
      <p:sp>
        <p:nvSpPr>
          <p:cNvPr id="45060" name="Rectangle 2"/>
          <p:cNvSpPr>
            <a:spLocks noGrp="1" noChangeArrowheads="1"/>
          </p:cNvSpPr>
          <p:nvPr>
            <p:ph type="title"/>
          </p:nvPr>
        </p:nvSpPr>
        <p:spPr/>
        <p:txBody>
          <a:bodyPr/>
          <a:lstStyle/>
          <a:p>
            <a:pPr eaLnBrk="1" hangingPunct="1"/>
            <a:r>
              <a:rPr lang="en-US" altLang="en-US" dirty="0" smtClean="0"/>
              <a:t>Equivalence Predicates: </a:t>
            </a:r>
            <a:r>
              <a:rPr lang="en-US" altLang="en-US" dirty="0" err="1" smtClean="0">
                <a:latin typeface="Courier New" panose="02070309020205020404" pitchFamily="49" charset="0"/>
              </a:rPr>
              <a:t>eq</a:t>
            </a:r>
            <a:r>
              <a:rPr lang="en-US" altLang="en-US" dirty="0" smtClean="0">
                <a:latin typeface="Courier New" panose="02070309020205020404" pitchFamily="49" charset="0"/>
              </a:rPr>
              <a:t>?</a:t>
            </a:r>
          </a:p>
        </p:txBody>
      </p:sp>
      <p:sp>
        <p:nvSpPr>
          <p:cNvPr id="28677" name="Rectangle 3"/>
          <p:cNvSpPr>
            <a:spLocks noGrp="1" noChangeArrowheads="1"/>
          </p:cNvSpPr>
          <p:nvPr>
            <p:ph type="body" idx="1"/>
          </p:nvPr>
        </p:nvSpPr>
        <p:spPr>
          <a:xfrm>
            <a:off x="630620" y="1337440"/>
            <a:ext cx="8001000" cy="4724400"/>
          </a:xfrm>
        </p:spPr>
        <p:txBody>
          <a:bodyPr/>
          <a:lstStyle/>
          <a:p>
            <a:pPr eaLnBrk="1" hangingPunct="1">
              <a:defRPr/>
            </a:pPr>
            <a:r>
              <a:rPr lang="en-US" altLang="en-US" sz="2400" dirty="0" smtClean="0"/>
              <a:t>The </a:t>
            </a:r>
            <a:r>
              <a:rPr lang="en-US" altLang="en-US" sz="2400" dirty="0" err="1" smtClean="0">
                <a:latin typeface="Courier New" panose="02070309020205020404" pitchFamily="49" charset="0"/>
              </a:rPr>
              <a:t>eq</a:t>
            </a:r>
            <a:r>
              <a:rPr lang="en-US" altLang="en-US" sz="2400" dirty="0" smtClean="0">
                <a:latin typeface="Courier New" panose="02070309020205020404" pitchFamily="49" charset="0"/>
              </a:rPr>
              <a:t>?</a:t>
            </a:r>
            <a:r>
              <a:rPr lang="en-US" altLang="en-US" sz="2400" dirty="0" smtClean="0"/>
              <a:t> predicate function</a:t>
            </a:r>
          </a:p>
          <a:p>
            <a:pPr lvl="1" eaLnBrk="1" hangingPunct="1">
              <a:defRPr/>
            </a:pPr>
            <a:r>
              <a:rPr lang="en-US" altLang="en-US" sz="2000" dirty="0" smtClean="0"/>
              <a:t>Yields </a:t>
            </a:r>
            <a:r>
              <a:rPr lang="en-US" altLang="en-US" sz="2000" dirty="0" smtClean="0">
                <a:latin typeface="Courier New" panose="02070309020205020404" pitchFamily="49" charset="0"/>
              </a:rPr>
              <a:t>#t</a:t>
            </a:r>
            <a:r>
              <a:rPr lang="en-US" altLang="en-US" sz="2000" dirty="0" smtClean="0"/>
              <a:t> if two </a:t>
            </a:r>
            <a:r>
              <a:rPr lang="en-US" altLang="en-US" sz="2000" dirty="0"/>
              <a:t>parameters are </a:t>
            </a:r>
            <a:r>
              <a:rPr lang="en-US" altLang="en-US" sz="2000" dirty="0" smtClean="0"/>
              <a:t>the same object in memory (i.e. performs a pointer comparison)</a:t>
            </a:r>
          </a:p>
          <a:p>
            <a:pPr lvl="1" eaLnBrk="1" hangingPunct="1">
              <a:defRPr/>
            </a:pPr>
            <a:r>
              <a:rPr lang="en-US" altLang="en-US" sz="2000" dirty="0" smtClean="0">
                <a:cs typeface="Courier New" panose="02070309020205020404" pitchFamily="49" charset="0"/>
              </a:rPr>
              <a:t>Examples</a:t>
            </a:r>
          </a:p>
          <a:p>
            <a:pPr lvl="2" eaLnBrk="1" hangingPunct="1">
              <a:buFontTx/>
              <a:buNone/>
              <a:defRPr/>
            </a:pPr>
            <a:r>
              <a:rPr lang="en-US" altLang="en-US" sz="2000" dirty="0" smtClean="0">
                <a:latin typeface="Courier New" panose="02070309020205020404" pitchFamily="49" charset="0"/>
              </a:rPr>
              <a:t> (</a:t>
            </a:r>
            <a:r>
              <a:rPr lang="en-US" altLang="en-US" sz="2000" dirty="0" err="1" smtClean="0">
                <a:latin typeface="Courier New" panose="02070309020205020404" pitchFamily="49" charset="0"/>
              </a:rPr>
              <a:t>eq</a:t>
            </a:r>
            <a:r>
              <a:rPr lang="en-US" altLang="en-US" sz="2000" dirty="0" smtClean="0">
                <a:latin typeface="Courier New" panose="02070309020205020404" pitchFamily="49" charset="0"/>
              </a:rPr>
              <a:t>? </a:t>
            </a:r>
            <a:r>
              <a:rPr lang="en-US" altLang="en-US" sz="2000" dirty="0" smtClean="0">
                <a:latin typeface="Courier New" panose="02070309020205020404" pitchFamily="49" charset="0"/>
              </a:rPr>
              <a:t>'a 'a)</a:t>
            </a:r>
            <a:r>
              <a:rPr lang="en-US" altLang="en-US" sz="2000" dirty="0" smtClean="0"/>
              <a:t> </a:t>
            </a:r>
            <a:r>
              <a:rPr lang="en-US" altLang="en-US" sz="2000" dirty="0" smtClean="0">
                <a:solidFill>
                  <a:srgbClr val="333399"/>
                </a:solidFill>
              </a:rPr>
              <a:t>yields</a:t>
            </a:r>
            <a:r>
              <a:rPr lang="en-US" altLang="en-US" sz="2000" dirty="0" smtClean="0"/>
              <a:t> </a:t>
            </a:r>
            <a:r>
              <a:rPr lang="en-US" altLang="en-US" sz="2000" dirty="0" smtClean="0">
                <a:latin typeface="Courier New" panose="02070309020205020404" pitchFamily="49" charset="0"/>
              </a:rPr>
              <a:t>#t</a:t>
            </a:r>
          </a:p>
          <a:p>
            <a:pPr lvl="2" eaLnBrk="1" hangingPunct="1">
              <a:buFontTx/>
              <a:buNone/>
              <a:defRPr/>
            </a:pPr>
            <a:r>
              <a:rPr lang="en-US" altLang="en-US" sz="2000" dirty="0" smtClean="0">
                <a:latin typeface="Courier New" panose="02070309020205020404" pitchFamily="49" charset="0"/>
              </a:rPr>
              <a:t> (</a:t>
            </a:r>
            <a:r>
              <a:rPr lang="en-US" altLang="en-US" sz="2000" dirty="0" err="1" smtClean="0">
                <a:latin typeface="Courier New" panose="02070309020205020404" pitchFamily="49" charset="0"/>
              </a:rPr>
              <a:t>eq</a:t>
            </a:r>
            <a:r>
              <a:rPr lang="en-US" altLang="en-US" sz="2000" dirty="0" smtClean="0">
                <a:latin typeface="Courier New" panose="02070309020205020404" pitchFamily="49" charset="0"/>
              </a:rPr>
              <a:t>? </a:t>
            </a:r>
            <a:r>
              <a:rPr lang="en-US" altLang="en-US" sz="2000" dirty="0" smtClean="0">
                <a:latin typeface="Courier New" panose="02070309020205020404" pitchFamily="49" charset="0"/>
              </a:rPr>
              <a:t>'a 'b)</a:t>
            </a:r>
            <a:r>
              <a:rPr lang="en-US" altLang="en-US" sz="2000" dirty="0" smtClean="0"/>
              <a:t> </a:t>
            </a:r>
            <a:r>
              <a:rPr lang="en-US" altLang="en-US" sz="2000" dirty="0" smtClean="0">
                <a:solidFill>
                  <a:srgbClr val="333399"/>
                </a:solidFill>
              </a:rPr>
              <a:t>yields</a:t>
            </a:r>
            <a:r>
              <a:rPr lang="en-US" altLang="en-US" sz="2000" dirty="0" smtClean="0"/>
              <a:t> </a:t>
            </a:r>
            <a:r>
              <a:rPr lang="en-US" altLang="en-US" sz="2000" dirty="0" smtClean="0">
                <a:latin typeface="Courier New" panose="02070309020205020404" pitchFamily="49" charset="0"/>
              </a:rPr>
              <a:t>#f</a:t>
            </a:r>
          </a:p>
          <a:p>
            <a:pPr lvl="2" eaLnBrk="1" hangingPunct="1">
              <a:buFontTx/>
              <a:buNone/>
              <a:defRPr/>
            </a:pPr>
            <a:r>
              <a:rPr lang="en-US" altLang="en-US" sz="2000" dirty="0" smtClean="0">
                <a:latin typeface="Courier New" panose="02070309020205020404" pitchFamily="49" charset="0"/>
              </a:rPr>
              <a:t> (</a:t>
            </a:r>
            <a:r>
              <a:rPr lang="en-US" altLang="en-US" sz="2000" dirty="0" err="1" smtClean="0">
                <a:latin typeface="Courier New" panose="02070309020205020404" pitchFamily="49" charset="0"/>
              </a:rPr>
              <a:t>eq</a:t>
            </a:r>
            <a:r>
              <a:rPr lang="en-US" altLang="en-US" sz="2000" dirty="0" smtClean="0">
                <a:latin typeface="Courier New" panose="02070309020205020404" pitchFamily="49" charset="0"/>
              </a:rPr>
              <a:t>? </a:t>
            </a:r>
            <a:r>
              <a:rPr lang="en-US" altLang="en-US" sz="2000" dirty="0" smtClean="0">
                <a:latin typeface="Courier New" panose="02070309020205020404" pitchFamily="49" charset="0"/>
              </a:rPr>
              <a:t>'a '(b c))</a:t>
            </a:r>
            <a:r>
              <a:rPr lang="en-US" altLang="en-US" sz="2000" dirty="0" smtClean="0"/>
              <a:t> </a:t>
            </a:r>
            <a:r>
              <a:rPr lang="en-US" altLang="en-US" sz="2000" dirty="0">
                <a:solidFill>
                  <a:srgbClr val="333399"/>
                </a:solidFill>
              </a:rPr>
              <a:t>yields</a:t>
            </a:r>
            <a:r>
              <a:rPr lang="en-US" altLang="en-US" sz="2000" dirty="0"/>
              <a:t> </a:t>
            </a:r>
            <a:r>
              <a:rPr lang="en-US" altLang="en-US" sz="2000" dirty="0" smtClean="0">
                <a:latin typeface="Courier New" panose="02070309020205020404" pitchFamily="49" charset="0"/>
              </a:rPr>
              <a:t>#f</a:t>
            </a:r>
          </a:p>
          <a:p>
            <a:pPr lvl="1" eaLnBrk="1" hangingPunct="1">
              <a:defRPr/>
            </a:pPr>
            <a:r>
              <a:rPr lang="en-US" altLang="en-US" sz="2000" dirty="0" smtClean="0"/>
              <a:t>Note: For two list parameters, the result is not reliable</a:t>
            </a:r>
          </a:p>
          <a:p>
            <a:pPr marL="914400" lvl="2" indent="0" eaLnBrk="1" hangingPunct="1">
              <a:buFontTx/>
              <a:buNone/>
              <a:defRPr/>
            </a:pPr>
            <a:r>
              <a:rPr lang="en-US" altLang="en-US" sz="2000" dirty="0" smtClean="0">
                <a:latin typeface="Courier New" panose="02070309020205020404" pitchFamily="49" charset="0"/>
              </a:rPr>
              <a:t> (</a:t>
            </a:r>
            <a:r>
              <a:rPr lang="en-US" altLang="en-US" sz="2000" dirty="0" err="1" smtClean="0">
                <a:latin typeface="Courier New" panose="02070309020205020404" pitchFamily="49" charset="0"/>
              </a:rPr>
              <a:t>eq</a:t>
            </a:r>
            <a:r>
              <a:rPr lang="en-US" altLang="en-US" sz="2000" dirty="0" smtClean="0">
                <a:latin typeface="Courier New" panose="02070309020205020404" pitchFamily="49" charset="0"/>
              </a:rPr>
              <a:t>? </a:t>
            </a:r>
            <a:r>
              <a:rPr lang="en-US" altLang="en-US" sz="2000" dirty="0" smtClean="0">
                <a:latin typeface="Courier New" panose="02070309020205020404" pitchFamily="49" charset="0"/>
              </a:rPr>
              <a:t>'(a b) '(a b))</a:t>
            </a:r>
            <a:r>
              <a:rPr lang="en-US" altLang="en-US" sz="2000" dirty="0" smtClean="0"/>
              <a:t> </a:t>
            </a:r>
            <a:r>
              <a:rPr lang="en-US" altLang="en-US" sz="2000" dirty="0" smtClean="0">
                <a:solidFill>
                  <a:srgbClr val="333399"/>
                </a:solidFill>
              </a:rPr>
              <a:t>yields</a:t>
            </a:r>
            <a:r>
              <a:rPr lang="en-US" altLang="en-US" sz="2000" dirty="0" smtClean="0"/>
              <a:t> </a:t>
            </a:r>
            <a:r>
              <a:rPr lang="en-US" altLang="en-US" sz="2000" dirty="0" smtClean="0">
                <a:latin typeface="Courier New" panose="02070309020205020404" pitchFamily="49" charset="0"/>
                <a:cs typeface="Courier New" panose="02070309020205020404" pitchFamily="49" charset="0"/>
              </a:rPr>
              <a:t>#t</a:t>
            </a:r>
            <a:r>
              <a:rPr lang="en-US" altLang="en-US" sz="2000" dirty="0" smtClean="0"/>
              <a:t> </a:t>
            </a:r>
            <a:r>
              <a:rPr lang="en-US" altLang="en-US" sz="2000" dirty="0" smtClean="0">
                <a:solidFill>
                  <a:srgbClr val="333399"/>
                </a:solidFill>
              </a:rPr>
              <a:t>or </a:t>
            </a:r>
            <a:r>
              <a:rPr lang="en-US" altLang="en-US" sz="2000" dirty="0" smtClean="0">
                <a:latin typeface="Courier New" panose="02070309020205020404" pitchFamily="49" charset="0"/>
              </a:rPr>
              <a:t>#f</a:t>
            </a:r>
            <a:endParaRPr lang="en-US" altLang="en-US" sz="2000" dirty="0" smtClean="0"/>
          </a:p>
          <a:p>
            <a:pPr lvl="1" eaLnBrk="1" hangingPunct="1">
              <a:defRPr/>
            </a:pPr>
            <a:r>
              <a:rPr lang="en-US" altLang="en-US" sz="2000" dirty="0" smtClean="0"/>
              <a:t>Note: </a:t>
            </a:r>
            <a:r>
              <a:rPr lang="en-US" altLang="en-US" sz="2000" dirty="0" err="1" smtClean="0">
                <a:latin typeface="Courier New" panose="02070309020205020404" pitchFamily="49" charset="0"/>
              </a:rPr>
              <a:t>eq</a:t>
            </a:r>
            <a:r>
              <a:rPr lang="en-US" altLang="en-US" sz="2000" dirty="0" smtClean="0">
                <a:latin typeface="Courier New" panose="02070309020205020404" pitchFamily="49" charset="0"/>
              </a:rPr>
              <a:t>?</a:t>
            </a:r>
            <a:r>
              <a:rPr lang="en-US" altLang="en-US" sz="2000" dirty="0" smtClean="0"/>
              <a:t> is not reliable for numeric atoms</a:t>
            </a:r>
          </a:p>
          <a:p>
            <a:pPr marL="914400" lvl="2" indent="0" eaLnBrk="1" hangingPunct="1">
              <a:buFontTx/>
              <a:buNone/>
              <a:defRPr/>
            </a:pPr>
            <a:r>
              <a:rPr lang="en-US" altLang="en-US" sz="2000" dirty="0" smtClean="0">
                <a:latin typeface="Courier New" panose="02070309020205020404" pitchFamily="49" charset="0"/>
              </a:rPr>
              <a:t> (</a:t>
            </a:r>
            <a:r>
              <a:rPr lang="en-US" altLang="en-US" sz="2000" dirty="0" err="1" smtClean="0">
                <a:latin typeface="Courier New" panose="02070309020205020404" pitchFamily="49" charset="0"/>
              </a:rPr>
              <a:t>eq</a:t>
            </a:r>
            <a:r>
              <a:rPr lang="en-US" altLang="en-US" sz="2000" dirty="0" smtClean="0">
                <a:latin typeface="Courier New" panose="02070309020205020404" pitchFamily="49" charset="0"/>
              </a:rPr>
              <a:t>? 3.4 (+ 3 0.4)))</a:t>
            </a:r>
            <a:r>
              <a:rPr lang="en-US" altLang="en-US" sz="2000" dirty="0" smtClean="0"/>
              <a:t> </a:t>
            </a:r>
            <a:r>
              <a:rPr lang="en-US" altLang="en-US" sz="2000" dirty="0" smtClean="0">
                <a:solidFill>
                  <a:srgbClr val="333399"/>
                </a:solidFill>
              </a:rPr>
              <a:t>yields</a:t>
            </a:r>
            <a:r>
              <a:rPr lang="en-US" altLang="en-US" sz="2000" dirty="0" smtClean="0"/>
              <a:t> </a:t>
            </a:r>
            <a:r>
              <a:rPr lang="en-US" altLang="en-US" sz="2000" dirty="0" smtClean="0">
                <a:latin typeface="Courier New" panose="02070309020205020404" pitchFamily="49" charset="0"/>
                <a:cs typeface="Courier New" panose="02070309020205020404" pitchFamily="49" charset="0"/>
              </a:rPr>
              <a:t>#t</a:t>
            </a:r>
            <a:r>
              <a:rPr lang="en-US" altLang="en-US" sz="2000" dirty="0" smtClean="0"/>
              <a:t> or </a:t>
            </a:r>
            <a:r>
              <a:rPr lang="en-US" altLang="en-US" sz="2000" dirty="0" smtClean="0">
                <a:latin typeface="Courier New" panose="02070309020205020404" pitchFamily="49" charset="0"/>
              </a:rPr>
              <a:t>#f</a:t>
            </a:r>
          </a:p>
          <a:p>
            <a:pPr lvl="1" eaLnBrk="1" hangingPunct="1">
              <a:defRPr/>
            </a:pPr>
            <a:r>
              <a:rPr lang="en-US" altLang="en-US" sz="2000" dirty="0">
                <a:solidFill>
                  <a:srgbClr val="333399"/>
                </a:solidFill>
              </a:rPr>
              <a:t>In most cases </a:t>
            </a:r>
            <a:r>
              <a:rPr lang="en-US" altLang="en-US" sz="2000" dirty="0" err="1" smtClean="0">
                <a:solidFill>
                  <a:srgbClr val="333399"/>
                </a:solidFill>
                <a:latin typeface="Courier New" panose="02070309020205020404" pitchFamily="49" charset="0"/>
                <a:cs typeface="Courier New" panose="02070309020205020404" pitchFamily="49" charset="0"/>
              </a:rPr>
              <a:t>eqv</a:t>
            </a:r>
            <a:r>
              <a:rPr lang="en-US" altLang="en-US" sz="2000" dirty="0" smtClean="0">
                <a:solidFill>
                  <a:srgbClr val="333399"/>
                </a:solidFill>
                <a:latin typeface="Courier New" panose="02070309020205020404" pitchFamily="49" charset="0"/>
                <a:cs typeface="Courier New" panose="02070309020205020404" pitchFamily="49" charset="0"/>
              </a:rPr>
              <a:t>?</a:t>
            </a:r>
            <a:r>
              <a:rPr lang="en-US" altLang="en-US" sz="2000" dirty="0" smtClean="0">
                <a:solidFill>
                  <a:srgbClr val="333399"/>
                </a:solidFill>
              </a:rPr>
              <a:t> </a:t>
            </a:r>
            <a:r>
              <a:rPr lang="en-US" altLang="en-US" sz="2000" dirty="0">
                <a:solidFill>
                  <a:srgbClr val="333399"/>
                </a:solidFill>
              </a:rPr>
              <a:t>is more </a:t>
            </a:r>
            <a:r>
              <a:rPr lang="en-US" altLang="en-US" sz="2000" dirty="0" smtClean="0">
                <a:solidFill>
                  <a:srgbClr val="333399"/>
                </a:solidFill>
              </a:rPr>
              <a:t>appropriate</a:t>
            </a:r>
            <a:r>
              <a:rPr lang="en-US" altLang="en-US" sz="2000" dirty="0"/>
              <a:t> </a:t>
            </a:r>
            <a:r>
              <a:rPr lang="en-US" altLang="en-US" sz="2000" dirty="0" smtClean="0"/>
              <a:t>than </a:t>
            </a:r>
            <a:r>
              <a:rPr lang="en-US" altLang="en-US" sz="2000" dirty="0" err="1" smtClean="0">
                <a:latin typeface="Courier New" panose="02070309020205020404" pitchFamily="49" charset="0"/>
                <a:cs typeface="Courier New" panose="02070309020205020404" pitchFamily="49" charset="0"/>
              </a:rPr>
              <a:t>eq</a:t>
            </a:r>
            <a:r>
              <a:rPr lang="en-US" altLang="en-US" sz="2000" dirty="0" smtClean="0">
                <a:latin typeface="Courier New" panose="02070309020205020404" pitchFamily="49" charset="0"/>
                <a:cs typeface="Courier New" panose="02070309020205020404" pitchFamily="49" charset="0"/>
              </a:rPr>
              <a:t>?</a:t>
            </a:r>
            <a:endParaRPr lang="en-US" altLang="en-US" sz="2000" dirty="0">
              <a:solidFill>
                <a:srgbClr val="333399"/>
              </a:solidFill>
              <a:latin typeface="Courier New" panose="02070309020205020404" pitchFamily="49" charset="0"/>
              <a:cs typeface="Courier New" panose="02070309020205020404" pitchFamily="49"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ooter Placeholder 3"/>
          <p:cNvSpPr>
            <a:spLocks noGrp="1"/>
          </p:cNvSpPr>
          <p:nvPr>
            <p:ph type="ftr" sz="quarter" idx="10"/>
          </p:nvPr>
        </p:nvSpPr>
        <p:spPr/>
        <p:txBody>
          <a:bodyPr/>
          <a:lstStyle/>
          <a:p>
            <a:pPr>
              <a:defRPr/>
            </a:pPr>
            <a:r>
              <a:rPr lang="en-US" dirty="0" smtClean="0"/>
              <a:t>Copyright © 2023 Addison-Wesley. All rights reserved.</a:t>
            </a:r>
          </a:p>
        </p:txBody>
      </p:sp>
      <p:sp>
        <p:nvSpPr>
          <p:cNvPr id="5939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F3B94AF3-C734-4450-89E4-88B8E294CBA4}" type="slidenum">
              <a:rPr lang="en-US" altLang="en-US" sz="1000" smtClean="0">
                <a:solidFill>
                  <a:schemeClr val="tx1"/>
                </a:solidFill>
                <a:latin typeface="Arial" panose="020B0604020202020204" pitchFamily="34" charset="0"/>
              </a:rPr>
              <a:pPr>
                <a:spcBef>
                  <a:spcPct val="0"/>
                </a:spcBef>
                <a:buFontTx/>
                <a:buNone/>
              </a:pPr>
              <a:t>10</a:t>
            </a:fld>
            <a:endParaRPr lang="en-US" altLang="en-US" sz="1000" smtClean="0">
              <a:solidFill>
                <a:schemeClr val="tx1"/>
              </a:solidFill>
              <a:latin typeface="Arial" panose="020B0604020202020204" pitchFamily="34" charset="0"/>
            </a:endParaRPr>
          </a:p>
        </p:txBody>
      </p:sp>
      <p:sp>
        <p:nvSpPr>
          <p:cNvPr id="59396" name="Rectangle 2"/>
          <p:cNvSpPr>
            <a:spLocks noGrp="1" noChangeArrowheads="1"/>
          </p:cNvSpPr>
          <p:nvPr>
            <p:ph type="title"/>
          </p:nvPr>
        </p:nvSpPr>
        <p:spPr/>
        <p:txBody>
          <a:bodyPr/>
          <a:lstStyle/>
          <a:p>
            <a:pPr eaLnBrk="1" hangingPunct="1"/>
            <a:r>
              <a:rPr lang="en-US" altLang="en-US" dirty="0" smtClean="0"/>
              <a:t>The </a:t>
            </a:r>
            <a:r>
              <a:rPr lang="en-US" altLang="en-US" dirty="0" smtClean="0">
                <a:latin typeface="Courier New" panose="02070309020205020404" pitchFamily="49" charset="0"/>
              </a:rPr>
              <a:t>let</a:t>
            </a:r>
            <a:r>
              <a:rPr lang="en-US" altLang="en-US" dirty="0" smtClean="0"/>
              <a:t> Function</a:t>
            </a:r>
            <a:endParaRPr lang="en-US" altLang="en-US" dirty="0" smtClean="0">
              <a:latin typeface="Courier New" panose="02070309020205020404" pitchFamily="49" charset="0"/>
            </a:endParaRPr>
          </a:p>
        </p:txBody>
      </p:sp>
      <p:sp>
        <p:nvSpPr>
          <p:cNvPr id="59397" name="Rectangle 3"/>
          <p:cNvSpPr>
            <a:spLocks noGrp="1" noChangeArrowheads="1"/>
          </p:cNvSpPr>
          <p:nvPr>
            <p:ph type="body" idx="1"/>
          </p:nvPr>
        </p:nvSpPr>
        <p:spPr>
          <a:xfrm>
            <a:off x="630620" y="1340070"/>
            <a:ext cx="8229600" cy="4572000"/>
          </a:xfrm>
        </p:spPr>
        <p:txBody>
          <a:bodyPr/>
          <a:lstStyle/>
          <a:p>
            <a:pPr eaLnBrk="1" hangingPunct="1"/>
            <a:r>
              <a:rPr lang="en-US" altLang="en-US" sz="2400" dirty="0" smtClean="0"/>
              <a:t>General form:</a:t>
            </a:r>
          </a:p>
          <a:p>
            <a:pPr eaLnBrk="1" hangingPunct="1">
              <a:buFontTx/>
              <a:buNone/>
            </a:pPr>
            <a:r>
              <a:rPr lang="en-US" altLang="en-US" sz="1800" dirty="0" smtClean="0">
                <a:latin typeface="Courier New" panose="02070309020205020404" pitchFamily="49" charset="0"/>
              </a:rPr>
              <a:t>   (let</a:t>
            </a:r>
          </a:p>
          <a:p>
            <a:pPr eaLnBrk="1" hangingPunct="1">
              <a:buFontTx/>
              <a:buNone/>
            </a:pPr>
            <a:r>
              <a:rPr lang="en-US" altLang="en-US" sz="1800" dirty="0">
                <a:latin typeface="Courier New" panose="02070309020205020404" pitchFamily="49" charset="0"/>
              </a:rPr>
              <a:t> </a:t>
            </a:r>
            <a:r>
              <a:rPr lang="en-US" altLang="en-US" sz="1800" dirty="0" smtClean="0">
                <a:latin typeface="Courier New" panose="02070309020205020404" pitchFamily="49" charset="0"/>
              </a:rPr>
              <a:t>    (</a:t>
            </a:r>
          </a:p>
          <a:p>
            <a:pPr eaLnBrk="1" hangingPunct="1">
              <a:buFontTx/>
              <a:buNone/>
            </a:pPr>
            <a:r>
              <a:rPr lang="en-US" altLang="en-US" sz="1800" dirty="0">
                <a:latin typeface="Courier New" panose="02070309020205020404" pitchFamily="49" charset="0"/>
              </a:rPr>
              <a:t> </a:t>
            </a:r>
            <a:r>
              <a:rPr lang="en-US" altLang="en-US" sz="1800" dirty="0" smtClean="0">
                <a:latin typeface="Courier New" panose="02070309020205020404" pitchFamily="49" charset="0"/>
              </a:rPr>
              <a:t>      (name_1 expression_1)</a:t>
            </a:r>
          </a:p>
          <a:p>
            <a:pPr eaLnBrk="1" hangingPunct="1">
              <a:buFontTx/>
              <a:buNone/>
            </a:pPr>
            <a:r>
              <a:rPr lang="en-US" altLang="en-US" sz="1800" dirty="0">
                <a:latin typeface="Courier New" panose="02070309020205020404" pitchFamily="49" charset="0"/>
              </a:rPr>
              <a:t> </a:t>
            </a:r>
            <a:r>
              <a:rPr lang="en-US" altLang="en-US" sz="1800" dirty="0" smtClean="0">
                <a:latin typeface="Courier New" panose="02070309020205020404" pitchFamily="49" charset="0"/>
              </a:rPr>
              <a:t>      (name_2 expression_2)</a:t>
            </a:r>
          </a:p>
          <a:p>
            <a:pPr eaLnBrk="1" hangingPunct="1">
              <a:buFontTx/>
              <a:buNone/>
            </a:pPr>
            <a:r>
              <a:rPr lang="en-US" altLang="en-US" sz="1800" dirty="0">
                <a:latin typeface="Courier New" panose="02070309020205020404" pitchFamily="49" charset="0"/>
              </a:rPr>
              <a:t> </a:t>
            </a:r>
            <a:r>
              <a:rPr lang="en-US" altLang="en-US" sz="1800" dirty="0" smtClean="0">
                <a:latin typeface="Courier New" panose="02070309020205020404" pitchFamily="49" charset="0"/>
              </a:rPr>
              <a:t>      ...</a:t>
            </a:r>
          </a:p>
          <a:p>
            <a:pPr eaLnBrk="1" hangingPunct="1">
              <a:buFontTx/>
              <a:buNone/>
            </a:pPr>
            <a:r>
              <a:rPr lang="en-US" altLang="en-US" sz="1800" dirty="0">
                <a:latin typeface="Courier New" panose="02070309020205020404" pitchFamily="49" charset="0"/>
              </a:rPr>
              <a:t> </a:t>
            </a:r>
            <a:r>
              <a:rPr lang="en-US" altLang="en-US" sz="1800" dirty="0" smtClean="0">
                <a:latin typeface="Courier New" panose="02070309020205020404" pitchFamily="49" charset="0"/>
              </a:rPr>
              <a:t>      (</a:t>
            </a:r>
            <a:r>
              <a:rPr lang="en-US" altLang="en-US" sz="1800" dirty="0" err="1" smtClean="0">
                <a:latin typeface="Courier New" panose="02070309020205020404" pitchFamily="49" charset="0"/>
              </a:rPr>
              <a:t>name_n</a:t>
            </a:r>
            <a:r>
              <a:rPr lang="en-US" altLang="en-US" sz="1800" dirty="0" smtClean="0">
                <a:latin typeface="Courier New" panose="02070309020205020404" pitchFamily="49" charset="0"/>
              </a:rPr>
              <a:t> </a:t>
            </a:r>
            <a:r>
              <a:rPr lang="en-US" altLang="en-US" sz="1800" dirty="0" err="1" smtClean="0">
                <a:latin typeface="Courier New" panose="02070309020205020404" pitchFamily="49" charset="0"/>
              </a:rPr>
              <a:t>expression_n</a:t>
            </a:r>
            <a:r>
              <a:rPr lang="en-US" altLang="en-US" sz="1800" dirty="0" smtClean="0">
                <a:latin typeface="Courier New" panose="02070309020205020404" pitchFamily="49" charset="0"/>
              </a:rPr>
              <a:t>)</a:t>
            </a:r>
          </a:p>
          <a:p>
            <a:pPr eaLnBrk="1" hangingPunct="1">
              <a:buFontTx/>
              <a:buNone/>
            </a:pPr>
            <a:r>
              <a:rPr lang="en-US" altLang="en-US" sz="1800" dirty="0" smtClean="0">
                <a:latin typeface="Courier New" panose="02070309020205020404" pitchFamily="49" charset="0"/>
              </a:rPr>
              <a:t>     )</a:t>
            </a:r>
          </a:p>
          <a:p>
            <a:pPr eaLnBrk="1" hangingPunct="1">
              <a:buFontTx/>
              <a:buNone/>
            </a:pPr>
            <a:r>
              <a:rPr lang="en-US" altLang="en-US" sz="1800" dirty="0">
                <a:latin typeface="Courier New" panose="02070309020205020404" pitchFamily="49" charset="0"/>
              </a:rPr>
              <a:t> </a:t>
            </a:r>
            <a:r>
              <a:rPr lang="en-US" altLang="en-US" sz="1800" dirty="0" smtClean="0">
                <a:latin typeface="Courier New" panose="02070309020205020404" pitchFamily="49" charset="0"/>
              </a:rPr>
              <a:t>    body</a:t>
            </a:r>
          </a:p>
          <a:p>
            <a:pPr eaLnBrk="1" hangingPunct="1">
              <a:buFontTx/>
              <a:buNone/>
            </a:pPr>
            <a:r>
              <a:rPr lang="en-US" altLang="en-US" sz="1800" dirty="0">
                <a:latin typeface="Courier New" panose="02070309020205020404" pitchFamily="49" charset="0"/>
              </a:rPr>
              <a:t> </a:t>
            </a:r>
            <a:r>
              <a:rPr lang="en-US" altLang="en-US" sz="1800" dirty="0" smtClean="0">
                <a:latin typeface="Courier New" panose="02070309020205020404" pitchFamily="49" charset="0"/>
              </a:rPr>
              <a:t>  )</a:t>
            </a:r>
            <a:endParaRPr lang="en-US" altLang="en-US" sz="2000" dirty="0" smtClean="0">
              <a:latin typeface="Courier New" panose="02070309020205020404" pitchFamily="49" charset="0"/>
            </a:endParaRPr>
          </a:p>
          <a:p>
            <a:pPr eaLnBrk="1" hangingPunct="1"/>
            <a:r>
              <a:rPr lang="en-US" altLang="en-US" sz="2400" dirty="0" smtClean="0"/>
              <a:t>Semantics</a:t>
            </a:r>
          </a:p>
          <a:p>
            <a:pPr lvl="1" eaLnBrk="1" hangingPunct="1"/>
            <a:r>
              <a:rPr lang="en-US" altLang="en-US" sz="2000" dirty="0" smtClean="0"/>
              <a:t>Bindings: Evaluate expressions, bind their values to names</a:t>
            </a:r>
          </a:p>
          <a:p>
            <a:pPr lvl="1" eaLnBrk="1" hangingPunct="1"/>
            <a:r>
              <a:rPr lang="en-US" altLang="en-US" sz="2000" dirty="0" smtClean="0"/>
              <a:t>Body: Evaluate using names in bindings</a:t>
            </a:r>
          </a:p>
          <a:p>
            <a:pPr lvl="1" eaLnBrk="1" hangingPunct="1"/>
            <a:r>
              <a:rPr lang="en-US" altLang="en-US" sz="2000" dirty="0" smtClean="0"/>
              <a:t>The </a:t>
            </a:r>
            <a:r>
              <a:rPr lang="en-US" altLang="en-US" sz="2000" dirty="0" smtClean="0">
                <a:latin typeface="Courier New" panose="02070309020205020404" pitchFamily="49" charset="0"/>
                <a:cs typeface="Courier New" panose="02070309020205020404" pitchFamily="49" charset="0"/>
              </a:rPr>
              <a:t>let</a:t>
            </a:r>
            <a:r>
              <a:rPr lang="en-US" altLang="en-US" sz="2000" dirty="0" smtClean="0"/>
              <a:t> function yields the value of the body</a:t>
            </a:r>
          </a:p>
        </p:txBody>
      </p:sp>
    </p:spTree>
    <p:extLst>
      <p:ext uri="{BB962C8B-B14F-4D97-AF65-F5344CB8AC3E}">
        <p14:creationId xmlns:p14="http://schemas.microsoft.com/office/powerpoint/2010/main" val="37267241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Footer Placeholder 3"/>
          <p:cNvSpPr>
            <a:spLocks noGrp="1"/>
          </p:cNvSpPr>
          <p:nvPr>
            <p:ph type="ftr" sz="quarter" idx="10"/>
          </p:nvPr>
        </p:nvSpPr>
        <p:spPr/>
        <p:txBody>
          <a:bodyPr/>
          <a:lstStyle/>
          <a:p>
            <a:pPr>
              <a:defRPr/>
            </a:pPr>
            <a:r>
              <a:rPr lang="en-US" dirty="0" smtClean="0"/>
              <a:t>Copyright © 2023 Addison-Wesley. All rights reserved.</a:t>
            </a:r>
          </a:p>
        </p:txBody>
      </p:sp>
      <p:sp>
        <p:nvSpPr>
          <p:cNvPr id="6144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82D7DE08-A2CE-475D-8C50-7FB8D6510291}" type="slidenum">
              <a:rPr lang="en-US" altLang="en-US" sz="1000" smtClean="0">
                <a:solidFill>
                  <a:schemeClr val="tx1"/>
                </a:solidFill>
                <a:latin typeface="Arial" panose="020B0604020202020204" pitchFamily="34" charset="0"/>
              </a:rPr>
              <a:pPr>
                <a:spcBef>
                  <a:spcPct val="0"/>
                </a:spcBef>
                <a:buFontTx/>
                <a:buNone/>
              </a:pPr>
              <a:t>11</a:t>
            </a:fld>
            <a:endParaRPr lang="en-US" altLang="en-US" sz="1000" smtClean="0">
              <a:solidFill>
                <a:schemeClr val="tx1"/>
              </a:solidFill>
              <a:latin typeface="Arial" panose="020B0604020202020204" pitchFamily="34" charset="0"/>
            </a:endParaRPr>
          </a:p>
        </p:txBody>
      </p:sp>
      <p:sp>
        <p:nvSpPr>
          <p:cNvPr id="61444" name="Rectangle 2"/>
          <p:cNvSpPr>
            <a:spLocks noGrp="1" noChangeArrowheads="1"/>
          </p:cNvSpPr>
          <p:nvPr>
            <p:ph type="title"/>
          </p:nvPr>
        </p:nvSpPr>
        <p:spPr/>
        <p:txBody>
          <a:bodyPr/>
          <a:lstStyle/>
          <a:p>
            <a:pPr eaLnBrk="1" hangingPunct="1"/>
            <a:r>
              <a:rPr lang="en-US" altLang="en-US" dirty="0"/>
              <a:t>The </a:t>
            </a:r>
            <a:r>
              <a:rPr lang="en-US" altLang="en-US" dirty="0" smtClean="0">
                <a:latin typeface="Courier New" panose="02070309020205020404" pitchFamily="49" charset="0"/>
              </a:rPr>
              <a:t>let</a:t>
            </a:r>
            <a:r>
              <a:rPr lang="en-US" altLang="en-US" dirty="0" smtClean="0"/>
              <a:t> Function</a:t>
            </a:r>
          </a:p>
        </p:txBody>
      </p:sp>
      <p:sp>
        <p:nvSpPr>
          <p:cNvPr id="2" name="TextBox 1"/>
          <p:cNvSpPr txBox="1"/>
          <p:nvPr/>
        </p:nvSpPr>
        <p:spPr>
          <a:xfrm>
            <a:off x="731628" y="1371600"/>
            <a:ext cx="3764172" cy="2308324"/>
          </a:xfrm>
          <a:prstGeom prst="rect">
            <a:avLst/>
          </a:prstGeom>
          <a:noFill/>
          <a:ln>
            <a:solidFill>
              <a:srgbClr val="333399"/>
            </a:solidFill>
          </a:ln>
        </p:spPr>
        <p:txBody>
          <a:bodyPr wrap="none" rtlCol="0">
            <a:spAutoFit/>
          </a:bodyPr>
          <a:lstStyle/>
          <a:p>
            <a:pPr marL="342900" lvl="0" indent="-342900"/>
            <a:r>
              <a:rPr lang="en-US" altLang="en-US" sz="1600" kern="0" dirty="0" smtClean="0">
                <a:solidFill>
                  <a:srgbClr val="333399"/>
                </a:solidFill>
                <a:latin typeface="Courier New" panose="02070309020205020404" pitchFamily="49" charset="0"/>
                <a:ea typeface="MS Mincho" pitchFamily="49" charset="-128"/>
                <a:cs typeface="Lucida Sans Unicode"/>
              </a:rPr>
              <a:t>(define </a:t>
            </a:r>
            <a:r>
              <a:rPr lang="en-US" altLang="en-US" sz="1600" kern="0" dirty="0">
                <a:solidFill>
                  <a:srgbClr val="333399"/>
                </a:solidFill>
                <a:latin typeface="Courier New" panose="02070309020205020404" pitchFamily="49" charset="0"/>
                <a:ea typeface="MS Mincho" pitchFamily="49" charset="-128"/>
                <a:cs typeface="Lucida Sans Unicode"/>
              </a:rPr>
              <a:t>(computation a b c d)</a:t>
            </a:r>
          </a:p>
          <a:p>
            <a:pPr marL="342900" lvl="0" indent="-342900"/>
            <a:r>
              <a:rPr lang="en-US" altLang="en-US" sz="1600" kern="0" dirty="0">
                <a:solidFill>
                  <a:srgbClr val="333399"/>
                </a:solidFill>
                <a:latin typeface="Courier New" panose="02070309020205020404" pitchFamily="49" charset="0"/>
                <a:ea typeface="MS Mincho" pitchFamily="49" charset="-128"/>
                <a:cs typeface="Lucida Sans Unicode"/>
              </a:rPr>
              <a:t>  </a:t>
            </a:r>
            <a:r>
              <a:rPr lang="en-US" altLang="en-US" sz="1600" kern="0" dirty="0" smtClean="0">
                <a:solidFill>
                  <a:srgbClr val="333399"/>
                </a:solidFill>
                <a:latin typeface="Courier New" panose="02070309020205020404" pitchFamily="49" charset="0"/>
                <a:ea typeface="MS Mincho" pitchFamily="49" charset="-128"/>
                <a:cs typeface="Lucida Sans Unicode"/>
              </a:rPr>
              <a:t>(let</a:t>
            </a:r>
            <a:endParaRPr lang="en-US" altLang="en-US" sz="1600" kern="0" dirty="0">
              <a:solidFill>
                <a:srgbClr val="333399"/>
              </a:solidFill>
              <a:latin typeface="Courier New" panose="02070309020205020404" pitchFamily="49" charset="0"/>
              <a:ea typeface="MS Mincho" pitchFamily="49" charset="-128"/>
              <a:cs typeface="Lucida Sans Unicode"/>
            </a:endParaRPr>
          </a:p>
          <a:p>
            <a:pPr marL="342900" lvl="0" indent="-342900"/>
            <a:r>
              <a:rPr lang="en-US" altLang="en-US" sz="1600" kern="0" dirty="0">
                <a:solidFill>
                  <a:srgbClr val="333399"/>
                </a:solidFill>
                <a:latin typeface="Courier New" panose="02070309020205020404" pitchFamily="49" charset="0"/>
                <a:ea typeface="MS Mincho" pitchFamily="49" charset="-128"/>
                <a:cs typeface="Lucida Sans Unicode"/>
              </a:rPr>
              <a:t>    (</a:t>
            </a:r>
          </a:p>
          <a:p>
            <a:pPr marL="342900" lvl="0" indent="-342900"/>
            <a:r>
              <a:rPr lang="en-US" altLang="en-US" sz="1600" kern="0" dirty="0">
                <a:solidFill>
                  <a:srgbClr val="333399"/>
                </a:solidFill>
                <a:latin typeface="Courier New" panose="02070309020205020404" pitchFamily="49" charset="0"/>
                <a:ea typeface="MS Mincho" pitchFamily="49" charset="-128"/>
                <a:cs typeface="Lucida Sans Unicode"/>
              </a:rPr>
              <a:t>      (top (+ a b))</a:t>
            </a:r>
          </a:p>
          <a:p>
            <a:pPr marL="342900" lvl="0" indent="-342900"/>
            <a:r>
              <a:rPr lang="en-US" altLang="en-US" sz="1600" kern="0" dirty="0">
                <a:solidFill>
                  <a:srgbClr val="333399"/>
                </a:solidFill>
                <a:latin typeface="Courier New" panose="02070309020205020404" pitchFamily="49" charset="0"/>
                <a:ea typeface="MS Mincho" pitchFamily="49" charset="-128"/>
                <a:cs typeface="Lucida Sans Unicode"/>
              </a:rPr>
              <a:t>      (bottom (- c d</a:t>
            </a:r>
            <a:r>
              <a:rPr lang="en-US" altLang="en-US" sz="1600" kern="0" dirty="0" smtClean="0">
                <a:solidFill>
                  <a:srgbClr val="333399"/>
                </a:solidFill>
                <a:latin typeface="Courier New" panose="02070309020205020404" pitchFamily="49" charset="0"/>
                <a:ea typeface="MS Mincho" pitchFamily="49" charset="-128"/>
                <a:cs typeface="Lucida Sans Unicode"/>
              </a:rPr>
              <a:t>))</a:t>
            </a:r>
            <a:endParaRPr lang="en-US" altLang="en-US" sz="1600" kern="0" dirty="0">
              <a:solidFill>
                <a:srgbClr val="333399"/>
              </a:solidFill>
              <a:latin typeface="Courier New" panose="02070309020205020404" pitchFamily="49" charset="0"/>
              <a:ea typeface="MS Mincho" pitchFamily="49" charset="-128"/>
              <a:cs typeface="Lucida Sans Unicode"/>
            </a:endParaRPr>
          </a:p>
          <a:p>
            <a:pPr marL="342900" lvl="0" indent="-342900"/>
            <a:r>
              <a:rPr lang="en-US" altLang="en-US" sz="1600" kern="0" dirty="0">
                <a:solidFill>
                  <a:srgbClr val="333399"/>
                </a:solidFill>
                <a:latin typeface="Courier New" panose="02070309020205020404" pitchFamily="49" charset="0"/>
                <a:ea typeface="MS Mincho" pitchFamily="49" charset="-128"/>
                <a:cs typeface="Lucida Sans Unicode"/>
              </a:rPr>
              <a:t>    )</a:t>
            </a:r>
          </a:p>
          <a:p>
            <a:pPr marL="342900" lvl="0" indent="-342900"/>
            <a:r>
              <a:rPr lang="en-US" altLang="en-US" sz="1600" kern="0" dirty="0">
                <a:solidFill>
                  <a:srgbClr val="333399"/>
                </a:solidFill>
                <a:latin typeface="Courier New" panose="02070309020205020404" pitchFamily="49" charset="0"/>
                <a:ea typeface="MS Mincho" pitchFamily="49" charset="-128"/>
                <a:cs typeface="Lucida Sans Unicode"/>
              </a:rPr>
              <a:t>    (/ top bottom)</a:t>
            </a:r>
          </a:p>
          <a:p>
            <a:pPr marL="342900" lvl="0" indent="-342900"/>
            <a:r>
              <a:rPr lang="en-US" altLang="en-US" sz="1600" kern="0" dirty="0">
                <a:solidFill>
                  <a:srgbClr val="333399"/>
                </a:solidFill>
                <a:latin typeface="Courier New" panose="02070309020205020404" pitchFamily="49" charset="0"/>
                <a:ea typeface="MS Mincho" pitchFamily="49" charset="-128"/>
                <a:cs typeface="Lucida Sans Unicode"/>
              </a:rPr>
              <a:t>  )</a:t>
            </a:r>
          </a:p>
          <a:p>
            <a:pPr marL="342900" lvl="0" indent="-342900"/>
            <a:r>
              <a:rPr lang="en-US" altLang="en-US" sz="1600" kern="0" dirty="0">
                <a:solidFill>
                  <a:srgbClr val="333399"/>
                </a:solidFill>
                <a:latin typeface="Courier New" panose="02070309020205020404" pitchFamily="49" charset="0"/>
                <a:ea typeface="MS Mincho" pitchFamily="49" charset="-128"/>
                <a:cs typeface="Lucida Sans Unicode"/>
              </a:rPr>
              <a:t>)</a:t>
            </a:r>
            <a:endParaRPr lang="en-US" altLang="en-US" sz="1600" kern="0" dirty="0">
              <a:solidFill>
                <a:srgbClr val="333399"/>
              </a:solidFill>
              <a:latin typeface="Courier New" panose="02070309020205020404" pitchFamily="49" charset="0"/>
              <a:cs typeface="Lucida Sans Unicode"/>
            </a:endParaRPr>
          </a:p>
        </p:txBody>
      </p:sp>
      <p:sp>
        <p:nvSpPr>
          <p:cNvPr id="7" name="TextBox 6"/>
          <p:cNvSpPr txBox="1"/>
          <p:nvPr/>
        </p:nvSpPr>
        <p:spPr>
          <a:xfrm>
            <a:off x="4876800" y="1371600"/>
            <a:ext cx="3764172" cy="2800767"/>
          </a:xfrm>
          <a:prstGeom prst="rect">
            <a:avLst/>
          </a:prstGeom>
          <a:noFill/>
          <a:ln>
            <a:solidFill>
              <a:srgbClr val="333399"/>
            </a:solidFill>
          </a:ln>
        </p:spPr>
        <p:txBody>
          <a:bodyPr wrap="none" rtlCol="0">
            <a:spAutoFit/>
          </a:bodyPr>
          <a:lstStyle/>
          <a:p>
            <a:pPr marL="342900" lvl="0" indent="-342900"/>
            <a:r>
              <a:rPr lang="en-US" altLang="en-US" sz="1600" kern="0" dirty="0" smtClean="0">
                <a:solidFill>
                  <a:srgbClr val="333399"/>
                </a:solidFill>
                <a:latin typeface="Courier New" panose="02070309020205020404" pitchFamily="49" charset="0"/>
                <a:ea typeface="MS Mincho" pitchFamily="49" charset="-128"/>
                <a:cs typeface="Lucida Sans Unicode"/>
              </a:rPr>
              <a:t>(define </a:t>
            </a:r>
            <a:r>
              <a:rPr lang="en-US" altLang="en-US" sz="1600" kern="0" dirty="0">
                <a:solidFill>
                  <a:srgbClr val="333399"/>
                </a:solidFill>
                <a:latin typeface="Courier New" panose="02070309020205020404" pitchFamily="49" charset="0"/>
                <a:ea typeface="MS Mincho" pitchFamily="49" charset="-128"/>
                <a:cs typeface="Lucida Sans Unicode"/>
              </a:rPr>
              <a:t>(computation a b c d)</a:t>
            </a:r>
          </a:p>
          <a:p>
            <a:pPr marL="342900" lvl="0" indent="-342900"/>
            <a:r>
              <a:rPr lang="en-US" altLang="en-US" sz="1600" kern="0" dirty="0">
                <a:solidFill>
                  <a:srgbClr val="333399"/>
                </a:solidFill>
                <a:latin typeface="Courier New" panose="02070309020205020404" pitchFamily="49" charset="0"/>
                <a:ea typeface="MS Mincho" pitchFamily="49" charset="-128"/>
                <a:cs typeface="Lucida Sans Unicode"/>
              </a:rPr>
              <a:t>  </a:t>
            </a:r>
            <a:r>
              <a:rPr lang="en-US" altLang="en-US" sz="1600" kern="0" dirty="0" smtClean="0">
                <a:solidFill>
                  <a:srgbClr val="333399"/>
                </a:solidFill>
                <a:latin typeface="Courier New" panose="02070309020205020404" pitchFamily="49" charset="0"/>
                <a:ea typeface="MS Mincho" pitchFamily="49" charset="-128"/>
                <a:cs typeface="Lucida Sans Unicode"/>
              </a:rPr>
              <a:t>(let</a:t>
            </a:r>
            <a:endParaRPr lang="en-US" altLang="en-US" sz="1600" kern="0" dirty="0">
              <a:solidFill>
                <a:srgbClr val="333399"/>
              </a:solidFill>
              <a:latin typeface="Courier New" panose="02070309020205020404" pitchFamily="49" charset="0"/>
              <a:ea typeface="MS Mincho" pitchFamily="49" charset="-128"/>
              <a:cs typeface="Lucida Sans Unicode"/>
            </a:endParaRPr>
          </a:p>
          <a:p>
            <a:pPr marL="342900" lvl="0" indent="-342900"/>
            <a:r>
              <a:rPr lang="en-US" altLang="en-US" sz="1600" kern="0" dirty="0">
                <a:solidFill>
                  <a:srgbClr val="333399"/>
                </a:solidFill>
                <a:latin typeface="Courier New" panose="02070309020205020404" pitchFamily="49" charset="0"/>
                <a:ea typeface="MS Mincho" pitchFamily="49" charset="-128"/>
                <a:cs typeface="Lucida Sans Unicode"/>
              </a:rPr>
              <a:t>    (</a:t>
            </a:r>
          </a:p>
          <a:p>
            <a:pPr marL="342900" lvl="0" indent="-342900"/>
            <a:r>
              <a:rPr lang="en-US" altLang="en-US" sz="1600" kern="0" dirty="0">
                <a:solidFill>
                  <a:srgbClr val="333399"/>
                </a:solidFill>
                <a:latin typeface="Courier New" panose="02070309020205020404" pitchFamily="49" charset="0"/>
                <a:ea typeface="MS Mincho" pitchFamily="49" charset="-128"/>
                <a:cs typeface="Lucida Sans Unicode"/>
              </a:rPr>
              <a:t>      (top (+ a b))</a:t>
            </a:r>
          </a:p>
          <a:p>
            <a:pPr marL="342900" lvl="0" indent="-342900"/>
            <a:r>
              <a:rPr lang="en-US" altLang="en-US" sz="1600" kern="0" dirty="0">
                <a:solidFill>
                  <a:srgbClr val="333399"/>
                </a:solidFill>
                <a:latin typeface="Courier New" panose="02070309020205020404" pitchFamily="49" charset="0"/>
                <a:ea typeface="MS Mincho" pitchFamily="49" charset="-128"/>
                <a:cs typeface="Lucida Sans Unicode"/>
              </a:rPr>
              <a:t>      (bottom (- c d</a:t>
            </a:r>
            <a:r>
              <a:rPr lang="en-US" altLang="en-US" sz="1600" kern="0" dirty="0" smtClean="0">
                <a:solidFill>
                  <a:srgbClr val="333399"/>
                </a:solidFill>
                <a:latin typeface="Courier New" panose="02070309020205020404" pitchFamily="49" charset="0"/>
                <a:ea typeface="MS Mincho" pitchFamily="49" charset="-128"/>
                <a:cs typeface="Lucida Sans Unicode"/>
              </a:rPr>
              <a:t>))</a:t>
            </a:r>
            <a:endParaRPr lang="en-US" altLang="en-US" sz="1600" kern="0" dirty="0">
              <a:solidFill>
                <a:srgbClr val="333399"/>
              </a:solidFill>
              <a:latin typeface="Courier New" panose="02070309020205020404" pitchFamily="49" charset="0"/>
              <a:ea typeface="MS Mincho" pitchFamily="49" charset="-128"/>
              <a:cs typeface="Lucida Sans Unicode"/>
            </a:endParaRPr>
          </a:p>
          <a:p>
            <a:pPr marL="342900" lvl="0" indent="-342900"/>
            <a:r>
              <a:rPr lang="en-US" altLang="en-US" sz="1600" kern="0" dirty="0">
                <a:solidFill>
                  <a:srgbClr val="333399"/>
                </a:solidFill>
                <a:latin typeface="Courier New" panose="02070309020205020404" pitchFamily="49" charset="0"/>
                <a:ea typeface="MS Mincho" pitchFamily="49" charset="-128"/>
                <a:cs typeface="Lucida Sans Unicode"/>
              </a:rPr>
              <a:t>    )</a:t>
            </a:r>
          </a:p>
          <a:p>
            <a:pPr marL="342900" lvl="0" indent="-342900"/>
            <a:r>
              <a:rPr lang="en-US" altLang="en-US" sz="1600" kern="0" dirty="0">
                <a:solidFill>
                  <a:srgbClr val="333399"/>
                </a:solidFill>
                <a:latin typeface="Courier New" panose="02070309020205020404" pitchFamily="49" charset="0"/>
                <a:ea typeface="MS Mincho" pitchFamily="49" charset="-128"/>
                <a:cs typeface="Lucida Sans Unicode"/>
              </a:rPr>
              <a:t>    </a:t>
            </a:r>
            <a:r>
              <a:rPr lang="en-US" altLang="en-US" sz="1600" kern="0" dirty="0" smtClean="0">
                <a:solidFill>
                  <a:srgbClr val="333399"/>
                </a:solidFill>
                <a:latin typeface="Courier New" panose="02070309020205020404" pitchFamily="49" charset="0"/>
                <a:ea typeface="MS Mincho" pitchFamily="49" charset="-128"/>
                <a:cs typeface="Lucida Sans Unicode"/>
              </a:rPr>
              <a:t>(display (/ </a:t>
            </a:r>
            <a:r>
              <a:rPr lang="en-US" altLang="en-US" sz="1600" kern="0" dirty="0">
                <a:solidFill>
                  <a:srgbClr val="333399"/>
                </a:solidFill>
                <a:latin typeface="Courier New" panose="02070309020205020404" pitchFamily="49" charset="0"/>
                <a:ea typeface="MS Mincho" pitchFamily="49" charset="-128"/>
                <a:cs typeface="Lucida Sans Unicode"/>
              </a:rPr>
              <a:t>top bottom</a:t>
            </a:r>
            <a:r>
              <a:rPr lang="en-US" altLang="en-US" sz="1600" kern="0" dirty="0" smtClean="0">
                <a:solidFill>
                  <a:srgbClr val="333399"/>
                </a:solidFill>
                <a:latin typeface="Courier New" panose="02070309020205020404" pitchFamily="49" charset="0"/>
                <a:ea typeface="MS Mincho" pitchFamily="49" charset="-128"/>
                <a:cs typeface="Lucida Sans Unicode"/>
              </a:rPr>
              <a:t>))</a:t>
            </a:r>
          </a:p>
          <a:p>
            <a:pPr marL="342900" lvl="0" indent="-342900"/>
            <a:r>
              <a:rPr lang="en-US" altLang="en-US" sz="1600" kern="0" dirty="0">
                <a:solidFill>
                  <a:srgbClr val="333399"/>
                </a:solidFill>
                <a:latin typeface="Courier New" panose="02070309020205020404" pitchFamily="49" charset="0"/>
                <a:ea typeface="MS Mincho" pitchFamily="49" charset="-128"/>
                <a:cs typeface="Lucida Sans Unicode"/>
              </a:rPr>
              <a:t> </a:t>
            </a:r>
            <a:r>
              <a:rPr lang="en-US" altLang="en-US" sz="1600" kern="0" dirty="0" smtClean="0">
                <a:solidFill>
                  <a:srgbClr val="333399"/>
                </a:solidFill>
                <a:latin typeface="Courier New" panose="02070309020205020404" pitchFamily="49" charset="0"/>
                <a:ea typeface="MS Mincho" pitchFamily="49" charset="-128"/>
                <a:cs typeface="Lucida Sans Unicode"/>
              </a:rPr>
              <a:t>   (newline)</a:t>
            </a:r>
          </a:p>
          <a:p>
            <a:pPr marL="342900" lvl="0" indent="-342900"/>
            <a:r>
              <a:rPr lang="en-US" altLang="en-US" sz="1600" kern="0" dirty="0">
                <a:solidFill>
                  <a:srgbClr val="333399"/>
                </a:solidFill>
                <a:latin typeface="Courier New" panose="02070309020205020404" pitchFamily="49" charset="0"/>
                <a:ea typeface="MS Mincho" pitchFamily="49" charset="-128"/>
                <a:cs typeface="Lucida Sans Unicode"/>
              </a:rPr>
              <a:t> </a:t>
            </a:r>
            <a:r>
              <a:rPr lang="en-US" altLang="en-US" sz="1600" kern="0" dirty="0" smtClean="0">
                <a:solidFill>
                  <a:srgbClr val="333399"/>
                </a:solidFill>
                <a:latin typeface="Courier New" panose="02070309020205020404" pitchFamily="49" charset="0"/>
                <a:ea typeface="MS Mincho" pitchFamily="49" charset="-128"/>
                <a:cs typeface="Lucida Sans Unicode"/>
              </a:rPr>
              <a:t>   (* top bottom)</a:t>
            </a:r>
            <a:endParaRPr lang="en-US" altLang="en-US" sz="1600" kern="0" dirty="0">
              <a:solidFill>
                <a:srgbClr val="333399"/>
              </a:solidFill>
              <a:latin typeface="Courier New" panose="02070309020205020404" pitchFamily="49" charset="0"/>
              <a:ea typeface="MS Mincho" pitchFamily="49" charset="-128"/>
              <a:cs typeface="Lucida Sans Unicode"/>
            </a:endParaRPr>
          </a:p>
          <a:p>
            <a:pPr marL="342900" lvl="0" indent="-342900"/>
            <a:r>
              <a:rPr lang="en-US" altLang="en-US" sz="1600" kern="0" dirty="0">
                <a:solidFill>
                  <a:srgbClr val="333399"/>
                </a:solidFill>
                <a:latin typeface="Courier New" panose="02070309020205020404" pitchFamily="49" charset="0"/>
                <a:ea typeface="MS Mincho" pitchFamily="49" charset="-128"/>
                <a:cs typeface="Lucida Sans Unicode"/>
              </a:rPr>
              <a:t>  )</a:t>
            </a:r>
          </a:p>
          <a:p>
            <a:pPr marL="342900" lvl="0" indent="-342900"/>
            <a:r>
              <a:rPr lang="en-US" altLang="en-US" sz="1600" kern="0" dirty="0">
                <a:solidFill>
                  <a:srgbClr val="333399"/>
                </a:solidFill>
                <a:latin typeface="Courier New" panose="02070309020205020404" pitchFamily="49" charset="0"/>
                <a:ea typeface="MS Mincho" pitchFamily="49" charset="-128"/>
                <a:cs typeface="Lucida Sans Unicode"/>
              </a:rPr>
              <a:t>)</a:t>
            </a:r>
            <a:endParaRPr lang="en-US" altLang="en-US" sz="1600" kern="0" dirty="0">
              <a:solidFill>
                <a:srgbClr val="333399"/>
              </a:solidFill>
              <a:latin typeface="Courier New" panose="02070309020205020404" pitchFamily="49" charset="0"/>
              <a:cs typeface="Lucida Sans Unicode"/>
            </a:endParaRPr>
          </a:p>
        </p:txBody>
      </p:sp>
      <p:sp>
        <p:nvSpPr>
          <p:cNvPr id="9" name="Rectangle 3"/>
          <p:cNvSpPr txBox="1">
            <a:spLocks noChangeArrowheads="1"/>
          </p:cNvSpPr>
          <p:nvPr/>
        </p:nvSpPr>
        <p:spPr bwMode="auto">
          <a:xfrm>
            <a:off x="630620" y="4495800"/>
            <a:ext cx="8229600" cy="1416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400">
                <a:solidFill>
                  <a:schemeClr val="accent2"/>
                </a:solidFill>
                <a:latin typeface="+mn-lt"/>
                <a:ea typeface="+mn-ea"/>
                <a:cs typeface="+mn-cs"/>
              </a:defRPr>
            </a:lvl2pPr>
            <a:lvl3pPr marL="1143000" indent="-228600" algn="l" rtl="0" eaLnBrk="0" fontAlgn="base" hangingPunct="0">
              <a:spcBef>
                <a:spcPct val="20000"/>
              </a:spcBef>
              <a:spcAft>
                <a:spcPct val="0"/>
              </a:spcAft>
              <a:buChar char="•"/>
              <a:defRPr sz="21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a:solidFill>
                  <a:schemeClr val="accent2"/>
                </a:solidFill>
                <a:latin typeface="+mn-lt"/>
                <a:ea typeface="+mn-ea"/>
                <a:cs typeface="+mn-cs"/>
              </a:defRPr>
            </a:lvl4pPr>
            <a:lvl5pPr marL="2057400" indent="-228600" algn="l" rtl="0" eaLnBrk="0" fontAlgn="base" hangingPunct="0">
              <a:spcBef>
                <a:spcPct val="20000"/>
              </a:spcBef>
              <a:spcAft>
                <a:spcPct val="0"/>
              </a:spcAft>
              <a:buChar char="»"/>
              <a:defRPr sz="2000">
                <a:solidFill>
                  <a:srgbClr val="666699"/>
                </a:solidFill>
                <a:latin typeface="+mn-lt"/>
                <a:ea typeface="+mn-ea"/>
                <a:cs typeface="+mn-cs"/>
              </a:defRPr>
            </a:lvl5pPr>
            <a:lvl6pPr marL="2514600" indent="-228600" algn="l" rtl="0" fontAlgn="base">
              <a:spcBef>
                <a:spcPct val="20000"/>
              </a:spcBef>
              <a:spcAft>
                <a:spcPct val="0"/>
              </a:spcAft>
              <a:buChar char="»"/>
              <a:defRPr>
                <a:solidFill>
                  <a:srgbClr val="666699"/>
                </a:solidFill>
                <a:latin typeface="+mn-lt"/>
                <a:ea typeface="+mn-ea"/>
                <a:cs typeface="+mn-cs"/>
              </a:defRPr>
            </a:lvl6pPr>
            <a:lvl7pPr marL="2971800" indent="-228600" algn="l" rtl="0" fontAlgn="base">
              <a:spcBef>
                <a:spcPct val="20000"/>
              </a:spcBef>
              <a:spcAft>
                <a:spcPct val="0"/>
              </a:spcAft>
              <a:buChar char="»"/>
              <a:defRPr>
                <a:solidFill>
                  <a:srgbClr val="666699"/>
                </a:solidFill>
                <a:latin typeface="+mn-lt"/>
                <a:ea typeface="+mn-ea"/>
                <a:cs typeface="+mn-cs"/>
              </a:defRPr>
            </a:lvl7pPr>
            <a:lvl8pPr marL="3429000" indent="-228600" algn="l" rtl="0" fontAlgn="base">
              <a:spcBef>
                <a:spcPct val="20000"/>
              </a:spcBef>
              <a:spcAft>
                <a:spcPct val="0"/>
              </a:spcAft>
              <a:buChar char="»"/>
              <a:defRPr>
                <a:solidFill>
                  <a:srgbClr val="666699"/>
                </a:solidFill>
                <a:latin typeface="+mn-lt"/>
                <a:ea typeface="+mn-ea"/>
                <a:cs typeface="+mn-cs"/>
              </a:defRPr>
            </a:lvl8pPr>
            <a:lvl9pPr marL="3886200" indent="-228600" algn="l" rtl="0" fontAlgn="base">
              <a:spcBef>
                <a:spcPct val="20000"/>
              </a:spcBef>
              <a:spcAft>
                <a:spcPct val="0"/>
              </a:spcAft>
              <a:buChar char="»"/>
              <a:defRPr>
                <a:solidFill>
                  <a:srgbClr val="666699"/>
                </a:solidFill>
                <a:latin typeface="+mn-lt"/>
                <a:ea typeface="+mn-ea"/>
                <a:cs typeface="+mn-cs"/>
              </a:defRPr>
            </a:lvl9pPr>
          </a:lstStyle>
          <a:p>
            <a:pPr eaLnBrk="1" hangingPunct="1"/>
            <a:r>
              <a:rPr lang="en-US" altLang="en-US" sz="2400" kern="0" dirty="0" smtClean="0"/>
              <a:t>Multiple function applications allowed </a:t>
            </a:r>
            <a:r>
              <a:rPr lang="en-US" altLang="en-US" sz="2400" kern="0" dirty="0" smtClean="0"/>
              <a:t>in the </a:t>
            </a:r>
            <a:r>
              <a:rPr lang="en-US" altLang="en-US" sz="2400" kern="0" dirty="0" smtClean="0"/>
              <a:t>body</a:t>
            </a:r>
          </a:p>
          <a:p>
            <a:pPr lvl="1" eaLnBrk="1" hangingPunct="1"/>
            <a:r>
              <a:rPr lang="en-US" altLang="en-US" sz="2000" kern="0" dirty="0" smtClean="0"/>
              <a:t>Function applications are evaluated in sequence</a:t>
            </a:r>
          </a:p>
          <a:p>
            <a:pPr lvl="1" eaLnBrk="1" hangingPunct="1"/>
            <a:r>
              <a:rPr lang="en-US" altLang="en-US" sz="2000" dirty="0"/>
              <a:t>The </a:t>
            </a:r>
            <a:r>
              <a:rPr lang="en-US" altLang="en-US" sz="2000" dirty="0" smtClean="0">
                <a:latin typeface="Courier New" panose="02070309020205020404" pitchFamily="49" charset="0"/>
                <a:cs typeface="Courier New" panose="02070309020205020404" pitchFamily="49" charset="0"/>
              </a:rPr>
              <a:t>let</a:t>
            </a:r>
            <a:r>
              <a:rPr lang="en-US" altLang="en-US" sz="2000" dirty="0" smtClean="0"/>
              <a:t> </a:t>
            </a:r>
            <a:r>
              <a:rPr lang="en-US" altLang="en-US" sz="2000" dirty="0"/>
              <a:t>construct yields the value of the </a:t>
            </a:r>
            <a:r>
              <a:rPr lang="en-US" altLang="en-US" sz="2000" dirty="0" smtClean="0"/>
              <a:t>last application</a:t>
            </a:r>
            <a:endParaRPr lang="en-US" altLang="en-US" sz="2000" kern="0" dirty="0" smtClean="0"/>
          </a:p>
        </p:txBody>
      </p:sp>
    </p:spTree>
    <p:extLst>
      <p:ext uri="{BB962C8B-B14F-4D97-AF65-F5344CB8AC3E}">
        <p14:creationId xmlns:p14="http://schemas.microsoft.com/office/powerpoint/2010/main" val="72041353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dirty="0" smtClean="0">
                <a:solidFill>
                  <a:schemeClr val="tx1"/>
                </a:solidFill>
                <a:latin typeface="Arial" panose="020B0604020202020204" pitchFamily="34" charset="0"/>
              </a:rPr>
              <a:t>Copyright © 2023 Addison-Wesley. All rights reserved.</a:t>
            </a:r>
          </a:p>
        </p:txBody>
      </p:sp>
      <p:sp>
        <p:nvSpPr>
          <p:cNvPr id="5120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ADE367E9-90BD-45B7-9F12-5EC7464AC281}" type="slidenum">
              <a:rPr lang="en-US" altLang="en-US" sz="1000" smtClean="0">
                <a:solidFill>
                  <a:schemeClr val="tx1"/>
                </a:solidFill>
                <a:latin typeface="Arial" panose="020B0604020202020204" pitchFamily="34" charset="0"/>
              </a:rPr>
              <a:pPr>
                <a:spcBef>
                  <a:spcPct val="0"/>
                </a:spcBef>
                <a:buFontTx/>
                <a:buNone/>
              </a:pPr>
              <a:t>12</a:t>
            </a:fld>
            <a:endParaRPr lang="en-US" altLang="en-US" sz="1000" smtClean="0">
              <a:solidFill>
                <a:schemeClr val="tx1"/>
              </a:solidFill>
              <a:latin typeface="Arial" panose="020B0604020202020204" pitchFamily="34" charset="0"/>
            </a:endParaRPr>
          </a:p>
        </p:txBody>
      </p:sp>
      <p:sp>
        <p:nvSpPr>
          <p:cNvPr id="51204" name="Rectangle 2"/>
          <p:cNvSpPr>
            <a:spLocks noGrp="1" noChangeArrowheads="1"/>
          </p:cNvSpPr>
          <p:nvPr>
            <p:ph type="title"/>
          </p:nvPr>
        </p:nvSpPr>
        <p:spPr/>
        <p:txBody>
          <a:bodyPr/>
          <a:lstStyle/>
          <a:p>
            <a:pPr eaLnBrk="1" hangingPunct="1"/>
            <a:r>
              <a:rPr lang="en-US" altLang="en-US" sz="3200" dirty="0" smtClean="0"/>
              <a:t>Example Scheme Function: </a:t>
            </a:r>
            <a:r>
              <a:rPr lang="en-US" altLang="en-US" sz="3200" dirty="0" smtClean="0">
                <a:latin typeface="Courier New" panose="02070309020205020404" pitchFamily="49" charset="0"/>
              </a:rPr>
              <a:t>member</a:t>
            </a:r>
          </a:p>
        </p:txBody>
      </p:sp>
      <p:sp>
        <p:nvSpPr>
          <p:cNvPr id="51205" name="Rectangle 3"/>
          <p:cNvSpPr>
            <a:spLocks noGrp="1" noChangeArrowheads="1"/>
          </p:cNvSpPr>
          <p:nvPr>
            <p:ph type="body" idx="1"/>
          </p:nvPr>
        </p:nvSpPr>
        <p:spPr>
          <a:xfrm>
            <a:off x="630620" y="1337440"/>
            <a:ext cx="8153400" cy="4876800"/>
          </a:xfrm>
        </p:spPr>
        <p:txBody>
          <a:bodyPr/>
          <a:lstStyle/>
          <a:p>
            <a:pPr eaLnBrk="1" hangingPunct="1"/>
            <a:r>
              <a:rPr lang="en-US" altLang="en-US" sz="2400" dirty="0" smtClean="0"/>
              <a:t>The </a:t>
            </a:r>
            <a:r>
              <a:rPr lang="en-US" altLang="en-US" sz="2400" dirty="0" smtClean="0">
                <a:latin typeface="Courier New" panose="02070309020205020404" pitchFamily="49" charset="0"/>
              </a:rPr>
              <a:t>member</a:t>
            </a:r>
            <a:r>
              <a:rPr lang="en-US" altLang="en-US" sz="2400" dirty="0" smtClean="0"/>
              <a:t> function</a:t>
            </a:r>
          </a:p>
          <a:p>
            <a:pPr lvl="1" eaLnBrk="1" hangingPunct="1"/>
            <a:r>
              <a:rPr lang="en-US" altLang="en-US" sz="2000" dirty="0" smtClean="0"/>
              <a:t>Applied to an atom (</a:t>
            </a:r>
            <a:r>
              <a:rPr lang="en-US" altLang="en-US" sz="2000" dirty="0" err="1" smtClean="0">
                <a:latin typeface="Courier New" panose="02070309020205020404" pitchFamily="49" charset="0"/>
              </a:rPr>
              <a:t>atm</a:t>
            </a:r>
            <a:r>
              <a:rPr lang="en-US" altLang="en-US" sz="2000" dirty="0" smtClean="0"/>
              <a:t>) and a simple list (</a:t>
            </a:r>
            <a:r>
              <a:rPr lang="en-US" altLang="en-US" sz="2000" dirty="0" err="1" smtClean="0">
                <a:latin typeface="Courier New" panose="02070309020205020404" pitchFamily="49" charset="0"/>
              </a:rPr>
              <a:t>lis</a:t>
            </a:r>
            <a:r>
              <a:rPr lang="en-US" altLang="en-US" sz="2000" dirty="0" smtClean="0"/>
              <a:t>)</a:t>
            </a:r>
          </a:p>
          <a:p>
            <a:pPr lvl="1" eaLnBrk="1" hangingPunct="1"/>
            <a:r>
              <a:rPr lang="en-US" altLang="en-US" sz="2000" dirty="0" smtClean="0"/>
              <a:t>Yields </a:t>
            </a:r>
            <a:r>
              <a:rPr lang="en-US" altLang="en-US" sz="2000" dirty="0" smtClean="0">
                <a:latin typeface="Courier New" panose="02070309020205020404" pitchFamily="49" charset="0"/>
              </a:rPr>
              <a:t>#t</a:t>
            </a:r>
            <a:r>
              <a:rPr lang="en-US" altLang="en-US" sz="2000" dirty="0" smtClean="0"/>
              <a:t> if atom is in the list, </a:t>
            </a:r>
            <a:r>
              <a:rPr lang="en-US" altLang="en-US" sz="2000" dirty="0" smtClean="0">
                <a:latin typeface="Courier New" panose="02070309020205020404" pitchFamily="49" charset="0"/>
              </a:rPr>
              <a:t>#f</a:t>
            </a:r>
            <a:r>
              <a:rPr lang="en-US" altLang="en-US" sz="2000" dirty="0" smtClean="0"/>
              <a:t> otherwise</a:t>
            </a:r>
          </a:p>
          <a:p>
            <a:pPr lvl="1" eaLnBrk="1" hangingPunct="1"/>
            <a:r>
              <a:rPr lang="en-US" altLang="en-US" sz="2000" dirty="0" smtClean="0"/>
              <a:t>Strategy: Recursively compare </a:t>
            </a:r>
            <a:r>
              <a:rPr lang="en-US" altLang="en-US" sz="2000" dirty="0" err="1" smtClean="0">
                <a:latin typeface="Courier New" panose="02070309020205020404" pitchFamily="49" charset="0"/>
              </a:rPr>
              <a:t>atm</a:t>
            </a:r>
            <a:r>
              <a:rPr lang="en-US" altLang="en-US" sz="2000" dirty="0" smtClean="0"/>
              <a:t> to each list atom; Return </a:t>
            </a:r>
            <a:r>
              <a:rPr lang="en-US" altLang="en-US" sz="2000" dirty="0" smtClean="0">
                <a:latin typeface="Courier New" panose="02070309020205020404" pitchFamily="49" charset="0"/>
              </a:rPr>
              <a:t>#t </a:t>
            </a:r>
            <a:r>
              <a:rPr lang="en-US" altLang="en-US" sz="2000" dirty="0" smtClean="0"/>
              <a:t>if</a:t>
            </a:r>
            <a:r>
              <a:rPr lang="en-US" altLang="en-US" sz="2000" dirty="0" smtClean="0">
                <a:latin typeface="Courier New" panose="02070309020205020404" pitchFamily="49" charset="0"/>
              </a:rPr>
              <a:t> </a:t>
            </a:r>
            <a:r>
              <a:rPr lang="en-US" altLang="en-US" sz="2000" dirty="0" err="1" smtClean="0">
                <a:latin typeface="Courier New" panose="02070309020205020404" pitchFamily="49" charset="0"/>
              </a:rPr>
              <a:t>atm</a:t>
            </a:r>
            <a:r>
              <a:rPr lang="en-US" altLang="en-US" sz="2000" dirty="0" smtClean="0">
                <a:latin typeface="Courier New" panose="02070309020205020404" pitchFamily="49" charset="0"/>
              </a:rPr>
              <a:t> </a:t>
            </a:r>
            <a:r>
              <a:rPr lang="en-US" altLang="en-US" sz="2000" dirty="0" smtClean="0"/>
              <a:t>found, </a:t>
            </a:r>
            <a:r>
              <a:rPr lang="en-US" altLang="en-US" sz="2000" dirty="0" smtClean="0">
                <a:latin typeface="Courier New" panose="02070309020205020404" pitchFamily="49" charset="0"/>
              </a:rPr>
              <a:t>#f</a:t>
            </a:r>
            <a:r>
              <a:rPr lang="en-US" altLang="en-US" sz="2000" dirty="0" smtClean="0"/>
              <a:t> if all list atoms are exhausted</a:t>
            </a:r>
          </a:p>
          <a:p>
            <a:pPr lvl="1" eaLnBrk="1" hangingPunct="1">
              <a:buFontTx/>
              <a:buNone/>
            </a:pPr>
            <a:endParaRPr lang="en-US" altLang="en-US" sz="800" dirty="0" smtClean="0"/>
          </a:p>
          <a:p>
            <a:pPr eaLnBrk="1" hangingPunct="1">
              <a:buFontTx/>
              <a:buNone/>
            </a:pPr>
            <a:r>
              <a:rPr lang="en-US" altLang="en-US" sz="1700" dirty="0" smtClean="0">
                <a:latin typeface="Courier New" panose="02070309020205020404" pitchFamily="49" charset="0"/>
              </a:rPr>
              <a:t>		(define (member </a:t>
            </a:r>
            <a:r>
              <a:rPr lang="en-US" altLang="en-US" sz="1700" dirty="0" err="1" smtClean="0">
                <a:latin typeface="Courier New" panose="02070309020205020404" pitchFamily="49" charset="0"/>
              </a:rPr>
              <a:t>atm</a:t>
            </a:r>
            <a:r>
              <a:rPr lang="en-US" altLang="en-US" sz="1700" dirty="0" smtClean="0">
                <a:latin typeface="Courier New" panose="02070309020205020404" pitchFamily="49" charset="0"/>
              </a:rPr>
              <a:t> </a:t>
            </a:r>
            <a:r>
              <a:rPr lang="en-US" altLang="en-US" sz="1700" dirty="0" err="1" smtClean="0">
                <a:latin typeface="Courier New" panose="02070309020205020404" pitchFamily="49" charset="0"/>
              </a:rPr>
              <a:t>lis</a:t>
            </a:r>
            <a:r>
              <a:rPr lang="en-US" altLang="en-US" sz="1700" dirty="0" smtClean="0">
                <a:latin typeface="Courier New" panose="02070309020205020404" pitchFamily="49" charset="0"/>
              </a:rPr>
              <a:t>)</a:t>
            </a:r>
          </a:p>
          <a:p>
            <a:pPr eaLnBrk="1" hangingPunct="1">
              <a:buFontTx/>
              <a:buNone/>
            </a:pPr>
            <a:r>
              <a:rPr lang="en-US" altLang="en-US" sz="1700" dirty="0" smtClean="0">
                <a:latin typeface="Courier New" panose="02070309020205020404" pitchFamily="49" charset="0"/>
              </a:rPr>
              <a:t>		   (</a:t>
            </a:r>
            <a:r>
              <a:rPr lang="en-US" altLang="en-US" sz="1700" dirty="0" err="1" smtClean="0">
                <a:latin typeface="Courier New" panose="02070309020205020404" pitchFamily="49" charset="0"/>
              </a:rPr>
              <a:t>cond</a:t>
            </a:r>
            <a:endParaRPr lang="en-US" altLang="en-US" sz="1700" dirty="0" smtClean="0">
              <a:latin typeface="Courier New" panose="02070309020205020404" pitchFamily="49" charset="0"/>
            </a:endParaRPr>
          </a:p>
          <a:p>
            <a:pPr eaLnBrk="1" hangingPunct="1">
              <a:buFontTx/>
              <a:buNone/>
            </a:pPr>
            <a:r>
              <a:rPr lang="en-US" altLang="en-US" sz="1700" dirty="0" smtClean="0">
                <a:latin typeface="Courier New" panose="02070309020205020404" pitchFamily="49" charset="0"/>
              </a:rPr>
              <a:t>		      ((null? </a:t>
            </a:r>
            <a:r>
              <a:rPr lang="en-US" altLang="en-US" sz="1700" dirty="0" err="1" smtClean="0">
                <a:latin typeface="Courier New" panose="02070309020205020404" pitchFamily="49" charset="0"/>
              </a:rPr>
              <a:t>lis</a:t>
            </a:r>
            <a:r>
              <a:rPr lang="en-US" altLang="en-US" sz="1700" dirty="0" smtClean="0">
                <a:latin typeface="Courier New" panose="02070309020205020404" pitchFamily="49" charset="0"/>
              </a:rPr>
              <a:t>) #f)</a:t>
            </a:r>
          </a:p>
          <a:p>
            <a:pPr eaLnBrk="1" hangingPunct="1">
              <a:buFontTx/>
              <a:buNone/>
            </a:pPr>
            <a:r>
              <a:rPr lang="en-US" altLang="en-US" sz="1700" dirty="0" smtClean="0">
                <a:latin typeface="Courier New" panose="02070309020205020404" pitchFamily="49" charset="0"/>
              </a:rPr>
              <a:t>		      ((</a:t>
            </a:r>
            <a:r>
              <a:rPr lang="en-US" altLang="en-US" sz="1700" dirty="0" err="1" smtClean="0">
                <a:latin typeface="Courier New" panose="02070309020205020404" pitchFamily="49" charset="0"/>
              </a:rPr>
              <a:t>eqv</a:t>
            </a:r>
            <a:r>
              <a:rPr lang="en-US" altLang="en-US" sz="1700" dirty="0" smtClean="0">
                <a:latin typeface="Courier New" panose="02070309020205020404" pitchFamily="49" charset="0"/>
              </a:rPr>
              <a:t>? </a:t>
            </a:r>
            <a:r>
              <a:rPr lang="en-US" altLang="en-US" sz="1700" dirty="0" err="1" smtClean="0">
                <a:latin typeface="Courier New" panose="02070309020205020404" pitchFamily="49" charset="0"/>
              </a:rPr>
              <a:t>atm</a:t>
            </a:r>
            <a:r>
              <a:rPr lang="en-US" altLang="en-US" sz="1700" dirty="0" smtClean="0">
                <a:latin typeface="Courier New" panose="02070309020205020404" pitchFamily="49" charset="0"/>
              </a:rPr>
              <a:t> (car </a:t>
            </a:r>
            <a:r>
              <a:rPr lang="en-US" altLang="en-US" sz="1700" dirty="0" err="1" smtClean="0">
                <a:latin typeface="Courier New" panose="02070309020205020404" pitchFamily="49" charset="0"/>
              </a:rPr>
              <a:t>lis</a:t>
            </a:r>
            <a:r>
              <a:rPr lang="en-US" altLang="en-US" sz="1700" dirty="0" smtClean="0">
                <a:latin typeface="Courier New" panose="02070309020205020404" pitchFamily="49" charset="0"/>
              </a:rPr>
              <a:t>)) #t)</a:t>
            </a:r>
          </a:p>
          <a:p>
            <a:pPr eaLnBrk="1" hangingPunct="1">
              <a:buFontTx/>
              <a:buNone/>
            </a:pPr>
            <a:r>
              <a:rPr lang="en-US" altLang="en-US" sz="1700" dirty="0" smtClean="0">
                <a:latin typeface="Courier New" panose="02070309020205020404" pitchFamily="49" charset="0"/>
              </a:rPr>
              <a:t>		      (else (member </a:t>
            </a:r>
            <a:r>
              <a:rPr lang="en-US" altLang="en-US" sz="1700" dirty="0" err="1" smtClean="0">
                <a:latin typeface="Courier New" panose="02070309020205020404" pitchFamily="49" charset="0"/>
              </a:rPr>
              <a:t>atm</a:t>
            </a:r>
            <a:r>
              <a:rPr lang="en-US" altLang="en-US" sz="1700" dirty="0" smtClean="0">
                <a:latin typeface="Courier New" panose="02070309020205020404" pitchFamily="49" charset="0"/>
              </a:rPr>
              <a:t> (</a:t>
            </a:r>
            <a:r>
              <a:rPr lang="en-US" altLang="en-US" sz="1700" dirty="0" err="1" smtClean="0">
                <a:latin typeface="Courier New" panose="02070309020205020404" pitchFamily="49" charset="0"/>
              </a:rPr>
              <a:t>cdr</a:t>
            </a:r>
            <a:r>
              <a:rPr lang="en-US" altLang="en-US" sz="1700" dirty="0" smtClean="0">
                <a:latin typeface="Courier New" panose="02070309020205020404" pitchFamily="49" charset="0"/>
              </a:rPr>
              <a:t> </a:t>
            </a:r>
            <a:r>
              <a:rPr lang="en-US" altLang="en-US" sz="1700" dirty="0" err="1" smtClean="0">
                <a:latin typeface="Courier New" panose="02070309020205020404" pitchFamily="49" charset="0"/>
              </a:rPr>
              <a:t>lis</a:t>
            </a:r>
            <a:r>
              <a:rPr lang="en-US" altLang="en-US" sz="1700" dirty="0" smtClean="0">
                <a:latin typeface="Courier New" panose="02070309020205020404" pitchFamily="49" charset="0"/>
              </a:rPr>
              <a:t>)))</a:t>
            </a:r>
          </a:p>
          <a:p>
            <a:pPr eaLnBrk="1" hangingPunct="1">
              <a:buFontTx/>
              <a:buNone/>
            </a:pPr>
            <a:r>
              <a:rPr lang="en-US" altLang="en-US" sz="1700" dirty="0" smtClean="0">
                <a:latin typeface="Courier New" panose="02070309020205020404" pitchFamily="49" charset="0"/>
              </a:rPr>
              <a:t>		   )</a:t>
            </a:r>
          </a:p>
          <a:p>
            <a:pPr eaLnBrk="1" hangingPunct="1">
              <a:buFontTx/>
              <a:buNone/>
            </a:pPr>
            <a:r>
              <a:rPr lang="en-US" altLang="en-US" sz="1700" dirty="0" smtClean="0">
                <a:latin typeface="Courier New" panose="02070309020205020404" pitchFamily="49" charset="0"/>
              </a:rPr>
              <a:t>		)</a:t>
            </a:r>
            <a:endParaRPr lang="en-US" altLang="en-US" sz="1700" b="1" dirty="0" smtClean="0">
              <a:latin typeface="Courier New" panose="02070309020205020404" pitchFamily="49"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05">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05">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1205">
                                            <p:txEl>
                                              <p:pRg st="11" end="1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1205">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1205">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1205">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1205">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120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mod="1"/>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Copyright © 2012 Addison-Wesley. All rights reserved.</a:t>
            </a:r>
          </a:p>
        </p:txBody>
      </p:sp>
      <p:sp>
        <p:nvSpPr>
          <p:cNvPr id="5325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E8AC3377-C4ED-4D1F-99AF-1672D8FF25BC}" type="slidenum">
              <a:rPr lang="en-US" altLang="en-US" sz="1000" smtClean="0">
                <a:solidFill>
                  <a:schemeClr val="tx1"/>
                </a:solidFill>
                <a:latin typeface="Arial" panose="020B0604020202020204" pitchFamily="34" charset="0"/>
              </a:rPr>
              <a:pPr>
                <a:spcBef>
                  <a:spcPct val="0"/>
                </a:spcBef>
                <a:buFontTx/>
                <a:buNone/>
              </a:pPr>
              <a:t>13</a:t>
            </a:fld>
            <a:endParaRPr lang="en-US" altLang="en-US" sz="1000" smtClean="0">
              <a:solidFill>
                <a:schemeClr val="tx1"/>
              </a:solidFill>
              <a:latin typeface="Arial" panose="020B0604020202020204" pitchFamily="34" charset="0"/>
            </a:endParaRPr>
          </a:p>
        </p:txBody>
      </p:sp>
      <p:sp>
        <p:nvSpPr>
          <p:cNvPr id="53252" name="Rectangle 2"/>
          <p:cNvSpPr>
            <a:spLocks noGrp="1" noChangeArrowheads="1"/>
          </p:cNvSpPr>
          <p:nvPr>
            <p:ph type="title"/>
          </p:nvPr>
        </p:nvSpPr>
        <p:spPr/>
        <p:txBody>
          <a:bodyPr/>
          <a:lstStyle/>
          <a:p>
            <a:pPr eaLnBrk="1" hangingPunct="1"/>
            <a:r>
              <a:rPr lang="en-US" altLang="en-US" sz="3200" dirty="0" smtClean="0"/>
              <a:t>Example Scheme Function: </a:t>
            </a:r>
            <a:r>
              <a:rPr lang="en-US" altLang="en-US" sz="3200" dirty="0" err="1" smtClean="0">
                <a:latin typeface="Courier New" panose="02070309020205020404" pitchFamily="49" charset="0"/>
              </a:rPr>
              <a:t>equalsimp</a:t>
            </a:r>
            <a:endParaRPr lang="en-US" altLang="en-US" sz="3200" dirty="0" smtClean="0">
              <a:latin typeface="Courier New" panose="02070309020205020404" pitchFamily="49" charset="0"/>
            </a:endParaRPr>
          </a:p>
        </p:txBody>
      </p:sp>
      <p:sp>
        <p:nvSpPr>
          <p:cNvPr id="53253" name="Rectangle 3"/>
          <p:cNvSpPr>
            <a:spLocks noGrp="1" noChangeArrowheads="1"/>
          </p:cNvSpPr>
          <p:nvPr>
            <p:ph type="body" idx="1"/>
          </p:nvPr>
        </p:nvSpPr>
        <p:spPr>
          <a:xfrm>
            <a:off x="630620" y="1337440"/>
            <a:ext cx="8229600" cy="5334000"/>
          </a:xfrm>
        </p:spPr>
        <p:txBody>
          <a:bodyPr/>
          <a:lstStyle/>
          <a:p>
            <a:pPr eaLnBrk="1" hangingPunct="1"/>
            <a:r>
              <a:rPr lang="en-US" altLang="en-US" sz="2400" dirty="0" smtClean="0"/>
              <a:t>The </a:t>
            </a:r>
            <a:r>
              <a:rPr lang="en-US" altLang="en-US" sz="2400" dirty="0" err="1" smtClean="0">
                <a:latin typeface="Courier New" panose="02070309020205020404" pitchFamily="49" charset="0"/>
              </a:rPr>
              <a:t>equalsimp</a:t>
            </a:r>
            <a:r>
              <a:rPr lang="en-US" altLang="en-US" sz="2400" dirty="0" smtClean="0"/>
              <a:t> function</a:t>
            </a:r>
          </a:p>
          <a:p>
            <a:pPr lvl="1" eaLnBrk="1" hangingPunct="1"/>
            <a:r>
              <a:rPr lang="en-US" altLang="en-US" sz="2000" dirty="0" smtClean="0"/>
              <a:t>Applied to two simple lists (</a:t>
            </a:r>
            <a:r>
              <a:rPr lang="en-US" altLang="en-US" sz="2000" dirty="0" smtClean="0">
                <a:latin typeface="Courier New" panose="02070309020205020404" pitchFamily="49" charset="0"/>
              </a:rPr>
              <a:t>lis1</a:t>
            </a:r>
            <a:r>
              <a:rPr lang="en-US" altLang="en-US" sz="2000" dirty="0" smtClean="0"/>
              <a:t> and </a:t>
            </a:r>
            <a:r>
              <a:rPr lang="en-US" altLang="en-US" sz="2000" dirty="0" smtClean="0">
                <a:latin typeface="Courier New" panose="02070309020205020404" pitchFamily="49" charset="0"/>
              </a:rPr>
              <a:t>lis2</a:t>
            </a:r>
            <a:r>
              <a:rPr lang="en-US" altLang="en-US" sz="2000" dirty="0" smtClean="0"/>
              <a:t>)</a:t>
            </a:r>
          </a:p>
          <a:p>
            <a:pPr lvl="1" eaLnBrk="1" hangingPunct="1"/>
            <a:r>
              <a:rPr lang="en-US" altLang="en-US" sz="2000" dirty="0" smtClean="0"/>
              <a:t>Yields </a:t>
            </a:r>
            <a:r>
              <a:rPr lang="en-US" altLang="en-US" sz="2000" dirty="0" smtClean="0">
                <a:latin typeface="Courier New" panose="02070309020205020404" pitchFamily="49" charset="0"/>
              </a:rPr>
              <a:t>#t</a:t>
            </a:r>
            <a:r>
              <a:rPr lang="en-US" altLang="en-US" sz="2000" dirty="0" smtClean="0"/>
              <a:t> if </a:t>
            </a:r>
            <a:r>
              <a:rPr lang="en-US" altLang="en-US" sz="2000" dirty="0" smtClean="0">
                <a:latin typeface="Courier New" panose="02070309020205020404" pitchFamily="49" charset="0"/>
              </a:rPr>
              <a:t>lis1</a:t>
            </a:r>
            <a:r>
              <a:rPr lang="en-US" altLang="en-US" sz="2000" dirty="0" smtClean="0"/>
              <a:t> and </a:t>
            </a:r>
            <a:r>
              <a:rPr lang="en-US" altLang="en-US" sz="2000" dirty="0" smtClean="0">
                <a:latin typeface="Courier New" panose="02070309020205020404" pitchFamily="49" charset="0"/>
              </a:rPr>
              <a:t>lis2</a:t>
            </a:r>
            <a:r>
              <a:rPr lang="en-US" altLang="en-US" sz="2000" dirty="0" smtClean="0"/>
              <a:t> are equal, </a:t>
            </a:r>
            <a:r>
              <a:rPr lang="en-US" altLang="en-US" sz="2000" dirty="0" smtClean="0">
                <a:latin typeface="Courier New" panose="02070309020205020404" pitchFamily="49" charset="0"/>
              </a:rPr>
              <a:t>#f</a:t>
            </a:r>
            <a:r>
              <a:rPr lang="en-US" altLang="en-US" sz="2000" dirty="0" smtClean="0"/>
              <a:t> otherwise</a:t>
            </a:r>
          </a:p>
          <a:p>
            <a:pPr lvl="1" eaLnBrk="1" hangingPunct="1"/>
            <a:r>
              <a:rPr lang="en-US" altLang="en-US" sz="2000" dirty="0" smtClean="0"/>
              <a:t>Strategy: Recursively compare list element pairs; Yield </a:t>
            </a:r>
            <a:r>
              <a:rPr lang="en-US" altLang="en-US" sz="2000" dirty="0" smtClean="0">
                <a:latin typeface="Courier New" panose="02070309020205020404" pitchFamily="49" charset="0"/>
              </a:rPr>
              <a:t>#t</a:t>
            </a:r>
            <a:r>
              <a:rPr lang="en-US" altLang="en-US" sz="2000" dirty="0" smtClean="0"/>
              <a:t> if both lists </a:t>
            </a:r>
            <a:r>
              <a:rPr lang="en-US" altLang="en-US" sz="2000" dirty="0" smtClean="0"/>
              <a:t>are exhausted </a:t>
            </a:r>
            <a:r>
              <a:rPr lang="en-US" altLang="en-US" sz="2000" dirty="0" smtClean="0"/>
              <a:t>simultaneously, </a:t>
            </a:r>
            <a:r>
              <a:rPr lang="en-US" altLang="en-US" sz="2000" dirty="0" smtClean="0">
                <a:latin typeface="Courier New" panose="02070309020205020404" pitchFamily="49" charset="0"/>
              </a:rPr>
              <a:t>#f</a:t>
            </a:r>
            <a:r>
              <a:rPr lang="en-US" altLang="en-US" sz="2000" dirty="0" smtClean="0"/>
              <a:t> if </a:t>
            </a:r>
            <a:r>
              <a:rPr lang="en-US" altLang="en-US" sz="2000" dirty="0" smtClean="0"/>
              <a:t>an element pair is </a:t>
            </a:r>
            <a:r>
              <a:rPr lang="en-US" altLang="en-US" sz="2000" dirty="0" smtClean="0"/>
              <a:t>unequal </a:t>
            </a:r>
            <a:r>
              <a:rPr lang="en-US" altLang="en-US" sz="2000" u="sng" dirty="0" smtClean="0"/>
              <a:t>or</a:t>
            </a:r>
            <a:r>
              <a:rPr lang="en-US" altLang="en-US" sz="2000" dirty="0" smtClean="0"/>
              <a:t> one list is exhausted before the other</a:t>
            </a:r>
          </a:p>
          <a:p>
            <a:pPr lvl="1" eaLnBrk="1" hangingPunct="1">
              <a:buFontTx/>
              <a:buNone/>
            </a:pPr>
            <a:endParaRPr lang="en-US" altLang="en-US" sz="800" dirty="0" smtClean="0"/>
          </a:p>
          <a:p>
            <a:pPr eaLnBrk="1" hangingPunct="1">
              <a:buFontTx/>
              <a:buNone/>
            </a:pPr>
            <a:r>
              <a:rPr lang="en-US" altLang="en-US" sz="1700" dirty="0" smtClean="0">
                <a:latin typeface="Courier New" panose="02070309020205020404" pitchFamily="49" charset="0"/>
              </a:rPr>
              <a:t>		(define (</a:t>
            </a:r>
            <a:r>
              <a:rPr lang="en-US" altLang="en-US" sz="1700" dirty="0" err="1" smtClean="0">
                <a:latin typeface="Courier New" panose="02070309020205020404" pitchFamily="49" charset="0"/>
              </a:rPr>
              <a:t>equalsimp</a:t>
            </a:r>
            <a:r>
              <a:rPr lang="en-US" altLang="en-US" sz="1700" dirty="0" smtClean="0">
                <a:latin typeface="Courier New" panose="02070309020205020404" pitchFamily="49" charset="0"/>
              </a:rPr>
              <a:t> lis1 lis2)</a:t>
            </a:r>
          </a:p>
          <a:p>
            <a:pPr eaLnBrk="1" hangingPunct="1">
              <a:buFontTx/>
              <a:buNone/>
            </a:pPr>
            <a:r>
              <a:rPr lang="en-US" altLang="en-US" sz="1700" dirty="0" smtClean="0">
                <a:latin typeface="Courier New" panose="02070309020205020404" pitchFamily="49" charset="0"/>
              </a:rPr>
              <a:t>		   (</a:t>
            </a:r>
            <a:r>
              <a:rPr lang="en-US" altLang="en-US" sz="1700" dirty="0" err="1" smtClean="0">
                <a:latin typeface="Courier New" panose="02070309020205020404" pitchFamily="49" charset="0"/>
              </a:rPr>
              <a:t>cond</a:t>
            </a:r>
            <a:endParaRPr lang="en-US" altLang="en-US" sz="1700" dirty="0" smtClean="0">
              <a:latin typeface="Courier New" panose="02070309020205020404" pitchFamily="49" charset="0"/>
            </a:endParaRPr>
          </a:p>
          <a:p>
            <a:pPr eaLnBrk="1" hangingPunct="1">
              <a:buFontTx/>
              <a:buNone/>
            </a:pPr>
            <a:r>
              <a:rPr lang="en-US" altLang="en-US" sz="1700" dirty="0" smtClean="0">
                <a:latin typeface="Courier New" panose="02070309020205020404" pitchFamily="49" charset="0"/>
              </a:rPr>
              <a:t>		      ((null? lis1) (null? lis2))</a:t>
            </a:r>
          </a:p>
          <a:p>
            <a:pPr eaLnBrk="1" hangingPunct="1">
              <a:buFontTx/>
              <a:buNone/>
            </a:pPr>
            <a:r>
              <a:rPr lang="en-US" altLang="en-US" sz="1700" dirty="0" smtClean="0">
                <a:latin typeface="Courier New" panose="02070309020205020404" pitchFamily="49" charset="0"/>
              </a:rPr>
              <a:t>		      ((null? lis2) #f)</a:t>
            </a:r>
          </a:p>
          <a:p>
            <a:pPr eaLnBrk="1" hangingPunct="1">
              <a:buFontTx/>
              <a:buNone/>
            </a:pPr>
            <a:r>
              <a:rPr lang="en-US" altLang="en-US" sz="1700" dirty="0" smtClean="0">
                <a:latin typeface="Courier New" panose="02070309020205020404" pitchFamily="49" charset="0"/>
              </a:rPr>
              <a:t>		      ((</a:t>
            </a:r>
            <a:r>
              <a:rPr lang="en-US" altLang="en-US" sz="1700" dirty="0" err="1" smtClean="0">
                <a:latin typeface="Courier New" panose="02070309020205020404" pitchFamily="49" charset="0"/>
              </a:rPr>
              <a:t>eqv</a:t>
            </a:r>
            <a:r>
              <a:rPr lang="en-US" altLang="en-US" sz="1700" dirty="0" smtClean="0">
                <a:latin typeface="Courier New" panose="02070309020205020404" pitchFamily="49" charset="0"/>
              </a:rPr>
              <a:t>? (car lis1) (car lis2))</a:t>
            </a:r>
          </a:p>
          <a:p>
            <a:pPr eaLnBrk="1" hangingPunct="1">
              <a:buFontTx/>
              <a:buNone/>
            </a:pPr>
            <a:r>
              <a:rPr lang="en-US" altLang="en-US" sz="1700" dirty="0" smtClean="0">
                <a:latin typeface="Courier New" panose="02070309020205020404" pitchFamily="49" charset="0"/>
              </a:rPr>
              <a:t>		         (</a:t>
            </a:r>
            <a:r>
              <a:rPr lang="en-US" altLang="en-US" sz="1700" dirty="0" err="1" smtClean="0">
                <a:latin typeface="Courier New" panose="02070309020205020404" pitchFamily="49" charset="0"/>
              </a:rPr>
              <a:t>equalsimp</a:t>
            </a:r>
            <a:r>
              <a:rPr lang="en-US" altLang="en-US" sz="1700" dirty="0" smtClean="0">
                <a:latin typeface="Courier New" panose="02070309020205020404" pitchFamily="49" charset="0"/>
              </a:rPr>
              <a:t>(</a:t>
            </a:r>
            <a:r>
              <a:rPr lang="en-US" altLang="en-US" sz="1700" dirty="0" err="1" smtClean="0">
                <a:latin typeface="Courier New" panose="02070309020205020404" pitchFamily="49" charset="0"/>
              </a:rPr>
              <a:t>cdr</a:t>
            </a:r>
            <a:r>
              <a:rPr lang="en-US" altLang="en-US" sz="1700" dirty="0" smtClean="0">
                <a:latin typeface="Courier New" panose="02070309020205020404" pitchFamily="49" charset="0"/>
              </a:rPr>
              <a:t> lis1)(</a:t>
            </a:r>
            <a:r>
              <a:rPr lang="en-US" altLang="en-US" sz="1700" dirty="0" err="1" smtClean="0">
                <a:latin typeface="Courier New" panose="02070309020205020404" pitchFamily="49" charset="0"/>
              </a:rPr>
              <a:t>cdr</a:t>
            </a:r>
            <a:r>
              <a:rPr lang="en-US" altLang="en-US" sz="1700" dirty="0" smtClean="0">
                <a:latin typeface="Courier New" panose="02070309020205020404" pitchFamily="49" charset="0"/>
              </a:rPr>
              <a:t> lis2)))</a:t>
            </a:r>
          </a:p>
          <a:p>
            <a:pPr eaLnBrk="1" hangingPunct="1">
              <a:buFontTx/>
              <a:buNone/>
            </a:pPr>
            <a:r>
              <a:rPr lang="en-US" altLang="en-US" sz="1700" dirty="0" smtClean="0">
                <a:latin typeface="Courier New" panose="02070309020205020404" pitchFamily="49" charset="0"/>
              </a:rPr>
              <a:t>		      (else #f)</a:t>
            </a:r>
          </a:p>
          <a:p>
            <a:pPr eaLnBrk="1" hangingPunct="1">
              <a:buFontTx/>
              <a:buNone/>
            </a:pPr>
            <a:r>
              <a:rPr lang="en-US" altLang="en-US" sz="1700" dirty="0" smtClean="0">
                <a:latin typeface="Courier New" panose="02070309020205020404" pitchFamily="49" charset="0"/>
              </a:rPr>
              <a:t>		   )</a:t>
            </a:r>
          </a:p>
          <a:p>
            <a:pPr eaLnBrk="1" hangingPunct="1">
              <a:buFontTx/>
              <a:buNone/>
            </a:pPr>
            <a:r>
              <a:rPr lang="en-US" altLang="en-US" sz="1700" dirty="0" smtClean="0">
                <a:latin typeface="Courier New" panose="02070309020205020404" pitchFamily="49" charset="0"/>
              </a:rPr>
              <a:t>		)</a:t>
            </a:r>
          </a:p>
        </p:txBody>
      </p:sp>
    </p:spTree>
    <p:extLst>
      <p:ext uri="{BB962C8B-B14F-4D97-AF65-F5344CB8AC3E}">
        <p14:creationId xmlns:p14="http://schemas.microsoft.com/office/powerpoint/2010/main" val="23857258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25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325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3253">
                                            <p:txEl>
                                              <p:pRg st="13" end="1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325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3253">
                                            <p:txEl>
                                              <p:pRg st="12" end="1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325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325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3253">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3253">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325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mod="1"/>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Copyright © 2012 Addison-Wesley. All rights reserved.</a:t>
            </a:r>
          </a:p>
        </p:txBody>
      </p:sp>
      <p:sp>
        <p:nvSpPr>
          <p:cNvPr id="5529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E03D2724-4FD4-4265-9C08-97F15726E3FC}" type="slidenum">
              <a:rPr lang="en-US" altLang="en-US" sz="1000" smtClean="0">
                <a:solidFill>
                  <a:schemeClr val="tx1"/>
                </a:solidFill>
                <a:latin typeface="Arial" panose="020B0604020202020204" pitchFamily="34" charset="0"/>
              </a:rPr>
              <a:pPr>
                <a:spcBef>
                  <a:spcPct val="0"/>
                </a:spcBef>
                <a:buFontTx/>
                <a:buNone/>
              </a:pPr>
              <a:t>14</a:t>
            </a:fld>
            <a:endParaRPr lang="en-US" altLang="en-US" sz="1000" smtClean="0">
              <a:solidFill>
                <a:schemeClr val="tx1"/>
              </a:solidFill>
              <a:latin typeface="Arial" panose="020B0604020202020204" pitchFamily="34" charset="0"/>
            </a:endParaRPr>
          </a:p>
        </p:txBody>
      </p:sp>
      <p:sp>
        <p:nvSpPr>
          <p:cNvPr id="55300" name="Rectangle 2"/>
          <p:cNvSpPr>
            <a:spLocks noGrp="1" noChangeArrowheads="1"/>
          </p:cNvSpPr>
          <p:nvPr>
            <p:ph type="title"/>
          </p:nvPr>
        </p:nvSpPr>
        <p:spPr/>
        <p:txBody>
          <a:bodyPr/>
          <a:lstStyle/>
          <a:p>
            <a:pPr eaLnBrk="1" hangingPunct="1"/>
            <a:r>
              <a:rPr lang="en-US" altLang="en-US" sz="3200" smtClean="0"/>
              <a:t>Example Scheme Function: </a:t>
            </a:r>
            <a:r>
              <a:rPr lang="en-US" altLang="en-US" sz="3200" smtClean="0">
                <a:latin typeface="Courier New" panose="02070309020205020404" pitchFamily="49" charset="0"/>
              </a:rPr>
              <a:t>equal</a:t>
            </a:r>
          </a:p>
        </p:txBody>
      </p:sp>
      <p:sp>
        <p:nvSpPr>
          <p:cNvPr id="55301" name="Rectangle 3"/>
          <p:cNvSpPr>
            <a:spLocks noGrp="1" noChangeArrowheads="1"/>
          </p:cNvSpPr>
          <p:nvPr>
            <p:ph type="body" idx="1"/>
          </p:nvPr>
        </p:nvSpPr>
        <p:spPr>
          <a:xfrm>
            <a:off x="630620" y="1374938"/>
            <a:ext cx="8153400" cy="5330662"/>
          </a:xfrm>
        </p:spPr>
        <p:txBody>
          <a:bodyPr/>
          <a:lstStyle/>
          <a:p>
            <a:pPr eaLnBrk="1" hangingPunct="1">
              <a:lnSpc>
                <a:spcPct val="90000"/>
              </a:lnSpc>
            </a:pPr>
            <a:r>
              <a:rPr lang="en-US" altLang="en-US" sz="2400" dirty="0" smtClean="0"/>
              <a:t>The </a:t>
            </a:r>
            <a:r>
              <a:rPr lang="en-US" altLang="en-US" sz="2400" dirty="0" smtClean="0">
                <a:latin typeface="Courier New" panose="02070309020205020404" pitchFamily="49" charset="0"/>
              </a:rPr>
              <a:t>equal</a:t>
            </a:r>
            <a:r>
              <a:rPr lang="en-US" altLang="en-US" sz="2400" dirty="0" smtClean="0"/>
              <a:t> function</a:t>
            </a:r>
          </a:p>
          <a:p>
            <a:pPr lvl="1" eaLnBrk="1" hangingPunct="1"/>
            <a:r>
              <a:rPr lang="en-US" altLang="en-US" sz="2000" dirty="0" smtClean="0"/>
              <a:t>Applied to two </a:t>
            </a:r>
            <a:r>
              <a:rPr lang="en-US" altLang="en-US" sz="2000" u="sng" dirty="0" smtClean="0"/>
              <a:t>general</a:t>
            </a:r>
            <a:r>
              <a:rPr lang="en-US" altLang="en-US" sz="2000" dirty="0" smtClean="0"/>
              <a:t> lists (</a:t>
            </a:r>
            <a:r>
              <a:rPr lang="en-US" altLang="en-US" sz="2000" dirty="0" smtClean="0">
                <a:latin typeface="Courier New" panose="02070309020205020404" pitchFamily="49" charset="0"/>
              </a:rPr>
              <a:t>lis1</a:t>
            </a:r>
            <a:r>
              <a:rPr lang="en-US" altLang="en-US" sz="2000" dirty="0" smtClean="0"/>
              <a:t> and </a:t>
            </a:r>
            <a:r>
              <a:rPr lang="en-US" altLang="en-US" sz="2000" dirty="0" smtClean="0">
                <a:latin typeface="Courier New" panose="02070309020205020404" pitchFamily="49" charset="0"/>
              </a:rPr>
              <a:t>lis2</a:t>
            </a:r>
            <a:r>
              <a:rPr lang="en-US" altLang="en-US" sz="2000" dirty="0" smtClean="0"/>
              <a:t>)</a:t>
            </a:r>
          </a:p>
          <a:p>
            <a:pPr lvl="1" eaLnBrk="1" hangingPunct="1"/>
            <a:r>
              <a:rPr lang="en-US" altLang="en-US" sz="2000" dirty="0" smtClean="0"/>
              <a:t>Yields </a:t>
            </a:r>
            <a:r>
              <a:rPr lang="en-US" altLang="en-US" sz="2000" dirty="0" smtClean="0">
                <a:latin typeface="Courier New" panose="02070309020205020404" pitchFamily="49" charset="0"/>
              </a:rPr>
              <a:t>#t</a:t>
            </a:r>
            <a:r>
              <a:rPr lang="en-US" altLang="en-US" sz="2000" dirty="0" smtClean="0"/>
              <a:t> if the two lists are equal, </a:t>
            </a:r>
            <a:r>
              <a:rPr lang="en-US" altLang="en-US" sz="2000" dirty="0" smtClean="0">
                <a:latin typeface="Courier New" panose="02070309020205020404" pitchFamily="49" charset="0"/>
              </a:rPr>
              <a:t>#f</a:t>
            </a:r>
            <a:r>
              <a:rPr lang="en-US" altLang="en-US" sz="2000" dirty="0" smtClean="0"/>
              <a:t> otherwise</a:t>
            </a:r>
          </a:p>
          <a:p>
            <a:pPr lvl="1" eaLnBrk="1" hangingPunct="1"/>
            <a:r>
              <a:rPr lang="en-US" altLang="en-US" sz="2000" dirty="0" smtClean="0"/>
              <a:t>Strategy: Same as </a:t>
            </a:r>
            <a:r>
              <a:rPr lang="en-US" altLang="en-US" sz="2000" dirty="0" err="1" smtClean="0">
                <a:latin typeface="Courier New" panose="02070309020205020404" pitchFamily="49" charset="0"/>
                <a:cs typeface="Courier New" panose="02070309020205020404" pitchFamily="49" charset="0"/>
              </a:rPr>
              <a:t>equalsimp</a:t>
            </a:r>
            <a:r>
              <a:rPr lang="en-US" altLang="en-US" sz="2000" dirty="0" smtClean="0"/>
              <a:t>, but adapted to compare atoms and lists; Use </a:t>
            </a:r>
            <a:r>
              <a:rPr lang="en-US" altLang="en-US" sz="2000" dirty="0" smtClean="0">
                <a:latin typeface="Courier New" panose="02070309020205020404" pitchFamily="49" charset="0"/>
                <a:cs typeface="Courier New" panose="02070309020205020404" pitchFamily="49" charset="0"/>
              </a:rPr>
              <a:t>equal</a:t>
            </a:r>
            <a:r>
              <a:rPr lang="en-US" altLang="en-US" sz="2000" dirty="0" smtClean="0"/>
              <a:t> to compare list element pairs</a:t>
            </a:r>
            <a:endParaRPr lang="en-US" altLang="en-US" sz="1800" dirty="0" smtClean="0"/>
          </a:p>
          <a:p>
            <a:pPr eaLnBrk="1" hangingPunct="1">
              <a:lnSpc>
                <a:spcPct val="90000"/>
              </a:lnSpc>
              <a:buFontTx/>
              <a:buNone/>
            </a:pPr>
            <a:endParaRPr lang="en-US" altLang="en-US" sz="700" dirty="0" smtClean="0">
              <a:latin typeface="Courier New" panose="02070309020205020404" pitchFamily="49" charset="0"/>
            </a:endParaRPr>
          </a:p>
          <a:p>
            <a:pPr eaLnBrk="1" hangingPunct="1">
              <a:lnSpc>
                <a:spcPct val="90000"/>
              </a:lnSpc>
              <a:buFontTx/>
              <a:buNone/>
            </a:pPr>
            <a:r>
              <a:rPr lang="en-US" altLang="en-US" sz="1700" dirty="0" smtClean="0">
                <a:latin typeface="Courier New" panose="02070309020205020404" pitchFamily="49" charset="0"/>
              </a:rPr>
              <a:t>		(define (equal lis1 lis2)</a:t>
            </a:r>
          </a:p>
          <a:p>
            <a:pPr eaLnBrk="1" hangingPunct="1">
              <a:lnSpc>
                <a:spcPct val="90000"/>
              </a:lnSpc>
              <a:buFontTx/>
              <a:buNone/>
            </a:pPr>
            <a:r>
              <a:rPr lang="en-US" altLang="en-US" sz="1700" dirty="0" smtClean="0">
                <a:latin typeface="Courier New" panose="02070309020205020404" pitchFamily="49" charset="0"/>
              </a:rPr>
              <a:t>	  	   (</a:t>
            </a:r>
            <a:r>
              <a:rPr lang="en-US" altLang="en-US" sz="1700" dirty="0" err="1" smtClean="0">
                <a:latin typeface="Courier New" panose="02070309020205020404" pitchFamily="49" charset="0"/>
              </a:rPr>
              <a:t>cond</a:t>
            </a:r>
            <a:endParaRPr lang="en-US" altLang="en-US" sz="1700" dirty="0" smtClean="0">
              <a:latin typeface="Courier New" panose="02070309020205020404" pitchFamily="49" charset="0"/>
            </a:endParaRPr>
          </a:p>
          <a:p>
            <a:pPr eaLnBrk="1" hangingPunct="1">
              <a:lnSpc>
                <a:spcPct val="90000"/>
              </a:lnSpc>
              <a:buFontTx/>
              <a:buNone/>
            </a:pPr>
            <a:r>
              <a:rPr lang="en-US" altLang="en-US" sz="1700" dirty="0" smtClean="0">
                <a:latin typeface="Courier New" panose="02070309020205020404" pitchFamily="49" charset="0"/>
              </a:rPr>
              <a:t>		      ((not (list? lis1))(</a:t>
            </a:r>
            <a:r>
              <a:rPr lang="en-US" altLang="en-US" sz="1700" dirty="0" err="1" smtClean="0">
                <a:latin typeface="Courier New" panose="02070309020205020404" pitchFamily="49" charset="0"/>
              </a:rPr>
              <a:t>eqv</a:t>
            </a:r>
            <a:r>
              <a:rPr lang="en-US" altLang="en-US" sz="1700" dirty="0" smtClean="0">
                <a:latin typeface="Courier New" panose="02070309020205020404" pitchFamily="49" charset="0"/>
              </a:rPr>
              <a:t>? lis1 lis2))</a:t>
            </a:r>
          </a:p>
          <a:p>
            <a:pPr eaLnBrk="1" hangingPunct="1">
              <a:lnSpc>
                <a:spcPct val="90000"/>
              </a:lnSpc>
              <a:buFontTx/>
              <a:buNone/>
            </a:pPr>
            <a:r>
              <a:rPr lang="en-US" altLang="en-US" sz="1700" dirty="0" smtClean="0">
                <a:latin typeface="Courier New" panose="02070309020205020404" pitchFamily="49" charset="0"/>
              </a:rPr>
              <a:t>		      ((not (list? lis2)) #f)</a:t>
            </a:r>
          </a:p>
          <a:p>
            <a:pPr eaLnBrk="1" hangingPunct="1">
              <a:lnSpc>
                <a:spcPct val="90000"/>
              </a:lnSpc>
              <a:buFontTx/>
              <a:buNone/>
            </a:pPr>
            <a:r>
              <a:rPr lang="en-US" altLang="en-US" sz="1700" dirty="0" smtClean="0">
                <a:latin typeface="Courier New" panose="02070309020205020404" pitchFamily="49" charset="0"/>
              </a:rPr>
              <a:t>		      ((null? lis1) (null? lis2))</a:t>
            </a:r>
          </a:p>
          <a:p>
            <a:pPr eaLnBrk="1" hangingPunct="1">
              <a:lnSpc>
                <a:spcPct val="90000"/>
              </a:lnSpc>
              <a:buFontTx/>
              <a:buNone/>
            </a:pPr>
            <a:r>
              <a:rPr lang="en-US" altLang="en-US" sz="1700" dirty="0" smtClean="0">
                <a:latin typeface="Courier New" panose="02070309020205020404" pitchFamily="49" charset="0"/>
              </a:rPr>
              <a:t>		      ((null? lis2) #f)</a:t>
            </a:r>
          </a:p>
          <a:p>
            <a:pPr eaLnBrk="1" hangingPunct="1">
              <a:lnSpc>
                <a:spcPct val="90000"/>
              </a:lnSpc>
              <a:buFontTx/>
              <a:buNone/>
            </a:pPr>
            <a:r>
              <a:rPr lang="en-US" altLang="en-US" sz="1700" dirty="0" smtClean="0">
                <a:latin typeface="Courier New" panose="02070309020205020404" pitchFamily="49" charset="0"/>
              </a:rPr>
              <a:t>		      ((equal (car lis1) (car lis2))</a:t>
            </a:r>
          </a:p>
          <a:p>
            <a:pPr eaLnBrk="1" hangingPunct="1">
              <a:lnSpc>
                <a:spcPct val="90000"/>
              </a:lnSpc>
              <a:buFontTx/>
              <a:buNone/>
            </a:pPr>
            <a:r>
              <a:rPr lang="en-US" altLang="en-US" sz="1700" dirty="0" smtClean="0">
                <a:latin typeface="Courier New" panose="02070309020205020404" pitchFamily="49" charset="0"/>
              </a:rPr>
              <a:t>			   (equal (</a:t>
            </a:r>
            <a:r>
              <a:rPr lang="en-US" altLang="en-US" sz="1700" dirty="0" err="1" smtClean="0">
                <a:latin typeface="Courier New" panose="02070309020205020404" pitchFamily="49" charset="0"/>
              </a:rPr>
              <a:t>cdr</a:t>
            </a:r>
            <a:r>
              <a:rPr lang="en-US" altLang="en-US" sz="1700" dirty="0" smtClean="0">
                <a:latin typeface="Courier New" panose="02070309020205020404" pitchFamily="49" charset="0"/>
              </a:rPr>
              <a:t> lis1) (</a:t>
            </a:r>
            <a:r>
              <a:rPr lang="en-US" altLang="en-US" sz="1700" dirty="0" err="1" smtClean="0">
                <a:latin typeface="Courier New" panose="02070309020205020404" pitchFamily="49" charset="0"/>
              </a:rPr>
              <a:t>cdr</a:t>
            </a:r>
            <a:r>
              <a:rPr lang="en-US" altLang="en-US" sz="1700" dirty="0" smtClean="0">
                <a:latin typeface="Courier New" panose="02070309020205020404" pitchFamily="49" charset="0"/>
              </a:rPr>
              <a:t> lis2)))</a:t>
            </a:r>
          </a:p>
          <a:p>
            <a:pPr eaLnBrk="1" hangingPunct="1">
              <a:lnSpc>
                <a:spcPct val="90000"/>
              </a:lnSpc>
              <a:buFontTx/>
              <a:buNone/>
            </a:pPr>
            <a:r>
              <a:rPr lang="en-US" altLang="en-US" sz="1700" dirty="0" smtClean="0">
                <a:latin typeface="Courier New" panose="02070309020205020404" pitchFamily="49" charset="0"/>
              </a:rPr>
              <a:t>		      (else #f)</a:t>
            </a:r>
          </a:p>
          <a:p>
            <a:pPr eaLnBrk="1" hangingPunct="1">
              <a:lnSpc>
                <a:spcPct val="90000"/>
              </a:lnSpc>
              <a:buFontTx/>
              <a:buNone/>
            </a:pPr>
            <a:r>
              <a:rPr lang="en-US" altLang="en-US" sz="1700" dirty="0" smtClean="0">
                <a:latin typeface="Courier New" panose="02070309020205020404" pitchFamily="49" charset="0"/>
              </a:rPr>
              <a:t>		   )</a:t>
            </a:r>
          </a:p>
          <a:p>
            <a:pPr eaLnBrk="1" hangingPunct="1">
              <a:lnSpc>
                <a:spcPct val="90000"/>
              </a:lnSpc>
              <a:buFontTx/>
              <a:buNone/>
            </a:pPr>
            <a:r>
              <a:rPr lang="en-US" altLang="en-US" sz="1700" dirty="0" smtClean="0">
                <a:latin typeface="Courier New" panose="02070309020205020404" pitchFamily="49" charset="0"/>
              </a:rPr>
              <a:t>		)</a:t>
            </a:r>
          </a:p>
        </p:txBody>
      </p:sp>
    </p:spTree>
    <p:extLst>
      <p:ext uri="{BB962C8B-B14F-4D97-AF65-F5344CB8AC3E}">
        <p14:creationId xmlns:p14="http://schemas.microsoft.com/office/powerpoint/2010/main" val="5718059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301">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301">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5301">
                                            <p:txEl>
                                              <p:pRg st="15" end="1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5301">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5301">
                                            <p:txEl>
                                              <p:pRg st="14" end="1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5301">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5301">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5301">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5301">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5301">
                                            <p:txEl>
                                              <p:pRg st="13" end="1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5301">
                                            <p:txEl>
                                              <p:pRg st="11" end="11"/>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5301">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mod="1"/>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3"/>
          <p:cNvSpPr>
            <a:spLocks noGrp="1"/>
          </p:cNvSpPr>
          <p:nvPr>
            <p:ph type="ftr" sz="quarter" idx="10"/>
          </p:nvPr>
        </p:nvSpPr>
        <p:spPr/>
        <p:txBody>
          <a:bodyPr/>
          <a:lstStyle/>
          <a:p>
            <a:pPr>
              <a:defRPr/>
            </a:pPr>
            <a:r>
              <a:rPr lang="en-US" dirty="0" smtClean="0"/>
              <a:t>Copyright © 2012 Addison-Wesley. All rights reserved.</a:t>
            </a:r>
          </a:p>
        </p:txBody>
      </p:sp>
      <p:sp>
        <p:nvSpPr>
          <p:cNvPr id="5734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9C4848E8-CE91-4C96-80D6-0F1036F7FC5B}" type="slidenum">
              <a:rPr lang="en-US" altLang="en-US" sz="1000" smtClean="0">
                <a:solidFill>
                  <a:schemeClr val="tx1"/>
                </a:solidFill>
                <a:latin typeface="Arial" panose="020B0604020202020204" pitchFamily="34" charset="0"/>
              </a:rPr>
              <a:pPr>
                <a:spcBef>
                  <a:spcPct val="0"/>
                </a:spcBef>
                <a:buFontTx/>
                <a:buNone/>
              </a:pPr>
              <a:t>15</a:t>
            </a:fld>
            <a:endParaRPr lang="en-US" altLang="en-US" sz="1000" smtClean="0">
              <a:solidFill>
                <a:schemeClr val="tx1"/>
              </a:solidFill>
              <a:latin typeface="Arial" panose="020B0604020202020204" pitchFamily="34" charset="0"/>
            </a:endParaRPr>
          </a:p>
        </p:txBody>
      </p:sp>
      <p:sp>
        <p:nvSpPr>
          <p:cNvPr id="57348" name="Rectangle 2"/>
          <p:cNvSpPr>
            <a:spLocks noGrp="1" noChangeArrowheads="1"/>
          </p:cNvSpPr>
          <p:nvPr>
            <p:ph type="title"/>
          </p:nvPr>
        </p:nvSpPr>
        <p:spPr/>
        <p:txBody>
          <a:bodyPr/>
          <a:lstStyle/>
          <a:p>
            <a:pPr eaLnBrk="1" hangingPunct="1"/>
            <a:r>
              <a:rPr lang="en-US" altLang="en-US" sz="3200" dirty="0" smtClean="0"/>
              <a:t>Example Scheme Function: </a:t>
            </a:r>
            <a:r>
              <a:rPr lang="en-US" altLang="en-US" sz="3200" dirty="0" smtClean="0">
                <a:latin typeface="Courier New" panose="02070309020205020404" pitchFamily="49" charset="0"/>
              </a:rPr>
              <a:t>append</a:t>
            </a:r>
          </a:p>
        </p:txBody>
      </p:sp>
      <p:sp>
        <p:nvSpPr>
          <p:cNvPr id="57349" name="Rectangle 3"/>
          <p:cNvSpPr>
            <a:spLocks noGrp="1" noChangeArrowheads="1"/>
          </p:cNvSpPr>
          <p:nvPr>
            <p:ph type="body" idx="1"/>
          </p:nvPr>
        </p:nvSpPr>
        <p:spPr>
          <a:xfrm>
            <a:off x="630620" y="1340070"/>
            <a:ext cx="8284780" cy="4572000"/>
          </a:xfrm>
        </p:spPr>
        <p:txBody>
          <a:bodyPr/>
          <a:lstStyle/>
          <a:p>
            <a:pPr eaLnBrk="1" hangingPunct="1"/>
            <a:r>
              <a:rPr lang="en-US" altLang="en-US" sz="2400" dirty="0" smtClean="0"/>
              <a:t>The </a:t>
            </a:r>
            <a:r>
              <a:rPr lang="en-US" altLang="en-US" sz="2400" dirty="0" smtClean="0">
                <a:latin typeface="Courier New" panose="02070309020205020404" pitchFamily="49" charset="0"/>
              </a:rPr>
              <a:t>append</a:t>
            </a:r>
            <a:r>
              <a:rPr lang="en-US" altLang="en-US" sz="2400" dirty="0" smtClean="0"/>
              <a:t> function</a:t>
            </a:r>
          </a:p>
          <a:p>
            <a:pPr lvl="1" eaLnBrk="1" hangingPunct="1"/>
            <a:r>
              <a:rPr lang="en-US" altLang="en-US" sz="2000" dirty="0" smtClean="0"/>
              <a:t>Applied to two lists (</a:t>
            </a:r>
            <a:r>
              <a:rPr lang="en-US" altLang="en-US" sz="2000" dirty="0" smtClean="0">
                <a:latin typeface="Courier New" panose="02070309020205020404" pitchFamily="49" charset="0"/>
              </a:rPr>
              <a:t>lis1</a:t>
            </a:r>
            <a:r>
              <a:rPr lang="en-US" altLang="en-US" sz="2000" dirty="0" smtClean="0"/>
              <a:t> and </a:t>
            </a:r>
            <a:r>
              <a:rPr lang="en-US" altLang="en-US" sz="2000" dirty="0" smtClean="0">
                <a:latin typeface="Courier New" panose="02070309020205020404" pitchFamily="49" charset="0"/>
              </a:rPr>
              <a:t>lis2</a:t>
            </a:r>
            <a:r>
              <a:rPr lang="en-US" altLang="en-US" sz="2000" dirty="0" smtClean="0"/>
              <a:t>)</a:t>
            </a:r>
          </a:p>
          <a:p>
            <a:pPr lvl="1" eaLnBrk="1" hangingPunct="1"/>
            <a:r>
              <a:rPr lang="en-US" altLang="en-US" sz="2000" dirty="0" smtClean="0"/>
              <a:t>Yields new list containing the elements of </a:t>
            </a:r>
            <a:r>
              <a:rPr lang="en-US" altLang="en-US" sz="2000" dirty="0" smtClean="0">
                <a:latin typeface="Courier New" panose="02070309020205020404" pitchFamily="49" charset="0"/>
              </a:rPr>
              <a:t>lis1</a:t>
            </a:r>
            <a:r>
              <a:rPr lang="en-US" altLang="en-US" sz="2000" dirty="0" smtClean="0"/>
              <a:t> followed by the elements of </a:t>
            </a:r>
            <a:r>
              <a:rPr lang="en-US" altLang="en-US" sz="2000" dirty="0" smtClean="0">
                <a:latin typeface="Courier New" panose="02070309020205020404" pitchFamily="49" charset="0"/>
              </a:rPr>
              <a:t>lis2</a:t>
            </a:r>
            <a:endParaRPr lang="en-US" altLang="en-US" sz="2000" dirty="0" smtClean="0"/>
          </a:p>
          <a:p>
            <a:pPr lvl="1" eaLnBrk="1" hangingPunct="1"/>
            <a:r>
              <a:rPr lang="en-US" altLang="en-US" sz="2000" dirty="0"/>
              <a:t>Why can’t we use the </a:t>
            </a:r>
            <a:r>
              <a:rPr lang="en-US" altLang="en-US" sz="2000" dirty="0">
                <a:latin typeface="Courier New" panose="02070309020205020404" pitchFamily="49" charset="0"/>
                <a:cs typeface="Courier New" panose="02070309020205020404" pitchFamily="49" charset="0"/>
              </a:rPr>
              <a:t>list</a:t>
            </a:r>
            <a:r>
              <a:rPr lang="en-US" altLang="en-US" sz="2000" dirty="0"/>
              <a:t> function to do the appending?</a:t>
            </a:r>
          </a:p>
          <a:p>
            <a:pPr lvl="1" eaLnBrk="1" hangingPunct="1"/>
            <a:r>
              <a:rPr lang="en-US" altLang="en-US" sz="2000" dirty="0"/>
              <a:t>Why can’t we </a:t>
            </a:r>
            <a:r>
              <a:rPr lang="en-US" altLang="en-US" sz="2000" dirty="0">
                <a:latin typeface="Courier New" panose="02070309020205020404" pitchFamily="49" charset="0"/>
                <a:cs typeface="Courier New" panose="02070309020205020404" pitchFamily="49" charset="0"/>
              </a:rPr>
              <a:t>cons</a:t>
            </a:r>
            <a:r>
              <a:rPr lang="en-US" altLang="en-US" sz="2000" dirty="0"/>
              <a:t> elements of </a:t>
            </a:r>
            <a:r>
              <a:rPr lang="en-US" altLang="en-US" sz="2000" dirty="0">
                <a:latin typeface="Courier New" panose="02070309020205020404" pitchFamily="49" charset="0"/>
              </a:rPr>
              <a:t>lis2</a:t>
            </a:r>
            <a:r>
              <a:rPr lang="en-US" altLang="en-US" sz="2000" dirty="0"/>
              <a:t> to </a:t>
            </a:r>
            <a:r>
              <a:rPr lang="en-US" altLang="en-US" sz="2000" dirty="0">
                <a:latin typeface="Courier New" panose="02070309020205020404" pitchFamily="49" charset="0"/>
              </a:rPr>
              <a:t>lis1</a:t>
            </a:r>
            <a:r>
              <a:rPr lang="en-US" altLang="en-US" sz="2000" dirty="0"/>
              <a:t> in order?</a:t>
            </a:r>
          </a:p>
          <a:p>
            <a:pPr lvl="1" eaLnBrk="1" hangingPunct="1"/>
            <a:r>
              <a:rPr lang="en-US" altLang="en-US" sz="2000" dirty="0" smtClean="0"/>
              <a:t>Strategy</a:t>
            </a:r>
            <a:r>
              <a:rPr lang="en-US" altLang="en-US" sz="2000" dirty="0" smtClean="0"/>
              <a:t>: </a:t>
            </a:r>
            <a:r>
              <a:rPr lang="en-US" altLang="en-US" sz="2000" dirty="0" smtClean="0">
                <a:latin typeface="Courier New" panose="02070309020205020404" pitchFamily="49" charset="0"/>
                <a:cs typeface="Courier New" panose="02070309020205020404" pitchFamily="49" charset="0"/>
              </a:rPr>
              <a:t>cons</a:t>
            </a:r>
            <a:r>
              <a:rPr lang="en-US" altLang="en-US" sz="2000" dirty="0"/>
              <a:t> </a:t>
            </a:r>
            <a:r>
              <a:rPr lang="en-US" altLang="en-US" sz="2000" dirty="0" smtClean="0"/>
              <a:t>elements of </a:t>
            </a:r>
            <a:r>
              <a:rPr lang="en-US" altLang="en-US" sz="2000" dirty="0" smtClean="0">
                <a:latin typeface="Courier New" panose="02070309020205020404" pitchFamily="49" charset="0"/>
              </a:rPr>
              <a:t>lis1</a:t>
            </a:r>
            <a:r>
              <a:rPr lang="en-US" altLang="en-US" sz="2000" dirty="0" smtClean="0"/>
              <a:t> to </a:t>
            </a:r>
            <a:r>
              <a:rPr lang="en-US" altLang="en-US" sz="2000" dirty="0" smtClean="0">
                <a:latin typeface="Courier New" panose="02070309020205020404" pitchFamily="49" charset="0"/>
              </a:rPr>
              <a:t>lis2</a:t>
            </a:r>
            <a:r>
              <a:rPr lang="en-US" altLang="en-US" sz="2000" dirty="0" smtClean="0"/>
              <a:t> in reverse order</a:t>
            </a:r>
          </a:p>
          <a:p>
            <a:pPr eaLnBrk="1" hangingPunct="1">
              <a:buFontTx/>
              <a:buNone/>
            </a:pPr>
            <a:endParaRPr lang="en-US" altLang="en-US" sz="800" dirty="0" smtClean="0">
              <a:latin typeface="Courier New" panose="02070309020205020404" pitchFamily="49" charset="0"/>
            </a:endParaRPr>
          </a:p>
          <a:p>
            <a:pPr eaLnBrk="1" hangingPunct="1">
              <a:buFontTx/>
              <a:buNone/>
            </a:pPr>
            <a:r>
              <a:rPr lang="en-US" altLang="en-US" sz="1700" dirty="0" smtClean="0">
                <a:latin typeface="Courier New" panose="02070309020205020404" pitchFamily="49" charset="0"/>
              </a:rPr>
              <a:t>		(define (append lis1 lis2)</a:t>
            </a:r>
          </a:p>
          <a:p>
            <a:pPr eaLnBrk="1" hangingPunct="1">
              <a:buFontTx/>
              <a:buNone/>
            </a:pPr>
            <a:r>
              <a:rPr lang="en-US" altLang="en-US" sz="1700" dirty="0" smtClean="0">
                <a:latin typeface="Courier New" panose="02070309020205020404" pitchFamily="49" charset="0"/>
              </a:rPr>
              <a:t>	  	   (</a:t>
            </a:r>
            <a:r>
              <a:rPr lang="en-US" altLang="en-US" sz="1700" dirty="0" err="1" smtClean="0">
                <a:latin typeface="Courier New" panose="02070309020205020404" pitchFamily="49" charset="0"/>
              </a:rPr>
              <a:t>cond</a:t>
            </a:r>
            <a:endParaRPr lang="en-US" altLang="en-US" sz="1700" dirty="0" smtClean="0">
              <a:latin typeface="Courier New" panose="02070309020205020404" pitchFamily="49" charset="0"/>
            </a:endParaRPr>
          </a:p>
          <a:p>
            <a:pPr eaLnBrk="1" hangingPunct="1">
              <a:buFontTx/>
              <a:buNone/>
            </a:pPr>
            <a:r>
              <a:rPr lang="en-US" altLang="en-US" sz="1700" dirty="0" smtClean="0">
                <a:latin typeface="Courier New" panose="02070309020205020404" pitchFamily="49" charset="0"/>
              </a:rPr>
              <a:t>		      ((null? lis1) lis2)</a:t>
            </a:r>
          </a:p>
          <a:p>
            <a:pPr eaLnBrk="1" hangingPunct="1">
              <a:buFontTx/>
              <a:buNone/>
            </a:pPr>
            <a:r>
              <a:rPr lang="en-US" altLang="en-US" sz="1700" dirty="0" smtClean="0">
                <a:latin typeface="Courier New" panose="02070309020205020404" pitchFamily="49" charset="0"/>
              </a:rPr>
              <a:t>		      (else (cons (car lis1) (append (</a:t>
            </a:r>
            <a:r>
              <a:rPr lang="en-US" altLang="en-US" sz="1700" dirty="0" err="1" smtClean="0">
                <a:latin typeface="Courier New" panose="02070309020205020404" pitchFamily="49" charset="0"/>
              </a:rPr>
              <a:t>cdr</a:t>
            </a:r>
            <a:r>
              <a:rPr lang="en-US" altLang="en-US" sz="1700" dirty="0" smtClean="0">
                <a:latin typeface="Courier New" panose="02070309020205020404" pitchFamily="49" charset="0"/>
              </a:rPr>
              <a:t> lis1) lis2)))</a:t>
            </a:r>
          </a:p>
          <a:p>
            <a:pPr eaLnBrk="1" hangingPunct="1">
              <a:buFontTx/>
              <a:buNone/>
            </a:pPr>
            <a:r>
              <a:rPr lang="en-US" altLang="en-US" sz="1700" dirty="0" smtClean="0">
                <a:latin typeface="Courier New" panose="02070309020205020404" pitchFamily="49" charset="0"/>
              </a:rPr>
              <a:t>		   )</a:t>
            </a:r>
          </a:p>
          <a:p>
            <a:pPr eaLnBrk="1" hangingPunct="1">
              <a:buFontTx/>
              <a:buNone/>
            </a:pPr>
            <a:r>
              <a:rPr lang="en-US" altLang="en-US" sz="1700" dirty="0" smtClean="0">
                <a:latin typeface="Courier New" panose="02070309020205020404" pitchFamily="49" charset="0"/>
              </a:rPr>
              <a:t>		)</a:t>
            </a:r>
          </a:p>
        </p:txBody>
      </p:sp>
      <p:sp>
        <p:nvSpPr>
          <p:cNvPr id="3" name="TextBox 2"/>
          <p:cNvSpPr txBox="1"/>
          <p:nvPr/>
        </p:nvSpPr>
        <p:spPr>
          <a:xfrm>
            <a:off x="2667567" y="5519655"/>
            <a:ext cx="2492990" cy="784830"/>
          </a:xfrm>
          <a:prstGeom prst="rect">
            <a:avLst/>
          </a:prstGeom>
          <a:noFill/>
          <a:ln>
            <a:noFill/>
          </a:ln>
        </p:spPr>
        <p:txBody>
          <a:bodyPr wrap="none" rtlCol="0">
            <a:spAutoFit/>
          </a:bodyPr>
          <a:lstStyle/>
          <a:p>
            <a:r>
              <a:rPr lang="en-US" sz="1500" kern="0" dirty="0" smtClean="0">
                <a:solidFill>
                  <a:srgbClr val="333399"/>
                </a:solidFill>
                <a:latin typeface="Courier New" panose="02070309020205020404" pitchFamily="49" charset="0"/>
                <a:cs typeface="Courier New" panose="02070309020205020404" pitchFamily="49" charset="0"/>
              </a:rPr>
              <a:t>(append </a:t>
            </a:r>
            <a:r>
              <a:rPr lang="en-US" sz="1500" kern="0" dirty="0" smtClean="0">
                <a:solidFill>
                  <a:srgbClr val="333399"/>
                </a:solidFill>
                <a:latin typeface="Courier New" panose="02070309020205020404" pitchFamily="49" charset="0"/>
                <a:cs typeface="Courier New" panose="02070309020205020404" pitchFamily="49" charset="0"/>
              </a:rPr>
              <a:t>(a </a:t>
            </a:r>
            <a:r>
              <a:rPr lang="en-US" sz="1500" kern="0" dirty="0">
                <a:solidFill>
                  <a:srgbClr val="333399"/>
                </a:solidFill>
                <a:latin typeface="Courier New" panose="02070309020205020404" pitchFamily="49" charset="0"/>
                <a:cs typeface="Courier New" panose="02070309020205020404" pitchFamily="49" charset="0"/>
              </a:rPr>
              <a:t>b</a:t>
            </a:r>
            <a:r>
              <a:rPr lang="en-US" sz="1500" kern="0" dirty="0" smtClean="0">
                <a:solidFill>
                  <a:srgbClr val="333399"/>
                </a:solidFill>
                <a:latin typeface="Courier New" panose="02070309020205020404" pitchFamily="49" charset="0"/>
                <a:cs typeface="Courier New" panose="02070309020205020404" pitchFamily="49" charset="0"/>
              </a:rPr>
              <a:t>) (c </a:t>
            </a:r>
            <a:r>
              <a:rPr lang="en-US" sz="1500" kern="0" dirty="0">
                <a:solidFill>
                  <a:srgbClr val="333399"/>
                </a:solidFill>
                <a:latin typeface="Courier New" panose="02070309020205020404" pitchFamily="49" charset="0"/>
                <a:cs typeface="Courier New" panose="02070309020205020404" pitchFamily="49" charset="0"/>
              </a:rPr>
              <a:t>d</a:t>
            </a:r>
            <a:r>
              <a:rPr lang="en-US" sz="1500" kern="0" dirty="0" smtClean="0">
                <a:solidFill>
                  <a:srgbClr val="333399"/>
                </a:solidFill>
                <a:latin typeface="Courier New" panose="02070309020205020404" pitchFamily="49" charset="0"/>
                <a:cs typeface="Courier New" panose="02070309020205020404" pitchFamily="49" charset="0"/>
              </a:rPr>
              <a:t>))</a:t>
            </a:r>
            <a:endParaRPr lang="en-US" sz="1500" kern="0" dirty="0" smtClean="0">
              <a:solidFill>
                <a:srgbClr val="333399"/>
              </a:solidFill>
              <a:latin typeface="Courier New" panose="02070309020205020404" pitchFamily="49" charset="0"/>
              <a:cs typeface="Courier New" panose="02070309020205020404" pitchFamily="49" charset="0"/>
            </a:endParaRPr>
          </a:p>
          <a:p>
            <a:r>
              <a:rPr lang="en-US" sz="1500" kern="0" dirty="0" smtClean="0">
                <a:solidFill>
                  <a:srgbClr val="333399"/>
                </a:solidFill>
                <a:latin typeface="Courier New" panose="02070309020205020404" pitchFamily="49" charset="0"/>
                <a:cs typeface="Courier New" panose="02070309020205020404" pitchFamily="49" charset="0"/>
              </a:rPr>
              <a:t>(append </a:t>
            </a:r>
            <a:r>
              <a:rPr lang="en-US" sz="1500" kern="0" dirty="0" smtClean="0">
                <a:solidFill>
                  <a:srgbClr val="333399"/>
                </a:solidFill>
                <a:latin typeface="Courier New" panose="02070309020205020404" pitchFamily="49" charset="0"/>
                <a:cs typeface="Courier New" panose="02070309020205020404" pitchFamily="49" charset="0"/>
              </a:rPr>
              <a:t>(b) (c </a:t>
            </a:r>
            <a:r>
              <a:rPr lang="en-US" sz="1500" kern="0" dirty="0">
                <a:solidFill>
                  <a:srgbClr val="333399"/>
                </a:solidFill>
                <a:latin typeface="Courier New" panose="02070309020205020404" pitchFamily="49" charset="0"/>
                <a:cs typeface="Courier New" panose="02070309020205020404" pitchFamily="49" charset="0"/>
              </a:rPr>
              <a:t>d</a:t>
            </a:r>
            <a:r>
              <a:rPr lang="en-US" sz="1500" kern="0" dirty="0" smtClean="0">
                <a:solidFill>
                  <a:srgbClr val="333399"/>
                </a:solidFill>
                <a:latin typeface="Courier New" panose="02070309020205020404" pitchFamily="49" charset="0"/>
                <a:cs typeface="Courier New" panose="02070309020205020404" pitchFamily="49" charset="0"/>
              </a:rPr>
              <a:t>))</a:t>
            </a:r>
            <a:endParaRPr lang="en-US" sz="1500" kern="0" dirty="0" smtClean="0">
              <a:solidFill>
                <a:srgbClr val="333399"/>
              </a:solidFill>
              <a:latin typeface="Courier New" panose="02070309020205020404" pitchFamily="49" charset="0"/>
              <a:cs typeface="Courier New" panose="02070309020205020404" pitchFamily="49" charset="0"/>
            </a:endParaRPr>
          </a:p>
          <a:p>
            <a:r>
              <a:rPr lang="en-US" sz="1500" kern="0" dirty="0" smtClean="0">
                <a:solidFill>
                  <a:srgbClr val="333399"/>
                </a:solidFill>
                <a:latin typeface="Courier New" panose="02070309020205020404" pitchFamily="49" charset="0"/>
                <a:cs typeface="Courier New" panose="02070309020205020404" pitchFamily="49" charset="0"/>
              </a:rPr>
              <a:t>(append () </a:t>
            </a:r>
            <a:r>
              <a:rPr lang="en-US" sz="1500" kern="0" dirty="0" smtClean="0">
                <a:solidFill>
                  <a:srgbClr val="333399"/>
                </a:solidFill>
                <a:latin typeface="Courier New" panose="02070309020205020404" pitchFamily="49" charset="0"/>
                <a:cs typeface="Courier New" panose="02070309020205020404" pitchFamily="49" charset="0"/>
              </a:rPr>
              <a:t>(c d))</a:t>
            </a:r>
          </a:p>
        </p:txBody>
      </p:sp>
      <p:sp>
        <p:nvSpPr>
          <p:cNvPr id="7" name="TextBox 6"/>
          <p:cNvSpPr txBox="1"/>
          <p:nvPr/>
        </p:nvSpPr>
        <p:spPr>
          <a:xfrm>
            <a:off x="2667566" y="5519655"/>
            <a:ext cx="6070893" cy="784830"/>
          </a:xfrm>
          <a:prstGeom prst="rect">
            <a:avLst/>
          </a:prstGeom>
          <a:noFill/>
          <a:ln>
            <a:noFill/>
          </a:ln>
        </p:spPr>
        <p:txBody>
          <a:bodyPr wrap="square" rtlCol="0">
            <a:spAutoFit/>
          </a:bodyPr>
          <a:lstStyle/>
          <a:p>
            <a:r>
              <a:rPr lang="en-US" sz="1500" kern="0" dirty="0" smtClean="0">
                <a:solidFill>
                  <a:srgbClr val="333399"/>
                </a:solidFill>
                <a:latin typeface="Courier New" panose="02070309020205020404" pitchFamily="49" charset="0"/>
                <a:cs typeface="Courier New" panose="02070309020205020404" pitchFamily="49" charset="0"/>
              </a:rPr>
              <a:t>(append </a:t>
            </a:r>
            <a:r>
              <a:rPr lang="en-US" sz="1500" kern="0" dirty="0" smtClean="0">
                <a:solidFill>
                  <a:srgbClr val="333399"/>
                </a:solidFill>
                <a:latin typeface="Courier New" panose="02070309020205020404" pitchFamily="49" charset="0"/>
                <a:cs typeface="Courier New" panose="02070309020205020404" pitchFamily="49" charset="0"/>
              </a:rPr>
              <a:t>(a </a:t>
            </a:r>
            <a:r>
              <a:rPr lang="en-US" sz="1500" kern="0" dirty="0">
                <a:solidFill>
                  <a:srgbClr val="333399"/>
                </a:solidFill>
                <a:latin typeface="Courier New" panose="02070309020205020404" pitchFamily="49" charset="0"/>
                <a:cs typeface="Courier New" panose="02070309020205020404" pitchFamily="49" charset="0"/>
              </a:rPr>
              <a:t>b</a:t>
            </a:r>
            <a:r>
              <a:rPr lang="en-US" sz="1500" kern="0" dirty="0" smtClean="0">
                <a:solidFill>
                  <a:srgbClr val="333399"/>
                </a:solidFill>
                <a:latin typeface="Courier New" panose="02070309020205020404" pitchFamily="49" charset="0"/>
                <a:cs typeface="Courier New" panose="02070309020205020404" pitchFamily="49" charset="0"/>
              </a:rPr>
              <a:t>) (c </a:t>
            </a:r>
            <a:r>
              <a:rPr lang="en-US" sz="1500" kern="0" dirty="0">
                <a:solidFill>
                  <a:srgbClr val="333399"/>
                </a:solidFill>
                <a:latin typeface="Courier New" panose="02070309020205020404" pitchFamily="49" charset="0"/>
                <a:cs typeface="Courier New" panose="02070309020205020404" pitchFamily="49" charset="0"/>
              </a:rPr>
              <a:t>d</a:t>
            </a:r>
            <a:r>
              <a:rPr lang="en-US" sz="1500" kern="0" dirty="0" smtClean="0">
                <a:solidFill>
                  <a:srgbClr val="333399"/>
                </a:solidFill>
                <a:latin typeface="Courier New" panose="02070309020205020404" pitchFamily="49" charset="0"/>
                <a:cs typeface="Courier New" panose="02070309020205020404" pitchFamily="49" charset="0"/>
              </a:rPr>
              <a:t>)) </a:t>
            </a:r>
            <a:r>
              <a:rPr lang="en-US" sz="1500" b="1" kern="0" dirty="0">
                <a:solidFill>
                  <a:srgbClr val="333399"/>
                </a:solidFill>
                <a:latin typeface="Courier New" panose="02070309020205020404" pitchFamily="49" charset="0"/>
                <a:cs typeface="Courier New" panose="02070309020205020404" pitchFamily="49" charset="0"/>
              </a:rPr>
              <a:t>→</a:t>
            </a:r>
            <a:r>
              <a:rPr lang="en-US" sz="1500" kern="0" dirty="0">
                <a:solidFill>
                  <a:srgbClr val="333399"/>
                </a:solidFill>
                <a:latin typeface="Courier New" panose="02070309020205020404" pitchFamily="49" charset="0"/>
                <a:cs typeface="Courier New" panose="02070309020205020404" pitchFamily="49" charset="0"/>
              </a:rPr>
              <a:t> </a:t>
            </a:r>
            <a:r>
              <a:rPr lang="en-US" sz="1500" kern="0" dirty="0" smtClean="0">
                <a:solidFill>
                  <a:srgbClr val="333399"/>
                </a:solidFill>
                <a:latin typeface="Courier New" panose="02070309020205020404" pitchFamily="49" charset="0"/>
                <a:cs typeface="Courier New" panose="02070309020205020404" pitchFamily="49" charset="0"/>
              </a:rPr>
              <a:t>(cons a (append (b) (cd)))</a:t>
            </a:r>
            <a:endParaRPr lang="en-US" sz="1500" kern="0" dirty="0" smtClean="0">
              <a:solidFill>
                <a:srgbClr val="333399"/>
              </a:solidFill>
              <a:latin typeface="Courier New" panose="02070309020205020404" pitchFamily="49" charset="0"/>
              <a:cs typeface="Courier New" panose="02070309020205020404" pitchFamily="49" charset="0"/>
            </a:endParaRPr>
          </a:p>
          <a:p>
            <a:r>
              <a:rPr lang="en-US" sz="1500" kern="0" dirty="0" smtClean="0">
                <a:solidFill>
                  <a:srgbClr val="333399"/>
                </a:solidFill>
                <a:latin typeface="Courier New" panose="02070309020205020404" pitchFamily="49" charset="0"/>
                <a:cs typeface="Courier New" panose="02070309020205020404" pitchFamily="49" charset="0"/>
              </a:rPr>
              <a:t>(append </a:t>
            </a:r>
            <a:r>
              <a:rPr lang="en-US" sz="1500" kern="0" dirty="0" smtClean="0">
                <a:solidFill>
                  <a:srgbClr val="333399"/>
                </a:solidFill>
                <a:latin typeface="Courier New" panose="02070309020205020404" pitchFamily="49" charset="0"/>
                <a:cs typeface="Courier New" panose="02070309020205020404" pitchFamily="49" charset="0"/>
              </a:rPr>
              <a:t>(b) (</a:t>
            </a:r>
            <a:r>
              <a:rPr lang="en-US" sz="1500" kern="0" dirty="0">
                <a:solidFill>
                  <a:srgbClr val="333399"/>
                </a:solidFill>
                <a:latin typeface="Courier New" panose="02070309020205020404" pitchFamily="49" charset="0"/>
                <a:cs typeface="Courier New" panose="02070309020205020404" pitchFamily="49" charset="0"/>
              </a:rPr>
              <a:t>c d)) </a:t>
            </a:r>
            <a:r>
              <a:rPr lang="en-US" sz="1500" b="1" kern="0" dirty="0">
                <a:solidFill>
                  <a:srgbClr val="333399"/>
                </a:solidFill>
                <a:latin typeface="Courier New" panose="02070309020205020404" pitchFamily="49" charset="0"/>
                <a:cs typeface="Courier New" panose="02070309020205020404" pitchFamily="49" charset="0"/>
              </a:rPr>
              <a:t>→</a:t>
            </a:r>
            <a:r>
              <a:rPr lang="en-US" sz="1500" kern="0" dirty="0">
                <a:solidFill>
                  <a:srgbClr val="333399"/>
                </a:solidFill>
                <a:latin typeface="Courier New" panose="02070309020205020404" pitchFamily="49" charset="0"/>
                <a:cs typeface="Courier New" panose="02070309020205020404" pitchFamily="49" charset="0"/>
              </a:rPr>
              <a:t> </a:t>
            </a:r>
            <a:r>
              <a:rPr lang="en-US" sz="1500" kern="0" dirty="0" smtClean="0">
                <a:solidFill>
                  <a:srgbClr val="333399"/>
                </a:solidFill>
                <a:latin typeface="Courier New" panose="02070309020205020404" pitchFamily="49" charset="0"/>
                <a:cs typeface="Courier New" panose="02070309020205020404" pitchFamily="49" charset="0"/>
              </a:rPr>
              <a:t>(cons b (append () (c d)))</a:t>
            </a:r>
            <a:endParaRPr lang="en-US" sz="1500" kern="0" dirty="0" smtClean="0">
              <a:solidFill>
                <a:srgbClr val="333399"/>
              </a:solidFill>
              <a:latin typeface="Courier New" panose="02070309020205020404" pitchFamily="49" charset="0"/>
              <a:cs typeface="Courier New" panose="02070309020205020404" pitchFamily="49" charset="0"/>
            </a:endParaRPr>
          </a:p>
          <a:p>
            <a:r>
              <a:rPr lang="en-US" sz="1500" kern="0" dirty="0" smtClean="0">
                <a:solidFill>
                  <a:srgbClr val="333399"/>
                </a:solidFill>
                <a:latin typeface="Courier New" panose="02070309020205020404" pitchFamily="49" charset="0"/>
                <a:cs typeface="Courier New" panose="02070309020205020404" pitchFamily="49" charset="0"/>
              </a:rPr>
              <a:t>(append () </a:t>
            </a:r>
            <a:r>
              <a:rPr lang="en-US" sz="1500" kern="0" dirty="0" smtClean="0">
                <a:solidFill>
                  <a:srgbClr val="333399"/>
                </a:solidFill>
                <a:latin typeface="Courier New" panose="02070309020205020404" pitchFamily="49" charset="0"/>
                <a:cs typeface="Courier New" panose="02070309020205020404" pitchFamily="49" charset="0"/>
              </a:rPr>
              <a:t>(c d)) </a:t>
            </a:r>
            <a:r>
              <a:rPr lang="en-US" sz="1500" b="1" kern="0" dirty="0">
                <a:solidFill>
                  <a:srgbClr val="333399"/>
                </a:solidFill>
                <a:latin typeface="Courier New" panose="02070309020205020404" pitchFamily="49" charset="0"/>
                <a:cs typeface="Courier New" panose="02070309020205020404" pitchFamily="49" charset="0"/>
              </a:rPr>
              <a:t>→</a:t>
            </a:r>
            <a:r>
              <a:rPr lang="en-US" sz="1500" kern="0" dirty="0" smtClean="0">
                <a:solidFill>
                  <a:srgbClr val="333399"/>
                </a:solidFill>
                <a:latin typeface="Courier New" panose="02070309020205020404" pitchFamily="49" charset="0"/>
                <a:cs typeface="Courier New" panose="02070309020205020404" pitchFamily="49" charset="0"/>
              </a:rPr>
              <a:t> </a:t>
            </a:r>
            <a:r>
              <a:rPr lang="en-US" sz="1500" kern="0" dirty="0" smtClean="0">
                <a:solidFill>
                  <a:srgbClr val="333399"/>
                </a:solidFill>
                <a:latin typeface="Courier New" panose="02070309020205020404" pitchFamily="49" charset="0"/>
                <a:cs typeface="Courier New" panose="02070309020205020404" pitchFamily="49" charset="0"/>
              </a:rPr>
              <a:t>(c d)</a:t>
            </a:r>
            <a:endParaRPr lang="en-US" sz="1500" kern="0" dirty="0" smtClean="0">
              <a:solidFill>
                <a:srgbClr val="333399"/>
              </a:solidFill>
              <a:latin typeface="Courier New" panose="02070309020205020404" pitchFamily="49" charset="0"/>
              <a:cs typeface="Courier New" panose="02070309020205020404" pitchFamily="49" charset="0"/>
            </a:endParaRPr>
          </a:p>
        </p:txBody>
      </p:sp>
      <p:sp>
        <p:nvSpPr>
          <p:cNvPr id="8" name="TextBox 7"/>
          <p:cNvSpPr txBox="1"/>
          <p:nvPr/>
        </p:nvSpPr>
        <p:spPr>
          <a:xfrm>
            <a:off x="2667565" y="5519655"/>
            <a:ext cx="6070893" cy="784830"/>
          </a:xfrm>
          <a:prstGeom prst="rect">
            <a:avLst/>
          </a:prstGeom>
          <a:noFill/>
          <a:ln>
            <a:noFill/>
          </a:ln>
        </p:spPr>
        <p:txBody>
          <a:bodyPr wrap="square" rtlCol="0">
            <a:spAutoFit/>
          </a:bodyPr>
          <a:lstStyle/>
          <a:p>
            <a:r>
              <a:rPr lang="en-US" sz="1500" kern="0" dirty="0" smtClean="0">
                <a:solidFill>
                  <a:srgbClr val="333399"/>
                </a:solidFill>
                <a:latin typeface="Courier New" panose="02070309020205020404" pitchFamily="49" charset="0"/>
                <a:cs typeface="Courier New" panose="02070309020205020404" pitchFamily="49" charset="0"/>
              </a:rPr>
              <a:t>(append (a </a:t>
            </a:r>
            <a:r>
              <a:rPr lang="en-US" sz="1500" kern="0" dirty="0" smtClean="0">
                <a:solidFill>
                  <a:srgbClr val="333399"/>
                </a:solidFill>
                <a:latin typeface="Courier New" panose="02070309020205020404" pitchFamily="49" charset="0"/>
                <a:cs typeface="Courier New" panose="02070309020205020404" pitchFamily="49" charset="0"/>
              </a:rPr>
              <a:t>b</a:t>
            </a:r>
            <a:r>
              <a:rPr lang="en-US" sz="1500" kern="0" dirty="0" smtClean="0">
                <a:solidFill>
                  <a:srgbClr val="333399"/>
                </a:solidFill>
                <a:latin typeface="Courier New" panose="02070309020205020404" pitchFamily="49" charset="0"/>
                <a:cs typeface="Courier New" panose="02070309020205020404" pitchFamily="49" charset="0"/>
              </a:rPr>
              <a:t>) (c </a:t>
            </a:r>
            <a:r>
              <a:rPr lang="en-US" sz="1500" kern="0" dirty="0" smtClean="0">
                <a:solidFill>
                  <a:srgbClr val="333399"/>
                </a:solidFill>
                <a:latin typeface="Courier New" panose="02070309020205020404" pitchFamily="49" charset="0"/>
                <a:cs typeface="Courier New" panose="02070309020205020404" pitchFamily="49" charset="0"/>
              </a:rPr>
              <a:t>d)) </a:t>
            </a:r>
            <a:r>
              <a:rPr lang="en-US" sz="1500" b="1" kern="0" dirty="0" smtClean="0">
                <a:solidFill>
                  <a:srgbClr val="333399"/>
                </a:solidFill>
                <a:latin typeface="Courier New" panose="02070309020205020404" pitchFamily="49" charset="0"/>
                <a:cs typeface="Courier New" panose="02070309020205020404" pitchFamily="49" charset="0"/>
              </a:rPr>
              <a:t>→</a:t>
            </a:r>
            <a:r>
              <a:rPr lang="en-US" sz="1500" kern="0" dirty="0" smtClean="0">
                <a:solidFill>
                  <a:srgbClr val="333399"/>
                </a:solidFill>
                <a:latin typeface="Courier New" panose="02070309020205020404" pitchFamily="49" charset="0"/>
                <a:cs typeface="Courier New" panose="02070309020205020404" pitchFamily="49" charset="0"/>
              </a:rPr>
              <a:t> (cons a (b c d))</a:t>
            </a:r>
            <a:endParaRPr lang="en-US" sz="1500" kern="0" dirty="0" smtClean="0">
              <a:solidFill>
                <a:srgbClr val="333399"/>
              </a:solidFill>
              <a:latin typeface="Courier New" panose="02070309020205020404" pitchFamily="49" charset="0"/>
              <a:cs typeface="Courier New" panose="02070309020205020404" pitchFamily="49" charset="0"/>
            </a:endParaRPr>
          </a:p>
          <a:p>
            <a:r>
              <a:rPr lang="en-US" sz="1500" kern="0" dirty="0" smtClean="0">
                <a:solidFill>
                  <a:srgbClr val="333399"/>
                </a:solidFill>
                <a:latin typeface="Courier New" panose="02070309020205020404" pitchFamily="49" charset="0"/>
                <a:cs typeface="Courier New" panose="02070309020205020404" pitchFamily="49" charset="0"/>
              </a:rPr>
              <a:t>(append </a:t>
            </a:r>
            <a:r>
              <a:rPr lang="en-US" sz="1500" kern="0" dirty="0" smtClean="0">
                <a:solidFill>
                  <a:srgbClr val="333399"/>
                </a:solidFill>
                <a:latin typeface="Courier New" panose="02070309020205020404" pitchFamily="49" charset="0"/>
                <a:cs typeface="Courier New" panose="02070309020205020404" pitchFamily="49" charset="0"/>
              </a:rPr>
              <a:t>(b) (</a:t>
            </a:r>
            <a:r>
              <a:rPr lang="en-US" sz="1500" kern="0" dirty="0">
                <a:solidFill>
                  <a:srgbClr val="333399"/>
                </a:solidFill>
                <a:latin typeface="Courier New" panose="02070309020205020404" pitchFamily="49" charset="0"/>
                <a:cs typeface="Courier New" panose="02070309020205020404" pitchFamily="49" charset="0"/>
              </a:rPr>
              <a:t>c d)) </a:t>
            </a:r>
            <a:r>
              <a:rPr lang="en-US" sz="1500" b="1" kern="0" dirty="0">
                <a:solidFill>
                  <a:srgbClr val="333399"/>
                </a:solidFill>
                <a:latin typeface="Courier New" panose="02070309020205020404" pitchFamily="49" charset="0"/>
                <a:cs typeface="Courier New" panose="02070309020205020404" pitchFamily="49" charset="0"/>
              </a:rPr>
              <a:t>→</a:t>
            </a:r>
            <a:r>
              <a:rPr lang="en-US" sz="1500" kern="0" dirty="0">
                <a:solidFill>
                  <a:srgbClr val="333399"/>
                </a:solidFill>
                <a:latin typeface="Courier New" panose="02070309020205020404" pitchFamily="49" charset="0"/>
                <a:cs typeface="Courier New" panose="02070309020205020404" pitchFamily="49" charset="0"/>
              </a:rPr>
              <a:t> </a:t>
            </a:r>
            <a:r>
              <a:rPr lang="en-US" sz="1500" kern="0" dirty="0" smtClean="0">
                <a:solidFill>
                  <a:srgbClr val="333399"/>
                </a:solidFill>
                <a:latin typeface="Courier New" panose="02070309020205020404" pitchFamily="49" charset="0"/>
                <a:cs typeface="Courier New" panose="02070309020205020404" pitchFamily="49" charset="0"/>
              </a:rPr>
              <a:t>(cons b (c d))</a:t>
            </a:r>
            <a:endParaRPr lang="en-US" sz="1500" kern="0" dirty="0" smtClean="0">
              <a:solidFill>
                <a:srgbClr val="333399"/>
              </a:solidFill>
              <a:latin typeface="Courier New" panose="02070309020205020404" pitchFamily="49" charset="0"/>
              <a:cs typeface="Courier New" panose="02070309020205020404" pitchFamily="49" charset="0"/>
            </a:endParaRPr>
          </a:p>
          <a:p>
            <a:endParaRPr lang="en-US" sz="1500" kern="0" dirty="0" smtClean="0">
              <a:solidFill>
                <a:srgbClr val="333399"/>
              </a:solidFill>
              <a:latin typeface="Courier New" panose="02070309020205020404" pitchFamily="49" charset="0"/>
              <a:cs typeface="Courier New" panose="02070309020205020404" pitchFamily="49" charset="0"/>
            </a:endParaRPr>
          </a:p>
        </p:txBody>
      </p:sp>
      <p:sp>
        <p:nvSpPr>
          <p:cNvPr id="9" name="TextBox 8"/>
          <p:cNvSpPr txBox="1"/>
          <p:nvPr/>
        </p:nvSpPr>
        <p:spPr>
          <a:xfrm>
            <a:off x="2667565" y="5519655"/>
            <a:ext cx="6070893" cy="784830"/>
          </a:xfrm>
          <a:prstGeom prst="rect">
            <a:avLst/>
          </a:prstGeom>
          <a:noFill/>
          <a:ln>
            <a:noFill/>
          </a:ln>
        </p:spPr>
        <p:txBody>
          <a:bodyPr wrap="none" rtlCol="0">
            <a:spAutoFit/>
          </a:bodyPr>
          <a:lstStyle/>
          <a:p>
            <a:r>
              <a:rPr lang="en-US" sz="1500" kern="0" dirty="0" smtClean="0">
                <a:solidFill>
                  <a:srgbClr val="333399"/>
                </a:solidFill>
                <a:latin typeface="Courier New" panose="02070309020205020404" pitchFamily="49" charset="0"/>
                <a:cs typeface="Courier New" panose="02070309020205020404" pitchFamily="49" charset="0"/>
              </a:rPr>
              <a:t>(append (a </a:t>
            </a:r>
            <a:r>
              <a:rPr lang="en-US" sz="1500" kern="0" dirty="0" smtClean="0">
                <a:solidFill>
                  <a:srgbClr val="333399"/>
                </a:solidFill>
                <a:latin typeface="Courier New" panose="02070309020205020404" pitchFamily="49" charset="0"/>
                <a:cs typeface="Courier New" panose="02070309020205020404" pitchFamily="49" charset="0"/>
              </a:rPr>
              <a:t>b</a:t>
            </a:r>
            <a:r>
              <a:rPr lang="en-US" sz="1500" kern="0" dirty="0" smtClean="0">
                <a:solidFill>
                  <a:srgbClr val="333399"/>
                </a:solidFill>
                <a:latin typeface="Courier New" panose="02070309020205020404" pitchFamily="49" charset="0"/>
                <a:cs typeface="Courier New" panose="02070309020205020404" pitchFamily="49" charset="0"/>
              </a:rPr>
              <a:t>) (c </a:t>
            </a:r>
            <a:r>
              <a:rPr lang="en-US" sz="1500" kern="0" dirty="0" smtClean="0">
                <a:solidFill>
                  <a:srgbClr val="333399"/>
                </a:solidFill>
                <a:latin typeface="Courier New" panose="02070309020205020404" pitchFamily="49" charset="0"/>
                <a:cs typeface="Courier New" panose="02070309020205020404" pitchFamily="49" charset="0"/>
              </a:rPr>
              <a:t>d)) </a:t>
            </a:r>
            <a:r>
              <a:rPr lang="en-US" sz="1500" b="1" kern="0" dirty="0" smtClean="0">
                <a:solidFill>
                  <a:srgbClr val="333399"/>
                </a:solidFill>
                <a:latin typeface="Courier New" panose="02070309020205020404" pitchFamily="49" charset="0"/>
                <a:cs typeface="Courier New" panose="02070309020205020404" pitchFamily="49" charset="0"/>
              </a:rPr>
              <a:t>→</a:t>
            </a:r>
            <a:r>
              <a:rPr lang="en-US" sz="1500" kern="0" dirty="0" smtClean="0">
                <a:solidFill>
                  <a:srgbClr val="333399"/>
                </a:solidFill>
                <a:latin typeface="Courier New" panose="02070309020205020404" pitchFamily="49" charset="0"/>
                <a:cs typeface="Courier New" panose="02070309020205020404" pitchFamily="49" charset="0"/>
              </a:rPr>
              <a:t> (cons a (b c d))</a:t>
            </a:r>
            <a:r>
              <a:rPr lang="en-US" sz="1500" kern="0" dirty="0">
                <a:solidFill>
                  <a:srgbClr val="333399"/>
                </a:solidFill>
                <a:latin typeface="Courier New" panose="02070309020205020404" pitchFamily="49" charset="0"/>
                <a:cs typeface="Courier New" panose="02070309020205020404" pitchFamily="49" charset="0"/>
              </a:rPr>
              <a:t> </a:t>
            </a:r>
            <a:r>
              <a:rPr lang="en-US" sz="1500" b="1" kern="0" dirty="0">
                <a:solidFill>
                  <a:srgbClr val="333399"/>
                </a:solidFill>
                <a:latin typeface="Courier New" panose="02070309020205020404" pitchFamily="49" charset="0"/>
                <a:cs typeface="Courier New" panose="02070309020205020404" pitchFamily="49" charset="0"/>
              </a:rPr>
              <a:t>→</a:t>
            </a:r>
            <a:r>
              <a:rPr lang="en-US" sz="1500" kern="0" dirty="0">
                <a:solidFill>
                  <a:srgbClr val="333399"/>
                </a:solidFill>
                <a:latin typeface="Courier New" panose="02070309020205020404" pitchFamily="49" charset="0"/>
                <a:cs typeface="Courier New" panose="02070309020205020404" pitchFamily="49" charset="0"/>
              </a:rPr>
              <a:t> </a:t>
            </a:r>
            <a:r>
              <a:rPr lang="en-US" sz="1500" kern="0" dirty="0" smtClean="0">
                <a:solidFill>
                  <a:srgbClr val="333399"/>
                </a:solidFill>
                <a:latin typeface="Courier New" panose="02070309020205020404" pitchFamily="49" charset="0"/>
                <a:cs typeface="Courier New" panose="02070309020205020404" pitchFamily="49" charset="0"/>
              </a:rPr>
              <a:t>(a b c d)</a:t>
            </a:r>
            <a:endParaRPr lang="en-US" sz="1500" kern="0" dirty="0" smtClean="0">
              <a:solidFill>
                <a:srgbClr val="333399"/>
              </a:solidFill>
              <a:latin typeface="Courier New" panose="02070309020205020404" pitchFamily="49" charset="0"/>
              <a:cs typeface="Courier New" panose="02070309020205020404" pitchFamily="49" charset="0"/>
            </a:endParaRPr>
          </a:p>
          <a:p>
            <a:r>
              <a:rPr lang="en-US" sz="1500" kern="0" dirty="0" smtClean="0">
                <a:solidFill>
                  <a:srgbClr val="333399"/>
                </a:solidFill>
                <a:latin typeface="Courier New" panose="02070309020205020404" pitchFamily="49" charset="0"/>
                <a:cs typeface="Courier New" panose="02070309020205020404" pitchFamily="49" charset="0"/>
              </a:rPr>
              <a:t>(append </a:t>
            </a:r>
            <a:r>
              <a:rPr lang="en-US" sz="1500" kern="0" dirty="0" smtClean="0">
                <a:solidFill>
                  <a:srgbClr val="333399"/>
                </a:solidFill>
                <a:latin typeface="Courier New" panose="02070309020205020404" pitchFamily="49" charset="0"/>
                <a:cs typeface="Courier New" panose="02070309020205020404" pitchFamily="49" charset="0"/>
              </a:rPr>
              <a:t>(b) (</a:t>
            </a:r>
            <a:r>
              <a:rPr lang="en-US" sz="1500" kern="0" dirty="0">
                <a:solidFill>
                  <a:srgbClr val="333399"/>
                </a:solidFill>
                <a:latin typeface="Courier New" panose="02070309020205020404" pitchFamily="49" charset="0"/>
                <a:cs typeface="Courier New" panose="02070309020205020404" pitchFamily="49" charset="0"/>
              </a:rPr>
              <a:t>c d)) </a:t>
            </a:r>
            <a:r>
              <a:rPr lang="en-US" sz="1500" b="1" kern="0" dirty="0">
                <a:solidFill>
                  <a:srgbClr val="333399"/>
                </a:solidFill>
                <a:latin typeface="Courier New" panose="02070309020205020404" pitchFamily="49" charset="0"/>
                <a:cs typeface="Courier New" panose="02070309020205020404" pitchFamily="49" charset="0"/>
              </a:rPr>
              <a:t>→</a:t>
            </a:r>
            <a:r>
              <a:rPr lang="en-US" sz="1500" kern="0" dirty="0">
                <a:solidFill>
                  <a:srgbClr val="333399"/>
                </a:solidFill>
                <a:latin typeface="Courier New" panose="02070309020205020404" pitchFamily="49" charset="0"/>
                <a:cs typeface="Courier New" panose="02070309020205020404" pitchFamily="49" charset="0"/>
              </a:rPr>
              <a:t> </a:t>
            </a:r>
            <a:r>
              <a:rPr lang="en-US" sz="1500" kern="0" dirty="0" smtClean="0">
                <a:solidFill>
                  <a:srgbClr val="333399"/>
                </a:solidFill>
                <a:latin typeface="Courier New" panose="02070309020205020404" pitchFamily="49" charset="0"/>
                <a:cs typeface="Courier New" panose="02070309020205020404" pitchFamily="49" charset="0"/>
              </a:rPr>
              <a:t>(cons b (c d))</a:t>
            </a:r>
            <a:r>
              <a:rPr lang="en-US" sz="1500" kern="0" dirty="0">
                <a:solidFill>
                  <a:srgbClr val="333399"/>
                </a:solidFill>
                <a:latin typeface="Courier New" panose="02070309020205020404" pitchFamily="49" charset="0"/>
                <a:cs typeface="Courier New" panose="02070309020205020404" pitchFamily="49" charset="0"/>
              </a:rPr>
              <a:t> </a:t>
            </a:r>
            <a:r>
              <a:rPr lang="en-US" sz="1500" b="1" kern="0" dirty="0">
                <a:solidFill>
                  <a:srgbClr val="333399"/>
                </a:solidFill>
                <a:latin typeface="Courier New" panose="02070309020205020404" pitchFamily="49" charset="0"/>
                <a:cs typeface="Courier New" panose="02070309020205020404" pitchFamily="49" charset="0"/>
              </a:rPr>
              <a:t>→</a:t>
            </a:r>
            <a:r>
              <a:rPr lang="en-US" sz="1500" kern="0" dirty="0">
                <a:solidFill>
                  <a:srgbClr val="333399"/>
                </a:solidFill>
                <a:latin typeface="Courier New" panose="02070309020205020404" pitchFamily="49" charset="0"/>
                <a:cs typeface="Courier New" panose="02070309020205020404" pitchFamily="49" charset="0"/>
              </a:rPr>
              <a:t> </a:t>
            </a:r>
            <a:r>
              <a:rPr lang="en-US" sz="1500" kern="0" dirty="0" smtClean="0">
                <a:solidFill>
                  <a:srgbClr val="333399"/>
                </a:solidFill>
                <a:latin typeface="Courier New" panose="02070309020205020404" pitchFamily="49" charset="0"/>
                <a:cs typeface="Courier New" panose="02070309020205020404" pitchFamily="49" charset="0"/>
              </a:rPr>
              <a:t>(b c d)</a:t>
            </a:r>
            <a:endParaRPr lang="en-US" sz="1500" kern="0" dirty="0" smtClean="0">
              <a:solidFill>
                <a:srgbClr val="333399"/>
              </a:solidFill>
              <a:latin typeface="Courier New" panose="02070309020205020404" pitchFamily="49" charset="0"/>
              <a:cs typeface="Courier New" panose="02070309020205020404" pitchFamily="49" charset="0"/>
            </a:endParaRPr>
          </a:p>
          <a:p>
            <a:endParaRPr lang="en-US" sz="1500" kern="0" dirty="0" smtClean="0">
              <a:solidFill>
                <a:srgbClr val="333399"/>
              </a:solidFill>
              <a:latin typeface="Courier New" panose="02070309020205020404" pitchFamily="49" charset="0"/>
              <a:cs typeface="Courier New" panose="02070309020205020404" pitchFamily="49" charset="0"/>
            </a:endParaRPr>
          </a:p>
        </p:txBody>
      </p:sp>
      <p:sp>
        <p:nvSpPr>
          <p:cNvPr id="12" name="TextBox 11"/>
          <p:cNvSpPr txBox="1"/>
          <p:nvPr/>
        </p:nvSpPr>
        <p:spPr>
          <a:xfrm>
            <a:off x="2667567" y="5520771"/>
            <a:ext cx="6070893" cy="784830"/>
          </a:xfrm>
          <a:prstGeom prst="rect">
            <a:avLst/>
          </a:prstGeom>
          <a:noFill/>
          <a:ln>
            <a:solidFill>
              <a:srgbClr val="333399"/>
            </a:solidFill>
          </a:ln>
        </p:spPr>
        <p:txBody>
          <a:bodyPr wrap="square" rtlCol="0">
            <a:spAutoFit/>
          </a:bodyPr>
          <a:lstStyle/>
          <a:p>
            <a:endParaRPr lang="en-US" sz="1500" kern="0" dirty="0" smtClean="0">
              <a:solidFill>
                <a:srgbClr val="333399"/>
              </a:solidFill>
              <a:latin typeface="Courier New" panose="02070309020205020404" pitchFamily="49" charset="0"/>
              <a:cs typeface="Courier New" panose="02070309020205020404" pitchFamily="49" charset="0"/>
            </a:endParaRPr>
          </a:p>
          <a:p>
            <a:endParaRPr lang="en-US" sz="1500" kern="0" dirty="0" smtClean="0">
              <a:solidFill>
                <a:srgbClr val="333399"/>
              </a:solidFill>
              <a:latin typeface="Courier New" panose="02070309020205020404" pitchFamily="49" charset="0"/>
              <a:cs typeface="Courier New" panose="02070309020205020404" pitchFamily="49" charset="0"/>
            </a:endParaRPr>
          </a:p>
          <a:p>
            <a:endParaRPr lang="en-US" sz="1500" kern="0" dirty="0" smtClean="0">
              <a:solidFill>
                <a:srgbClr val="333399"/>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9432348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349">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349">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7349">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7349">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7349">
                                            <p:txEl>
                                              <p:pRg st="12" end="1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7349">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7349">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7349">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7349">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grpId="1" nodeType="clickEffect">
                                  <p:stCondLst>
                                    <p:cond delay="0"/>
                                  </p:stCondLst>
                                  <p:childTnLst>
                                    <p:set>
                                      <p:cBhvr>
                                        <p:cTn id="44" dur="1" fill="hold">
                                          <p:stCondLst>
                                            <p:cond delay="0"/>
                                          </p:stCondLst>
                                        </p:cTn>
                                        <p:tgtEl>
                                          <p:spTgt spid="3">
                                            <p:txEl>
                                              <p:pRg st="0" end="0"/>
                                            </p:txEl>
                                          </p:spTgt>
                                        </p:tgtEl>
                                        <p:attrNameLst>
                                          <p:attrName>style.visibility</p:attrName>
                                        </p:attrNameLst>
                                      </p:cBhvr>
                                      <p:to>
                                        <p:strVal val="hidden"/>
                                      </p:to>
                                    </p:set>
                                  </p:childTnLst>
                                </p:cTn>
                              </p:par>
                              <p:par>
                                <p:cTn id="45" presetID="1" presetClass="entr" presetSubtype="0" fill="hold" nodeType="withEffect">
                                  <p:stCondLst>
                                    <p:cond delay="0"/>
                                  </p:stCondLst>
                                  <p:childTnLst>
                                    <p:set>
                                      <p:cBhvr>
                                        <p:cTn id="4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nodeType="clickEffect">
                                  <p:stCondLst>
                                    <p:cond delay="0"/>
                                  </p:stCondLst>
                                  <p:childTnLst>
                                    <p:set>
                                      <p:cBhvr>
                                        <p:cTn id="54" dur="1" fill="hold">
                                          <p:stCondLst>
                                            <p:cond delay="0"/>
                                          </p:stCondLst>
                                        </p:cTn>
                                        <p:tgtEl>
                                          <p:spTgt spid="3">
                                            <p:txEl>
                                              <p:pRg st="1" end="1"/>
                                            </p:txEl>
                                          </p:spTgt>
                                        </p:tgtEl>
                                        <p:attrNameLst>
                                          <p:attrName>style.visibility</p:attrName>
                                        </p:attrNameLst>
                                      </p:cBhvr>
                                      <p:to>
                                        <p:strVal val="hidden"/>
                                      </p:to>
                                    </p:set>
                                  </p:childTnLst>
                                </p:cTn>
                              </p:par>
                              <p:par>
                                <p:cTn id="55" presetID="1" presetClass="entr" presetSubtype="0" fill="hold" nodeType="withEffect">
                                  <p:stCondLst>
                                    <p:cond delay="0"/>
                                  </p:stCondLst>
                                  <p:childTnLst>
                                    <p:set>
                                      <p:cBhvr>
                                        <p:cTn id="5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nodeType="clickEffect">
                                  <p:stCondLst>
                                    <p:cond delay="0"/>
                                  </p:stCondLst>
                                  <p:childTnLst>
                                    <p:set>
                                      <p:cBhvr>
                                        <p:cTn id="64" dur="1" fill="hold">
                                          <p:stCondLst>
                                            <p:cond delay="0"/>
                                          </p:stCondLst>
                                        </p:cTn>
                                        <p:tgtEl>
                                          <p:spTgt spid="3">
                                            <p:txEl>
                                              <p:pRg st="2" end="2"/>
                                            </p:txEl>
                                          </p:spTgt>
                                        </p:tgtEl>
                                        <p:attrNameLst>
                                          <p:attrName>style.visibility</p:attrName>
                                        </p:attrNameLst>
                                      </p:cBhvr>
                                      <p:to>
                                        <p:strVal val="hidden"/>
                                      </p:to>
                                    </p:set>
                                  </p:childTnLst>
                                </p:cTn>
                              </p:par>
                              <p:par>
                                <p:cTn id="65" presetID="1" presetClass="entr" presetSubtype="0" fill="hold" nodeType="withEffect">
                                  <p:stCondLst>
                                    <p:cond delay="0"/>
                                  </p:stCondLst>
                                  <p:childTnLst>
                                    <p:set>
                                      <p:cBhvr>
                                        <p:cTn id="6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nodeType="clickEffect">
                                  <p:stCondLst>
                                    <p:cond delay="0"/>
                                  </p:stCondLst>
                                  <p:childTnLst>
                                    <p:set>
                                      <p:cBhvr>
                                        <p:cTn id="70" dur="1" fill="hold">
                                          <p:stCondLst>
                                            <p:cond delay="0"/>
                                          </p:stCondLst>
                                        </p:cTn>
                                        <p:tgtEl>
                                          <p:spTgt spid="7">
                                            <p:txEl>
                                              <p:pRg st="1" end="1"/>
                                            </p:txEl>
                                          </p:spTgt>
                                        </p:tgtEl>
                                        <p:attrNameLst>
                                          <p:attrName>style.visibility</p:attrName>
                                        </p:attrNameLst>
                                      </p:cBhvr>
                                      <p:to>
                                        <p:strVal val="hidden"/>
                                      </p:to>
                                    </p:set>
                                  </p:childTnLst>
                                </p:cTn>
                              </p:par>
                              <p:par>
                                <p:cTn id="71" presetID="1" presetClass="entr" presetSubtype="0" fill="hold" nodeType="withEffect">
                                  <p:stCondLst>
                                    <p:cond delay="0"/>
                                  </p:stCondLst>
                                  <p:childTnLst>
                                    <p:set>
                                      <p:cBhvr>
                                        <p:cTn id="72"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xit" presetSubtype="0" fill="hold" nodeType="clickEffect">
                                  <p:stCondLst>
                                    <p:cond delay="0"/>
                                  </p:stCondLst>
                                  <p:childTnLst>
                                    <p:set>
                                      <p:cBhvr>
                                        <p:cTn id="76" dur="1" fill="hold">
                                          <p:stCondLst>
                                            <p:cond delay="0"/>
                                          </p:stCondLst>
                                        </p:cTn>
                                        <p:tgtEl>
                                          <p:spTgt spid="8">
                                            <p:txEl>
                                              <p:pRg st="1" end="1"/>
                                            </p:txEl>
                                          </p:spTgt>
                                        </p:tgtEl>
                                        <p:attrNameLst>
                                          <p:attrName>style.visibility</p:attrName>
                                        </p:attrNameLst>
                                      </p:cBhvr>
                                      <p:to>
                                        <p:strVal val="hidden"/>
                                      </p:to>
                                    </p:set>
                                  </p:childTnLst>
                                </p:cTn>
                              </p:par>
                              <p:par>
                                <p:cTn id="77" presetID="1" presetClass="entr" presetSubtype="0" fill="hold" nodeType="withEffect">
                                  <p:stCondLst>
                                    <p:cond delay="0"/>
                                  </p:stCondLst>
                                  <p:childTnLst>
                                    <p:set>
                                      <p:cBhvr>
                                        <p:cTn id="78"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xit" presetSubtype="0" fill="hold" nodeType="clickEffect">
                                  <p:stCondLst>
                                    <p:cond delay="0"/>
                                  </p:stCondLst>
                                  <p:childTnLst>
                                    <p:set>
                                      <p:cBhvr>
                                        <p:cTn id="82" dur="1" fill="hold">
                                          <p:stCondLst>
                                            <p:cond delay="0"/>
                                          </p:stCondLst>
                                        </p:cTn>
                                        <p:tgtEl>
                                          <p:spTgt spid="7">
                                            <p:txEl>
                                              <p:pRg st="0" end="0"/>
                                            </p:txEl>
                                          </p:spTgt>
                                        </p:tgtEl>
                                        <p:attrNameLst>
                                          <p:attrName>style.visibility</p:attrName>
                                        </p:attrNameLst>
                                      </p:cBhvr>
                                      <p:to>
                                        <p:strVal val="hidden"/>
                                      </p:to>
                                    </p:set>
                                  </p:childTnLst>
                                </p:cTn>
                              </p:par>
                              <p:par>
                                <p:cTn id="83" presetID="1" presetClass="entr" presetSubtype="0" fill="hold" nodeType="withEffect">
                                  <p:stCondLst>
                                    <p:cond delay="0"/>
                                  </p:stCondLst>
                                  <p:childTnLst>
                                    <p:set>
                                      <p:cBhvr>
                                        <p:cTn id="8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xit" presetSubtype="0" fill="hold" nodeType="clickEffect">
                                  <p:stCondLst>
                                    <p:cond delay="0"/>
                                  </p:stCondLst>
                                  <p:childTnLst>
                                    <p:set>
                                      <p:cBhvr>
                                        <p:cTn id="88" dur="1" fill="hold">
                                          <p:stCondLst>
                                            <p:cond delay="0"/>
                                          </p:stCondLst>
                                        </p:cTn>
                                        <p:tgtEl>
                                          <p:spTgt spid="8">
                                            <p:txEl>
                                              <p:pRg st="0" end="0"/>
                                            </p:txEl>
                                          </p:spTgt>
                                        </p:tgtEl>
                                        <p:attrNameLst>
                                          <p:attrName>style.visibility</p:attrName>
                                        </p:attrNameLst>
                                      </p:cBhvr>
                                      <p:to>
                                        <p:strVal val="hidden"/>
                                      </p:to>
                                    </p:set>
                                  </p:childTnLst>
                                </p:cTn>
                              </p:par>
                              <p:par>
                                <p:cTn id="89" presetID="1" presetClass="entr" presetSubtype="0" fill="hold" nodeType="withEffect">
                                  <p:stCondLst>
                                    <p:cond delay="0"/>
                                  </p:stCondLst>
                                  <p:childTnLst>
                                    <p:set>
                                      <p:cBhvr>
                                        <p:cTn id="9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1" uiExpand="1" build="allAtOnce"/>
      <p:bldP spid="12" grpId="0" animBg="1"/>
    </p:bldLst>
  </p:timing>
  <p:extLst mod="1"/>
</p:sld>
</file>

<file path=ppt/theme/theme1.xml><?xml version="1.0" encoding="utf-8"?>
<a:theme xmlns:a="http://schemas.openxmlformats.org/drawingml/2006/main" name="1_sebesta">
  <a:themeElements>
    <a:clrScheme name="1_sebest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sebesta">
      <a:majorFont>
        <a:latin typeface="Lucida Sans Unicode"/>
        <a:ea typeface="Lucida Sans Unicode"/>
        <a:cs typeface="Lucida Sans Unicode"/>
      </a:majorFont>
      <a:minorFont>
        <a:latin typeface="Lucida Sans Unicode"/>
        <a:ea typeface="Lucida Sans Unicode"/>
        <a:cs typeface="Lucida Sans Unicod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1_sebest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sebesta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sebesta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sebesta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sebesta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sebesta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sebesta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sebesta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sebesta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sebesta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sebesta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sebesta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sebesta2</Template>
  <TotalTime>31732</TotalTime>
  <Words>4542</Words>
  <Application>Microsoft Office PowerPoint</Application>
  <PresentationFormat>On-screen Show (4:3)</PresentationFormat>
  <Paragraphs>341</Paragraphs>
  <Slides>15</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Courier</vt:lpstr>
      <vt:lpstr>Courier New</vt:lpstr>
      <vt:lpstr>Lucida Sans Unicode</vt:lpstr>
      <vt:lpstr>MS Mincho</vt:lpstr>
      <vt:lpstr>Times</vt:lpstr>
      <vt:lpstr>1_sebesta</vt:lpstr>
      <vt:lpstr>Chapter 15 Part 2</vt:lpstr>
      <vt:lpstr>Chapter 15 Topics</vt:lpstr>
      <vt:lpstr>List Functions: quote</vt:lpstr>
      <vt:lpstr>List Functions: list function</vt:lpstr>
      <vt:lpstr>List Functions: car and cdr</vt:lpstr>
      <vt:lpstr>List Functions: cons function</vt:lpstr>
      <vt:lpstr>List Predicates: list? &amp; null?</vt:lpstr>
      <vt:lpstr>Equivalence Predicates: eqv?</vt:lpstr>
      <vt:lpstr>Equivalence Predicates: eq?</vt:lpstr>
      <vt:lpstr>The let Function</vt:lpstr>
      <vt:lpstr>The let Function</vt:lpstr>
      <vt:lpstr>Example Scheme Function: member</vt:lpstr>
      <vt:lpstr>Example Scheme Function: equalsimp</vt:lpstr>
      <vt:lpstr>Example Scheme Function: equal</vt:lpstr>
      <vt:lpstr>Example Scheme Function: append</vt:lpstr>
    </vt:vector>
  </TitlesOfParts>
  <Company>Pearson Education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David Garrett</dc:creator>
  <cp:lastModifiedBy>Willem S. van Heerden</cp:lastModifiedBy>
  <cp:revision>443</cp:revision>
  <dcterms:created xsi:type="dcterms:W3CDTF">2003-08-01T12:29:19Z</dcterms:created>
  <dcterms:modified xsi:type="dcterms:W3CDTF">2026-03-05T21:19:55Z</dcterms:modified>
</cp:coreProperties>
</file>