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12"/>
  </p:notesMasterIdLst>
  <p:sldIdLst>
    <p:sldId id="393" r:id="rId2"/>
    <p:sldId id="257" r:id="rId3"/>
    <p:sldId id="377" r:id="rId4"/>
    <p:sldId id="378" r:id="rId5"/>
    <p:sldId id="379" r:id="rId6"/>
    <p:sldId id="395" r:id="rId7"/>
    <p:sldId id="380" r:id="rId8"/>
    <p:sldId id="381" r:id="rId9"/>
    <p:sldId id="384" r:id="rId10"/>
    <p:sldId id="394" r:id="rId1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E870BC5F-F1FA-4E63-AAF5-2484B49BAB8D}" type="slidenum">
              <a:rPr lang="en-US" altLang="en-US"/>
              <a:pPr>
                <a:defRPr/>
              </a:pPr>
              <a:t>‹#›</a:t>
            </a:fld>
            <a:endParaRPr lang="en-US" altLang="en-US"/>
          </a:p>
        </p:txBody>
      </p:sp>
    </p:spTree>
    <p:extLst>
      <p:ext uri="{BB962C8B-B14F-4D97-AF65-F5344CB8AC3E}">
        <p14:creationId xmlns:p14="http://schemas.microsoft.com/office/powerpoint/2010/main" val="35758863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0095BF5-4AD6-463F-BFFB-74C71C30254D}" type="slidenum">
              <a:rPr lang="en-US" altLang="en-US" sz="1200" smtClean="0"/>
              <a:pPr/>
              <a:t>1</a:t>
            </a:fld>
            <a:endParaRPr lang="en-US" altLang="en-US" sz="1200" smtClean="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396790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20B71E4-D86A-470A-B958-326C1BF58D6C}"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0724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The first example is a standard recursive implementation for computing a factorial. Make sure you understand how it works. The result in this case is built up as follows (I’m using C style notation so that it’s easier to follow):</a:t>
            </a:r>
          </a:p>
          <a:p>
            <a:endParaRPr lang="en-ZA" altLang="en-US" dirty="0" smtClean="0"/>
          </a:p>
          <a:p>
            <a:r>
              <a:rPr lang="en-ZA" altLang="en-US" dirty="0" smtClean="0"/>
              <a:t>fact(3) = 3 * fact(2)</a:t>
            </a:r>
          </a:p>
          <a:p>
            <a:r>
              <a:rPr lang="en-ZA" altLang="en-US" dirty="0" smtClean="0"/>
              <a:t>call fact(2) = 2 * fact(1)</a:t>
            </a:r>
          </a:p>
          <a:p>
            <a:r>
              <a:rPr lang="en-ZA" altLang="en-US" dirty="0" smtClean="0"/>
              <a:t>call fact(1) = 1 * fact(0)</a:t>
            </a:r>
          </a:p>
          <a:p>
            <a:r>
              <a:rPr lang="en-ZA" altLang="en-US" dirty="0" smtClean="0"/>
              <a:t>call fact(0) = 1</a:t>
            </a:r>
          </a:p>
          <a:p>
            <a:endParaRPr lang="en-ZA" altLang="en-US" dirty="0" smtClean="0"/>
          </a:p>
          <a:p>
            <a:r>
              <a:rPr lang="en-ZA" altLang="en-US" dirty="0" smtClean="0"/>
              <a:t>And then unwinding the recursive calls:</a:t>
            </a:r>
          </a:p>
          <a:p>
            <a:endParaRPr lang="en-ZA" altLang="en-US" dirty="0" smtClean="0"/>
          </a:p>
          <a:p>
            <a:r>
              <a:rPr lang="en-ZA" altLang="en-US" dirty="0" smtClean="0"/>
              <a:t>fact(1) = 1 * 1 = 1</a:t>
            </a:r>
          </a:p>
          <a:p>
            <a:r>
              <a:rPr lang="en-ZA" altLang="en-US" dirty="0" smtClean="0"/>
              <a:t>fact(2) = 2 * 1 = 2</a:t>
            </a:r>
          </a:p>
          <a:p>
            <a:r>
              <a:rPr lang="en-ZA" altLang="en-US" dirty="0" smtClean="0"/>
              <a:t>fact(3) = 3 * 2 = 6</a:t>
            </a:r>
          </a:p>
          <a:p>
            <a:endParaRPr lang="en-ZA" altLang="en-US" dirty="0" smtClean="0"/>
          </a:p>
          <a:p>
            <a:r>
              <a:rPr lang="en-ZA" altLang="en-US" dirty="0" smtClean="0"/>
              <a:t>This example is not tail recursive. Why? Because when the recursive case is evaluated, we first have to apply factorial to the result of (- n 1), and then we have to multiply n by the result of the factorial function. So * is the last function evaluated, not factorial. Also, as you can see, the result is computed during the unwinding of the recursive functions.</a:t>
            </a:r>
          </a:p>
          <a:p>
            <a:endParaRPr lang="en-ZA" altLang="en-US" dirty="0" smtClean="0"/>
          </a:p>
          <a:p>
            <a:r>
              <a:rPr lang="en-ZA" altLang="en-US" dirty="0" smtClean="0"/>
              <a:t>In the second example, we instead compute a partial result, and pass it along to the next recursive call. We also need to keep track of how many recursive calls we have left. The result is then simply returned as the recursive functions terminate. In other words:</a:t>
            </a:r>
          </a:p>
          <a:p>
            <a:endParaRPr lang="en-ZA" altLang="en-US" dirty="0" smtClean="0"/>
          </a:p>
          <a:p>
            <a:r>
              <a:rPr lang="en-ZA" altLang="en-US" dirty="0" smtClean="0"/>
              <a:t>factorial(3)</a:t>
            </a:r>
          </a:p>
          <a:p>
            <a:r>
              <a:rPr lang="en-ZA" altLang="en-US" dirty="0" smtClean="0"/>
              <a:t>call </a:t>
            </a:r>
            <a:r>
              <a:rPr lang="en-ZA" altLang="en-US" dirty="0" err="1" smtClean="0"/>
              <a:t>facthelper</a:t>
            </a:r>
            <a:r>
              <a:rPr lang="en-ZA" altLang="en-US" dirty="0" smtClean="0"/>
              <a:t>(3, 1)</a:t>
            </a:r>
          </a:p>
          <a:p>
            <a:r>
              <a:rPr lang="en-ZA" altLang="en-US" dirty="0" smtClean="0"/>
              <a:t>call </a:t>
            </a:r>
            <a:r>
              <a:rPr lang="en-ZA" altLang="en-US" dirty="0" err="1" smtClean="0"/>
              <a:t>facthelper</a:t>
            </a:r>
            <a:r>
              <a:rPr lang="en-ZA" altLang="en-US" dirty="0" smtClean="0"/>
              <a:t>(2, 3 * 1) = </a:t>
            </a:r>
            <a:r>
              <a:rPr lang="en-ZA" altLang="en-US" dirty="0" err="1" smtClean="0"/>
              <a:t>facthelper</a:t>
            </a:r>
            <a:r>
              <a:rPr lang="en-ZA" altLang="en-US" dirty="0" smtClean="0"/>
              <a:t>(2, 3)</a:t>
            </a:r>
          </a:p>
          <a:p>
            <a:r>
              <a:rPr lang="en-ZA" altLang="en-US" dirty="0" smtClean="0"/>
              <a:t>call </a:t>
            </a:r>
            <a:r>
              <a:rPr lang="en-ZA" altLang="en-US" dirty="0" err="1" smtClean="0"/>
              <a:t>facthelper</a:t>
            </a:r>
            <a:r>
              <a:rPr lang="en-ZA" altLang="en-US" dirty="0" smtClean="0"/>
              <a:t>(1, 2 * 3) = </a:t>
            </a:r>
            <a:r>
              <a:rPr lang="en-ZA" altLang="en-US" dirty="0" err="1" smtClean="0"/>
              <a:t>facthelper</a:t>
            </a:r>
            <a:r>
              <a:rPr lang="en-ZA" altLang="en-US" dirty="0" smtClean="0"/>
              <a:t>(1, 6)</a:t>
            </a:r>
          </a:p>
          <a:p>
            <a:endParaRPr lang="en-ZA" altLang="en-US" dirty="0" smtClean="0"/>
          </a:p>
          <a:p>
            <a:r>
              <a:rPr lang="en-ZA" altLang="en-US" dirty="0" smtClean="0"/>
              <a:t>The last </a:t>
            </a:r>
            <a:r>
              <a:rPr lang="en-ZA" altLang="en-US" dirty="0" err="1" smtClean="0"/>
              <a:t>factpartial</a:t>
            </a:r>
            <a:r>
              <a:rPr lang="en-ZA" altLang="en-US" dirty="0" smtClean="0"/>
              <a:t> is 6, so the recursive call unwind as follows:</a:t>
            </a:r>
          </a:p>
          <a:p>
            <a:endParaRPr lang="en-ZA" altLang="en-US" dirty="0" smtClean="0"/>
          </a:p>
          <a:p>
            <a:r>
              <a:rPr lang="en-ZA" altLang="en-US" dirty="0" err="1" smtClean="0"/>
              <a:t>facthelper</a:t>
            </a:r>
            <a:r>
              <a:rPr lang="en-ZA" altLang="en-US" dirty="0" smtClean="0"/>
              <a:t>(1, 6) = 6</a:t>
            </a:r>
          </a:p>
          <a:p>
            <a:r>
              <a:rPr lang="en-ZA" altLang="en-US" dirty="0" err="1" smtClean="0"/>
              <a:t>facthelper</a:t>
            </a:r>
            <a:r>
              <a:rPr lang="en-ZA" altLang="en-US" dirty="0" smtClean="0"/>
              <a:t>(2, 3) = 6</a:t>
            </a:r>
          </a:p>
          <a:p>
            <a:r>
              <a:rPr lang="en-ZA" altLang="en-US" dirty="0" err="1" smtClean="0"/>
              <a:t>facthelper</a:t>
            </a:r>
            <a:r>
              <a:rPr lang="en-ZA" altLang="en-US" dirty="0" smtClean="0"/>
              <a:t>(3, 1) = 6</a:t>
            </a:r>
          </a:p>
          <a:p>
            <a:r>
              <a:rPr lang="en-ZA" altLang="en-US" dirty="0" smtClean="0"/>
              <a:t>factorial(3) = 6</a:t>
            </a:r>
          </a:p>
          <a:p>
            <a:endParaRPr lang="en-ZA" altLang="en-US" dirty="0" smtClean="0"/>
          </a:p>
          <a:p>
            <a:r>
              <a:rPr lang="en-ZA" altLang="en-US" dirty="0" smtClean="0"/>
              <a:t>So you can see that the first parameter, n, is used to keep track of how many recursive calls we need to perform (it counts down from 3 to 1, almost like a loop control variable in a for loop, even though it isn’t a variable). The second parameter stores the partial result, which we modify with each recursive call.</a:t>
            </a:r>
          </a:p>
          <a:p>
            <a:endParaRPr lang="en-ZA" altLang="en-US" dirty="0" smtClean="0"/>
          </a:p>
          <a:p>
            <a:r>
              <a:rPr lang="en-ZA" altLang="en-US" dirty="0" smtClean="0"/>
              <a:t>It is clear that the second example is tail recursive, because the multiplication and subtraction are performed first, and the results are used as parameters for </a:t>
            </a:r>
            <a:r>
              <a:rPr lang="en-ZA" altLang="en-US" dirty="0" err="1" smtClean="0"/>
              <a:t>facthelper</a:t>
            </a:r>
            <a:r>
              <a:rPr lang="en-ZA" altLang="en-US" dirty="0" smtClean="0"/>
              <a:t>. Also, we compute the result through the initial recursive calls, and simply send the result back while the calls are unwinding.</a:t>
            </a: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D742DD3-2B36-4B85-86EA-F6B958A97E9C}" type="slidenum">
              <a:rPr lang="en-US" altLang="en-US" sz="1200" smtClean="0"/>
              <a:pPr/>
              <a:t>4</a:t>
            </a:fld>
            <a:endParaRPr lang="en-US" altLang="en-US" sz="1200" smtClean="0"/>
          </a:p>
        </p:txBody>
      </p:sp>
    </p:spTree>
    <p:extLst>
      <p:ext uri="{BB962C8B-B14F-4D97-AF65-F5344CB8AC3E}">
        <p14:creationId xmlns:p14="http://schemas.microsoft.com/office/powerpoint/2010/main" val="3828188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BB5BAEA-2BD3-46FF-B6DA-348340CADCAA}" type="slidenum">
              <a:rPr lang="en-US" altLang="en-US" sz="1300" smtClean="0"/>
              <a:pPr/>
              <a:t>5</a:t>
            </a:fld>
            <a:endParaRPr lang="en-US" altLang="en-US" sz="1300" smtClean="0"/>
          </a:p>
        </p:txBody>
      </p:sp>
      <p:sp>
        <p:nvSpPr>
          <p:cNvPr id="67587" name="Rectangle 2"/>
          <p:cNvSpPr>
            <a:spLocks noGrp="1" noRot="1" noChangeAspect="1" noChangeArrowheads="1" noTextEdit="1"/>
          </p:cNvSpPr>
          <p:nvPr>
            <p:ph type="sldImg"/>
          </p:nvPr>
        </p:nvSpPr>
        <p:spPr>
          <a:xfrm>
            <a:off x="992188" y="768350"/>
            <a:ext cx="5114925" cy="3836988"/>
          </a:xfrm>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3615424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BB5BAEA-2BD3-46FF-B6DA-348340CADCAA}" type="slidenum">
              <a:rPr lang="en-US" altLang="en-US" sz="1300" smtClean="0"/>
              <a:pPr/>
              <a:t>6</a:t>
            </a:fld>
            <a:endParaRPr lang="en-US" altLang="en-US" sz="1300" smtClean="0"/>
          </a:p>
        </p:txBody>
      </p:sp>
      <p:sp>
        <p:nvSpPr>
          <p:cNvPr id="67587" name="Rectangle 2"/>
          <p:cNvSpPr>
            <a:spLocks noGrp="1" noRot="1" noChangeAspect="1" noChangeArrowheads="1" noTextEdit="1"/>
          </p:cNvSpPr>
          <p:nvPr>
            <p:ph type="sldImg"/>
          </p:nvPr>
        </p:nvSpPr>
        <p:spPr>
          <a:xfrm>
            <a:off x="992188" y="768350"/>
            <a:ext cx="5114925" cy="3836988"/>
          </a:xfrm>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a:t>
            </a:r>
            <a:r>
              <a:rPr lang="en-GB" altLang="en-US" dirty="0" err="1" smtClean="0"/>
              <a:t>mapcar</a:t>
            </a:r>
            <a:r>
              <a:rPr lang="en-GB" altLang="en-US" dirty="0" smtClean="0"/>
              <a:t> function has two parameters, fun and </a:t>
            </a:r>
            <a:r>
              <a:rPr lang="en-GB" altLang="en-US" dirty="0" err="1" smtClean="0"/>
              <a:t>lis</a:t>
            </a:r>
            <a:r>
              <a:rPr lang="en-GB" altLang="en-US" dirty="0" smtClean="0"/>
              <a:t>. The fun parameter is a function, which must be applied to every element in </a:t>
            </a:r>
            <a:r>
              <a:rPr lang="en-GB" altLang="en-US" dirty="0" err="1" smtClean="0"/>
              <a:t>lis</a:t>
            </a:r>
            <a:r>
              <a:rPr lang="en-GB" altLang="en-US" dirty="0" smtClean="0"/>
              <a:t>.</a:t>
            </a:r>
          </a:p>
          <a:p>
            <a:pPr eaLnBrk="1" hangingPunct="1"/>
            <a:endParaRPr lang="en-GB" altLang="en-US" dirty="0" smtClean="0"/>
          </a:p>
          <a:p>
            <a:pPr eaLnBrk="1" hangingPunct="1"/>
            <a:r>
              <a:rPr lang="en-GB" altLang="en-US" dirty="0" smtClean="0"/>
              <a:t>So how does this work? Again, we solve it recursively. The recursive case (in the else code) handles the situation where there are still elements in list to process. It applies fun to the first element in the list (which we get using car). It then </a:t>
            </a:r>
            <a:r>
              <a:rPr lang="en-GB" altLang="en-US" dirty="0" smtClean="0"/>
              <a:t>applies </a:t>
            </a:r>
            <a:r>
              <a:rPr lang="en-GB" altLang="en-US" dirty="0" err="1" smtClean="0"/>
              <a:t>mapcar</a:t>
            </a:r>
            <a:r>
              <a:rPr lang="en-GB" altLang="en-US" dirty="0" smtClean="0"/>
              <a:t> </a:t>
            </a:r>
            <a:r>
              <a:rPr lang="en-GB" altLang="en-US" dirty="0" smtClean="0"/>
              <a:t>to </a:t>
            </a:r>
            <a:r>
              <a:rPr lang="en-GB" altLang="en-US" dirty="0" smtClean="0"/>
              <a:t>the tail of </a:t>
            </a:r>
            <a:r>
              <a:rPr lang="en-GB" altLang="en-US" dirty="0" err="1" smtClean="0"/>
              <a:t>lis</a:t>
            </a:r>
            <a:r>
              <a:rPr lang="en-GB" altLang="en-US" dirty="0" smtClean="0"/>
              <a:t> (which we get using </a:t>
            </a:r>
            <a:r>
              <a:rPr lang="en-GB" altLang="en-US" dirty="0" err="1" smtClean="0"/>
              <a:t>cdr</a:t>
            </a:r>
            <a:r>
              <a:rPr lang="en-GB" altLang="en-US" dirty="0" smtClean="0"/>
              <a:t>). Finally, it creates a new list using cons, which contains the </a:t>
            </a:r>
            <a:r>
              <a:rPr lang="en-GB" altLang="en-US" u="sng" dirty="0" smtClean="0"/>
              <a:t>result</a:t>
            </a:r>
            <a:r>
              <a:rPr lang="en-GB" altLang="en-US" dirty="0" smtClean="0"/>
              <a:t> of applying fun to the first element, appended to the list produced for the tail. The base case is used when we get to the end of </a:t>
            </a:r>
            <a:r>
              <a:rPr lang="en-GB" altLang="en-US" dirty="0" err="1" smtClean="0"/>
              <a:t>lis</a:t>
            </a:r>
            <a:r>
              <a:rPr lang="en-GB" altLang="en-US" dirty="0" smtClean="0"/>
              <a:t>. In this case, the result is just an empty list</a:t>
            </a:r>
            <a:r>
              <a:rPr lang="en-GB" altLang="en-US" dirty="0" smtClean="0"/>
              <a:t>.</a:t>
            </a:r>
            <a:endParaRPr lang="en-GB" altLang="en-US" dirty="0" smtClean="0"/>
          </a:p>
          <a:p>
            <a:pPr eaLnBrk="1" hangingPunct="1"/>
            <a:endParaRPr lang="en-GB" altLang="en-US" dirty="0" smtClean="0"/>
          </a:p>
          <a:p>
            <a:pPr eaLnBrk="1" hangingPunct="1"/>
            <a:r>
              <a:rPr lang="en-GB" altLang="en-US" dirty="0" smtClean="0"/>
              <a:t>You can see in the example function application that we can use the square function as the first parameter, and have it applied to every element in the list. The recursive calls would look like this:</a:t>
            </a:r>
          </a:p>
          <a:p>
            <a:pPr eaLnBrk="1" hangingPunct="1"/>
            <a:endParaRPr lang="en-GB" altLang="en-US" dirty="0" smtClean="0"/>
          </a:p>
          <a:p>
            <a:pPr eaLnBrk="1" hangingPunct="1"/>
            <a:r>
              <a:rPr lang="en-GB" altLang="en-US" dirty="0" smtClean="0"/>
              <a:t>(</a:t>
            </a:r>
            <a:r>
              <a:rPr lang="en-GB" altLang="en-US" dirty="0" err="1" smtClean="0"/>
              <a:t>mapcar</a:t>
            </a:r>
            <a:r>
              <a:rPr lang="en-GB" altLang="en-US" dirty="0" smtClean="0"/>
              <a:t> square (3 4 2))</a:t>
            </a:r>
          </a:p>
          <a:p>
            <a:pPr eaLnBrk="1" hangingPunct="1"/>
            <a:r>
              <a:rPr lang="en-GB" altLang="en-US" dirty="0" smtClean="0"/>
              <a:t>calls (cons (square 3) (</a:t>
            </a:r>
            <a:r>
              <a:rPr lang="en-GB" altLang="en-US" dirty="0" err="1" smtClean="0"/>
              <a:t>mapcar</a:t>
            </a:r>
            <a:r>
              <a:rPr lang="en-GB" altLang="en-US" dirty="0" smtClean="0"/>
              <a:t> square (4 2))) = (cons 9 (</a:t>
            </a:r>
            <a:r>
              <a:rPr lang="en-GB" altLang="en-US" dirty="0" err="1" smtClean="0"/>
              <a:t>mapcar</a:t>
            </a:r>
            <a:r>
              <a:rPr lang="en-GB" altLang="en-US" dirty="0" smtClean="0"/>
              <a:t> square (4 2))) </a:t>
            </a:r>
          </a:p>
          <a:p>
            <a:pPr eaLnBrk="1" hangingPunct="1"/>
            <a:r>
              <a:rPr lang="en-GB" altLang="en-US" dirty="0" smtClean="0"/>
              <a:t>calls (</a:t>
            </a:r>
            <a:r>
              <a:rPr lang="en-GB" altLang="en-US" dirty="0" err="1" smtClean="0"/>
              <a:t>mapcar</a:t>
            </a:r>
            <a:r>
              <a:rPr lang="en-GB" altLang="en-US" dirty="0" smtClean="0"/>
              <a:t> square (4 2))</a:t>
            </a:r>
          </a:p>
          <a:p>
            <a:pPr eaLnBrk="1" hangingPunct="1"/>
            <a:r>
              <a:rPr lang="en-GB" altLang="en-US" dirty="0" smtClean="0"/>
              <a:t>calls (cons (square 4) (</a:t>
            </a:r>
            <a:r>
              <a:rPr lang="en-GB" altLang="en-US" dirty="0" err="1" smtClean="0"/>
              <a:t>mapcar</a:t>
            </a:r>
            <a:r>
              <a:rPr lang="en-GB" altLang="en-US" dirty="0" smtClean="0"/>
              <a:t> square (2))) = (cons 16 (</a:t>
            </a:r>
            <a:r>
              <a:rPr lang="en-GB" altLang="en-US" dirty="0" err="1" smtClean="0"/>
              <a:t>mapcar</a:t>
            </a:r>
            <a:r>
              <a:rPr lang="en-GB" altLang="en-US" dirty="0" smtClean="0"/>
              <a:t> square (2)))</a:t>
            </a:r>
          </a:p>
          <a:p>
            <a:pPr eaLnBrk="1" hangingPunct="1"/>
            <a:r>
              <a:rPr lang="en-GB" altLang="en-US" dirty="0" smtClean="0"/>
              <a:t>calls (</a:t>
            </a:r>
            <a:r>
              <a:rPr lang="en-GB" altLang="en-US" dirty="0" err="1" smtClean="0"/>
              <a:t>mapcar</a:t>
            </a:r>
            <a:r>
              <a:rPr lang="en-GB" altLang="en-US" dirty="0" smtClean="0"/>
              <a:t> square (2))</a:t>
            </a:r>
          </a:p>
          <a:p>
            <a:pPr eaLnBrk="1" hangingPunct="1"/>
            <a:r>
              <a:rPr lang="en-GB" altLang="en-US" dirty="0" smtClean="0"/>
              <a:t>calls (cons (square 2) (</a:t>
            </a:r>
            <a:r>
              <a:rPr lang="en-GB" altLang="en-US" dirty="0" err="1" smtClean="0"/>
              <a:t>mapcar</a:t>
            </a:r>
            <a:r>
              <a:rPr lang="en-GB" altLang="en-US" dirty="0" smtClean="0"/>
              <a:t> square ())) = (cons 4 (</a:t>
            </a:r>
            <a:r>
              <a:rPr lang="en-GB" altLang="en-US" dirty="0" err="1" smtClean="0"/>
              <a:t>mapcar</a:t>
            </a:r>
            <a:r>
              <a:rPr lang="en-GB" altLang="en-US" dirty="0" smtClean="0"/>
              <a:t> square ()))</a:t>
            </a:r>
          </a:p>
          <a:p>
            <a:pPr eaLnBrk="1" hangingPunct="1"/>
            <a:r>
              <a:rPr lang="en-GB" altLang="en-US" dirty="0" smtClean="0"/>
              <a:t>calls (</a:t>
            </a:r>
            <a:r>
              <a:rPr lang="en-GB" altLang="en-US" dirty="0" err="1" smtClean="0"/>
              <a:t>mapcar</a:t>
            </a:r>
            <a:r>
              <a:rPr lang="en-GB" altLang="en-US" dirty="0" smtClean="0"/>
              <a:t> square ())</a:t>
            </a:r>
          </a:p>
          <a:p>
            <a:pPr eaLnBrk="1" hangingPunct="1"/>
            <a:r>
              <a:rPr lang="en-GB" altLang="en-US" dirty="0" smtClean="0"/>
              <a:t>calls (</a:t>
            </a:r>
            <a:r>
              <a:rPr lang="en-GB" altLang="en-US" dirty="0" err="1" smtClean="0"/>
              <a:t>mapcar</a:t>
            </a:r>
            <a:r>
              <a:rPr lang="en-GB" altLang="en-US" dirty="0" smtClean="0"/>
              <a:t> square ()) = ()</a:t>
            </a:r>
          </a:p>
          <a:p>
            <a:pPr eaLnBrk="1" hangingPunct="1"/>
            <a:endParaRPr lang="en-GB" altLang="en-US" dirty="0" smtClean="0"/>
          </a:p>
          <a:p>
            <a:pPr eaLnBrk="1" hangingPunct="1"/>
            <a:r>
              <a:rPr lang="en-GB" altLang="en-US" dirty="0" smtClean="0"/>
              <a:t>Then we unwind the recursive calls again:</a:t>
            </a:r>
          </a:p>
          <a:p>
            <a:pPr eaLnBrk="1" hangingPunct="1"/>
            <a:endParaRPr lang="en-GB" altLang="en-US" dirty="0" smtClean="0"/>
          </a:p>
          <a:p>
            <a:pPr eaLnBrk="1" hangingPunct="1"/>
            <a:r>
              <a:rPr lang="en-GB" altLang="en-US" dirty="0" smtClean="0"/>
              <a:t>(cons 4 ()) = (4)</a:t>
            </a:r>
          </a:p>
          <a:p>
            <a:pPr eaLnBrk="1" hangingPunct="1"/>
            <a:r>
              <a:rPr lang="en-GB" altLang="en-US" dirty="0" smtClean="0"/>
              <a:t>(cons 16 (4)) = (16 4)</a:t>
            </a:r>
          </a:p>
          <a:p>
            <a:pPr eaLnBrk="1" hangingPunct="1"/>
            <a:r>
              <a:rPr lang="en-GB" altLang="en-US" dirty="0" smtClean="0"/>
              <a:t>(cons 9 (16 4)) = (9 16 4)</a:t>
            </a:r>
          </a:p>
          <a:p>
            <a:pPr eaLnBrk="1" hangingPunct="1"/>
            <a:endParaRPr lang="en-GB" altLang="en-US" dirty="0" smtClean="0"/>
          </a:p>
          <a:p>
            <a:pPr eaLnBrk="1" hangingPunct="1"/>
            <a:r>
              <a:rPr lang="en-GB" altLang="en-US" dirty="0" smtClean="0"/>
              <a:t>The final result is a new list containing the values produced by applying the square function to the elements of the original list.</a:t>
            </a:r>
          </a:p>
        </p:txBody>
      </p:sp>
    </p:spTree>
    <p:extLst>
      <p:ext uri="{BB962C8B-B14F-4D97-AF65-F5344CB8AC3E}">
        <p14:creationId xmlns:p14="http://schemas.microsoft.com/office/powerpoint/2010/main" val="167602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488F875-29BA-492B-AB9E-07D618D0EE50}" type="slidenum">
              <a:rPr lang="en-US" altLang="en-US" sz="1300" smtClean="0"/>
              <a:pPr/>
              <a:t>7</a:t>
            </a:fld>
            <a:endParaRPr lang="en-US" altLang="en-US" sz="1300" smtClean="0"/>
          </a:p>
        </p:txBody>
      </p:sp>
      <p:sp>
        <p:nvSpPr>
          <p:cNvPr id="69635" name="Rectangle 2"/>
          <p:cNvSpPr>
            <a:spLocks noGrp="1" noRot="1" noChangeAspect="1" noChangeArrowheads="1" noTextEdit="1"/>
          </p:cNvSpPr>
          <p:nvPr>
            <p:ph type="sldImg"/>
          </p:nvPr>
        </p:nvSpPr>
        <p:spPr>
          <a:xfrm>
            <a:off x="992188" y="768350"/>
            <a:ext cx="5114925" cy="3836988"/>
          </a:xfrm>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727845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0206AFC-A14D-4781-B633-F7DF458A4030}" type="slidenum">
              <a:rPr lang="en-US" altLang="en-US" sz="1300" smtClean="0"/>
              <a:pPr/>
              <a:t>8</a:t>
            </a:fld>
            <a:endParaRPr lang="en-US" altLang="en-US" sz="1300" smtClean="0"/>
          </a:p>
        </p:txBody>
      </p:sp>
      <p:sp>
        <p:nvSpPr>
          <p:cNvPr id="71683" name="Rectangle 2"/>
          <p:cNvSpPr>
            <a:spLocks noGrp="1" noRot="1" noChangeAspect="1" noChangeArrowheads="1" noTextEdit="1"/>
          </p:cNvSpPr>
          <p:nvPr>
            <p:ph type="sldImg"/>
          </p:nvPr>
        </p:nvSpPr>
        <p:spPr>
          <a:xfrm>
            <a:off x="992188" y="768350"/>
            <a:ext cx="5114925" cy="3836988"/>
          </a:xfrm>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This is just a simple example to illustrate how a function can build code that can be executed. We can obviously build code that is as complex as we like.</a:t>
            </a:r>
          </a:p>
          <a:p>
            <a:pPr eaLnBrk="1" hangingPunct="1"/>
            <a:endParaRPr lang="en-GB" altLang="en-US" dirty="0" smtClean="0"/>
          </a:p>
          <a:p>
            <a:pPr eaLnBrk="1" hangingPunct="1"/>
            <a:r>
              <a:rPr lang="en-GB" altLang="en-US" dirty="0" smtClean="0"/>
              <a:t>The adder function has one parameter, </a:t>
            </a:r>
            <a:r>
              <a:rPr lang="en-GB" altLang="en-US" dirty="0" err="1" smtClean="0"/>
              <a:t>lis</a:t>
            </a:r>
            <a:r>
              <a:rPr lang="en-GB" altLang="en-US" dirty="0" smtClean="0"/>
              <a:t>, which is a list of numeric atoms.</a:t>
            </a:r>
          </a:p>
          <a:p>
            <a:pPr eaLnBrk="1" hangingPunct="1"/>
            <a:endParaRPr lang="en-GB" altLang="en-US" dirty="0" smtClean="0"/>
          </a:p>
          <a:p>
            <a:pPr eaLnBrk="1" hangingPunct="1"/>
            <a:r>
              <a:rPr lang="en-GB" altLang="en-US" dirty="0" smtClean="0"/>
              <a:t>Let’s first look at the else</a:t>
            </a:r>
            <a:r>
              <a:rPr lang="en-GB" altLang="en-US" baseline="0" dirty="0" smtClean="0"/>
              <a:t> part of the </a:t>
            </a:r>
            <a:r>
              <a:rPr lang="en-GB" altLang="en-US" baseline="0" dirty="0" err="1" smtClean="0"/>
              <a:t>cond</a:t>
            </a:r>
            <a:r>
              <a:rPr lang="en-GB" altLang="en-US" baseline="0" dirty="0" smtClean="0"/>
              <a:t> function.</a:t>
            </a:r>
            <a:r>
              <a:rPr lang="en-GB" altLang="en-US" dirty="0" smtClean="0"/>
              <a:t> First we build a new list containing the + symbol, followed by the elements in </a:t>
            </a:r>
            <a:r>
              <a:rPr lang="en-GB" altLang="en-US" dirty="0" err="1" smtClean="0"/>
              <a:t>lis</a:t>
            </a:r>
            <a:r>
              <a:rPr lang="en-GB" altLang="en-US" dirty="0" smtClean="0"/>
              <a:t>. This is done this using a cons. Note that the + symbol must be quoted, because we don’t want it to be interpreted as the + function (which is provided by Scheme).</a:t>
            </a:r>
            <a:endParaRPr lang="en-GB" altLang="en-US" baseline="0" dirty="0" smtClean="0"/>
          </a:p>
          <a:p>
            <a:pPr eaLnBrk="1" hangingPunct="1"/>
            <a:endParaRPr lang="en-GB" altLang="en-US" baseline="0" dirty="0" smtClean="0"/>
          </a:p>
          <a:p>
            <a:pPr eaLnBrk="1" hangingPunct="1"/>
            <a:r>
              <a:rPr lang="en-GB" altLang="en-US" dirty="0" smtClean="0"/>
              <a:t>So, if we imagine that </a:t>
            </a:r>
            <a:r>
              <a:rPr lang="en-GB" altLang="en-US" dirty="0" err="1" smtClean="0"/>
              <a:t>lis</a:t>
            </a:r>
            <a:r>
              <a:rPr lang="en-GB" altLang="en-US" dirty="0" smtClean="0"/>
              <a:t> is the list (13 2 5), then the cons produces a new list (+ 13 2 5). You can see that this has the form of a normal Scheme function application, even though it’s just a list at this stage.</a:t>
            </a:r>
          </a:p>
          <a:p>
            <a:pPr eaLnBrk="1" hangingPunct="1"/>
            <a:endParaRPr lang="en-GB" altLang="en-US" dirty="0" smtClean="0"/>
          </a:p>
          <a:p>
            <a:pPr eaLnBrk="1" hangingPunct="1"/>
            <a:r>
              <a:rPr lang="en-GB" altLang="en-US" dirty="0" smtClean="0"/>
              <a:t>Now we can apply </a:t>
            </a:r>
            <a:r>
              <a:rPr lang="en-GB" altLang="en-US" dirty="0" err="1" smtClean="0"/>
              <a:t>eval</a:t>
            </a:r>
            <a:r>
              <a:rPr lang="en-GB" altLang="en-US" dirty="0" smtClean="0"/>
              <a:t> to the list built by the cons, which basically means “execute this list as if it had been typed into the Scheme interpreter”. What this does, of course, is apply the + function to the parameters 13, 2, and 5. The result is 20. Note that the numbers don’t need to be quoted, because they are simply numeric atoms, and can’t be confused with names.</a:t>
            </a:r>
          </a:p>
          <a:p>
            <a:pPr eaLnBrk="1" hangingPunct="1"/>
            <a:endParaRPr lang="en-GB" altLang="en-US" dirty="0" smtClean="0"/>
          </a:p>
          <a:p>
            <a:pPr eaLnBrk="1" hangingPunct="1"/>
            <a:r>
              <a:rPr lang="en-GB" altLang="en-US" dirty="0" smtClean="0"/>
              <a:t>Now let’s look at the first condition, which is trivial. It just makes sure that when someone calls (adder ()) we don’t attempt to create a function like (+), which will obviously produce an error when Scheme tries to evaluate it. So if the list is empty, we just produce 0 as a result.</a:t>
            </a:r>
          </a:p>
          <a:p>
            <a:pPr eaLnBrk="1" hangingPunct="1"/>
            <a:endParaRPr lang="en-GB" altLang="en-US" dirty="0" smtClean="0"/>
          </a:p>
          <a:p>
            <a:pPr eaLnBrk="1" hangingPunct="1"/>
            <a:r>
              <a:rPr lang="en-GB" altLang="en-US" dirty="0" smtClean="0"/>
              <a:t>Note that in </a:t>
            </a:r>
            <a:r>
              <a:rPr lang="en-GB" altLang="en-US" dirty="0" err="1" smtClean="0"/>
              <a:t>DrRacket</a:t>
            </a:r>
            <a:r>
              <a:rPr lang="en-GB" altLang="en-US" dirty="0" smtClean="0"/>
              <a:t> you must provide the following function application before you use the </a:t>
            </a:r>
            <a:r>
              <a:rPr lang="en-GB" altLang="en-US" dirty="0" err="1" smtClean="0"/>
              <a:t>eval</a:t>
            </a:r>
            <a:r>
              <a:rPr lang="en-GB" altLang="en-US" dirty="0" smtClean="0"/>
              <a:t> function:</a:t>
            </a:r>
          </a:p>
          <a:p>
            <a:pPr eaLnBrk="1" hangingPunct="1"/>
            <a:endParaRPr lang="en-GB" altLang="en-US" dirty="0" smtClean="0"/>
          </a:p>
          <a:p>
            <a:pPr eaLnBrk="1" hangingPunct="1"/>
            <a:r>
              <a:rPr lang="en-GB" altLang="en-US" dirty="0" smtClean="0"/>
              <a:t>(current-namespace (make-base-namespace))</a:t>
            </a:r>
          </a:p>
        </p:txBody>
      </p:sp>
    </p:spTree>
    <p:extLst>
      <p:ext uri="{BB962C8B-B14F-4D97-AF65-F5344CB8AC3E}">
        <p14:creationId xmlns:p14="http://schemas.microsoft.com/office/powerpoint/2010/main" val="1592076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262D05B-5E84-44BD-B7D7-5589EC935C43}" type="slidenum">
              <a:rPr lang="en-US" altLang="en-US" sz="1300" smtClean="0"/>
              <a:pPr/>
              <a:t>9</a:t>
            </a:fld>
            <a:endParaRPr lang="en-US" altLang="en-US" sz="1300" smtClean="0"/>
          </a:p>
        </p:txBody>
      </p:sp>
      <p:sp>
        <p:nvSpPr>
          <p:cNvPr id="77827" name="Rectangle 2"/>
          <p:cNvSpPr>
            <a:spLocks noGrp="1" noRot="1" noChangeAspect="1" noChangeArrowheads="1" noTextEdit="1"/>
          </p:cNvSpPr>
          <p:nvPr>
            <p:ph type="sldImg"/>
          </p:nvPr>
        </p:nvSpPr>
        <p:spPr>
          <a:xfrm>
            <a:off x="992188" y="768350"/>
            <a:ext cx="5114925" cy="3836988"/>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4119809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BE67E3A-48B1-481A-A9B4-9EB1FD019DBB}" type="slidenum">
              <a:rPr lang="en-US" altLang="en-US" sz="1300" smtClean="0"/>
              <a:pPr/>
              <a:t>10</a:t>
            </a:fld>
            <a:endParaRPr lang="en-US" altLang="en-US" sz="1300" smtClean="0"/>
          </a:p>
        </p:txBody>
      </p:sp>
      <p:sp>
        <p:nvSpPr>
          <p:cNvPr id="75779" name="Rectangle 2"/>
          <p:cNvSpPr>
            <a:spLocks noGrp="1" noRot="1" noChangeAspect="1" noChangeArrowheads="1" noTextEdit="1"/>
          </p:cNvSpPr>
          <p:nvPr>
            <p:ph type="sldImg"/>
          </p:nvPr>
        </p:nvSpPr>
        <p:spPr>
          <a:xfrm>
            <a:off x="992188" y="768350"/>
            <a:ext cx="5114925" cy="3836988"/>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20836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42088"/>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latin typeface="Courier" pitchFamily="49" charset="0"/>
            </a:endParaRPr>
          </a:p>
        </p:txBody>
      </p:sp>
      <p:sp>
        <p:nvSpPr>
          <p:cNvPr id="73730"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dirty="0"/>
              <a:t>Click to edit Master title style</a:t>
            </a:r>
          </a:p>
        </p:txBody>
      </p:sp>
      <p:sp>
        <p:nvSpPr>
          <p:cNvPr id="73731"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dirty="0"/>
              <a:t>Click to edit Master subtitle style</a:t>
            </a:r>
          </a:p>
        </p:txBody>
      </p:sp>
      <p:sp>
        <p:nvSpPr>
          <p:cNvPr id="6" name="Slide Number Placeholder 5"/>
          <p:cNvSpPr>
            <a:spLocks noGrp="1"/>
          </p:cNvSpPr>
          <p:nvPr>
            <p:ph type="sldNum" sz="quarter" idx="10"/>
          </p:nvPr>
        </p:nvSpPr>
        <p:spPr/>
        <p:txBody>
          <a:bodyPr/>
          <a:lstStyle>
            <a:lvl1pPr>
              <a:defRPr/>
            </a:lvl1pPr>
          </a:lstStyle>
          <a:p>
            <a:pPr>
              <a:defRPr/>
            </a:pPr>
            <a:r>
              <a:rPr lang="en-US" altLang="en-US"/>
              <a:t>1-</a:t>
            </a:r>
            <a:fld id="{4BD9F492-C94D-4E48-9F45-86C8BE70204D}" type="slidenum">
              <a:rPr lang="en-US" altLang="en-US"/>
              <a:pPr>
                <a:defRPr/>
              </a:pPr>
              <a:t>‹#›</a:t>
            </a:fld>
            <a:endParaRPr lang="en-US" altLang="en-US"/>
          </a:p>
        </p:txBody>
      </p:sp>
      <p:sp>
        <p:nvSpPr>
          <p:cNvPr id="7" name="Footer Placeholder 6"/>
          <p:cNvSpPr>
            <a:spLocks noGrp="1"/>
          </p:cNvSpPr>
          <p:nvPr>
            <p:ph type="ftr" sz="quarter" idx="11"/>
          </p:nvPr>
        </p:nvSpPr>
        <p:spPr/>
        <p:txBody>
          <a:bodyPr/>
          <a:lstStyle>
            <a:lvl1pPr>
              <a:defRPr/>
            </a:lvl1pPr>
          </a:lstStyle>
          <a:p>
            <a:pPr>
              <a:defRPr/>
            </a:pPr>
            <a:r>
              <a:rPr lang="en-US"/>
              <a:t>Copyright © 2012 Addison-Wesley. All rights reserved.</a:t>
            </a:r>
          </a:p>
        </p:txBody>
      </p:sp>
    </p:spTree>
    <p:extLst>
      <p:ext uri="{BB962C8B-B14F-4D97-AF65-F5344CB8AC3E}">
        <p14:creationId xmlns:p14="http://schemas.microsoft.com/office/powerpoint/2010/main" val="2428930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8D864D7A-05B3-4629-8E2E-1630D33CA660}" type="slidenum">
              <a:rPr lang="en-US" altLang="en-US"/>
              <a:pPr>
                <a:defRPr/>
              </a:pPr>
              <a:t>‹#›</a:t>
            </a:fld>
            <a:endParaRPr lang="en-US" altLang="en-US"/>
          </a:p>
        </p:txBody>
      </p:sp>
    </p:spTree>
    <p:extLst>
      <p:ext uri="{BB962C8B-B14F-4D97-AF65-F5344CB8AC3E}">
        <p14:creationId xmlns:p14="http://schemas.microsoft.com/office/powerpoint/2010/main" val="3760485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B51FB13-B91B-4FA7-AADB-5E725FF9119B}" type="slidenum">
              <a:rPr lang="en-US" altLang="en-US"/>
              <a:pPr>
                <a:defRPr/>
              </a:pPr>
              <a:t>‹#›</a:t>
            </a:fld>
            <a:endParaRPr lang="en-US" altLang="en-US"/>
          </a:p>
        </p:txBody>
      </p:sp>
    </p:spTree>
    <p:extLst>
      <p:ext uri="{BB962C8B-B14F-4D97-AF65-F5344CB8AC3E}">
        <p14:creationId xmlns:p14="http://schemas.microsoft.com/office/powerpoint/2010/main" val="3940904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324ECCE3-87AB-49A1-A38A-FA0DDF2A1A48}" type="slidenum">
              <a:rPr lang="en-US" altLang="en-US"/>
              <a:pPr>
                <a:defRPr/>
              </a:pPr>
              <a:t>‹#›</a:t>
            </a:fld>
            <a:endParaRPr lang="en-US" altLang="en-US"/>
          </a:p>
        </p:txBody>
      </p:sp>
    </p:spTree>
    <p:extLst>
      <p:ext uri="{BB962C8B-B14F-4D97-AF65-F5344CB8AC3E}">
        <p14:creationId xmlns:p14="http://schemas.microsoft.com/office/powerpoint/2010/main" val="1231325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13217127-C237-4239-83FC-7312F947063F}" type="slidenum">
              <a:rPr lang="en-US" altLang="en-US"/>
              <a:pPr>
                <a:defRPr/>
              </a:pPr>
              <a:t>‹#›</a:t>
            </a:fld>
            <a:endParaRPr lang="en-US" altLang="en-US"/>
          </a:p>
        </p:txBody>
      </p:sp>
    </p:spTree>
    <p:extLst>
      <p:ext uri="{BB962C8B-B14F-4D97-AF65-F5344CB8AC3E}">
        <p14:creationId xmlns:p14="http://schemas.microsoft.com/office/powerpoint/2010/main" val="2559647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E62BD9C9-406C-45C6-A5A7-6EFA1612077F}" type="slidenum">
              <a:rPr lang="en-US" altLang="en-US"/>
              <a:pPr>
                <a:defRPr/>
              </a:pPr>
              <a:t>‹#›</a:t>
            </a:fld>
            <a:endParaRPr lang="en-US" altLang="en-US"/>
          </a:p>
        </p:txBody>
      </p:sp>
    </p:spTree>
    <p:extLst>
      <p:ext uri="{BB962C8B-B14F-4D97-AF65-F5344CB8AC3E}">
        <p14:creationId xmlns:p14="http://schemas.microsoft.com/office/powerpoint/2010/main" val="2122294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32DD89E6-BA6D-4E0E-975E-FBC680F9A4AD}" type="slidenum">
              <a:rPr lang="en-US" altLang="en-US"/>
              <a:pPr>
                <a:defRPr/>
              </a:pPr>
              <a:t>‹#›</a:t>
            </a:fld>
            <a:endParaRPr lang="en-US" altLang="en-US"/>
          </a:p>
        </p:txBody>
      </p:sp>
    </p:spTree>
    <p:extLst>
      <p:ext uri="{BB962C8B-B14F-4D97-AF65-F5344CB8AC3E}">
        <p14:creationId xmlns:p14="http://schemas.microsoft.com/office/powerpoint/2010/main" val="780247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D75CCFE-BEAB-4D21-98E3-D0B9C806988B}" type="slidenum">
              <a:rPr lang="en-US" altLang="en-US"/>
              <a:pPr>
                <a:defRPr/>
              </a:pPr>
              <a:t>‹#›</a:t>
            </a:fld>
            <a:endParaRPr lang="en-US" altLang="en-US"/>
          </a:p>
        </p:txBody>
      </p:sp>
    </p:spTree>
    <p:extLst>
      <p:ext uri="{BB962C8B-B14F-4D97-AF65-F5344CB8AC3E}">
        <p14:creationId xmlns:p14="http://schemas.microsoft.com/office/powerpoint/2010/main" val="107401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D9954F60-C442-45DB-8F68-E9DC6A5ED23E}" type="slidenum">
              <a:rPr lang="en-US" altLang="en-US"/>
              <a:pPr>
                <a:defRPr/>
              </a:pPr>
              <a:t>‹#›</a:t>
            </a:fld>
            <a:endParaRPr lang="en-US" altLang="en-US"/>
          </a:p>
        </p:txBody>
      </p:sp>
    </p:spTree>
    <p:extLst>
      <p:ext uri="{BB962C8B-B14F-4D97-AF65-F5344CB8AC3E}">
        <p14:creationId xmlns:p14="http://schemas.microsoft.com/office/powerpoint/2010/main" val="288777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38E498FC-529E-4B29-BFA7-855F80ED8FFF}" type="slidenum">
              <a:rPr lang="en-US" altLang="en-US"/>
              <a:pPr>
                <a:defRPr/>
              </a:pPr>
              <a:t>‹#›</a:t>
            </a:fld>
            <a:endParaRPr lang="en-US" altLang="en-US"/>
          </a:p>
        </p:txBody>
      </p:sp>
    </p:spTree>
    <p:extLst>
      <p:ext uri="{BB962C8B-B14F-4D97-AF65-F5344CB8AC3E}">
        <p14:creationId xmlns:p14="http://schemas.microsoft.com/office/powerpoint/2010/main" val="243969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3D1268C-ECC3-43A3-A3A0-F4BFEC5FED4E}" type="slidenum">
              <a:rPr lang="en-US" altLang="en-US"/>
              <a:pPr>
                <a:defRPr/>
              </a:pPr>
              <a:t>‹#›</a:t>
            </a:fld>
            <a:endParaRPr lang="en-US" altLang="en-US"/>
          </a:p>
        </p:txBody>
      </p:sp>
    </p:spTree>
    <p:extLst>
      <p:ext uri="{BB962C8B-B14F-4D97-AF65-F5344CB8AC3E}">
        <p14:creationId xmlns:p14="http://schemas.microsoft.com/office/powerpoint/2010/main" val="3212033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2708"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72709"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13F8B0F9-8E54-4F9B-8F51-E8A3B34435D2}"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39"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p:txBody>
          <a:bodyPr/>
          <a:lstStyle/>
          <a:p>
            <a:pPr eaLnBrk="1" hangingPunct="1"/>
            <a:r>
              <a:rPr lang="en-ZA" altLang="en-US" noProof="0" dirty="0" smtClean="0"/>
              <a:t>Chapter 15</a:t>
            </a:r>
            <a:br>
              <a:rPr lang="en-ZA" altLang="en-US" noProof="0" dirty="0" smtClean="0"/>
            </a:br>
            <a:r>
              <a:rPr lang="en-ZA" altLang="en-US" sz="2800" dirty="0" smtClean="0"/>
              <a:t>Part 3</a:t>
            </a:r>
            <a:endParaRPr lang="en-ZA" altLang="en-US" sz="2800" noProof="0" dirty="0" smtClean="0"/>
          </a:p>
        </p:txBody>
      </p:sp>
      <p:sp>
        <p:nvSpPr>
          <p:cNvPr id="5123" name="Rectangle 5"/>
          <p:cNvSpPr>
            <a:spLocks noGrp="1" noChangeArrowheads="1"/>
          </p:cNvSpPr>
          <p:nvPr>
            <p:ph type="subTitle" idx="1"/>
          </p:nvPr>
        </p:nvSpPr>
        <p:spPr/>
        <p:txBody>
          <a:bodyPr/>
          <a:lstStyle/>
          <a:p>
            <a:pPr eaLnBrk="1" hangingPunct="1"/>
            <a:r>
              <a:rPr lang="en-ZA" altLang="en-US" noProof="0" dirty="0" smtClean="0"/>
              <a:t>Functional Programming Languages</a:t>
            </a:r>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0"/>
            <a:ext cx="47244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10811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Copyright © 2012 Addison-Wesley. All rights reserved.</a:t>
            </a:r>
          </a:p>
        </p:txBody>
      </p:sp>
      <p:sp>
        <p:nvSpPr>
          <p:cNvPr id="61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C201F67-919E-4203-A255-C2668DF92B25}"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8" name="Rectangle 4"/>
          <p:cNvSpPr>
            <a:spLocks noGrp="1" noChangeArrowheads="1"/>
          </p:cNvSpPr>
          <p:nvPr>
            <p:ph type="title"/>
          </p:nvPr>
        </p:nvSpPr>
        <p:spPr/>
        <p:txBody>
          <a:bodyPr/>
          <a:lstStyle/>
          <a:p>
            <a:pPr eaLnBrk="1" hangingPunct="1"/>
            <a:r>
              <a:rPr lang="en-US" altLang="en-US" smtClean="0"/>
              <a:t>Chapter 15 Topics</a:t>
            </a:r>
          </a:p>
        </p:txBody>
      </p:sp>
      <p:sp>
        <p:nvSpPr>
          <p:cNvPr id="6149" name="Rectangle 5"/>
          <p:cNvSpPr>
            <a:spLocks noGrp="1" noChangeArrowheads="1"/>
          </p:cNvSpPr>
          <p:nvPr>
            <p:ph type="body" idx="1"/>
          </p:nvPr>
        </p:nvSpPr>
        <p:spPr>
          <a:xfrm>
            <a:off x="609600" y="1361090"/>
            <a:ext cx="8305800" cy="4800600"/>
          </a:xfrm>
        </p:spPr>
        <p:txBody>
          <a:bodyPr/>
          <a:lstStyle/>
          <a:p>
            <a:pPr eaLnBrk="1" hangingPunct="1"/>
            <a:r>
              <a:rPr lang="en-US" altLang="en-US" sz="2200" dirty="0" smtClean="0"/>
              <a:t>Introduction to Scheme</a:t>
            </a:r>
          </a:p>
          <a:p>
            <a:pPr lvl="1" eaLnBrk="1" hangingPunct="1"/>
            <a:r>
              <a:rPr lang="en-ZA" altLang="en-US" sz="1800" dirty="0" smtClean="0"/>
              <a:t>Tail </a:t>
            </a:r>
            <a:r>
              <a:rPr lang="en-ZA" altLang="en-US" sz="1800" dirty="0"/>
              <a:t>Recursion in Scheme</a:t>
            </a:r>
          </a:p>
          <a:p>
            <a:pPr lvl="1" eaLnBrk="1" hangingPunct="1"/>
            <a:r>
              <a:rPr lang="en-ZA" altLang="en-US" sz="1800" dirty="0" smtClean="0"/>
              <a:t>An Apply-to-All Function</a:t>
            </a:r>
            <a:endParaRPr lang="en-ZA" altLang="en-US" sz="1800" dirty="0"/>
          </a:p>
          <a:p>
            <a:pPr lvl="1" eaLnBrk="1" hangingPunct="1"/>
            <a:r>
              <a:rPr lang="en-ZA" altLang="en-US" sz="1800" dirty="0"/>
              <a:t>Functions That Build Code</a:t>
            </a:r>
          </a:p>
          <a:p>
            <a:pPr eaLnBrk="1" hangingPunct="1"/>
            <a:r>
              <a:rPr lang="en-US" altLang="en-US" sz="2200" dirty="0" smtClean="0"/>
              <a:t>Comparison of Functional and Imperative Languages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ltLang="en-US" sz="3200" dirty="0" smtClean="0"/>
              <a:t>Tail Recursion in Scheme</a:t>
            </a:r>
          </a:p>
        </p:txBody>
      </p:sp>
      <p:sp>
        <p:nvSpPr>
          <p:cNvPr id="63491" name="Content Placeholder 2"/>
          <p:cNvSpPr>
            <a:spLocks noGrp="1"/>
          </p:cNvSpPr>
          <p:nvPr>
            <p:ph idx="1"/>
          </p:nvPr>
        </p:nvSpPr>
        <p:spPr>
          <a:xfrm>
            <a:off x="633250" y="1340070"/>
            <a:ext cx="8153400" cy="4572000"/>
          </a:xfrm>
        </p:spPr>
        <p:txBody>
          <a:bodyPr/>
          <a:lstStyle/>
          <a:p>
            <a:r>
              <a:rPr lang="en-ZA" altLang="en-US" sz="2400" dirty="0"/>
              <a:t>Recursive </a:t>
            </a:r>
            <a:r>
              <a:rPr lang="en-ZA" altLang="en-US" sz="2400" dirty="0" smtClean="0"/>
              <a:t>functions</a:t>
            </a:r>
          </a:p>
          <a:p>
            <a:pPr lvl="1"/>
            <a:r>
              <a:rPr lang="en-ZA" altLang="en-US" sz="2000" dirty="0" smtClean="0"/>
              <a:t>Slower </a:t>
            </a:r>
            <a:r>
              <a:rPr lang="en-ZA" altLang="en-US" sz="2000" dirty="0"/>
              <a:t>than equivalent iterative </a:t>
            </a:r>
            <a:r>
              <a:rPr lang="en-ZA" altLang="en-US" sz="2000" dirty="0" smtClean="0"/>
              <a:t>constructs</a:t>
            </a:r>
          </a:p>
          <a:p>
            <a:pPr lvl="1"/>
            <a:r>
              <a:rPr lang="en-ZA" altLang="en-US" sz="2000" dirty="0" smtClean="0"/>
              <a:t>Use more memory than equivalent iterative constructs</a:t>
            </a:r>
            <a:endParaRPr lang="en-US" altLang="en-US" sz="2000" dirty="0" smtClean="0"/>
          </a:p>
          <a:p>
            <a:r>
              <a:rPr lang="en-US" altLang="en-US" sz="2400" dirty="0" smtClean="0"/>
              <a:t>A </a:t>
            </a:r>
            <a:r>
              <a:rPr lang="en-US" altLang="en-US" sz="2400" u="sng" dirty="0" smtClean="0"/>
              <a:t>tail recursive</a:t>
            </a:r>
            <a:r>
              <a:rPr lang="en-US" altLang="en-US" sz="2400" dirty="0" smtClean="0"/>
              <a:t> function</a:t>
            </a:r>
          </a:p>
          <a:p>
            <a:pPr lvl="1"/>
            <a:r>
              <a:rPr lang="en-US" altLang="en-US" sz="2000" dirty="0" smtClean="0"/>
              <a:t>The recursive call is the last operation in the function</a:t>
            </a:r>
            <a:endParaRPr lang="en-ZA" altLang="en-US" sz="2000" dirty="0"/>
          </a:p>
          <a:p>
            <a:r>
              <a:rPr lang="en-US" altLang="en-US" sz="2400" dirty="0" smtClean="0"/>
              <a:t>Implication</a:t>
            </a:r>
          </a:p>
          <a:p>
            <a:pPr lvl="1"/>
            <a:r>
              <a:rPr lang="en-US" altLang="en-US" sz="2000" dirty="0" smtClean="0"/>
              <a:t>Interpreter can automatically converted to iteration</a:t>
            </a:r>
          </a:p>
          <a:p>
            <a:pPr lvl="1"/>
            <a:r>
              <a:rPr lang="en-US" altLang="en-US" sz="2000" dirty="0"/>
              <a:t>M</a:t>
            </a:r>
            <a:r>
              <a:rPr lang="en-US" altLang="en-US" sz="2000" dirty="0" smtClean="0"/>
              <a:t>akes the function much faster and resource efficient</a:t>
            </a:r>
          </a:p>
          <a:p>
            <a:pPr lvl="1"/>
            <a:r>
              <a:rPr lang="en-US" altLang="en-US" sz="2000" dirty="0" smtClean="0"/>
              <a:t>Scheme language definition requires all tail recursive functions to be converted to iteration</a:t>
            </a:r>
          </a:p>
        </p:txBody>
      </p:sp>
      <p:sp>
        <p:nvSpPr>
          <p:cNvPr id="36868"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6349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00D0509-3BE6-4CD2-810D-11D1CE697453}"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sz="3200" dirty="0" smtClean="0"/>
              <a:t>Tail Recursion in Scheme</a:t>
            </a:r>
            <a:endParaRPr lang="en-US" altLang="en-US" sz="2000" dirty="0" smtClean="0"/>
          </a:p>
        </p:txBody>
      </p:sp>
      <p:sp>
        <p:nvSpPr>
          <p:cNvPr id="64515" name="Content Placeholder 2"/>
          <p:cNvSpPr>
            <a:spLocks noGrp="1"/>
          </p:cNvSpPr>
          <p:nvPr>
            <p:ph idx="1"/>
          </p:nvPr>
        </p:nvSpPr>
        <p:spPr>
          <a:xfrm>
            <a:off x="630620" y="1344010"/>
            <a:ext cx="8153400" cy="4876800"/>
          </a:xfrm>
        </p:spPr>
        <p:txBody>
          <a:bodyPr/>
          <a:lstStyle/>
          <a:p>
            <a:r>
              <a:rPr lang="en-US" altLang="en-US" sz="2400" dirty="0" smtClean="0"/>
              <a:t>Rewriting to make a function tail recursive</a:t>
            </a:r>
          </a:p>
        </p:txBody>
      </p:sp>
      <p:sp>
        <p:nvSpPr>
          <p:cNvPr id="37892"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6451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92E1430-2093-4A26-AE95-BD36972F9ABC}"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2" name="TextBox 1"/>
          <p:cNvSpPr txBox="1"/>
          <p:nvPr/>
        </p:nvSpPr>
        <p:spPr>
          <a:xfrm>
            <a:off x="762000" y="1873240"/>
            <a:ext cx="3762568" cy="1708160"/>
          </a:xfrm>
          <a:prstGeom prst="rect">
            <a:avLst/>
          </a:prstGeom>
          <a:noFill/>
          <a:ln>
            <a:solidFill>
              <a:srgbClr val="333399"/>
            </a:solidFill>
          </a:ln>
        </p:spPr>
        <p:txBody>
          <a:bodyPr wrap="none" rtlCol="0">
            <a:spAutoFit/>
          </a:bodyPr>
          <a:lstStyle/>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(define (factorial </a:t>
            </a:r>
            <a:r>
              <a:rPr lang="en-US" altLang="en-US" sz="1500" kern="0" dirty="0">
                <a:solidFill>
                  <a:srgbClr val="333399"/>
                </a:solidFill>
                <a:latin typeface="Courier New" panose="02070309020205020404" pitchFamily="49" charset="0"/>
                <a:cs typeface="Courier New" panose="02070309020205020404" pitchFamily="49" charset="0"/>
              </a:rPr>
              <a:t>n)</a:t>
            </a:r>
          </a:p>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   (if (= </a:t>
            </a:r>
            <a:r>
              <a:rPr lang="en-US" altLang="en-US" sz="1500" kern="0" dirty="0">
                <a:solidFill>
                  <a:srgbClr val="333399"/>
                </a:solidFill>
                <a:latin typeface="Courier New" panose="02070309020205020404" pitchFamily="49" charset="0"/>
                <a:cs typeface="Courier New" panose="02070309020205020404" pitchFamily="49" charset="0"/>
              </a:rPr>
              <a:t>n 0)</a:t>
            </a:r>
          </a:p>
          <a:p>
            <a:pPr marL="342900" lvl="0" indent="-342900">
              <a:spcBef>
                <a:spcPct val="20000"/>
              </a:spcBef>
            </a:pPr>
            <a:r>
              <a:rPr lang="en-US" altLang="en-US" sz="1500" kern="0" dirty="0">
                <a:solidFill>
                  <a:srgbClr val="333399"/>
                </a:solidFill>
                <a:latin typeface="Courier New" panose="02070309020205020404" pitchFamily="49" charset="0"/>
                <a:cs typeface="Courier New" panose="02070309020205020404" pitchFamily="49" charset="0"/>
              </a:rPr>
              <a:t>   </a:t>
            </a:r>
            <a:r>
              <a:rPr lang="en-US" altLang="en-US" sz="1500" kern="0" dirty="0" smtClean="0">
                <a:solidFill>
                  <a:srgbClr val="333399"/>
                </a:solidFill>
                <a:latin typeface="Courier New" panose="02070309020205020404" pitchFamily="49" charset="0"/>
                <a:cs typeface="Courier New" panose="02070309020205020404" pitchFamily="49" charset="0"/>
              </a:rPr>
              <a:t>   1</a:t>
            </a:r>
            <a:endParaRPr lang="en-US" altLang="en-US" sz="1500" kern="0" dirty="0">
              <a:solidFill>
                <a:srgbClr val="333399"/>
              </a:solidFill>
              <a:latin typeface="Courier New" panose="02070309020205020404" pitchFamily="49" charset="0"/>
              <a:cs typeface="Courier New" panose="02070309020205020404" pitchFamily="49" charset="0"/>
            </a:endParaRPr>
          </a:p>
          <a:p>
            <a:pPr marL="342900" lvl="0" indent="-342900">
              <a:spcBef>
                <a:spcPct val="20000"/>
              </a:spcBef>
            </a:pPr>
            <a:r>
              <a:rPr lang="en-US" altLang="en-US" sz="1500" kern="0" dirty="0">
                <a:solidFill>
                  <a:srgbClr val="333399"/>
                </a:solidFill>
                <a:latin typeface="Courier New" panose="02070309020205020404" pitchFamily="49" charset="0"/>
                <a:cs typeface="Courier New" panose="02070309020205020404" pitchFamily="49" charset="0"/>
              </a:rPr>
              <a:t>      </a:t>
            </a:r>
            <a:r>
              <a:rPr lang="en-US" altLang="en-US" sz="1500" kern="0" dirty="0" smtClean="0">
                <a:solidFill>
                  <a:srgbClr val="333399"/>
                </a:solidFill>
                <a:latin typeface="Courier New" panose="02070309020205020404" pitchFamily="49" charset="0"/>
                <a:cs typeface="Courier New" panose="02070309020205020404" pitchFamily="49" charset="0"/>
              </a:rPr>
              <a:t>(* </a:t>
            </a:r>
            <a:r>
              <a:rPr lang="en-US" altLang="en-US" sz="1500" kern="0" dirty="0">
                <a:solidFill>
                  <a:srgbClr val="333399"/>
                </a:solidFill>
                <a:latin typeface="Courier New" panose="02070309020205020404" pitchFamily="49" charset="0"/>
                <a:cs typeface="Courier New" panose="02070309020205020404" pitchFamily="49" charset="0"/>
              </a:rPr>
              <a:t>n (factorial (- n 1)))</a:t>
            </a:r>
          </a:p>
          <a:p>
            <a:pPr marL="342900" lvl="0" indent="-342900">
              <a:spcBef>
                <a:spcPct val="20000"/>
              </a:spcBef>
            </a:pPr>
            <a:r>
              <a:rPr lang="en-US" altLang="en-US" sz="1500" kern="0" dirty="0">
                <a:solidFill>
                  <a:srgbClr val="333399"/>
                </a:solidFill>
                <a:latin typeface="Courier New" panose="02070309020205020404" pitchFamily="49" charset="0"/>
                <a:cs typeface="Courier New" panose="02070309020205020404" pitchFamily="49" charset="0"/>
              </a:rPr>
              <a:t>   </a:t>
            </a:r>
            <a:r>
              <a:rPr lang="en-US" altLang="en-US" sz="1500" kern="0" dirty="0" smtClean="0">
                <a:solidFill>
                  <a:srgbClr val="333399"/>
                </a:solidFill>
                <a:latin typeface="Courier New" panose="02070309020205020404" pitchFamily="49" charset="0"/>
                <a:cs typeface="Courier New" panose="02070309020205020404" pitchFamily="49" charset="0"/>
              </a:rPr>
              <a:t>)</a:t>
            </a:r>
            <a:endParaRPr lang="en-US" altLang="en-US" sz="1500" kern="0" dirty="0">
              <a:solidFill>
                <a:srgbClr val="333399"/>
              </a:solidFill>
              <a:latin typeface="Courier New" panose="02070309020205020404" pitchFamily="49" charset="0"/>
              <a:cs typeface="Courier New" panose="02070309020205020404" pitchFamily="49" charset="0"/>
            </a:endParaRPr>
          </a:p>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a:t>
            </a:r>
            <a:endParaRPr lang="en-ZA" dirty="0"/>
          </a:p>
        </p:txBody>
      </p:sp>
      <p:sp>
        <p:nvSpPr>
          <p:cNvPr id="7" name="TextBox 6"/>
          <p:cNvSpPr txBox="1"/>
          <p:nvPr/>
        </p:nvSpPr>
        <p:spPr>
          <a:xfrm>
            <a:off x="762000" y="3733800"/>
            <a:ext cx="4801314" cy="2613023"/>
          </a:xfrm>
          <a:prstGeom prst="rect">
            <a:avLst/>
          </a:prstGeom>
          <a:noFill/>
          <a:ln>
            <a:solidFill>
              <a:srgbClr val="333399"/>
            </a:solidFill>
          </a:ln>
        </p:spPr>
        <p:txBody>
          <a:bodyPr wrap="none" rtlCol="0">
            <a:spAutoFit/>
          </a:bodyPr>
          <a:lstStyle/>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(define (</a:t>
            </a:r>
            <a:r>
              <a:rPr lang="en-US" altLang="en-US" sz="1500" kern="0" dirty="0" err="1" smtClean="0">
                <a:solidFill>
                  <a:srgbClr val="333399"/>
                </a:solidFill>
                <a:latin typeface="Courier New" panose="02070309020205020404" pitchFamily="49" charset="0"/>
                <a:cs typeface="Courier New" panose="02070309020205020404" pitchFamily="49" charset="0"/>
              </a:rPr>
              <a:t>facthelper</a:t>
            </a:r>
            <a:r>
              <a:rPr lang="en-US" altLang="en-US" sz="1500" kern="0" dirty="0" smtClean="0">
                <a:solidFill>
                  <a:srgbClr val="333399"/>
                </a:solidFill>
                <a:latin typeface="Courier New" panose="02070309020205020404" pitchFamily="49" charset="0"/>
                <a:cs typeface="Courier New" panose="02070309020205020404" pitchFamily="49" charset="0"/>
              </a:rPr>
              <a:t> </a:t>
            </a:r>
            <a:r>
              <a:rPr lang="en-US" altLang="en-US" sz="1500" kern="0" dirty="0">
                <a:solidFill>
                  <a:srgbClr val="333399"/>
                </a:solidFill>
                <a:latin typeface="Courier New" panose="02070309020205020404" pitchFamily="49" charset="0"/>
                <a:cs typeface="Courier New" panose="02070309020205020404" pitchFamily="49" charset="0"/>
              </a:rPr>
              <a:t>n </a:t>
            </a:r>
            <a:r>
              <a:rPr lang="en-US" altLang="en-US" sz="1500" kern="0" dirty="0" smtClean="0">
                <a:solidFill>
                  <a:srgbClr val="333399"/>
                </a:solidFill>
                <a:latin typeface="Courier New" panose="02070309020205020404" pitchFamily="49" charset="0"/>
                <a:cs typeface="Courier New" panose="02070309020205020404" pitchFamily="49" charset="0"/>
              </a:rPr>
              <a:t>partial</a:t>
            </a:r>
            <a:r>
              <a:rPr lang="en-US" altLang="en-US" sz="1500" kern="0" dirty="0">
                <a:solidFill>
                  <a:srgbClr val="333399"/>
                </a:solidFill>
                <a:latin typeface="Courier New" panose="02070309020205020404" pitchFamily="49" charset="0"/>
                <a:cs typeface="Courier New" panose="02070309020205020404" pitchFamily="49" charset="0"/>
              </a:rPr>
              <a:t>)</a:t>
            </a:r>
          </a:p>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   (if (&lt;= </a:t>
            </a:r>
            <a:r>
              <a:rPr lang="en-US" altLang="en-US" sz="1500" kern="0" dirty="0">
                <a:solidFill>
                  <a:srgbClr val="333399"/>
                </a:solidFill>
                <a:latin typeface="Courier New" panose="02070309020205020404" pitchFamily="49" charset="0"/>
                <a:cs typeface="Courier New" panose="02070309020205020404" pitchFamily="49" charset="0"/>
              </a:rPr>
              <a:t>n 1)</a:t>
            </a:r>
          </a:p>
          <a:p>
            <a:pPr marL="342900" lvl="0" indent="-342900">
              <a:spcBef>
                <a:spcPct val="20000"/>
              </a:spcBef>
            </a:pPr>
            <a:r>
              <a:rPr lang="en-US" altLang="en-US" sz="1500" kern="0" dirty="0">
                <a:solidFill>
                  <a:srgbClr val="333399"/>
                </a:solidFill>
                <a:latin typeface="Courier New" panose="02070309020205020404" pitchFamily="49" charset="0"/>
                <a:cs typeface="Courier New" panose="02070309020205020404" pitchFamily="49" charset="0"/>
              </a:rPr>
              <a:t>   </a:t>
            </a:r>
            <a:r>
              <a:rPr lang="en-US" altLang="en-US" sz="1500" kern="0" dirty="0" smtClean="0">
                <a:solidFill>
                  <a:srgbClr val="333399"/>
                </a:solidFill>
                <a:latin typeface="Courier New" panose="02070309020205020404" pitchFamily="49" charset="0"/>
                <a:cs typeface="Courier New" panose="02070309020205020404" pitchFamily="49" charset="0"/>
              </a:rPr>
              <a:t>   partial</a:t>
            </a:r>
            <a:endParaRPr lang="en-US" altLang="en-US" sz="1500" kern="0" dirty="0">
              <a:solidFill>
                <a:srgbClr val="333399"/>
              </a:solidFill>
              <a:latin typeface="Courier New" panose="02070309020205020404" pitchFamily="49" charset="0"/>
              <a:cs typeface="Courier New" panose="02070309020205020404" pitchFamily="49" charset="0"/>
            </a:endParaRPr>
          </a:p>
          <a:p>
            <a:pPr marL="342900" lvl="0" indent="-342900">
              <a:spcBef>
                <a:spcPct val="20000"/>
              </a:spcBef>
            </a:pPr>
            <a:r>
              <a:rPr lang="en-US" altLang="en-US" sz="1500" kern="0" dirty="0">
                <a:solidFill>
                  <a:srgbClr val="333399"/>
                </a:solidFill>
                <a:latin typeface="Courier New" panose="02070309020205020404" pitchFamily="49" charset="0"/>
                <a:cs typeface="Courier New" panose="02070309020205020404" pitchFamily="49" charset="0"/>
              </a:rPr>
              <a:t>      </a:t>
            </a:r>
            <a:r>
              <a:rPr lang="en-US" altLang="en-US" sz="1500" kern="0" dirty="0" smtClean="0">
                <a:solidFill>
                  <a:srgbClr val="333399"/>
                </a:solidFill>
                <a:latin typeface="Courier New" panose="02070309020205020404" pitchFamily="49" charset="0"/>
                <a:cs typeface="Courier New" panose="02070309020205020404" pitchFamily="49" charset="0"/>
              </a:rPr>
              <a:t>(</a:t>
            </a:r>
            <a:r>
              <a:rPr lang="en-US" altLang="en-US" sz="1500" kern="0" dirty="0" err="1">
                <a:solidFill>
                  <a:srgbClr val="333399"/>
                </a:solidFill>
                <a:latin typeface="Courier New" panose="02070309020205020404" pitchFamily="49" charset="0"/>
                <a:cs typeface="Courier New" panose="02070309020205020404" pitchFamily="49" charset="0"/>
              </a:rPr>
              <a:t>facthelper</a:t>
            </a:r>
            <a:r>
              <a:rPr lang="en-US" altLang="en-US" sz="1500" kern="0" dirty="0">
                <a:solidFill>
                  <a:srgbClr val="333399"/>
                </a:solidFill>
                <a:latin typeface="Courier New" panose="02070309020205020404" pitchFamily="49" charset="0"/>
                <a:cs typeface="Courier New" panose="02070309020205020404" pitchFamily="49" charset="0"/>
              </a:rPr>
              <a:t> (- n 1) (* n </a:t>
            </a:r>
            <a:r>
              <a:rPr lang="en-US" altLang="en-US" sz="1500" kern="0" dirty="0" smtClean="0">
                <a:solidFill>
                  <a:srgbClr val="333399"/>
                </a:solidFill>
                <a:latin typeface="Courier New" panose="02070309020205020404" pitchFamily="49" charset="0"/>
                <a:cs typeface="Courier New" panose="02070309020205020404" pitchFamily="49" charset="0"/>
              </a:rPr>
              <a:t>partial</a:t>
            </a:r>
            <a:r>
              <a:rPr lang="en-US" altLang="en-US" sz="1500" kern="0" dirty="0">
                <a:solidFill>
                  <a:srgbClr val="333399"/>
                </a:solidFill>
                <a:latin typeface="Courier New" panose="02070309020205020404" pitchFamily="49" charset="0"/>
                <a:cs typeface="Courier New" panose="02070309020205020404" pitchFamily="49" charset="0"/>
              </a:rPr>
              <a:t>))</a:t>
            </a:r>
          </a:p>
          <a:p>
            <a:pPr marL="342900" lvl="0" indent="-342900">
              <a:spcBef>
                <a:spcPct val="20000"/>
              </a:spcBef>
            </a:pPr>
            <a:r>
              <a:rPr lang="en-US" altLang="en-US" sz="1500" kern="0" dirty="0">
                <a:solidFill>
                  <a:srgbClr val="333399"/>
                </a:solidFill>
                <a:latin typeface="Courier New" panose="02070309020205020404" pitchFamily="49" charset="0"/>
                <a:cs typeface="Courier New" panose="02070309020205020404" pitchFamily="49" charset="0"/>
              </a:rPr>
              <a:t>   </a:t>
            </a:r>
            <a:r>
              <a:rPr lang="en-US" altLang="en-US" sz="1500" kern="0" dirty="0" smtClean="0">
                <a:solidFill>
                  <a:srgbClr val="333399"/>
                </a:solidFill>
                <a:latin typeface="Courier New" panose="02070309020205020404" pitchFamily="49" charset="0"/>
                <a:cs typeface="Courier New" panose="02070309020205020404" pitchFamily="49" charset="0"/>
              </a:rPr>
              <a:t>)</a:t>
            </a:r>
            <a:endParaRPr lang="en-US" altLang="en-US" sz="1500" kern="0" dirty="0">
              <a:solidFill>
                <a:srgbClr val="333399"/>
              </a:solidFill>
              <a:latin typeface="Courier New" panose="02070309020205020404" pitchFamily="49" charset="0"/>
              <a:cs typeface="Courier New" panose="02070309020205020404" pitchFamily="49" charset="0"/>
            </a:endParaRPr>
          </a:p>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a:t>
            </a:r>
            <a:endParaRPr lang="en-US" altLang="en-US" sz="1500" kern="0" dirty="0">
              <a:solidFill>
                <a:srgbClr val="333399"/>
              </a:solidFill>
              <a:latin typeface="Courier New" panose="02070309020205020404" pitchFamily="49" charset="0"/>
              <a:cs typeface="Courier New" panose="02070309020205020404" pitchFamily="49" charset="0"/>
            </a:endParaRPr>
          </a:p>
          <a:p>
            <a:pPr marL="342900" lvl="0" indent="-342900">
              <a:spcBef>
                <a:spcPct val="20000"/>
              </a:spcBef>
            </a:pPr>
            <a:endParaRPr lang="en-US" altLang="en-US" sz="400" kern="0" dirty="0" smtClean="0">
              <a:solidFill>
                <a:srgbClr val="333399"/>
              </a:solidFill>
              <a:latin typeface="Courier New" panose="02070309020205020404" pitchFamily="49" charset="0"/>
              <a:cs typeface="Courier New" panose="02070309020205020404" pitchFamily="49" charset="0"/>
            </a:endParaRPr>
          </a:p>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(define (factorial </a:t>
            </a:r>
            <a:r>
              <a:rPr lang="en-US" altLang="en-US" sz="1500" kern="0" dirty="0">
                <a:solidFill>
                  <a:srgbClr val="333399"/>
                </a:solidFill>
                <a:latin typeface="Courier New" panose="02070309020205020404" pitchFamily="49" charset="0"/>
                <a:cs typeface="Courier New" panose="02070309020205020404" pitchFamily="49" charset="0"/>
              </a:rPr>
              <a:t>n)</a:t>
            </a:r>
          </a:p>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   (</a:t>
            </a:r>
            <a:r>
              <a:rPr lang="en-US" altLang="en-US" sz="1500" kern="0" dirty="0" err="1">
                <a:solidFill>
                  <a:srgbClr val="333399"/>
                </a:solidFill>
                <a:latin typeface="Courier New" panose="02070309020205020404" pitchFamily="49" charset="0"/>
                <a:cs typeface="Courier New" panose="02070309020205020404" pitchFamily="49" charset="0"/>
              </a:rPr>
              <a:t>facthelper</a:t>
            </a:r>
            <a:r>
              <a:rPr lang="en-US" altLang="en-US" sz="1500" kern="0" dirty="0">
                <a:solidFill>
                  <a:srgbClr val="333399"/>
                </a:solidFill>
                <a:latin typeface="Courier New" panose="02070309020205020404" pitchFamily="49" charset="0"/>
                <a:cs typeface="Courier New" panose="02070309020205020404" pitchFamily="49" charset="0"/>
              </a:rPr>
              <a:t> n 1)</a:t>
            </a:r>
          </a:p>
          <a:p>
            <a:pPr marL="342900" lvl="0" indent="-342900">
              <a:spcBef>
                <a:spcPct val="20000"/>
              </a:spcBef>
            </a:pPr>
            <a:r>
              <a:rPr lang="en-US" altLang="en-US" sz="1500" kern="0" dirty="0" smtClean="0">
                <a:solidFill>
                  <a:srgbClr val="333399"/>
                </a:solidFill>
                <a:latin typeface="Courier New" panose="02070309020205020404" pitchFamily="49" charset="0"/>
                <a:cs typeface="Courier New" panose="02070309020205020404" pitchFamily="49" charset="0"/>
              </a:rPr>
              <a:t>)</a:t>
            </a:r>
            <a:endParaRPr lang="en-US" altLang="en-US" sz="1500" kern="0" dirty="0">
              <a:solidFill>
                <a:srgbClr val="333399"/>
              </a:solidFill>
              <a:latin typeface="Courier New" panose="02070309020205020404" pitchFamily="49" charset="0"/>
              <a:cs typeface="Courier New" panose="02070309020205020404" pitchFamily="49" charset="0"/>
            </a:endParaRPr>
          </a:p>
        </p:txBody>
      </p:sp>
      <p:cxnSp>
        <p:nvCxnSpPr>
          <p:cNvPr id="4" name="Elbow Connector 3"/>
          <p:cNvCxnSpPr>
            <a:stCxn id="2" idx="3"/>
          </p:cNvCxnSpPr>
          <p:nvPr/>
        </p:nvCxnSpPr>
        <p:spPr bwMode="auto">
          <a:xfrm>
            <a:off x="4524568" y="2727320"/>
            <a:ext cx="783021" cy="1006480"/>
          </a:xfrm>
          <a:prstGeom prst="bentConnector2">
            <a:avLst/>
          </a:prstGeom>
          <a:solidFill>
            <a:schemeClr val="accent1"/>
          </a:solidFill>
          <a:ln w="9525" cap="flat" cmpd="sng" algn="ctr">
            <a:solidFill>
              <a:srgbClr val="333399"/>
            </a:solidFill>
            <a:prstDash val="solid"/>
            <a:round/>
            <a:headEnd type="none" w="med" len="med"/>
            <a:tailEnd type="stealth" w="lg" len="lg"/>
          </a:ln>
          <a:effectLst/>
        </p:spPr>
      </p:cxnSp>
      <p:sp>
        <p:nvSpPr>
          <p:cNvPr id="10" name="TextBox 9"/>
          <p:cNvSpPr txBox="1"/>
          <p:nvPr/>
        </p:nvSpPr>
        <p:spPr>
          <a:xfrm>
            <a:off x="5738075" y="4533952"/>
            <a:ext cx="3068468" cy="830997"/>
          </a:xfrm>
          <a:prstGeom prst="rect">
            <a:avLst/>
          </a:prstGeom>
          <a:noFill/>
          <a:ln>
            <a:solidFill>
              <a:srgbClr val="333399"/>
            </a:solidFill>
          </a:ln>
        </p:spPr>
        <p:txBody>
          <a:bodyPr wrap="square" rtlCol="0">
            <a:spAutoFit/>
          </a:bodyPr>
          <a:lstStyle/>
          <a:p>
            <a:r>
              <a:rPr lang="en-US" sz="1200" kern="0" dirty="0" smtClean="0">
                <a:solidFill>
                  <a:srgbClr val="333399"/>
                </a:solidFill>
                <a:latin typeface="Lucida Sans Unicode"/>
                <a:cs typeface="Lucida Sans Unicode"/>
              </a:rPr>
              <a:t>(factorial 3)</a:t>
            </a: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3 1</a:t>
            </a:r>
            <a:r>
              <a:rPr lang="en-US" sz="1200" kern="0" dirty="0" smtClean="0">
                <a:solidFill>
                  <a:srgbClr val="333399"/>
                </a:solidFill>
                <a:latin typeface="Lucida Sans Unicode"/>
                <a:cs typeface="Lucida Sans Unicode"/>
              </a:rPr>
              <a:t>)</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2 3</a:t>
            </a:r>
            <a:r>
              <a:rPr lang="en-US" sz="1200" kern="0" dirty="0" smtClean="0">
                <a:solidFill>
                  <a:srgbClr val="333399"/>
                </a:solidFill>
                <a:latin typeface="Lucida Sans Unicode"/>
                <a:cs typeface="Lucida Sans Unicode"/>
              </a:rPr>
              <a:t>)</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1 6</a:t>
            </a:r>
            <a:r>
              <a:rPr lang="en-US" sz="1200" kern="0" dirty="0" smtClean="0">
                <a:solidFill>
                  <a:srgbClr val="333399"/>
                </a:solidFill>
                <a:latin typeface="Lucida Sans Unicode"/>
                <a:cs typeface="Lucida Sans Unicode"/>
              </a:rPr>
              <a:t>)</a:t>
            </a:r>
            <a:endParaRPr lang="en-US" sz="1200" kern="0" dirty="0" smtClean="0">
              <a:solidFill>
                <a:srgbClr val="333399"/>
              </a:solidFill>
              <a:latin typeface="Lucida Sans Unicode"/>
              <a:cs typeface="Lucida Sans Unicode"/>
            </a:endParaRPr>
          </a:p>
        </p:txBody>
      </p:sp>
      <p:sp>
        <p:nvSpPr>
          <p:cNvPr id="11" name="TextBox 10"/>
          <p:cNvSpPr txBox="1"/>
          <p:nvPr/>
        </p:nvSpPr>
        <p:spPr>
          <a:xfrm>
            <a:off x="6304885" y="1967804"/>
            <a:ext cx="2501006" cy="830997"/>
          </a:xfrm>
          <a:prstGeom prst="rect">
            <a:avLst/>
          </a:prstGeom>
          <a:noFill/>
          <a:ln>
            <a:solidFill>
              <a:srgbClr val="333399"/>
            </a:solidFill>
          </a:ln>
        </p:spPr>
        <p:txBody>
          <a:bodyPr wrap="square" rtlCol="0">
            <a:spAutoFit/>
          </a:bodyPr>
          <a:lstStyle/>
          <a:p>
            <a:r>
              <a:rPr lang="en-US" sz="1200" kern="0" dirty="0" smtClean="0">
                <a:solidFill>
                  <a:srgbClr val="333399"/>
                </a:solidFill>
                <a:latin typeface="Lucida Sans Unicode"/>
                <a:cs typeface="Lucida Sans Unicode"/>
              </a:rPr>
              <a:t>(factorial 3</a:t>
            </a:r>
            <a:r>
              <a:rPr lang="en-US" sz="1200" kern="0" dirty="0" smtClean="0">
                <a:solidFill>
                  <a:srgbClr val="333399"/>
                </a:solidFill>
                <a:latin typeface="Lucida Sans Unicode"/>
                <a:cs typeface="Lucida Sans Unicode"/>
              </a:rPr>
              <a:t>)</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(factorial 2</a:t>
            </a:r>
            <a:r>
              <a:rPr lang="en-US" sz="1200" kern="0" dirty="0" smtClean="0">
                <a:solidFill>
                  <a:srgbClr val="333399"/>
                </a:solidFill>
                <a:latin typeface="Lucida Sans Unicode"/>
                <a:cs typeface="Lucida Sans Unicode"/>
              </a:rPr>
              <a:t>)</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(factorial 1</a:t>
            </a:r>
            <a:r>
              <a:rPr lang="en-US" sz="1200" kern="0" dirty="0" smtClean="0">
                <a:solidFill>
                  <a:srgbClr val="333399"/>
                </a:solidFill>
                <a:latin typeface="Lucida Sans Unicode"/>
                <a:cs typeface="Lucida Sans Unicode"/>
              </a:rPr>
              <a:t>)</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(factorial 0</a:t>
            </a:r>
            <a:r>
              <a:rPr lang="en-US" sz="1200" kern="0" dirty="0" smtClean="0">
                <a:solidFill>
                  <a:srgbClr val="333399"/>
                </a:solidFill>
                <a:latin typeface="Lucida Sans Unicode"/>
                <a:cs typeface="Lucida Sans Unicode"/>
              </a:rPr>
              <a:t>)</a:t>
            </a:r>
            <a:endParaRPr lang="en-US" sz="1200" kern="0" dirty="0" smtClean="0">
              <a:solidFill>
                <a:srgbClr val="333399"/>
              </a:solidFill>
              <a:latin typeface="Lucida Sans Unicode"/>
              <a:cs typeface="Lucida Sans Unicode"/>
            </a:endParaRPr>
          </a:p>
        </p:txBody>
      </p:sp>
      <p:sp>
        <p:nvSpPr>
          <p:cNvPr id="12" name="TextBox 11"/>
          <p:cNvSpPr txBox="1"/>
          <p:nvPr/>
        </p:nvSpPr>
        <p:spPr>
          <a:xfrm>
            <a:off x="6304034" y="1967805"/>
            <a:ext cx="2501006" cy="830997"/>
          </a:xfrm>
          <a:prstGeom prst="rect">
            <a:avLst/>
          </a:prstGeom>
          <a:noFill/>
          <a:ln>
            <a:noFill/>
          </a:ln>
        </p:spPr>
        <p:txBody>
          <a:bodyPr wrap="none" rtlCol="0">
            <a:spAutoFit/>
          </a:bodyPr>
          <a:lstStyle/>
          <a:p>
            <a:r>
              <a:rPr lang="en-US" sz="1200" kern="0" dirty="0" smtClean="0">
                <a:solidFill>
                  <a:srgbClr val="333399"/>
                </a:solidFill>
                <a:latin typeface="Lucida Sans Unicode"/>
                <a:cs typeface="Lucida Sans Unicode"/>
              </a:rPr>
              <a:t>(factorial 3)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3 (factorial 2))</a:t>
            </a:r>
          </a:p>
          <a:p>
            <a:r>
              <a:rPr lang="en-US" sz="1200" kern="0" dirty="0" smtClean="0">
                <a:solidFill>
                  <a:srgbClr val="333399"/>
                </a:solidFill>
                <a:latin typeface="Lucida Sans Unicode"/>
                <a:cs typeface="Lucida Sans Unicode"/>
              </a:rPr>
              <a:t>(factorial 2)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2 (factorial 1))</a:t>
            </a:r>
          </a:p>
          <a:p>
            <a:r>
              <a:rPr lang="en-US" sz="1200" kern="0" dirty="0" smtClean="0">
                <a:solidFill>
                  <a:srgbClr val="333399"/>
                </a:solidFill>
                <a:latin typeface="Lucida Sans Unicode"/>
                <a:cs typeface="Lucida Sans Unicode"/>
              </a:rPr>
              <a:t>(factorial 1)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1 (factorial 0))</a:t>
            </a:r>
          </a:p>
          <a:p>
            <a:r>
              <a:rPr lang="en-US" sz="1200" kern="0" dirty="0" smtClean="0">
                <a:solidFill>
                  <a:srgbClr val="333399"/>
                </a:solidFill>
                <a:latin typeface="Lucida Sans Unicode"/>
                <a:cs typeface="Lucida Sans Unicode"/>
              </a:rPr>
              <a:t>(factorial 0)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a:t>
            </a:r>
            <a:r>
              <a:rPr lang="en-US" sz="1200" kern="0" dirty="0" smtClean="0">
                <a:solidFill>
                  <a:srgbClr val="333399"/>
                </a:solidFill>
                <a:latin typeface="Lucida Sans Unicode"/>
                <a:cs typeface="Lucida Sans Unicode"/>
              </a:rPr>
              <a:t>1</a:t>
            </a:r>
            <a:endParaRPr lang="en-US" sz="1200" kern="0" dirty="0" smtClean="0">
              <a:solidFill>
                <a:srgbClr val="333399"/>
              </a:solidFill>
              <a:latin typeface="Lucida Sans Unicode"/>
              <a:cs typeface="Lucida Sans Unicode"/>
            </a:endParaRPr>
          </a:p>
        </p:txBody>
      </p:sp>
      <p:sp>
        <p:nvSpPr>
          <p:cNvPr id="13" name="TextBox 12"/>
          <p:cNvSpPr txBox="1"/>
          <p:nvPr/>
        </p:nvSpPr>
        <p:spPr>
          <a:xfrm>
            <a:off x="6304034" y="1966737"/>
            <a:ext cx="2501856" cy="830997"/>
          </a:xfrm>
          <a:prstGeom prst="rect">
            <a:avLst/>
          </a:prstGeom>
          <a:noFill/>
          <a:ln>
            <a:noFill/>
          </a:ln>
        </p:spPr>
        <p:txBody>
          <a:bodyPr wrap="square" rtlCol="0">
            <a:spAutoFit/>
          </a:bodyPr>
          <a:lstStyle/>
          <a:p>
            <a:r>
              <a:rPr lang="en-US" sz="1200" kern="0" dirty="0" smtClean="0">
                <a:solidFill>
                  <a:srgbClr val="333399"/>
                </a:solidFill>
                <a:latin typeface="Lucida Sans Unicode"/>
                <a:cs typeface="Lucida Sans Unicode"/>
              </a:rPr>
              <a:t>(factorial 3)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3 </a:t>
            </a:r>
            <a:r>
              <a:rPr lang="en-US" sz="1200" kern="0" dirty="0" smtClean="0">
                <a:solidFill>
                  <a:srgbClr val="333399"/>
                </a:solidFill>
                <a:latin typeface="Lucida Sans Unicode"/>
                <a:cs typeface="Lucida Sans Unicode"/>
              </a:rPr>
              <a:t>2)</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(factorial 2)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a:t>
            </a:r>
            <a:r>
              <a:rPr lang="en-US" sz="1200" kern="0" dirty="0" smtClean="0">
                <a:solidFill>
                  <a:srgbClr val="333399"/>
                </a:solidFill>
                <a:latin typeface="Lucida Sans Unicode"/>
                <a:cs typeface="Lucida Sans Unicode"/>
              </a:rPr>
              <a:t>2 1)</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(factorial 1)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a:t>
            </a:r>
            <a:r>
              <a:rPr lang="en-US" sz="1200" kern="0" dirty="0" smtClean="0">
                <a:solidFill>
                  <a:srgbClr val="333399"/>
                </a:solidFill>
                <a:latin typeface="Lucida Sans Unicode"/>
                <a:cs typeface="Lucida Sans Unicode"/>
              </a:rPr>
              <a:t>1 1)</a:t>
            </a:r>
          </a:p>
          <a:p>
            <a:endParaRPr lang="en-US" sz="1200" kern="0" dirty="0" smtClean="0">
              <a:solidFill>
                <a:srgbClr val="333399"/>
              </a:solidFill>
              <a:latin typeface="Lucida Sans Unicode"/>
              <a:cs typeface="Lucida Sans Unicode"/>
            </a:endParaRPr>
          </a:p>
        </p:txBody>
      </p:sp>
      <p:sp>
        <p:nvSpPr>
          <p:cNvPr id="14" name="TextBox 13"/>
          <p:cNvSpPr txBox="1"/>
          <p:nvPr/>
        </p:nvSpPr>
        <p:spPr>
          <a:xfrm>
            <a:off x="6303183" y="1965669"/>
            <a:ext cx="2501857" cy="830997"/>
          </a:xfrm>
          <a:prstGeom prst="rect">
            <a:avLst/>
          </a:prstGeom>
          <a:noFill/>
          <a:ln>
            <a:noFill/>
          </a:ln>
        </p:spPr>
        <p:txBody>
          <a:bodyPr wrap="square" rtlCol="0">
            <a:spAutoFit/>
          </a:bodyPr>
          <a:lstStyle/>
          <a:p>
            <a:r>
              <a:rPr lang="en-US" sz="1200" kern="0" dirty="0" smtClean="0">
                <a:solidFill>
                  <a:srgbClr val="333399"/>
                </a:solidFill>
                <a:latin typeface="Lucida Sans Unicode"/>
                <a:cs typeface="Lucida Sans Unicode"/>
              </a:rPr>
              <a:t>(factorial 3)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3 </a:t>
            </a:r>
            <a:r>
              <a:rPr lang="en-US" sz="1200" kern="0" dirty="0">
                <a:solidFill>
                  <a:srgbClr val="333399"/>
                </a:solidFill>
                <a:latin typeface="Lucida Sans Unicode"/>
                <a:cs typeface="Lucida Sans Unicode"/>
              </a:rPr>
              <a:t>2) </a:t>
            </a:r>
            <a:r>
              <a:rPr lang="en-US" sz="1200" b="1" kern="0" dirty="0">
                <a:solidFill>
                  <a:srgbClr val="333399"/>
                </a:solidFill>
                <a:latin typeface="Lucida Sans Unicode"/>
                <a:cs typeface="Lucida Sans Unicode"/>
              </a:rPr>
              <a:t>→</a:t>
            </a:r>
            <a:r>
              <a:rPr lang="en-US" sz="1200" kern="0" dirty="0">
                <a:solidFill>
                  <a:srgbClr val="333399"/>
                </a:solidFill>
                <a:latin typeface="Lucida Sans Unicode"/>
                <a:cs typeface="Lucida Sans Unicode"/>
              </a:rPr>
              <a:t> </a:t>
            </a:r>
            <a:r>
              <a:rPr lang="en-US" sz="1200" kern="0" dirty="0" smtClean="0">
                <a:solidFill>
                  <a:srgbClr val="333399"/>
                </a:solidFill>
                <a:latin typeface="Lucida Sans Unicode"/>
                <a:cs typeface="Lucida Sans Unicode"/>
              </a:rPr>
              <a:t>6</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(factorial 2)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2 </a:t>
            </a:r>
            <a:r>
              <a:rPr lang="en-US" sz="1200" kern="0" dirty="0">
                <a:solidFill>
                  <a:srgbClr val="333399"/>
                </a:solidFill>
                <a:latin typeface="Lucida Sans Unicode"/>
                <a:cs typeface="Lucida Sans Unicode"/>
              </a:rPr>
              <a:t>1) </a:t>
            </a:r>
            <a:r>
              <a:rPr lang="en-US" sz="1200" b="1" kern="0" dirty="0">
                <a:solidFill>
                  <a:srgbClr val="333399"/>
                </a:solidFill>
                <a:latin typeface="Lucida Sans Unicode"/>
                <a:cs typeface="Lucida Sans Unicode"/>
              </a:rPr>
              <a:t>→</a:t>
            </a:r>
            <a:r>
              <a:rPr lang="en-US" sz="1200" kern="0" dirty="0">
                <a:solidFill>
                  <a:srgbClr val="333399"/>
                </a:solidFill>
                <a:latin typeface="Lucida Sans Unicode"/>
                <a:cs typeface="Lucida Sans Unicode"/>
              </a:rPr>
              <a:t> </a:t>
            </a:r>
            <a:r>
              <a:rPr lang="en-US" sz="1200" kern="0" dirty="0" smtClean="0">
                <a:solidFill>
                  <a:srgbClr val="333399"/>
                </a:solidFill>
                <a:latin typeface="Lucida Sans Unicode"/>
                <a:cs typeface="Lucida Sans Unicode"/>
              </a:rPr>
              <a:t>2</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(factorial 1)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 </a:t>
            </a:r>
            <a:r>
              <a:rPr lang="en-US" sz="1200" kern="0" dirty="0" smtClean="0">
                <a:solidFill>
                  <a:srgbClr val="333399"/>
                </a:solidFill>
                <a:latin typeface="Lucida Sans Unicode"/>
                <a:cs typeface="Lucida Sans Unicode"/>
              </a:rPr>
              <a:t>1 </a:t>
            </a:r>
            <a:r>
              <a:rPr lang="en-US" sz="1200" kern="0" dirty="0">
                <a:solidFill>
                  <a:srgbClr val="333399"/>
                </a:solidFill>
                <a:latin typeface="Lucida Sans Unicode"/>
                <a:cs typeface="Lucida Sans Unicode"/>
              </a:rPr>
              <a:t>1) </a:t>
            </a:r>
            <a:r>
              <a:rPr lang="en-US" sz="1200" b="1" kern="0" dirty="0">
                <a:solidFill>
                  <a:srgbClr val="333399"/>
                </a:solidFill>
                <a:latin typeface="Lucida Sans Unicode"/>
                <a:cs typeface="Lucida Sans Unicode"/>
              </a:rPr>
              <a:t>→</a:t>
            </a:r>
            <a:r>
              <a:rPr lang="en-US" sz="1200" kern="0" dirty="0">
                <a:solidFill>
                  <a:srgbClr val="333399"/>
                </a:solidFill>
                <a:latin typeface="Lucida Sans Unicode"/>
                <a:cs typeface="Lucida Sans Unicode"/>
              </a:rPr>
              <a:t> </a:t>
            </a:r>
            <a:r>
              <a:rPr lang="en-US" sz="1200" kern="0" dirty="0" smtClean="0">
                <a:solidFill>
                  <a:srgbClr val="333399"/>
                </a:solidFill>
                <a:latin typeface="Lucida Sans Unicode"/>
                <a:cs typeface="Lucida Sans Unicode"/>
              </a:rPr>
              <a:t>1</a:t>
            </a:r>
          </a:p>
          <a:p>
            <a:endParaRPr lang="en-US" sz="1200" kern="0" dirty="0" smtClean="0">
              <a:solidFill>
                <a:srgbClr val="333399"/>
              </a:solidFill>
              <a:latin typeface="Lucida Sans Unicode"/>
              <a:cs typeface="Lucida Sans Unicode"/>
            </a:endParaRPr>
          </a:p>
        </p:txBody>
      </p:sp>
      <p:sp>
        <p:nvSpPr>
          <p:cNvPr id="15" name="TextBox 14"/>
          <p:cNvSpPr txBox="1"/>
          <p:nvPr/>
        </p:nvSpPr>
        <p:spPr>
          <a:xfrm>
            <a:off x="5738073" y="4531816"/>
            <a:ext cx="3068469" cy="830997"/>
          </a:xfrm>
          <a:prstGeom prst="rect">
            <a:avLst/>
          </a:prstGeom>
          <a:noFill/>
          <a:ln>
            <a:noFill/>
          </a:ln>
        </p:spPr>
        <p:txBody>
          <a:bodyPr wrap="square" rtlCol="0">
            <a:spAutoFit/>
          </a:bodyPr>
          <a:lstStyle/>
          <a:p>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3 1)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a:t>
            </a:r>
            <a:r>
              <a:rPr lang="en-US" sz="1200" kern="0" dirty="0" smtClean="0">
                <a:solidFill>
                  <a:srgbClr val="333399"/>
                </a:solidFill>
                <a:latin typeface="Lucida Sans Unicode"/>
                <a:cs typeface="Lucida Sans Unicode"/>
              </a:rPr>
              <a:t>6</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2 3)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a:t>
            </a:r>
            <a:r>
              <a:rPr lang="en-US" sz="1200" kern="0" dirty="0" smtClean="0">
                <a:solidFill>
                  <a:srgbClr val="333399"/>
                </a:solidFill>
                <a:latin typeface="Lucida Sans Unicode"/>
                <a:cs typeface="Lucida Sans Unicode"/>
              </a:rPr>
              <a:t>6</a:t>
            </a:r>
          </a:p>
          <a:p>
            <a:endParaRPr lang="en-US" sz="1200" kern="0" dirty="0" smtClean="0">
              <a:solidFill>
                <a:srgbClr val="333399"/>
              </a:solidFill>
              <a:latin typeface="Lucida Sans Unicode"/>
              <a:cs typeface="Lucida Sans Unicode"/>
            </a:endParaRPr>
          </a:p>
        </p:txBody>
      </p:sp>
      <p:sp>
        <p:nvSpPr>
          <p:cNvPr id="16" name="TextBox 15"/>
          <p:cNvSpPr txBox="1"/>
          <p:nvPr/>
        </p:nvSpPr>
        <p:spPr>
          <a:xfrm>
            <a:off x="5738074" y="4531816"/>
            <a:ext cx="3068469" cy="830997"/>
          </a:xfrm>
          <a:prstGeom prst="rect">
            <a:avLst/>
          </a:prstGeom>
          <a:noFill/>
          <a:ln>
            <a:noFill/>
          </a:ln>
        </p:spPr>
        <p:txBody>
          <a:bodyPr wrap="square" rtlCol="0">
            <a:spAutoFit/>
          </a:bodyPr>
          <a:lstStyle/>
          <a:p>
            <a:r>
              <a:rPr lang="en-US" sz="1200" kern="0" dirty="0" smtClean="0">
                <a:solidFill>
                  <a:srgbClr val="333399"/>
                </a:solidFill>
                <a:latin typeface="Lucida Sans Unicode"/>
                <a:cs typeface="Lucida Sans Unicode"/>
              </a:rPr>
              <a:t>(factorial 3</a:t>
            </a:r>
            <a:r>
              <a:rPr lang="en-US" sz="1200" kern="0" dirty="0">
                <a:solidFill>
                  <a:srgbClr val="333399"/>
                </a:solidFill>
                <a:latin typeface="Lucida Sans Unicode"/>
                <a:cs typeface="Lucida Sans Unicode"/>
              </a:rPr>
              <a:t>) </a:t>
            </a:r>
            <a:r>
              <a:rPr lang="en-US" sz="1200" b="1" kern="0" dirty="0">
                <a:solidFill>
                  <a:srgbClr val="333399"/>
                </a:solidFill>
                <a:latin typeface="Lucida Sans Unicode"/>
                <a:cs typeface="Lucida Sans Unicode"/>
              </a:rPr>
              <a:t>→</a:t>
            </a:r>
            <a:r>
              <a:rPr lang="en-US" sz="1200" kern="0" dirty="0">
                <a:solidFill>
                  <a:srgbClr val="333399"/>
                </a:solidFill>
                <a:latin typeface="Lucida Sans Unicode"/>
                <a:cs typeface="Lucida Sans Unicode"/>
              </a:rPr>
              <a:t> </a:t>
            </a:r>
            <a:r>
              <a:rPr lang="en-US" sz="1200" kern="0" dirty="0" smtClean="0">
                <a:solidFill>
                  <a:srgbClr val="333399"/>
                </a:solidFill>
                <a:latin typeface="Lucida Sans Unicode"/>
                <a:cs typeface="Lucida Sans Unicode"/>
              </a:rPr>
              <a:t>6</a:t>
            </a:r>
            <a:endParaRPr lang="en-US" sz="1200" kern="0" dirty="0" smtClean="0">
              <a:solidFill>
                <a:srgbClr val="333399"/>
              </a:solidFill>
              <a:latin typeface="Lucida Sans Unicode"/>
              <a:cs typeface="Lucida Sans Unicode"/>
            </a:endParaRP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3 1)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2 (* 3 1))</a:t>
            </a: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2 3) </a:t>
            </a:r>
            <a:r>
              <a:rPr lang="en-US" sz="1200" b="1" kern="0" dirty="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1 (* 2 3))</a:t>
            </a:r>
          </a:p>
          <a:p>
            <a:r>
              <a:rPr lang="en-US" sz="1200" kern="0" dirty="0" smtClean="0">
                <a:solidFill>
                  <a:srgbClr val="333399"/>
                </a:solidFill>
                <a:latin typeface="Lucida Sans Unicode"/>
                <a:cs typeface="Lucida Sans Unicode"/>
              </a:rPr>
              <a:t>(</a:t>
            </a:r>
            <a:r>
              <a:rPr lang="en-US" sz="1200" kern="0" dirty="0" err="1" smtClean="0">
                <a:solidFill>
                  <a:srgbClr val="333399"/>
                </a:solidFill>
                <a:latin typeface="Lucida Sans Unicode"/>
                <a:cs typeface="Lucida Sans Unicode"/>
              </a:rPr>
              <a:t>facthelper</a:t>
            </a:r>
            <a:r>
              <a:rPr lang="en-US" sz="1200" kern="0" dirty="0" smtClean="0">
                <a:solidFill>
                  <a:srgbClr val="333399"/>
                </a:solidFill>
                <a:latin typeface="Lucida Sans Unicode"/>
                <a:cs typeface="Lucida Sans Unicode"/>
              </a:rPr>
              <a:t> 1 6</a:t>
            </a:r>
            <a:r>
              <a:rPr lang="en-US" sz="1200" kern="0" dirty="0" smtClean="0">
                <a:solidFill>
                  <a:srgbClr val="333399"/>
                </a:solidFill>
                <a:latin typeface="Lucida Sans Unicode"/>
                <a:cs typeface="Lucida Sans Unicode"/>
              </a:rPr>
              <a:t>) </a:t>
            </a:r>
            <a:r>
              <a:rPr lang="en-US" sz="1200" b="1" kern="0" dirty="0" smtClean="0">
                <a:solidFill>
                  <a:srgbClr val="333399"/>
                </a:solidFill>
                <a:latin typeface="Lucida Sans Unicode"/>
                <a:cs typeface="Lucida Sans Unicode"/>
              </a:rPr>
              <a:t>→</a:t>
            </a:r>
            <a:r>
              <a:rPr lang="en-US" sz="1200" kern="0" dirty="0" smtClean="0">
                <a:solidFill>
                  <a:srgbClr val="333399"/>
                </a:solidFill>
                <a:latin typeface="Lucida Sans Unicode"/>
                <a:cs typeface="Lucida Sans Unicode"/>
              </a:rPr>
              <a:t> 6</a:t>
            </a:r>
            <a:endParaRPr lang="en-US" sz="1200" kern="0" dirty="0" smtClean="0">
              <a:solidFill>
                <a:srgbClr val="333399"/>
              </a:solidFill>
              <a:latin typeface="Lucida Sans Unicode"/>
              <a:cs typeface="Lucida Sans Unicode"/>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11">
                                            <p:txEl>
                                              <p:pRg st="2" end="2"/>
                                            </p:txEl>
                                          </p:spTgt>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1">
                                            <p:txEl>
                                              <p:pRg st="3" end="3"/>
                                            </p:txEl>
                                          </p:spTgt>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12">
                                            <p:txEl>
                                              <p:pRg st="2" end="2"/>
                                            </p:txEl>
                                          </p:spTgt>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3">
                                            <p:txEl>
                                              <p:pRg st="2" end="2"/>
                                            </p:txEl>
                                          </p:spTgt>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12">
                                            <p:txEl>
                                              <p:pRg st="1" end="1"/>
                                            </p:txEl>
                                          </p:spTgt>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13">
                                            <p:txEl>
                                              <p:pRg st="1" end="1"/>
                                            </p:txEl>
                                          </p:spTgt>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12">
                                            <p:txEl>
                                              <p:pRg st="0" end="0"/>
                                            </p:txEl>
                                          </p:spTgt>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13">
                                            <p:txEl>
                                              <p:pRg st="0" end="0"/>
                                            </p:txEl>
                                          </p:spTgt>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10">
                                            <p:txEl>
                                              <p:pRg st="1" end="1"/>
                                            </p:txEl>
                                          </p:spTgt>
                                        </p:tgtEl>
                                        <p:attrNameLst>
                                          <p:attrName>style.visibility</p:attrName>
                                        </p:attrNameLst>
                                      </p:cBhvr>
                                      <p:to>
                                        <p:strVal val="hidden"/>
                                      </p:to>
                                    </p:set>
                                  </p:childTnLst>
                                </p:cTn>
                              </p:par>
                              <p:par>
                                <p:cTn id="101" presetID="1" presetClass="entr" presetSubtype="0" fill="hold" nodeType="withEffect">
                                  <p:stCondLst>
                                    <p:cond delay="0"/>
                                  </p:stCondLst>
                                  <p:childTnLst>
                                    <p:set>
                                      <p:cBhvr>
                                        <p:cTn id="102"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nodeType="clickEffect">
                                  <p:stCondLst>
                                    <p:cond delay="0"/>
                                  </p:stCondLst>
                                  <p:childTnLst>
                                    <p:set>
                                      <p:cBhvr>
                                        <p:cTn id="110" dur="1" fill="hold">
                                          <p:stCondLst>
                                            <p:cond delay="0"/>
                                          </p:stCondLst>
                                        </p:cTn>
                                        <p:tgtEl>
                                          <p:spTgt spid="10">
                                            <p:txEl>
                                              <p:pRg st="2" end="2"/>
                                            </p:txEl>
                                          </p:spTgt>
                                        </p:tgtEl>
                                        <p:attrNameLst>
                                          <p:attrName>style.visibility</p:attrName>
                                        </p:attrNameLst>
                                      </p:cBhvr>
                                      <p:to>
                                        <p:strVal val="hidden"/>
                                      </p:to>
                                    </p:set>
                                  </p:childTnLst>
                                </p:cTn>
                              </p:par>
                              <p:par>
                                <p:cTn id="111" presetID="1" presetClass="entr" presetSubtype="0" fill="hold" nodeType="withEffect">
                                  <p:stCondLst>
                                    <p:cond delay="0"/>
                                  </p:stCondLst>
                                  <p:childTnLst>
                                    <p:set>
                                      <p:cBhvr>
                                        <p:cTn id="112"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nodeType="clickEffect">
                                  <p:stCondLst>
                                    <p:cond delay="0"/>
                                  </p:stCondLst>
                                  <p:childTnLst>
                                    <p:set>
                                      <p:cBhvr>
                                        <p:cTn id="120" dur="1" fill="hold">
                                          <p:stCondLst>
                                            <p:cond delay="0"/>
                                          </p:stCondLst>
                                        </p:cTn>
                                        <p:tgtEl>
                                          <p:spTgt spid="10">
                                            <p:txEl>
                                              <p:pRg st="3" end="3"/>
                                            </p:txEl>
                                          </p:spTgt>
                                        </p:tgtEl>
                                        <p:attrNameLst>
                                          <p:attrName>style.visibility</p:attrName>
                                        </p:attrNameLst>
                                      </p:cBhvr>
                                      <p:to>
                                        <p:strVal val="hidden"/>
                                      </p:to>
                                    </p:set>
                                  </p:childTnLst>
                                </p:cTn>
                              </p:par>
                              <p:par>
                                <p:cTn id="121" presetID="1" presetClass="entr" presetSubtype="0" fill="hold" nodeType="withEffect">
                                  <p:stCondLst>
                                    <p:cond delay="0"/>
                                  </p:stCondLst>
                                  <p:childTnLst>
                                    <p:set>
                                      <p:cBhvr>
                                        <p:cTn id="12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16">
                                            <p:txEl>
                                              <p:pRg st="2" end="2"/>
                                            </p:txEl>
                                          </p:spTgt>
                                        </p:tgtEl>
                                        <p:attrNameLst>
                                          <p:attrName>style.visibility</p:attrName>
                                        </p:attrNameLst>
                                      </p:cBhvr>
                                      <p:to>
                                        <p:strVal val="hidden"/>
                                      </p:to>
                                    </p:set>
                                  </p:childTnLst>
                                </p:cTn>
                              </p:par>
                              <p:par>
                                <p:cTn id="127" presetID="1" presetClass="entr" presetSubtype="0" fill="hold" nodeType="withEffect">
                                  <p:stCondLst>
                                    <p:cond delay="0"/>
                                  </p:stCondLst>
                                  <p:childTnLst>
                                    <p:set>
                                      <p:cBhvr>
                                        <p:cTn id="12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16">
                                            <p:txEl>
                                              <p:pRg st="1" end="1"/>
                                            </p:txEl>
                                          </p:spTgt>
                                        </p:tgtEl>
                                        <p:attrNameLst>
                                          <p:attrName>style.visibility</p:attrName>
                                        </p:attrNameLst>
                                      </p:cBhvr>
                                      <p:to>
                                        <p:strVal val="hidden"/>
                                      </p:to>
                                    </p:set>
                                  </p:childTnLst>
                                </p:cTn>
                              </p:par>
                            </p:childTnLst>
                          </p:cTn>
                        </p:par>
                        <p:par>
                          <p:cTn id="133" fill="hold">
                            <p:stCondLst>
                              <p:cond delay="0"/>
                            </p:stCondLst>
                            <p:childTnLst>
                              <p:par>
                                <p:cTn id="134" presetID="1" presetClass="entr" presetSubtype="0" fill="hold" nodeType="afterEffect">
                                  <p:stCondLst>
                                    <p:cond delay="0"/>
                                  </p:stCondLst>
                                  <p:childTnLst>
                                    <p:set>
                                      <p:cBhvr>
                                        <p:cTn id="135"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xit" presetSubtype="0" fill="hold" nodeType="clickEffect">
                                  <p:stCondLst>
                                    <p:cond delay="0"/>
                                  </p:stCondLst>
                                  <p:childTnLst>
                                    <p:set>
                                      <p:cBhvr>
                                        <p:cTn id="139" dur="1" fill="hold">
                                          <p:stCondLst>
                                            <p:cond delay="0"/>
                                          </p:stCondLst>
                                        </p:cTn>
                                        <p:tgtEl>
                                          <p:spTgt spid="10">
                                            <p:txEl>
                                              <p:pRg st="0" end="0"/>
                                            </p:txEl>
                                          </p:spTgt>
                                        </p:tgtEl>
                                        <p:attrNameLst>
                                          <p:attrName>style.visibility</p:attrName>
                                        </p:attrNameLst>
                                      </p:cBhvr>
                                      <p:to>
                                        <p:strVal val="hidden"/>
                                      </p:to>
                                    </p:set>
                                  </p:childTnLst>
                                </p:cTn>
                              </p:par>
                              <p:par>
                                <p:cTn id="140" presetID="1" presetClass="entr" presetSubtype="0" fill="hold" nodeType="withEffect">
                                  <p:stCondLst>
                                    <p:cond delay="0"/>
                                  </p:stCondLst>
                                  <p:childTnLst>
                                    <p:set>
                                      <p:cBhvr>
                                        <p:cTn id="141"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665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A6CD5AD-5A61-4B4A-A923-DB21A4917FF1}"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66564" name="Rectangle 2"/>
          <p:cNvSpPr>
            <a:spLocks noGrp="1" noChangeArrowheads="1"/>
          </p:cNvSpPr>
          <p:nvPr>
            <p:ph type="title"/>
          </p:nvPr>
        </p:nvSpPr>
        <p:spPr/>
        <p:txBody>
          <a:bodyPr/>
          <a:lstStyle/>
          <a:p>
            <a:pPr eaLnBrk="1" hangingPunct="1"/>
            <a:r>
              <a:rPr lang="en-US" altLang="en-US" dirty="0" smtClean="0"/>
              <a:t>An Apply-to-All Function</a:t>
            </a:r>
          </a:p>
        </p:txBody>
      </p:sp>
      <p:sp>
        <p:nvSpPr>
          <p:cNvPr id="66565" name="Rectangle 3"/>
          <p:cNvSpPr>
            <a:spLocks noGrp="1" noChangeArrowheads="1"/>
          </p:cNvSpPr>
          <p:nvPr>
            <p:ph type="body" idx="1"/>
          </p:nvPr>
        </p:nvSpPr>
        <p:spPr>
          <a:xfrm>
            <a:off x="630620" y="1337440"/>
            <a:ext cx="8284780" cy="4910960"/>
          </a:xfrm>
        </p:spPr>
        <p:txBody>
          <a:bodyPr/>
          <a:lstStyle/>
          <a:p>
            <a:pPr eaLnBrk="1" hangingPunct="1"/>
            <a:r>
              <a:rPr lang="en-US" altLang="en-US" sz="2400" dirty="0" smtClean="0"/>
              <a:t>A functional form is a function that</a:t>
            </a:r>
          </a:p>
          <a:p>
            <a:pPr lvl="1" eaLnBrk="1" hangingPunct="1"/>
            <a:r>
              <a:rPr lang="en-US" altLang="en-US" sz="2000" dirty="0" smtClean="0"/>
              <a:t>Takes one or more functions as parameters, and/or</a:t>
            </a:r>
          </a:p>
          <a:p>
            <a:pPr lvl="1" eaLnBrk="1" hangingPunct="1"/>
            <a:r>
              <a:rPr lang="en-US" altLang="en-US" sz="2000" dirty="0" smtClean="0"/>
              <a:t>Yields a function as a </a:t>
            </a:r>
            <a:r>
              <a:rPr lang="en-US" altLang="en-US" sz="2000" dirty="0" smtClean="0"/>
              <a:t>result</a:t>
            </a:r>
            <a:endParaRPr lang="en-US" altLang="en-US" sz="2000"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665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A6CD5AD-5A61-4B4A-A923-DB21A4917FF1}"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66564" name="Rectangle 2"/>
          <p:cNvSpPr>
            <a:spLocks noGrp="1" noChangeArrowheads="1"/>
          </p:cNvSpPr>
          <p:nvPr>
            <p:ph type="title"/>
          </p:nvPr>
        </p:nvSpPr>
        <p:spPr/>
        <p:txBody>
          <a:bodyPr/>
          <a:lstStyle/>
          <a:p>
            <a:pPr eaLnBrk="1" hangingPunct="1"/>
            <a:r>
              <a:rPr lang="en-US" altLang="en-US" dirty="0" smtClean="0"/>
              <a:t>An Apply-to-All Function</a:t>
            </a:r>
          </a:p>
        </p:txBody>
      </p:sp>
      <p:sp>
        <p:nvSpPr>
          <p:cNvPr id="66565" name="Rectangle 3"/>
          <p:cNvSpPr>
            <a:spLocks noGrp="1" noChangeArrowheads="1"/>
          </p:cNvSpPr>
          <p:nvPr>
            <p:ph type="body" idx="1"/>
          </p:nvPr>
        </p:nvSpPr>
        <p:spPr>
          <a:xfrm>
            <a:off x="630620" y="1337440"/>
            <a:ext cx="8284780" cy="4910960"/>
          </a:xfrm>
        </p:spPr>
        <p:txBody>
          <a:bodyPr/>
          <a:lstStyle/>
          <a:p>
            <a:pPr eaLnBrk="1" hangingPunct="1"/>
            <a:r>
              <a:rPr lang="en-US" altLang="en-US" sz="2400" dirty="0" smtClean="0"/>
              <a:t>Apply-to-all </a:t>
            </a:r>
            <a:r>
              <a:rPr lang="en-US" altLang="en-US" sz="2400" dirty="0" smtClean="0"/>
              <a:t>functional form</a:t>
            </a:r>
          </a:p>
          <a:p>
            <a:pPr lvl="1" eaLnBrk="1" hangingPunct="1"/>
            <a:r>
              <a:rPr lang="en-US" altLang="en-US" sz="2000" dirty="0" smtClean="0"/>
              <a:t>Apply a </a:t>
            </a:r>
            <a:r>
              <a:rPr lang="en-US" altLang="en-US" sz="2000" dirty="0"/>
              <a:t>function to all elements of </a:t>
            </a:r>
            <a:r>
              <a:rPr lang="en-US" altLang="en-US" sz="2000" dirty="0" smtClean="0"/>
              <a:t>a list, building a new list</a:t>
            </a:r>
            <a:endParaRPr lang="en-US" altLang="en-US" sz="2000" dirty="0"/>
          </a:p>
          <a:p>
            <a:pPr lvl="1" eaLnBrk="1" hangingPunct="1"/>
            <a:r>
              <a:rPr lang="en-US" altLang="en-US" sz="2000" dirty="0" smtClean="0"/>
              <a:t>One approach in Scheme is the following </a:t>
            </a:r>
            <a:r>
              <a:rPr lang="en-US" altLang="en-US" sz="2000" dirty="0" err="1" smtClean="0">
                <a:latin typeface="Courier New" panose="02070309020205020404" pitchFamily="49" charset="0"/>
              </a:rPr>
              <a:t>mapcar</a:t>
            </a:r>
            <a:r>
              <a:rPr lang="en-US" altLang="en-US" sz="2000" dirty="0" smtClean="0"/>
              <a:t> function</a:t>
            </a:r>
          </a:p>
          <a:p>
            <a:pPr marL="457200" lvl="1" indent="0" eaLnBrk="1" hangingPunct="1">
              <a:buNone/>
            </a:pPr>
            <a:endParaRPr lang="en-US" altLang="en-US" sz="400" dirty="0" smtClean="0"/>
          </a:p>
          <a:p>
            <a:pPr lvl="1" eaLnBrk="1" hangingPunct="1">
              <a:buFontTx/>
              <a:buNone/>
            </a:pPr>
            <a:r>
              <a:rPr lang="en-US" altLang="en-US" sz="1700" b="1" dirty="0" smtClean="0">
                <a:latin typeface="Courier New" panose="02070309020205020404" pitchFamily="49" charset="0"/>
                <a:cs typeface="Courier New" panose="02070309020205020404" pitchFamily="49" charset="0"/>
              </a:rPr>
              <a:t>	</a:t>
            </a:r>
            <a:r>
              <a:rPr lang="en-US" altLang="en-US" sz="1700" dirty="0" smtClean="0">
                <a:latin typeface="Courier New" panose="02070309020205020404" pitchFamily="49" charset="0"/>
                <a:cs typeface="Courier New" panose="02070309020205020404" pitchFamily="49" charset="0"/>
              </a:rPr>
              <a:t>(define (</a:t>
            </a:r>
            <a:r>
              <a:rPr lang="en-US" altLang="en-US" sz="1700" dirty="0" err="1" smtClean="0">
                <a:latin typeface="Courier New" panose="02070309020205020404" pitchFamily="49" charset="0"/>
                <a:cs typeface="Courier New" panose="02070309020205020404" pitchFamily="49" charset="0"/>
              </a:rPr>
              <a:t>mapcar</a:t>
            </a:r>
            <a:r>
              <a:rPr lang="en-US" altLang="en-US" sz="1700" dirty="0" smtClean="0">
                <a:latin typeface="Courier New" panose="02070309020205020404" pitchFamily="49" charset="0"/>
                <a:cs typeface="Courier New" panose="02070309020205020404" pitchFamily="49" charset="0"/>
              </a:rPr>
              <a:t> fun </a:t>
            </a:r>
            <a:r>
              <a:rPr lang="en-US" altLang="en-US" sz="1700" dirty="0" err="1" smtClean="0">
                <a:latin typeface="Courier New" panose="02070309020205020404" pitchFamily="49" charset="0"/>
                <a:cs typeface="Courier New" panose="02070309020205020404" pitchFamily="49" charset="0"/>
              </a:rPr>
              <a:t>lis</a:t>
            </a:r>
            <a:r>
              <a:rPr lang="en-US" altLang="en-US" sz="1700" dirty="0" smtClean="0">
                <a:latin typeface="Courier New" panose="02070309020205020404" pitchFamily="49" charset="0"/>
                <a:cs typeface="Courier New" panose="02070309020205020404" pitchFamily="49" charset="0"/>
              </a:rPr>
              <a:t>)</a:t>
            </a:r>
          </a:p>
          <a:p>
            <a:pPr lvl="1" eaLnBrk="1" hangingPunct="1">
              <a:buFontTx/>
              <a:buNone/>
            </a:pPr>
            <a:r>
              <a:rPr lang="en-US" altLang="en-US" sz="1700" dirty="0">
                <a:latin typeface="Courier New" panose="02070309020205020404" pitchFamily="49" charset="0"/>
                <a:cs typeface="Courier New" panose="02070309020205020404" pitchFamily="49" charset="0"/>
              </a:rPr>
              <a:t>	</a:t>
            </a:r>
            <a:r>
              <a:rPr lang="en-US" altLang="en-US" sz="1700" dirty="0" smtClean="0">
                <a:latin typeface="Courier New" panose="02070309020205020404" pitchFamily="49" charset="0"/>
                <a:cs typeface="Courier New" panose="02070309020205020404" pitchFamily="49" charset="0"/>
              </a:rPr>
              <a:t>  (</a:t>
            </a:r>
            <a:r>
              <a:rPr lang="en-US" altLang="en-US" sz="1700" dirty="0" err="1" smtClean="0">
                <a:latin typeface="Courier New" panose="02070309020205020404" pitchFamily="49" charset="0"/>
                <a:cs typeface="Courier New" panose="02070309020205020404" pitchFamily="49" charset="0"/>
              </a:rPr>
              <a:t>cond</a:t>
            </a:r>
            <a:endParaRPr lang="en-US" altLang="en-US" sz="1700" dirty="0" smtClean="0">
              <a:latin typeface="Courier New" panose="02070309020205020404" pitchFamily="49" charset="0"/>
              <a:cs typeface="Courier New" panose="02070309020205020404" pitchFamily="49" charset="0"/>
            </a:endParaRPr>
          </a:p>
          <a:p>
            <a:pPr lvl="1" eaLnBrk="1" hangingPunct="1">
              <a:buFontTx/>
              <a:buNone/>
            </a:pPr>
            <a:r>
              <a:rPr lang="en-US" altLang="en-US" sz="1700" dirty="0">
                <a:latin typeface="Courier New" panose="02070309020205020404" pitchFamily="49" charset="0"/>
                <a:cs typeface="Courier New" panose="02070309020205020404" pitchFamily="49" charset="0"/>
              </a:rPr>
              <a:t>	</a:t>
            </a:r>
            <a:r>
              <a:rPr lang="en-US" altLang="en-US" sz="1700" dirty="0" smtClean="0">
                <a:latin typeface="Courier New" panose="02070309020205020404" pitchFamily="49" charset="0"/>
                <a:cs typeface="Courier New" panose="02070309020205020404" pitchFamily="49" charset="0"/>
              </a:rPr>
              <a:t>    ((null? </a:t>
            </a:r>
            <a:r>
              <a:rPr lang="en-US" altLang="en-US" sz="1700" dirty="0" err="1" smtClean="0">
                <a:latin typeface="Courier New" panose="02070309020205020404" pitchFamily="49" charset="0"/>
                <a:cs typeface="Courier New" panose="02070309020205020404" pitchFamily="49" charset="0"/>
              </a:rPr>
              <a:t>lis</a:t>
            </a:r>
            <a:r>
              <a:rPr lang="en-US" altLang="en-US" sz="1700" dirty="0" smtClean="0">
                <a:latin typeface="Courier New" panose="02070309020205020404" pitchFamily="49" charset="0"/>
                <a:cs typeface="Courier New" panose="02070309020205020404" pitchFamily="49" charset="0"/>
              </a:rPr>
              <a:t>) ())</a:t>
            </a:r>
          </a:p>
          <a:p>
            <a:pPr lvl="1" eaLnBrk="1" hangingPunct="1">
              <a:buFontTx/>
              <a:buNone/>
            </a:pPr>
            <a:r>
              <a:rPr lang="en-US" altLang="en-US" sz="1700" dirty="0" smtClean="0">
                <a:latin typeface="Courier New" panose="02070309020205020404" pitchFamily="49" charset="0"/>
                <a:cs typeface="Courier New" panose="02070309020205020404" pitchFamily="49" charset="0"/>
              </a:rPr>
              <a:t>	    (else (cons (fun (car </a:t>
            </a:r>
            <a:r>
              <a:rPr lang="en-US" altLang="en-US" sz="1700" dirty="0" err="1" smtClean="0">
                <a:latin typeface="Courier New" panose="02070309020205020404" pitchFamily="49" charset="0"/>
                <a:cs typeface="Courier New" panose="02070309020205020404" pitchFamily="49" charset="0"/>
              </a:rPr>
              <a:t>lis</a:t>
            </a:r>
            <a:r>
              <a:rPr lang="en-US" altLang="en-US" sz="1700" dirty="0" smtClean="0">
                <a:latin typeface="Courier New" panose="02070309020205020404" pitchFamily="49" charset="0"/>
                <a:cs typeface="Courier New" panose="02070309020205020404" pitchFamily="49" charset="0"/>
              </a:rPr>
              <a:t>)) (</a:t>
            </a:r>
            <a:r>
              <a:rPr lang="en-US" altLang="en-US" sz="1700" dirty="0" err="1" smtClean="0">
                <a:latin typeface="Courier New" panose="02070309020205020404" pitchFamily="49" charset="0"/>
                <a:cs typeface="Courier New" panose="02070309020205020404" pitchFamily="49" charset="0"/>
              </a:rPr>
              <a:t>mapcar</a:t>
            </a:r>
            <a:r>
              <a:rPr lang="en-US" altLang="en-US" sz="1700" dirty="0" smtClean="0">
                <a:latin typeface="Courier New" panose="02070309020205020404" pitchFamily="49" charset="0"/>
                <a:cs typeface="Courier New" panose="02070309020205020404" pitchFamily="49" charset="0"/>
              </a:rPr>
              <a:t> fun (</a:t>
            </a:r>
            <a:r>
              <a:rPr lang="en-US" altLang="en-US" sz="1700" dirty="0" err="1" smtClean="0">
                <a:latin typeface="Courier New" panose="02070309020205020404" pitchFamily="49" charset="0"/>
                <a:cs typeface="Courier New" panose="02070309020205020404" pitchFamily="49" charset="0"/>
              </a:rPr>
              <a:t>cdr</a:t>
            </a:r>
            <a:r>
              <a:rPr lang="en-US" altLang="en-US" sz="1700" dirty="0" smtClean="0">
                <a:latin typeface="Courier New" panose="02070309020205020404" pitchFamily="49" charset="0"/>
                <a:cs typeface="Courier New" panose="02070309020205020404" pitchFamily="49" charset="0"/>
              </a:rPr>
              <a:t> </a:t>
            </a:r>
            <a:r>
              <a:rPr lang="en-US" altLang="en-US" sz="1700" dirty="0" err="1" smtClean="0">
                <a:latin typeface="Courier New" panose="02070309020205020404" pitchFamily="49" charset="0"/>
                <a:cs typeface="Courier New" panose="02070309020205020404" pitchFamily="49" charset="0"/>
              </a:rPr>
              <a:t>lis</a:t>
            </a:r>
            <a:r>
              <a:rPr lang="en-US" altLang="en-US" sz="1700" dirty="0" smtClean="0">
                <a:latin typeface="Courier New" panose="02070309020205020404" pitchFamily="49" charset="0"/>
                <a:cs typeface="Courier New" panose="02070309020205020404" pitchFamily="49" charset="0"/>
              </a:rPr>
              <a:t>))))</a:t>
            </a:r>
          </a:p>
          <a:p>
            <a:pPr lvl="1" eaLnBrk="1" hangingPunct="1">
              <a:buFontTx/>
              <a:buNone/>
            </a:pPr>
            <a:r>
              <a:rPr lang="en-US" altLang="en-US" sz="1700" dirty="0" smtClean="0">
                <a:latin typeface="Courier New" panose="02070309020205020404" pitchFamily="49" charset="0"/>
                <a:cs typeface="Courier New" panose="02070309020205020404" pitchFamily="49" charset="0"/>
              </a:rPr>
              <a:t>		 )</a:t>
            </a:r>
          </a:p>
          <a:p>
            <a:pPr lvl="1" eaLnBrk="1" hangingPunct="1">
              <a:buFontTx/>
              <a:buNone/>
            </a:pPr>
            <a:r>
              <a:rPr lang="en-US" altLang="en-US" sz="1700" dirty="0" smtClean="0">
                <a:latin typeface="Courier New" panose="02070309020205020404" pitchFamily="49" charset="0"/>
                <a:cs typeface="Courier New" panose="02070309020205020404" pitchFamily="49" charset="0"/>
              </a:rPr>
              <a:t>	)</a:t>
            </a:r>
          </a:p>
          <a:p>
            <a:pPr marL="457200" lvl="1" indent="0" eaLnBrk="1" hangingPunct="1">
              <a:buNone/>
            </a:pPr>
            <a:endParaRPr lang="en-US" altLang="en-US" sz="400" dirty="0" smtClean="0"/>
          </a:p>
          <a:p>
            <a:pPr lvl="1" eaLnBrk="1" hangingPunct="1"/>
            <a:r>
              <a:rPr lang="en-US" altLang="en-US" sz="2000" dirty="0" smtClean="0"/>
              <a:t>Assume </a:t>
            </a:r>
            <a:r>
              <a:rPr lang="en-US" altLang="en-US" sz="2000" dirty="0" smtClean="0">
                <a:latin typeface="Courier"/>
              </a:rPr>
              <a:t>square</a:t>
            </a:r>
            <a:r>
              <a:rPr lang="en-US" altLang="en-US" sz="2000" dirty="0" smtClean="0"/>
              <a:t> is a function that squares its parameter</a:t>
            </a:r>
          </a:p>
          <a:p>
            <a:pPr lvl="1" eaLnBrk="1" hangingPunct="1">
              <a:buFontTx/>
              <a:buNone/>
            </a:pPr>
            <a:r>
              <a:rPr lang="en-US" altLang="en-US" sz="1700" b="1" dirty="0">
                <a:latin typeface="Courier New" panose="02070309020205020404" pitchFamily="49" charset="0"/>
                <a:cs typeface="Courier New" panose="02070309020205020404" pitchFamily="49" charset="0"/>
              </a:rPr>
              <a:t>	</a:t>
            </a:r>
            <a:r>
              <a:rPr lang="en-US" altLang="en-US" sz="1700" b="1" dirty="0" smtClean="0">
                <a:latin typeface="Courier New" panose="02070309020205020404" pitchFamily="49" charset="0"/>
                <a:cs typeface="Courier New" panose="02070309020205020404" pitchFamily="49" charset="0"/>
              </a:rPr>
              <a:t>	  </a:t>
            </a:r>
            <a:r>
              <a:rPr lang="en-US" altLang="en-US" sz="1700" dirty="0" smtClean="0">
                <a:latin typeface="Courier New" panose="02070309020205020404" pitchFamily="49" charset="0"/>
                <a:cs typeface="Courier New" panose="02070309020205020404" pitchFamily="49" charset="0"/>
              </a:rPr>
              <a:t>(</a:t>
            </a:r>
            <a:r>
              <a:rPr lang="en-US" altLang="en-US" sz="1700" dirty="0">
                <a:latin typeface="Courier New" panose="02070309020205020404" pitchFamily="49" charset="0"/>
                <a:cs typeface="Courier New" panose="02070309020205020404" pitchFamily="49" charset="0"/>
              </a:rPr>
              <a:t>define </a:t>
            </a:r>
            <a:r>
              <a:rPr lang="en-US" altLang="en-US" sz="1700" dirty="0" smtClean="0">
                <a:latin typeface="Courier New" panose="02070309020205020404" pitchFamily="49" charset="0"/>
                <a:cs typeface="Courier New" panose="02070309020205020404" pitchFamily="49" charset="0"/>
              </a:rPr>
              <a:t>(square x)</a:t>
            </a:r>
            <a:endParaRPr lang="en-US" altLang="en-US" sz="1700" dirty="0">
              <a:latin typeface="Courier New" panose="02070309020205020404" pitchFamily="49" charset="0"/>
              <a:cs typeface="Courier New" panose="02070309020205020404" pitchFamily="49" charset="0"/>
            </a:endParaRPr>
          </a:p>
          <a:p>
            <a:pPr lvl="1" eaLnBrk="1" hangingPunct="1">
              <a:buFontTx/>
              <a:buNone/>
            </a:pPr>
            <a:r>
              <a:rPr lang="en-US" altLang="en-US" sz="1700" dirty="0" smtClean="0">
                <a:latin typeface="Courier New" panose="02070309020205020404" pitchFamily="49" charset="0"/>
                <a:cs typeface="Courier New" panose="02070309020205020404" pitchFamily="49" charset="0"/>
              </a:rPr>
              <a:t>		    (* x x)</a:t>
            </a:r>
            <a:endParaRPr lang="en-US" altLang="en-US" sz="1700" dirty="0">
              <a:latin typeface="Courier New" panose="02070309020205020404" pitchFamily="49" charset="0"/>
              <a:cs typeface="Courier New" panose="02070309020205020404" pitchFamily="49" charset="0"/>
            </a:endParaRPr>
          </a:p>
          <a:p>
            <a:pPr lvl="1" eaLnBrk="1" hangingPunct="1">
              <a:buFontTx/>
              <a:buNone/>
            </a:pPr>
            <a:r>
              <a:rPr lang="en-US" altLang="en-US" sz="1700" dirty="0">
                <a:latin typeface="Courier New" panose="02070309020205020404" pitchFamily="49" charset="0"/>
                <a:cs typeface="Courier New" panose="02070309020205020404" pitchFamily="49" charset="0"/>
              </a:rPr>
              <a:t>	</a:t>
            </a:r>
            <a:r>
              <a:rPr lang="en-US" altLang="en-US" sz="1700" dirty="0" smtClean="0">
                <a:latin typeface="Courier New" panose="02070309020205020404" pitchFamily="49" charset="0"/>
                <a:cs typeface="Courier New" panose="02070309020205020404" pitchFamily="49" charset="0"/>
              </a:rPr>
              <a:t>	  )</a:t>
            </a:r>
          </a:p>
          <a:p>
            <a:pPr lvl="1" eaLnBrk="1" hangingPunct="1">
              <a:buFontTx/>
              <a:buNone/>
            </a:pPr>
            <a:endParaRPr lang="en-US" altLang="en-US" sz="400" dirty="0" smtClean="0"/>
          </a:p>
          <a:p>
            <a:pPr lvl="2" eaLnBrk="1" hangingPunct="1"/>
            <a:r>
              <a:rPr lang="en-US" altLang="en-US" sz="1700" dirty="0" smtClean="0"/>
              <a:t>Function </a:t>
            </a:r>
            <a:r>
              <a:rPr lang="en-US" altLang="en-US" sz="1700" dirty="0" smtClean="0"/>
              <a:t>application </a:t>
            </a:r>
            <a:r>
              <a:rPr lang="en-US" altLang="en-US" sz="1500" dirty="0" smtClean="0">
                <a:latin typeface="Courier New" panose="02070309020205020404" pitchFamily="49" charset="0"/>
              </a:rPr>
              <a:t>(</a:t>
            </a:r>
            <a:r>
              <a:rPr lang="en-US" altLang="en-US" sz="1500" dirty="0" err="1" smtClean="0">
                <a:latin typeface="Courier New" panose="02070309020205020404" pitchFamily="49" charset="0"/>
              </a:rPr>
              <a:t>mapcar</a:t>
            </a:r>
            <a:r>
              <a:rPr lang="en-US" altLang="en-US" sz="1500" dirty="0" smtClean="0">
                <a:latin typeface="Courier New" panose="02070309020205020404" pitchFamily="49" charset="0"/>
              </a:rPr>
              <a:t> square '(3 4 2))</a:t>
            </a:r>
            <a:r>
              <a:rPr lang="en-US" altLang="en-US" sz="1700" dirty="0" smtClean="0"/>
              <a:t> yields </a:t>
            </a:r>
            <a:r>
              <a:rPr lang="en-US" altLang="en-US" sz="1500" dirty="0" smtClean="0">
                <a:latin typeface="Courier New" panose="02070309020205020404" pitchFamily="49" charset="0"/>
              </a:rPr>
              <a:t>(9 16 4)</a:t>
            </a:r>
            <a:endParaRPr lang="en-US" altLang="en-US" sz="1500" dirty="0" smtClean="0"/>
          </a:p>
        </p:txBody>
      </p:sp>
    </p:spTree>
    <p:extLst>
      <p:ext uri="{BB962C8B-B14F-4D97-AF65-F5344CB8AC3E}">
        <p14:creationId xmlns:p14="http://schemas.microsoft.com/office/powerpoint/2010/main" val="42130301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686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53B308C-D805-4BE9-8D7F-203F8470B90C}"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68612" name="Rectangle 2"/>
          <p:cNvSpPr>
            <a:spLocks noGrp="1" noChangeArrowheads="1"/>
          </p:cNvSpPr>
          <p:nvPr>
            <p:ph type="title"/>
          </p:nvPr>
        </p:nvSpPr>
        <p:spPr/>
        <p:txBody>
          <a:bodyPr/>
          <a:lstStyle/>
          <a:p>
            <a:pPr eaLnBrk="1" hangingPunct="1"/>
            <a:r>
              <a:rPr lang="en-US" altLang="en-US" smtClean="0"/>
              <a:t>Functions That Build Code</a:t>
            </a:r>
          </a:p>
        </p:txBody>
      </p:sp>
      <p:sp>
        <p:nvSpPr>
          <p:cNvPr id="68613" name="Rectangle 3"/>
          <p:cNvSpPr>
            <a:spLocks noGrp="1" noChangeArrowheads="1"/>
          </p:cNvSpPr>
          <p:nvPr>
            <p:ph type="body" idx="1"/>
          </p:nvPr>
        </p:nvSpPr>
        <p:spPr>
          <a:xfrm>
            <a:off x="630620" y="1376860"/>
            <a:ext cx="8153400" cy="4495800"/>
          </a:xfrm>
        </p:spPr>
        <p:txBody>
          <a:bodyPr/>
          <a:lstStyle/>
          <a:p>
            <a:pPr eaLnBrk="1" hangingPunct="1">
              <a:lnSpc>
                <a:spcPct val="90000"/>
              </a:lnSpc>
            </a:pPr>
            <a:r>
              <a:rPr lang="en-US" altLang="en-US" sz="2400" dirty="0" smtClean="0"/>
              <a:t>A Scheme function can actually</a:t>
            </a:r>
          </a:p>
          <a:p>
            <a:pPr lvl="1" eaLnBrk="1" hangingPunct="1">
              <a:lnSpc>
                <a:spcPct val="90000"/>
              </a:lnSpc>
            </a:pPr>
            <a:r>
              <a:rPr lang="en-US" altLang="en-US" sz="2000" dirty="0"/>
              <a:t>B</a:t>
            </a:r>
            <a:r>
              <a:rPr lang="en-US" altLang="en-US" sz="2000" dirty="0" smtClean="0"/>
              <a:t>uild Scheme code</a:t>
            </a:r>
          </a:p>
          <a:p>
            <a:pPr lvl="1" eaLnBrk="1" hangingPunct="1">
              <a:lnSpc>
                <a:spcPct val="90000"/>
              </a:lnSpc>
            </a:pPr>
            <a:r>
              <a:rPr lang="en-US" altLang="en-US" sz="2000" dirty="0"/>
              <a:t>R</a:t>
            </a:r>
            <a:r>
              <a:rPr lang="en-US" altLang="en-US" sz="2000" dirty="0" smtClean="0"/>
              <a:t>equest the interpretation of the built Scheme code</a:t>
            </a:r>
          </a:p>
          <a:p>
            <a:pPr eaLnBrk="1" hangingPunct="1">
              <a:lnSpc>
                <a:spcPct val="90000"/>
              </a:lnSpc>
            </a:pPr>
            <a:r>
              <a:rPr lang="en-US" altLang="en-US" sz="2400" dirty="0" smtClean="0"/>
              <a:t>This is possible (and easy) because</a:t>
            </a:r>
          </a:p>
          <a:p>
            <a:pPr lvl="1" eaLnBrk="1" hangingPunct="1">
              <a:lnSpc>
                <a:spcPct val="90000"/>
              </a:lnSpc>
            </a:pPr>
            <a:r>
              <a:rPr lang="en-US" altLang="en-US" sz="2000" dirty="0" smtClean="0"/>
              <a:t>Functions can be represented as lists, and can be returned</a:t>
            </a:r>
          </a:p>
          <a:p>
            <a:pPr lvl="1" eaLnBrk="1" hangingPunct="1">
              <a:lnSpc>
                <a:spcPct val="90000"/>
              </a:lnSpc>
            </a:pPr>
            <a:r>
              <a:rPr lang="en-US" altLang="en-US" sz="2000" dirty="0" smtClean="0"/>
              <a:t>The interpreter is a user-available function, called </a:t>
            </a:r>
            <a:r>
              <a:rPr lang="en-US" altLang="en-US" sz="2000" dirty="0" err="1" smtClean="0">
                <a:latin typeface="Courier New" panose="02070309020205020404" pitchFamily="49" charset="0"/>
              </a:rPr>
              <a:t>eval</a:t>
            </a:r>
            <a:endParaRPr lang="en-US" altLang="en-US" sz="2000" dirty="0" smtClean="0">
              <a:latin typeface="Courier New" panose="02070309020205020404" pitchFamily="49" charset="0"/>
            </a:endParaRPr>
          </a:p>
          <a:p>
            <a:pPr eaLnBrk="1" hangingPunct="1">
              <a:lnSpc>
                <a:spcPct val="90000"/>
              </a:lnSpc>
            </a:pPr>
            <a:r>
              <a:rPr lang="en-US" altLang="en-US" sz="2400" dirty="0" smtClean="0"/>
              <a:t>This is much more difficult in imperative languages</a:t>
            </a:r>
            <a:endParaRPr lang="en-US" alt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7065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81FAC10-70AB-472F-A1CC-A30A791369E3}"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70660" name="Rectangle 2"/>
          <p:cNvSpPr>
            <a:spLocks noGrp="1" noChangeArrowheads="1"/>
          </p:cNvSpPr>
          <p:nvPr>
            <p:ph type="title"/>
          </p:nvPr>
        </p:nvSpPr>
        <p:spPr/>
        <p:txBody>
          <a:bodyPr/>
          <a:lstStyle/>
          <a:p>
            <a:pPr eaLnBrk="1" hangingPunct="1"/>
            <a:r>
              <a:rPr lang="en-US" altLang="en-US" dirty="0" smtClean="0"/>
              <a:t>Functions That Build Code</a:t>
            </a:r>
          </a:p>
        </p:txBody>
      </p:sp>
      <p:sp>
        <p:nvSpPr>
          <p:cNvPr id="70661" name="Rectangle 3"/>
          <p:cNvSpPr>
            <a:spLocks noGrp="1" noChangeArrowheads="1"/>
          </p:cNvSpPr>
          <p:nvPr>
            <p:ph type="body" idx="1"/>
          </p:nvPr>
        </p:nvSpPr>
        <p:spPr>
          <a:xfrm>
            <a:off x="630620" y="1371600"/>
            <a:ext cx="8153400" cy="4572000"/>
          </a:xfrm>
        </p:spPr>
        <p:txBody>
          <a:bodyPr/>
          <a:lstStyle/>
          <a:p>
            <a:pPr eaLnBrk="1" hangingPunct="1">
              <a:lnSpc>
                <a:spcPct val="90000"/>
              </a:lnSpc>
            </a:pPr>
            <a:r>
              <a:rPr lang="en-US" altLang="en-US" sz="2400" dirty="0" smtClean="0"/>
              <a:t>A simple example</a:t>
            </a:r>
          </a:p>
          <a:p>
            <a:pPr marL="0" indent="0" eaLnBrk="1" hangingPunct="1">
              <a:lnSpc>
                <a:spcPct val="90000"/>
              </a:lnSpc>
              <a:buNone/>
            </a:pPr>
            <a:endParaRPr lang="en-US" altLang="en-US" sz="400" dirty="0" smtClean="0"/>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(define </a:t>
            </a:r>
            <a:r>
              <a:rPr lang="en-US" altLang="en-US" sz="2000" dirty="0">
                <a:latin typeface="Courier New" panose="02070309020205020404" pitchFamily="49" charset="0"/>
              </a:rPr>
              <a:t>(adder </a:t>
            </a:r>
            <a:r>
              <a:rPr lang="en-US" altLang="en-US" sz="2000" dirty="0" err="1">
                <a:latin typeface="Courier New" panose="02070309020205020404" pitchFamily="49" charset="0"/>
              </a:rPr>
              <a:t>lis</a:t>
            </a:r>
            <a:r>
              <a:rPr lang="en-US" altLang="en-US" sz="2000" dirty="0">
                <a:latin typeface="Courier New" panose="02070309020205020404" pitchFamily="49" charset="0"/>
              </a:rPr>
              <a:t>)</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cond</a:t>
            </a:r>
            <a:endParaRPr lang="en-US" altLang="en-US" sz="2000" dirty="0">
              <a:latin typeface="Courier New" panose="02070309020205020404" pitchFamily="49" charset="0"/>
            </a:endParaRP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((null? </a:t>
            </a:r>
            <a:r>
              <a:rPr lang="en-US" altLang="en-US" sz="2000" dirty="0" err="1">
                <a:latin typeface="Courier New" panose="02070309020205020404" pitchFamily="49" charset="0"/>
              </a:rPr>
              <a:t>lis</a:t>
            </a:r>
            <a:r>
              <a:rPr lang="en-US" altLang="en-US" sz="2000" dirty="0">
                <a:latin typeface="Courier New" panose="02070309020205020404" pitchFamily="49" charset="0"/>
              </a:rPr>
              <a:t>) 0)</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(else (</a:t>
            </a:r>
            <a:r>
              <a:rPr lang="en-US" altLang="en-US" sz="2000" dirty="0" err="1" smtClean="0">
                <a:latin typeface="Courier New" panose="02070309020205020404" pitchFamily="49" charset="0"/>
              </a:rPr>
              <a:t>eval</a:t>
            </a:r>
            <a:r>
              <a:rPr lang="en-US" altLang="en-US" sz="2000" dirty="0" smtClean="0">
                <a:latin typeface="Courier New" panose="02070309020205020404" pitchFamily="49" charset="0"/>
              </a:rPr>
              <a:t> (cons </a:t>
            </a:r>
            <a:r>
              <a:rPr lang="en-US" altLang="en-US" sz="2000" dirty="0">
                <a:latin typeface="Courier New" panose="02070309020205020404" pitchFamily="49" charset="0"/>
              </a:rPr>
              <a:t>'+ </a:t>
            </a:r>
            <a:r>
              <a:rPr lang="en-US" altLang="en-US" sz="2000" dirty="0" err="1">
                <a:latin typeface="Courier New" panose="02070309020205020404" pitchFamily="49" charset="0"/>
              </a:rPr>
              <a:t>lis</a:t>
            </a:r>
            <a:r>
              <a:rPr lang="en-US" altLang="en-US" sz="2000" dirty="0">
                <a:latin typeface="Courier New" panose="02070309020205020404" pitchFamily="49" charset="0"/>
              </a:rPr>
              <a:t>)))</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endParaRPr lang="en-US" altLang="en-US" sz="2000" dirty="0">
              <a:latin typeface="Courier New" panose="02070309020205020404" pitchFamily="49" charset="0"/>
            </a:endParaRPr>
          </a:p>
          <a:p>
            <a:pPr marL="0" indent="0" eaLnBrk="1" hangingPunct="1">
              <a:lnSpc>
                <a:spcPct val="90000"/>
              </a:lnSpc>
              <a:buNone/>
            </a:pPr>
            <a:endParaRPr lang="en-US" altLang="en-US" sz="600" dirty="0" smtClean="0"/>
          </a:p>
          <a:p>
            <a:pPr eaLnBrk="1" hangingPunct="1">
              <a:lnSpc>
                <a:spcPct val="90000"/>
              </a:lnSpc>
            </a:pPr>
            <a:r>
              <a:rPr lang="en-US" altLang="en-US" sz="2400" dirty="0" smtClean="0"/>
              <a:t>The parameter is a list of numbers to be added</a:t>
            </a:r>
          </a:p>
          <a:p>
            <a:pPr eaLnBrk="1" hangingPunct="1">
              <a:lnSpc>
                <a:spcPct val="90000"/>
              </a:lnSpc>
            </a:pPr>
            <a:r>
              <a:rPr lang="en-US" altLang="en-US" sz="2400" dirty="0" smtClean="0"/>
              <a:t>Builds a new list from the </a:t>
            </a:r>
            <a:r>
              <a:rPr lang="en-US" altLang="en-US" sz="2400" dirty="0" smtClean="0">
                <a:latin typeface="Courier New" panose="02070309020205020404" pitchFamily="49" charset="0"/>
              </a:rPr>
              <a:t>+</a:t>
            </a:r>
            <a:r>
              <a:rPr lang="en-US" altLang="en-US" sz="2400" dirty="0" smtClean="0"/>
              <a:t> symbol and </a:t>
            </a:r>
            <a:r>
              <a:rPr lang="en-US" altLang="en-US" sz="2400" dirty="0" err="1" smtClean="0">
                <a:latin typeface="Courier New" panose="02070309020205020404" pitchFamily="49" charset="0"/>
              </a:rPr>
              <a:t>lis</a:t>
            </a:r>
            <a:endParaRPr lang="en-US" altLang="en-US" sz="2400" dirty="0" smtClean="0">
              <a:latin typeface="Courier New" panose="02070309020205020404" pitchFamily="49" charset="0"/>
            </a:endParaRPr>
          </a:p>
          <a:p>
            <a:pPr lvl="1" eaLnBrk="1" hangingPunct="1">
              <a:lnSpc>
                <a:spcPct val="90000"/>
              </a:lnSpc>
            </a:pPr>
            <a:r>
              <a:rPr lang="en-US" altLang="en-US" sz="2000" dirty="0" smtClean="0"/>
              <a:t>Use </a:t>
            </a:r>
            <a:r>
              <a:rPr lang="en-US" altLang="en-US" sz="2000" dirty="0" smtClean="0">
                <a:latin typeface="Courier New" panose="02070309020205020404" pitchFamily="49" charset="0"/>
              </a:rPr>
              <a:t>cons</a:t>
            </a:r>
            <a:r>
              <a:rPr lang="en-US" altLang="en-US" sz="2000" dirty="0" smtClean="0"/>
              <a:t> to insert the atom </a:t>
            </a:r>
            <a:r>
              <a:rPr lang="en-US" altLang="en-US" sz="2000" dirty="0" smtClean="0">
                <a:latin typeface="Courier New" panose="02070309020205020404" pitchFamily="49" charset="0"/>
              </a:rPr>
              <a:t>+</a:t>
            </a:r>
            <a:r>
              <a:rPr lang="en-US" altLang="en-US" sz="2000" dirty="0" smtClean="0"/>
              <a:t> into the list of numbers</a:t>
            </a:r>
          </a:p>
          <a:p>
            <a:pPr lvl="1" eaLnBrk="1" hangingPunct="1">
              <a:lnSpc>
                <a:spcPct val="90000"/>
              </a:lnSpc>
            </a:pPr>
            <a:r>
              <a:rPr lang="en-US" altLang="en-US" sz="2000" dirty="0" smtClean="0"/>
              <a:t>Be sure that </a:t>
            </a:r>
            <a:r>
              <a:rPr lang="en-US" altLang="en-US" sz="2000" dirty="0" smtClean="0">
                <a:latin typeface="Courier New" panose="02070309020205020404" pitchFamily="49" charset="0"/>
              </a:rPr>
              <a:t>+</a:t>
            </a:r>
            <a:r>
              <a:rPr lang="en-US" altLang="en-US" sz="2000" dirty="0" smtClean="0"/>
              <a:t> is quoted to prevent evaluation</a:t>
            </a:r>
            <a:endParaRPr lang="en-US" altLang="en-US" sz="2000" dirty="0" smtClean="0">
              <a:latin typeface="Courier New" panose="02070309020205020404" pitchFamily="49" charset="0"/>
            </a:endParaRPr>
          </a:p>
          <a:p>
            <a:pPr eaLnBrk="1" hangingPunct="1">
              <a:lnSpc>
                <a:spcPct val="90000"/>
              </a:lnSpc>
            </a:pPr>
            <a:r>
              <a:rPr lang="en-US" altLang="en-US" sz="2400" dirty="0" smtClean="0"/>
              <a:t>Evaluates the new list</a:t>
            </a:r>
          </a:p>
          <a:p>
            <a:pPr lvl="1" eaLnBrk="1" hangingPunct="1">
              <a:lnSpc>
                <a:spcPct val="90000"/>
              </a:lnSpc>
            </a:pPr>
            <a:r>
              <a:rPr lang="en-US" altLang="en-US" sz="2000" dirty="0" smtClean="0"/>
              <a:t>Submit the new list to </a:t>
            </a:r>
            <a:r>
              <a:rPr lang="en-US" altLang="en-US" sz="2000" dirty="0" err="1" smtClean="0">
                <a:latin typeface="Courier New" panose="02070309020205020404" pitchFamily="49" charset="0"/>
              </a:rPr>
              <a:t>eval</a:t>
            </a:r>
            <a:r>
              <a:rPr lang="en-US" altLang="en-US" sz="2000" dirty="0" smtClean="0"/>
              <a:t> for evaluation</a:t>
            </a:r>
            <a:endParaRPr lang="en-US" altLang="en-US" sz="2000" b="1" dirty="0" smtClean="0">
              <a:latin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768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46090F0-DA00-4021-AF47-C6D505CCC56E}"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76804" name="Rectangle 2"/>
          <p:cNvSpPr>
            <a:spLocks noGrp="1" noChangeArrowheads="1"/>
          </p:cNvSpPr>
          <p:nvPr>
            <p:ph type="title"/>
          </p:nvPr>
        </p:nvSpPr>
        <p:spPr>
          <a:xfrm>
            <a:off x="609600" y="152400"/>
            <a:ext cx="8153400" cy="1143000"/>
          </a:xfrm>
        </p:spPr>
        <p:txBody>
          <a:bodyPr/>
          <a:lstStyle/>
          <a:p>
            <a:pPr eaLnBrk="1" hangingPunct="1"/>
            <a:r>
              <a:rPr lang="en-US" altLang="en-US" sz="3200" smtClean="0"/>
              <a:t>Comparing Functional and</a:t>
            </a:r>
            <a:br>
              <a:rPr lang="en-US" altLang="en-US" sz="3200" smtClean="0"/>
            </a:br>
            <a:r>
              <a:rPr lang="en-US" altLang="en-US" sz="3200" smtClean="0"/>
              <a:t>Imperative Languages</a:t>
            </a:r>
          </a:p>
        </p:txBody>
      </p:sp>
      <p:sp>
        <p:nvSpPr>
          <p:cNvPr id="76805" name="Rectangle 3"/>
          <p:cNvSpPr>
            <a:spLocks noGrp="1" noChangeArrowheads="1"/>
          </p:cNvSpPr>
          <p:nvPr>
            <p:ph type="body" idx="1"/>
          </p:nvPr>
        </p:nvSpPr>
        <p:spPr>
          <a:xfrm>
            <a:off x="630620" y="1371275"/>
            <a:ext cx="8153400" cy="4416425"/>
          </a:xfrm>
        </p:spPr>
        <p:txBody>
          <a:bodyPr/>
          <a:lstStyle/>
          <a:p>
            <a:pPr eaLnBrk="1" hangingPunct="1">
              <a:lnSpc>
                <a:spcPct val="90000"/>
              </a:lnSpc>
            </a:pPr>
            <a:r>
              <a:rPr lang="en-US" altLang="en-US" sz="2400" dirty="0" smtClean="0"/>
              <a:t>Imperative Languages</a:t>
            </a:r>
          </a:p>
          <a:p>
            <a:pPr lvl="1" eaLnBrk="1" hangingPunct="1">
              <a:lnSpc>
                <a:spcPct val="90000"/>
              </a:lnSpc>
            </a:pPr>
            <a:r>
              <a:rPr lang="en-US" altLang="en-US" sz="2000" dirty="0" smtClean="0"/>
              <a:t>Efficient execution</a:t>
            </a:r>
          </a:p>
          <a:p>
            <a:pPr lvl="1" eaLnBrk="1" hangingPunct="1">
              <a:lnSpc>
                <a:spcPct val="90000"/>
              </a:lnSpc>
            </a:pPr>
            <a:r>
              <a:rPr lang="en-US" altLang="en-US" sz="2000" dirty="0" smtClean="0"/>
              <a:t>Complex syntax and semantics</a:t>
            </a:r>
          </a:p>
          <a:p>
            <a:pPr lvl="1" eaLnBrk="1" hangingPunct="1">
              <a:lnSpc>
                <a:spcPct val="90000"/>
              </a:lnSpc>
            </a:pPr>
            <a:r>
              <a:rPr lang="en-US" altLang="en-US" sz="2000" dirty="0" smtClean="0"/>
              <a:t>Concurrency is programmer designed</a:t>
            </a:r>
          </a:p>
          <a:p>
            <a:pPr eaLnBrk="1" hangingPunct="1">
              <a:lnSpc>
                <a:spcPct val="90000"/>
              </a:lnSpc>
            </a:pPr>
            <a:r>
              <a:rPr lang="en-US" altLang="en-US" sz="2400" dirty="0" smtClean="0"/>
              <a:t>Functional Languages</a:t>
            </a:r>
          </a:p>
          <a:p>
            <a:pPr lvl="1" eaLnBrk="1" hangingPunct="1">
              <a:lnSpc>
                <a:spcPct val="90000"/>
              </a:lnSpc>
            </a:pPr>
            <a:r>
              <a:rPr lang="en-US" altLang="en-US" sz="2000" dirty="0" smtClean="0"/>
              <a:t>Simple syntax and semantics</a:t>
            </a:r>
          </a:p>
          <a:p>
            <a:pPr lvl="1" eaLnBrk="1" hangingPunct="1">
              <a:lnSpc>
                <a:spcPct val="90000"/>
              </a:lnSpc>
            </a:pPr>
            <a:r>
              <a:rPr lang="en-US" altLang="en-US" sz="2000" dirty="0" smtClean="0"/>
              <a:t>Inefficient execution</a:t>
            </a:r>
          </a:p>
          <a:p>
            <a:pPr lvl="1" eaLnBrk="1" hangingPunct="1">
              <a:lnSpc>
                <a:spcPct val="90000"/>
              </a:lnSpc>
            </a:pPr>
            <a:r>
              <a:rPr lang="en-US" altLang="en-US" sz="2000" dirty="0" smtClean="0"/>
              <a:t>Programs can automatically be made concurrent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747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D3EF0E1-2978-4C52-8AAC-81ED6B1250C4}"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74756"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Some Final Notes</a:t>
            </a:r>
          </a:p>
        </p:txBody>
      </p:sp>
      <p:sp>
        <p:nvSpPr>
          <p:cNvPr id="74757" name="Rectangle 3"/>
          <p:cNvSpPr>
            <a:spLocks noGrp="1" noChangeArrowheads="1"/>
          </p:cNvSpPr>
          <p:nvPr>
            <p:ph type="body" idx="1"/>
          </p:nvPr>
        </p:nvSpPr>
        <p:spPr>
          <a:xfrm>
            <a:off x="630620" y="1342700"/>
            <a:ext cx="8153400" cy="4800600"/>
          </a:xfrm>
        </p:spPr>
        <p:txBody>
          <a:bodyPr/>
          <a:lstStyle/>
          <a:p>
            <a:pPr eaLnBrk="1" hangingPunct="1"/>
            <a:r>
              <a:rPr lang="en-US" altLang="en-US" sz="2400" dirty="0" smtClean="0"/>
              <a:t>Slides contain extensive notes</a:t>
            </a:r>
          </a:p>
          <a:p>
            <a:pPr lvl="1" eaLnBrk="1" hangingPunct="1"/>
            <a:r>
              <a:rPr lang="en-US" altLang="en-US" sz="2000" dirty="0" smtClean="0"/>
              <a:t>If you need more explanation of the examples, including step-by-step execution traces, look at these notes</a:t>
            </a:r>
          </a:p>
          <a:p>
            <a:pPr eaLnBrk="1" hangingPunct="1"/>
            <a:r>
              <a:rPr lang="en-US" altLang="en-US" sz="2400" dirty="0" smtClean="0"/>
              <a:t>In tests and exams</a:t>
            </a:r>
          </a:p>
          <a:p>
            <a:pPr lvl="1" eaLnBrk="1" hangingPunct="1"/>
            <a:r>
              <a:rPr lang="en-US" altLang="en-US" sz="2000" dirty="0" smtClean="0"/>
              <a:t>I can ask theory questions</a:t>
            </a:r>
          </a:p>
          <a:p>
            <a:pPr lvl="1" eaLnBrk="1" hangingPunct="1"/>
            <a:r>
              <a:rPr lang="en-US" altLang="en-US" sz="2000" dirty="0" smtClean="0"/>
              <a:t>I can ask what the result is of Scheme code</a:t>
            </a:r>
          </a:p>
          <a:p>
            <a:pPr lvl="1" eaLnBrk="1" hangingPunct="1"/>
            <a:r>
              <a:rPr lang="en-US" altLang="en-US" sz="2000" dirty="0" smtClean="0"/>
              <a:t>I can ask you to explain how Scheme code executes</a:t>
            </a:r>
          </a:p>
          <a:p>
            <a:pPr lvl="1" eaLnBrk="1" hangingPunct="1"/>
            <a:r>
              <a:rPr lang="en-US" altLang="en-US" sz="2000" dirty="0" smtClean="0"/>
              <a:t>I can ask you to analyze or correct Scheme code</a:t>
            </a:r>
          </a:p>
          <a:p>
            <a:pPr lvl="1" eaLnBrk="1" hangingPunct="1"/>
            <a:r>
              <a:rPr lang="en-US" altLang="en-US" sz="2000" dirty="0" smtClean="0"/>
              <a:t>I can ask you to implement a Scheme function</a:t>
            </a:r>
          </a:p>
          <a:p>
            <a:pPr lvl="2" eaLnBrk="1" hangingPunct="1"/>
            <a:r>
              <a:rPr lang="en-US" altLang="en-US" sz="2000" dirty="0" smtClean="0"/>
              <a:t>Implementations will be no more complex than the examples we covered in these lectures</a:t>
            </a:r>
          </a:p>
          <a:p>
            <a:pPr lvl="2" eaLnBrk="1" hangingPunct="1"/>
            <a:r>
              <a:rPr lang="en-US" altLang="en-US" sz="2000" dirty="0" smtClean="0"/>
              <a:t>Be sure you understand the code examples</a:t>
            </a:r>
          </a:p>
          <a:p>
            <a:pPr lvl="2" eaLnBrk="1" hangingPunct="1"/>
            <a:r>
              <a:rPr lang="en-US" altLang="en-US" sz="2000" dirty="0" smtClean="0"/>
              <a:t>Be sure to do the functional programming practical</a:t>
            </a:r>
          </a:p>
        </p:txBody>
      </p:sp>
    </p:spTree>
    <p:extLst>
      <p:ext uri="{BB962C8B-B14F-4D97-AF65-F5344CB8AC3E}">
        <p14:creationId xmlns:p14="http://schemas.microsoft.com/office/powerpoint/2010/main" val="3338446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17818</TotalTime>
  <Words>1814</Words>
  <Application>Microsoft Office PowerPoint</Application>
  <PresentationFormat>On-screen Show (4:3)</PresentationFormat>
  <Paragraphs>224</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Courier</vt:lpstr>
      <vt:lpstr>Courier New</vt:lpstr>
      <vt:lpstr>Lucida Sans Unicode</vt:lpstr>
      <vt:lpstr>Times</vt:lpstr>
      <vt:lpstr>1_sebesta</vt:lpstr>
      <vt:lpstr>Chapter 15 Part 3</vt:lpstr>
      <vt:lpstr>Chapter 15 Topics</vt:lpstr>
      <vt:lpstr>Tail Recursion in Scheme</vt:lpstr>
      <vt:lpstr>Tail Recursion in Scheme</vt:lpstr>
      <vt:lpstr>An Apply-to-All Function</vt:lpstr>
      <vt:lpstr>An Apply-to-All Function</vt:lpstr>
      <vt:lpstr>Functions That Build Code</vt:lpstr>
      <vt:lpstr>Functions That Build Code</vt:lpstr>
      <vt:lpstr>Comparing Functional and Imperative Languages</vt:lpstr>
      <vt:lpstr>Some Final Notes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436</cp:revision>
  <dcterms:created xsi:type="dcterms:W3CDTF">2003-08-01T12:29:19Z</dcterms:created>
  <dcterms:modified xsi:type="dcterms:W3CDTF">2026-03-09T22:27:31Z</dcterms:modified>
</cp:coreProperties>
</file>