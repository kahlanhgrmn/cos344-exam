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</p:sldMasterIdLst>
  <p:notesMasterIdLst>
    <p:notesMasterId r:id="rId17"/>
  </p:notesMasterIdLst>
  <p:sldIdLst>
    <p:sldId id="295" r:id="rId2"/>
    <p:sldId id="257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11" r:id="rId11"/>
    <p:sldId id="265" r:id="rId12"/>
    <p:sldId id="313" r:id="rId13"/>
    <p:sldId id="305" r:id="rId14"/>
    <p:sldId id="306" r:id="rId15"/>
    <p:sldId id="307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Lucida Sans Unicode" panose="020B0602030504020204" pitchFamily="34" charset="0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99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743" autoAdjust="0"/>
    <p:restoredTop sz="86424" autoAdjust="0"/>
  </p:normalViewPr>
  <p:slideViewPr>
    <p:cSldViewPr>
      <p:cViewPr varScale="1">
        <p:scale>
          <a:sx n="73" d="100"/>
          <a:sy n="73" d="100"/>
        </p:scale>
        <p:origin x="110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134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9DAD68F-4EBF-4AA1-9DB5-493B55C567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131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D6F4CDA6-B3FE-4828-A403-60DC1BC98EE3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576105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29DF7C2B-65CA-44DB-9DB0-02AC4534D3A9}" type="slidenum">
              <a:rPr lang="en-US" altLang="en-US" sz="1200" smtClean="0"/>
              <a:pPr/>
              <a:t>2</a:t>
            </a:fld>
            <a:endParaRPr lang="en-US" altLang="en-US" sz="1200" smtClean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9986" tIns="44993" rIns="89986" bIns="44993"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75249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7CCD3F40-5F72-4BE0-A7AB-58D24B7CB5C4}" type="slidenum">
              <a:rPr lang="en-US" altLang="en-US" sz="1300" smtClean="0"/>
              <a:pPr/>
              <a:t>3</a:t>
            </a:fld>
            <a:endParaRPr lang="en-US" altLang="en-US" sz="1300" smtClean="0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677083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A42D24A4-F386-416E-B820-AEB47177042D}" type="slidenum">
              <a:rPr lang="en-US" altLang="en-US" sz="1300" smtClean="0"/>
              <a:pPr/>
              <a:t>4</a:t>
            </a:fld>
            <a:endParaRPr lang="en-US" altLang="en-US" sz="1300" smtClean="0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 smtClean="0"/>
              <a:t>A proposition is basically a statement of fact about objects. Objects are simply things we want to reason about. So a proposition might be that Mary is married to John. Mary and John are objects, and the relationship between them is that they are married. Note that we, as humans, associate a meaning to Mary, John, and married. However, as far as symbolic logic (discussed in the next slide) is concerned, these are just abstract things that will be reasoned with.</a:t>
            </a:r>
          </a:p>
        </p:txBody>
      </p:sp>
    </p:spTree>
    <p:extLst>
      <p:ext uri="{BB962C8B-B14F-4D97-AF65-F5344CB8AC3E}">
        <p14:creationId xmlns:p14="http://schemas.microsoft.com/office/powerpoint/2010/main" val="1770547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3AF805F1-A749-4317-A615-334332C94E10}" type="slidenum">
              <a:rPr lang="en-US" altLang="en-US" sz="1300" smtClean="0"/>
              <a:pPr/>
              <a:t>5</a:t>
            </a:fld>
            <a:endParaRPr lang="en-US" altLang="en-US" sz="1300" smtClean="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GB" altLang="en-US" dirty="0" smtClean="0"/>
              <a:t>Examples of the three basic needs of symbolic logic:</a:t>
            </a:r>
          </a:p>
          <a:p>
            <a:pPr eaLnBrk="1" hangingPunct="1">
              <a:defRPr/>
            </a:pPr>
            <a:endParaRPr lang="en-GB" altLang="en-US" dirty="0" smtClean="0"/>
          </a:p>
          <a:p>
            <a:pPr marL="171450" indent="-171450" eaLnBrk="1" hangingPunct="1">
              <a:buFontTx/>
              <a:buChar char="-"/>
              <a:defRPr/>
            </a:pPr>
            <a:r>
              <a:rPr lang="en-GB" altLang="en-US" dirty="0" smtClean="0"/>
              <a:t>We might have the proposition that Peter is </a:t>
            </a:r>
            <a:r>
              <a:rPr lang="en-GB" altLang="en-US" dirty="0" smtClean="0"/>
              <a:t>a</a:t>
            </a:r>
            <a:r>
              <a:rPr lang="en-GB" altLang="en-US" baseline="0" dirty="0" smtClean="0"/>
              <a:t> parent</a:t>
            </a:r>
            <a:r>
              <a:rPr lang="en-GB" altLang="en-US" dirty="0" smtClean="0"/>
              <a:t> </a:t>
            </a:r>
            <a:r>
              <a:rPr lang="en-GB" altLang="en-US" dirty="0" smtClean="0"/>
              <a:t>of Joe, or that Peter is </a:t>
            </a:r>
            <a:r>
              <a:rPr lang="en-GB" altLang="en-US" dirty="0" smtClean="0"/>
              <a:t>old.</a:t>
            </a:r>
            <a:endParaRPr lang="en-GB" altLang="en-US" dirty="0" smtClean="0"/>
          </a:p>
          <a:p>
            <a:pPr marL="171450" indent="-171450" eaLnBrk="1" hangingPunct="1">
              <a:buFontTx/>
              <a:buChar char="-"/>
              <a:defRPr/>
            </a:pPr>
            <a:r>
              <a:rPr lang="en-GB" altLang="en-US" dirty="0" smtClean="0"/>
              <a:t>We can place an “and” relationship between the two propositions, meaning that Peter is both Joe’s </a:t>
            </a:r>
            <a:r>
              <a:rPr lang="en-GB" altLang="en-US" dirty="0" smtClean="0"/>
              <a:t>parent, </a:t>
            </a:r>
            <a:r>
              <a:rPr lang="en-GB" altLang="en-US" dirty="0" smtClean="0"/>
              <a:t>and </a:t>
            </a:r>
            <a:r>
              <a:rPr lang="en-GB" altLang="en-US" dirty="0" smtClean="0"/>
              <a:t>also old.</a:t>
            </a:r>
            <a:endParaRPr lang="en-GB" altLang="en-US" dirty="0" smtClean="0"/>
          </a:p>
          <a:p>
            <a:pPr marL="171450" indent="-171450" eaLnBrk="1" hangingPunct="1">
              <a:buFontTx/>
              <a:buChar char="-"/>
              <a:defRPr/>
            </a:pPr>
            <a:r>
              <a:rPr lang="en-GB" altLang="en-US" dirty="0" smtClean="0"/>
              <a:t>We can specify that “if X is the </a:t>
            </a:r>
            <a:r>
              <a:rPr lang="en-GB" altLang="en-US" dirty="0" smtClean="0"/>
              <a:t>parent </a:t>
            </a:r>
            <a:r>
              <a:rPr lang="en-GB" altLang="en-US" dirty="0" smtClean="0"/>
              <a:t>of </a:t>
            </a:r>
            <a:r>
              <a:rPr lang="en-GB" altLang="en-US" dirty="0" smtClean="0"/>
              <a:t>something, </a:t>
            </a:r>
            <a:r>
              <a:rPr lang="en-GB" altLang="en-US" dirty="0" smtClean="0"/>
              <a:t>then X is also </a:t>
            </a:r>
            <a:r>
              <a:rPr lang="en-GB" altLang="en-US" dirty="0" smtClean="0"/>
              <a:t>old”, </a:t>
            </a:r>
            <a:r>
              <a:rPr lang="en-GB" altLang="en-US" dirty="0" smtClean="0"/>
              <a:t>which allows us to infer one proposition from another. Descriptions like this are represented as rules.</a:t>
            </a:r>
          </a:p>
          <a:p>
            <a:pPr eaLnBrk="1" hangingPunct="1">
              <a:defRPr/>
            </a:pPr>
            <a:endParaRPr lang="en-GB" altLang="en-US" dirty="0" smtClean="0"/>
          </a:p>
          <a:p>
            <a:pPr eaLnBrk="1" hangingPunct="1">
              <a:defRPr/>
            </a:pPr>
            <a:r>
              <a:rPr lang="en-GB" altLang="en-US" dirty="0" err="1" smtClean="0"/>
              <a:t>Prolog</a:t>
            </a:r>
            <a:r>
              <a:rPr lang="en-GB" altLang="en-US" dirty="0" smtClean="0"/>
              <a:t> has an inferencing engine that reasons about logic programs using first-order predicate calculus.</a:t>
            </a:r>
          </a:p>
        </p:txBody>
      </p:sp>
    </p:spTree>
    <p:extLst>
      <p:ext uri="{BB962C8B-B14F-4D97-AF65-F5344CB8AC3E}">
        <p14:creationId xmlns:p14="http://schemas.microsoft.com/office/powerpoint/2010/main" val="732547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C2CFB992-2813-462A-8EA9-86ECEAD5C7F8}" type="slidenum">
              <a:rPr lang="en-US" altLang="en-US" sz="1300" smtClean="0"/>
              <a:pPr/>
              <a:t>6</a:t>
            </a:fld>
            <a:endParaRPr lang="en-US" altLang="en-US" sz="1300" smtClean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GB" altLang="en-US" dirty="0" smtClean="0"/>
              <a:t>Continuing from the examples in the notes on the previous slide</a:t>
            </a:r>
            <a:r>
              <a:rPr lang="en-GB" altLang="en-US" dirty="0" smtClean="0"/>
              <a:t>:</a:t>
            </a:r>
          </a:p>
          <a:p>
            <a:pPr eaLnBrk="1" hangingPunct="1">
              <a:defRPr/>
            </a:pPr>
            <a:endParaRPr lang="en-GB" altLang="en-US" dirty="0" smtClean="0"/>
          </a:p>
          <a:p>
            <a:pPr marL="171450" indent="-171450" eaLnBrk="1" hangingPunct="1">
              <a:buFontTx/>
              <a:buChar char="-"/>
              <a:defRPr/>
            </a:pPr>
            <a:r>
              <a:rPr lang="en-GB" altLang="en-US" dirty="0" smtClean="0"/>
              <a:t>Something </a:t>
            </a:r>
            <a:r>
              <a:rPr lang="en-GB" altLang="en-US" dirty="0" smtClean="0"/>
              <a:t>like Peter is a constant. It represents a particular object. Again, we (as humans) associate a meaning with this constant, but </a:t>
            </a:r>
            <a:r>
              <a:rPr lang="en-GB" altLang="en-US" dirty="0" err="1" smtClean="0"/>
              <a:t>Prolog</a:t>
            </a:r>
            <a:r>
              <a:rPr lang="en-GB" altLang="en-US" dirty="0" smtClean="0"/>
              <a:t> treats them only as abstract “things” it can reason about. Usually we will use the convention of a lowercase letter starting a constant name (i.e. peter instead of Peter), because this is what </a:t>
            </a:r>
            <a:r>
              <a:rPr lang="en-GB" altLang="en-US" dirty="0" err="1" smtClean="0"/>
              <a:t>Prolog</a:t>
            </a:r>
            <a:r>
              <a:rPr lang="en-GB" altLang="en-US" dirty="0" smtClean="0"/>
              <a:t> does.</a:t>
            </a:r>
          </a:p>
          <a:p>
            <a:pPr marL="171450" indent="-171450" eaLnBrk="1" hangingPunct="1">
              <a:buFontTx/>
              <a:buChar char="-"/>
              <a:defRPr/>
            </a:pPr>
            <a:r>
              <a:rPr lang="en-GB" altLang="en-US" dirty="0" smtClean="0"/>
              <a:t>X is a variable. It means “any particular object”. It doesn’t store a value like a variable in an imperative language. Variables are used within rules, as the example in the notes of the previous slide showed. We use the convention of an uppercase letter starting a variable name, because this is what </a:t>
            </a:r>
            <a:r>
              <a:rPr lang="en-GB" altLang="en-US" dirty="0" err="1" smtClean="0"/>
              <a:t>Prolog</a:t>
            </a:r>
            <a:r>
              <a:rPr lang="en-GB" altLang="en-US" dirty="0" smtClean="0"/>
              <a:t> does</a:t>
            </a:r>
            <a:r>
              <a:rPr lang="en-GB" altLang="en-US" dirty="0" smtClean="0"/>
              <a:t>.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460456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7E4873D1-195E-4D5E-876A-4A133DDFE254}" type="slidenum">
              <a:rPr lang="en-US" altLang="en-US" sz="1300" smtClean="0"/>
              <a:pPr/>
              <a:t>7</a:t>
            </a:fld>
            <a:endParaRPr lang="en-US" altLang="en-US" sz="1300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1395843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E705AD40-08CF-4ABD-A8A8-6F78806E4FD4}" type="slidenum">
              <a:rPr lang="en-US" altLang="en-US" sz="1300" smtClean="0"/>
              <a:pPr/>
              <a:t>8</a:t>
            </a:fld>
            <a:endParaRPr lang="en-US" altLang="en-US" sz="1300" smtClean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GB" altLang="en-US" dirty="0" smtClean="0"/>
              <a:t>In the </a:t>
            </a:r>
            <a:r>
              <a:rPr lang="en-GB" altLang="en-US" smtClean="0"/>
              <a:t>examples</a:t>
            </a:r>
            <a:r>
              <a:rPr lang="en-GB" altLang="en-US" smtClean="0"/>
              <a:t>:</a:t>
            </a:r>
          </a:p>
          <a:p>
            <a:pPr eaLnBrk="1" hangingPunct="1">
              <a:defRPr/>
            </a:pPr>
            <a:endParaRPr lang="en-GB" altLang="en-US" dirty="0" smtClean="0"/>
          </a:p>
          <a:p>
            <a:pPr marL="171450" indent="-171450" eaLnBrk="1" hangingPunct="1">
              <a:buFontTx/>
              <a:buChar char="-"/>
              <a:defRPr/>
            </a:pPr>
            <a:r>
              <a:rPr lang="en-GB" altLang="en-US" dirty="0" smtClean="0"/>
              <a:t>“</a:t>
            </a:r>
            <a:r>
              <a:rPr lang="en-GB" altLang="en-US" dirty="0" err="1" smtClean="0"/>
              <a:t>jon</a:t>
            </a:r>
            <a:r>
              <a:rPr lang="en-GB" altLang="en-US" dirty="0" smtClean="0"/>
              <a:t>”, “</a:t>
            </a:r>
            <a:r>
              <a:rPr lang="en-GB" altLang="en-US" dirty="0" err="1" smtClean="0"/>
              <a:t>seth</a:t>
            </a:r>
            <a:r>
              <a:rPr lang="en-GB" altLang="en-US" dirty="0" smtClean="0"/>
              <a:t>”, “</a:t>
            </a:r>
            <a:r>
              <a:rPr lang="en-GB" altLang="en-US" dirty="0" err="1" smtClean="0"/>
              <a:t>osx</a:t>
            </a:r>
            <a:r>
              <a:rPr lang="en-GB" altLang="en-US" dirty="0" smtClean="0"/>
              <a:t>”, “nick”, “windows”, “</a:t>
            </a:r>
            <a:r>
              <a:rPr lang="en-GB" altLang="en-US" dirty="0" err="1" smtClean="0"/>
              <a:t>jim</a:t>
            </a:r>
            <a:r>
              <a:rPr lang="en-GB" altLang="en-US" dirty="0" smtClean="0"/>
              <a:t>”, and “</a:t>
            </a:r>
            <a:r>
              <a:rPr lang="en-GB" altLang="en-US" dirty="0" err="1" smtClean="0"/>
              <a:t>linux</a:t>
            </a:r>
            <a:r>
              <a:rPr lang="en-GB" altLang="en-US" dirty="0" smtClean="0"/>
              <a:t>” are constants that represent objects.</a:t>
            </a:r>
          </a:p>
          <a:p>
            <a:pPr marL="171450" indent="-171450" eaLnBrk="1" hangingPunct="1">
              <a:buFontTx/>
              <a:buChar char="-"/>
              <a:defRPr/>
            </a:pPr>
            <a:r>
              <a:rPr lang="en-GB" altLang="en-US" dirty="0" smtClean="0"/>
              <a:t>“student” and “like” are </a:t>
            </a:r>
            <a:r>
              <a:rPr lang="en-GB" altLang="en-US" dirty="0" err="1" smtClean="0"/>
              <a:t>functors</a:t>
            </a:r>
            <a:r>
              <a:rPr lang="en-GB" altLang="en-US" dirty="0" smtClean="0"/>
              <a:t> that represent relationships between objects.</a:t>
            </a:r>
          </a:p>
          <a:p>
            <a:pPr marL="171450" indent="-171450" eaLnBrk="1" hangingPunct="1">
              <a:buFontTx/>
              <a:buChar char="-"/>
              <a:defRPr/>
            </a:pPr>
            <a:r>
              <a:rPr lang="en-GB" altLang="en-US" dirty="0" smtClean="0"/>
              <a:t>student(</a:t>
            </a:r>
            <a:r>
              <a:rPr lang="en-GB" altLang="en-US" dirty="0" err="1" smtClean="0"/>
              <a:t>jon</a:t>
            </a:r>
            <a:r>
              <a:rPr lang="en-GB" altLang="en-US" dirty="0" smtClean="0"/>
              <a:t>) is a proposition that specifies some property of “</a:t>
            </a:r>
            <a:r>
              <a:rPr lang="en-GB" altLang="en-US" dirty="0" err="1" smtClean="0"/>
              <a:t>jon</a:t>
            </a:r>
            <a:r>
              <a:rPr lang="en-GB" altLang="en-US" dirty="0" smtClean="0"/>
              <a:t>”. We attach the meaning “</a:t>
            </a:r>
            <a:r>
              <a:rPr lang="en-GB" altLang="en-US" dirty="0" err="1" smtClean="0"/>
              <a:t>jon</a:t>
            </a:r>
            <a:r>
              <a:rPr lang="en-GB" altLang="en-US" dirty="0" smtClean="0"/>
              <a:t> attends a university” to the proposition, but it has no intrinsic meaning to symbolic logic. We could just as easily have attached another meaning to the proposition.</a:t>
            </a:r>
          </a:p>
          <a:p>
            <a:pPr marL="171450" indent="-171450" eaLnBrk="1" hangingPunct="1">
              <a:buFontTx/>
              <a:buChar char="-"/>
              <a:defRPr/>
            </a:pPr>
            <a:r>
              <a:rPr lang="en-GB" altLang="en-US" dirty="0" smtClean="0"/>
              <a:t>like(</a:t>
            </a:r>
            <a:r>
              <a:rPr lang="en-GB" altLang="en-US" dirty="0" err="1" smtClean="0"/>
              <a:t>seth</a:t>
            </a:r>
            <a:r>
              <a:rPr lang="en-GB" altLang="en-US" dirty="0" smtClean="0"/>
              <a:t>, </a:t>
            </a:r>
            <a:r>
              <a:rPr lang="en-GB" altLang="en-US" dirty="0" err="1" smtClean="0"/>
              <a:t>osx</a:t>
            </a:r>
            <a:r>
              <a:rPr lang="en-GB" altLang="en-US" dirty="0" smtClean="0"/>
              <a:t>) is a proposition that specifies a relationship between “</a:t>
            </a:r>
            <a:r>
              <a:rPr lang="en-GB" altLang="en-US" dirty="0" err="1" smtClean="0"/>
              <a:t>seth</a:t>
            </a:r>
            <a:r>
              <a:rPr lang="en-GB" altLang="en-US" dirty="0" smtClean="0"/>
              <a:t>” and “</a:t>
            </a:r>
            <a:r>
              <a:rPr lang="en-GB" altLang="en-US" dirty="0" err="1" smtClean="0"/>
              <a:t>osx</a:t>
            </a:r>
            <a:r>
              <a:rPr lang="en-GB" altLang="en-US" dirty="0" smtClean="0"/>
              <a:t>”. We attach the meaning “</a:t>
            </a:r>
            <a:r>
              <a:rPr lang="en-GB" altLang="en-US" dirty="0" err="1" smtClean="0"/>
              <a:t>seth</a:t>
            </a:r>
            <a:r>
              <a:rPr lang="en-GB" altLang="en-US" dirty="0" smtClean="0"/>
              <a:t> likes </a:t>
            </a:r>
            <a:r>
              <a:rPr lang="en-GB" altLang="en-US" dirty="0" err="1" smtClean="0"/>
              <a:t>osx</a:t>
            </a:r>
            <a:r>
              <a:rPr lang="en-GB" altLang="en-US" dirty="0" smtClean="0"/>
              <a:t>” to the proposition, but again it has no intrinsic meaning to symbolic logic. We could again attach another meaning to the proposition.</a:t>
            </a:r>
          </a:p>
          <a:p>
            <a:pPr eaLnBrk="1" hangingPunct="1">
              <a:defRPr/>
            </a:pPr>
            <a:endParaRPr lang="en-GB" altLang="en-US" dirty="0" smtClean="0"/>
          </a:p>
          <a:p>
            <a:pPr eaLnBrk="1" hangingPunct="1">
              <a:defRPr/>
            </a:pPr>
            <a:r>
              <a:rPr lang="en-GB" altLang="en-US" dirty="0" smtClean="0"/>
              <a:t>Also note that we use the convention of starting </a:t>
            </a:r>
            <a:r>
              <a:rPr lang="en-GB" altLang="en-US" dirty="0" err="1" smtClean="0"/>
              <a:t>functors</a:t>
            </a:r>
            <a:r>
              <a:rPr lang="en-GB" altLang="en-US" dirty="0" smtClean="0"/>
              <a:t> and objects with lowercase letters, because this is what is done by </a:t>
            </a:r>
            <a:r>
              <a:rPr lang="en-GB" altLang="en-US" dirty="0" err="1" smtClean="0"/>
              <a:t>Prolog</a:t>
            </a:r>
            <a:r>
              <a:rPr lang="en-GB" alt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2186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AEF6C5A3-3F21-47CE-937F-C9932CC48B22}" type="slidenum">
              <a:rPr lang="en-US" altLang="en-US" sz="1300" smtClean="0"/>
              <a:pPr/>
              <a:t>9</a:t>
            </a:fld>
            <a:endParaRPr lang="en-US" altLang="en-US" sz="1300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3831201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AEF6C5A3-3F21-47CE-937F-C9932CC48B22}" type="slidenum">
              <a:rPr lang="en-US" altLang="en-US" sz="1300" smtClean="0"/>
              <a:pPr/>
              <a:t>10</a:t>
            </a:fld>
            <a:endParaRPr lang="en-US" altLang="en-US" sz="1300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17049071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8BCC8F40-9C77-4C52-B08D-8D1ED0069C25}" type="slidenum">
              <a:rPr lang="en-US" altLang="en-US" sz="1200" smtClean="0"/>
              <a:pPr/>
              <a:t>11</a:t>
            </a:fld>
            <a:endParaRPr lang="en-US" altLang="en-US" sz="1200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7212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663B8ADE-FE30-438C-A9F1-FDAC62135FDB}" type="slidenum">
              <a:rPr lang="en-US" altLang="en-US" sz="1300" smtClean="0"/>
              <a:pPr/>
              <a:t>12</a:t>
            </a:fld>
            <a:endParaRPr lang="en-US" altLang="en-US" sz="130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GB" altLang="en-US" dirty="0" smtClean="0"/>
              <a:t>The headed</a:t>
            </a:r>
            <a:r>
              <a:rPr lang="en-GB" altLang="en-US" baseline="0" dirty="0" smtClean="0"/>
              <a:t> Horn clause</a:t>
            </a:r>
            <a:r>
              <a:rPr lang="en-GB" altLang="en-US" dirty="0" smtClean="0"/>
              <a:t> example is interpreted as:</a:t>
            </a:r>
          </a:p>
          <a:p>
            <a:pPr marL="171450" indent="-171450" eaLnBrk="1" hangingPunct="1">
              <a:buFontTx/>
              <a:buChar char="-"/>
              <a:defRPr/>
            </a:pPr>
            <a:r>
              <a:rPr lang="en-GB" altLang="en-US" dirty="0" smtClean="0"/>
              <a:t>“If bob likes fish and trout is a fish, then bob likes trout”</a:t>
            </a:r>
          </a:p>
          <a:p>
            <a:pPr marL="0" indent="0" eaLnBrk="1" hangingPunct="1">
              <a:buFontTx/>
              <a:buNone/>
              <a:defRPr/>
            </a:pPr>
            <a:endParaRPr lang="en-GB" altLang="en-US" dirty="0" smtClean="0"/>
          </a:p>
          <a:p>
            <a:pPr marL="0" indent="0" eaLnBrk="1" hangingPunct="1">
              <a:buFontTx/>
              <a:buNone/>
              <a:defRPr/>
            </a:pPr>
            <a:r>
              <a:rPr lang="en-GB" altLang="en-US" dirty="0" smtClean="0"/>
              <a:t>The headless Horn clause is interpreted as either:</a:t>
            </a:r>
          </a:p>
          <a:p>
            <a:pPr marL="171450" indent="-171450" eaLnBrk="1" hangingPunct="1">
              <a:buFontTx/>
              <a:buChar char="-"/>
              <a:defRPr/>
            </a:pPr>
            <a:r>
              <a:rPr lang="en-GB" altLang="en-US" dirty="0" smtClean="0"/>
              <a:t>The fact, “bob is the father of </a:t>
            </a:r>
            <a:r>
              <a:rPr lang="en-GB" altLang="en-US" dirty="0" err="1" smtClean="0"/>
              <a:t>jake</a:t>
            </a:r>
            <a:r>
              <a:rPr lang="en-GB" altLang="en-US" dirty="0" smtClean="0"/>
              <a:t>”</a:t>
            </a:r>
          </a:p>
          <a:p>
            <a:pPr marL="171450" indent="-171450" eaLnBrk="1" hangingPunct="1">
              <a:buFontTx/>
              <a:buChar char="-"/>
              <a:defRPr/>
            </a:pPr>
            <a:r>
              <a:rPr lang="en-GB" altLang="en-US" dirty="0" smtClean="0"/>
              <a:t>The query, “Is bob the father of </a:t>
            </a:r>
            <a:r>
              <a:rPr lang="en-GB" altLang="en-US" dirty="0" err="1" smtClean="0"/>
              <a:t>jake</a:t>
            </a:r>
            <a:r>
              <a:rPr lang="en-GB" altLang="en-US" dirty="0" smtClean="0"/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2059729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288BB039-5095-4910-BA44-E9A89AA79643}" type="slidenum">
              <a:rPr lang="en-US" altLang="en-US" sz="1300" smtClean="0"/>
              <a:pPr/>
              <a:t>13</a:t>
            </a:fld>
            <a:endParaRPr lang="en-US" altLang="en-US" sz="130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2822419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E63F21AA-5C85-4374-947F-D9DC91192E5C}" type="slidenum">
              <a:rPr lang="en-US" altLang="en-US" sz="1300" smtClean="0"/>
              <a:pPr/>
              <a:t>14</a:t>
            </a:fld>
            <a:endParaRPr lang="en-US" altLang="en-US" sz="130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 dirty="0" smtClean="0"/>
              <a:t>father(X, </a:t>
            </a:r>
            <a:r>
              <a:rPr lang="en-GB" altLang="en-US" dirty="0" err="1" smtClean="0"/>
              <a:t>jake</a:t>
            </a:r>
            <a:r>
              <a:rPr lang="en-GB" altLang="en-US" dirty="0" smtClean="0"/>
              <a:t>) is read as “Can you find a value for X so that X is the father of </a:t>
            </a:r>
            <a:r>
              <a:rPr lang="en-GB" altLang="en-US" dirty="0" err="1" smtClean="0"/>
              <a:t>jake</a:t>
            </a:r>
            <a:r>
              <a:rPr lang="en-GB" altLang="en-US" dirty="0" smtClean="0"/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771903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 defTabSz="990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EA54CB19-03B3-40A4-A219-18C344F35EAC}" type="slidenum">
              <a:rPr lang="en-US" altLang="en-US" sz="1300" smtClean="0"/>
              <a:pPr/>
              <a:t>15</a:t>
            </a:fld>
            <a:endParaRPr lang="en-US" altLang="en-US" sz="1300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2675964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371600"/>
            <a:ext cx="3657600" cy="1143000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3276600"/>
            <a:ext cx="3657600" cy="175260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8" descr="Front Cover: Concepts of Programming Languages, Global Edition, by Robert W Sebesta&#10;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6076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113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0C04DEE-A083-43E3-BF43-363BAC378B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5730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01245E0B-D39C-4B9B-B497-A0AA4AC02F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3631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00200"/>
            <a:ext cx="40005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32ABE6BB-5866-472C-AFAC-368E3375D3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5964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C05BE4C5-F315-4912-87E9-62B9E7F28A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087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FE945154-0118-407D-A1F3-E2695EE1F1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160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84BE490-3808-4560-A8A4-98EE2E24C6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500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56877B48-5206-47DD-B374-2F0C12C91B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792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242213D6-3DA7-401C-9FA8-138D561D85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8216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A5AA8952-C0A9-4758-9214-08B2077C77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8616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81000"/>
            <a:ext cx="203835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596265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1-</a:t>
            </a:r>
            <a:fld id="{F23872FE-0B63-415D-A4A0-BFC2B10568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159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8153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248400"/>
            <a:ext cx="487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2012 Addison-Wesley. All rights reserved.</a:t>
            </a:r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1-</a:t>
            </a:r>
            <a:fld id="{9A0258FD-0E2F-4263-A73F-BF2679301C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09600" y="152400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ZA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219200"/>
            <a:ext cx="8153400" cy="0"/>
          </a:xfrm>
          <a:prstGeom prst="line">
            <a:avLst/>
          </a:prstGeom>
          <a:noFill/>
          <a:ln w="5715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666699"/>
          </a:solidFill>
          <a:latin typeface="Lucida Sans Unicode" pitchFamily="34" charset="0"/>
          <a:ea typeface="Lucida Sans Unicode" pitchFamily="34" charset="0"/>
          <a:cs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100">
          <a:solidFill>
            <a:srgbClr val="66669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6699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rgbClr val="666699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28600" y="1371600"/>
            <a:ext cx="36576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Chapter 16</a:t>
            </a:r>
            <a:br>
              <a:rPr lang="en-US" altLang="en-US" dirty="0" smtClean="0"/>
            </a:br>
            <a:r>
              <a:rPr lang="en-US" altLang="en-US" sz="2800" dirty="0" smtClean="0"/>
              <a:t>Part 1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Logic Programming Languages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dirty="0" smtClean="0">
                <a:solidFill>
                  <a:schemeClr val="tx1"/>
                </a:solidFill>
                <a:latin typeface="Arial" panose="020B0604020202020204" pitchFamily="34" charset="0"/>
              </a:rPr>
              <a:t>Copyright © 2023 Addison-Wesley. All rights reserved.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3909EE93-D58A-4246-8953-D511DDF1FD16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16 Topics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Introduction</a:t>
            </a:r>
          </a:p>
          <a:p>
            <a:pPr eaLnBrk="1" hangingPunct="1"/>
            <a:r>
              <a:rPr lang="en-US" altLang="en-US" dirty="0" smtClean="0"/>
              <a:t>A Brief Introduction to </a:t>
            </a:r>
            <a:r>
              <a:rPr lang="en-US" altLang="en-US" smtClean="0"/>
              <a:t>Predicate Calculus</a:t>
            </a:r>
            <a:endParaRPr lang="en-US" altLang="en-US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2023 Addison-Wesley. All rights reserved.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02B53691-5E75-4061-8BFB-24EE89DB9522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Introduction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u="sng" dirty="0" smtClean="0"/>
              <a:t>Logic programming languages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Also called </a:t>
            </a:r>
            <a:r>
              <a:rPr lang="en-US" altLang="en-US" u="sng" dirty="0" smtClean="0"/>
              <a:t>declarative programming languages</a:t>
            </a:r>
          </a:p>
          <a:p>
            <a:pPr lvl="1" eaLnBrk="1" hangingPunct="1"/>
            <a:r>
              <a:rPr lang="en-US" altLang="en-US" dirty="0" smtClean="0"/>
              <a:t>Express programs in a form of symbolic logic</a:t>
            </a:r>
          </a:p>
          <a:p>
            <a:pPr lvl="1" eaLnBrk="1" hangingPunct="1"/>
            <a:r>
              <a:rPr lang="en-US" altLang="en-US" dirty="0" smtClean="0"/>
              <a:t>Logical inferencing process produces results</a:t>
            </a:r>
          </a:p>
          <a:p>
            <a:pPr eaLnBrk="1" hangingPunct="1"/>
            <a:r>
              <a:rPr lang="en-US" altLang="en-US" u="sng" dirty="0" smtClean="0"/>
              <a:t>Declarative</a:t>
            </a:r>
            <a:r>
              <a:rPr lang="en-US" altLang="en-US" dirty="0" smtClean="0"/>
              <a:t> rather that </a:t>
            </a:r>
            <a:r>
              <a:rPr lang="en-US" altLang="en-US" u="sng" dirty="0" smtClean="0"/>
              <a:t>procedural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Only specify the form of </a:t>
            </a:r>
            <a:r>
              <a:rPr lang="en-US" altLang="en-US" u="sng" dirty="0" smtClean="0"/>
              <a:t>results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Not the detailed </a:t>
            </a:r>
            <a:r>
              <a:rPr lang="en-US" altLang="en-US" u="sng" dirty="0" smtClean="0"/>
              <a:t>procedures</a:t>
            </a:r>
            <a:r>
              <a:rPr lang="en-US" altLang="en-US" dirty="0" smtClean="0"/>
              <a:t> for producing them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2023 Addison-Wesley. All rights reserved.</a:t>
            </a:r>
          </a:p>
        </p:txBody>
      </p:sp>
      <p:sp>
        <p:nvSpPr>
          <p:cNvPr id="1024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673FB96D-C00B-4724-9DF3-45E159F6E764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1530"/>
            <a:ext cx="8534400" cy="1206500"/>
          </a:xfrm>
        </p:spPr>
        <p:txBody>
          <a:bodyPr/>
          <a:lstStyle/>
          <a:p>
            <a:pPr eaLnBrk="1" hangingPunct="1"/>
            <a:r>
              <a:rPr lang="en-US" altLang="en-US" sz="3200" dirty="0" smtClean="0"/>
              <a:t>Predicate Calculus:</a:t>
            </a:r>
            <a:br>
              <a:rPr lang="en-US" altLang="en-US" sz="3200" dirty="0" smtClean="0"/>
            </a:br>
            <a:r>
              <a:rPr lang="en-US" altLang="en-US" sz="3200" dirty="0" smtClean="0"/>
              <a:t>Propositions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Definition of a </a:t>
            </a:r>
            <a:r>
              <a:rPr lang="en-US" altLang="en-US" u="sng" dirty="0" smtClean="0"/>
              <a:t>proposition</a:t>
            </a:r>
          </a:p>
          <a:p>
            <a:pPr lvl="1" eaLnBrk="1" hangingPunct="1"/>
            <a:r>
              <a:rPr lang="en-US" altLang="en-US" dirty="0" smtClean="0"/>
              <a:t>A logical statement that may or may not be true</a:t>
            </a:r>
          </a:p>
          <a:p>
            <a:pPr eaLnBrk="1" hangingPunct="1"/>
            <a:r>
              <a:rPr lang="en-US" altLang="en-US" dirty="0" smtClean="0"/>
              <a:t>Consists of</a:t>
            </a:r>
          </a:p>
          <a:p>
            <a:pPr lvl="1" eaLnBrk="1" hangingPunct="1"/>
            <a:r>
              <a:rPr lang="en-US" altLang="en-US" dirty="0" smtClean="0"/>
              <a:t>One or more objects</a:t>
            </a:r>
          </a:p>
          <a:p>
            <a:pPr lvl="1" eaLnBrk="1" hangingPunct="1"/>
            <a:r>
              <a:rPr lang="en-US" altLang="en-US" dirty="0" smtClean="0"/>
              <a:t>Relationships among objects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2023 Addison-Wesley. All rights reserved.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DC8B3426-8749-49CA-A26B-F2AFED8630E5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1530"/>
            <a:ext cx="8534400" cy="1206500"/>
          </a:xfrm>
        </p:spPr>
        <p:txBody>
          <a:bodyPr/>
          <a:lstStyle/>
          <a:p>
            <a:pPr eaLnBrk="1" hangingPunct="1"/>
            <a:r>
              <a:rPr lang="en-US" altLang="en-US" sz="3200" dirty="0" smtClean="0"/>
              <a:t>Predicate Calculus:</a:t>
            </a:r>
            <a:br>
              <a:rPr lang="en-US" altLang="en-US" sz="3200" dirty="0" smtClean="0"/>
            </a:br>
            <a:r>
              <a:rPr lang="en-US" altLang="en-US" sz="3200" dirty="0" smtClean="0"/>
              <a:t>Symbolic Logic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077200" cy="4724400"/>
          </a:xfrm>
        </p:spPr>
        <p:txBody>
          <a:bodyPr/>
          <a:lstStyle/>
          <a:p>
            <a:pPr eaLnBrk="1" hangingPunct="1"/>
            <a:r>
              <a:rPr lang="en-US" altLang="en-US" u="sng" dirty="0" smtClean="0"/>
              <a:t>Symbolic logic</a:t>
            </a:r>
          </a:p>
          <a:p>
            <a:pPr lvl="1" eaLnBrk="1" hangingPunct="1"/>
            <a:r>
              <a:rPr lang="en-US" altLang="en-US" dirty="0" smtClean="0"/>
              <a:t>Logic which can be used for the three basic needs of formal logic</a:t>
            </a:r>
          </a:p>
          <a:p>
            <a:pPr lvl="2" eaLnBrk="1" hangingPunct="1"/>
            <a:r>
              <a:rPr lang="en-US" altLang="en-US" dirty="0" smtClean="0"/>
              <a:t>Express propositions</a:t>
            </a:r>
          </a:p>
          <a:p>
            <a:pPr lvl="2" eaLnBrk="1" hangingPunct="1"/>
            <a:r>
              <a:rPr lang="en-US" altLang="en-US" dirty="0" smtClean="0"/>
              <a:t>Express relationships between propositions</a:t>
            </a:r>
          </a:p>
          <a:p>
            <a:pPr lvl="2" eaLnBrk="1" hangingPunct="1"/>
            <a:r>
              <a:rPr lang="en-US" altLang="en-US" dirty="0" smtClean="0"/>
              <a:t>Describe how new propositions can be inferred from other propositions</a:t>
            </a:r>
          </a:p>
          <a:p>
            <a:pPr eaLnBrk="1" hangingPunct="1"/>
            <a:r>
              <a:rPr lang="en-US" altLang="en-US" u="sng" dirty="0" smtClean="0"/>
              <a:t>First-order predicate calculus</a:t>
            </a:r>
          </a:p>
          <a:p>
            <a:pPr lvl="1" eaLnBrk="1" hangingPunct="1"/>
            <a:r>
              <a:rPr lang="en-US" altLang="en-US" dirty="0" smtClean="0"/>
              <a:t>The particular form of symbolic logic that is used for logic programming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2023 Addison-Wesley. All rights reserved.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25C24139-7010-4472-8069-FB04C46B26A3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153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dirty="0" smtClean="0"/>
              <a:t>Predicate Calculus:</a:t>
            </a:r>
            <a:br>
              <a:rPr lang="en-US" altLang="en-US" sz="3200" dirty="0" smtClean="0"/>
            </a:br>
            <a:r>
              <a:rPr lang="en-US" altLang="en-US" sz="3200" dirty="0" smtClean="0"/>
              <a:t>Object Representation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Simple terms</a:t>
            </a:r>
          </a:p>
          <a:p>
            <a:pPr lvl="1" eaLnBrk="1" hangingPunct="1"/>
            <a:r>
              <a:rPr lang="en-US" altLang="en-US" dirty="0" smtClean="0"/>
              <a:t>Represent objects in propositions</a:t>
            </a:r>
          </a:p>
          <a:p>
            <a:pPr lvl="1" eaLnBrk="1" hangingPunct="1"/>
            <a:r>
              <a:rPr lang="en-US" altLang="en-US" u="sng" dirty="0" smtClean="0"/>
              <a:t>Constant</a:t>
            </a:r>
          </a:p>
          <a:p>
            <a:pPr lvl="2" eaLnBrk="1" hangingPunct="1"/>
            <a:r>
              <a:rPr lang="en-US" altLang="en-US" dirty="0" smtClean="0"/>
              <a:t>A symbol that represents a particular object</a:t>
            </a:r>
          </a:p>
          <a:p>
            <a:pPr lvl="1" eaLnBrk="1" hangingPunct="1"/>
            <a:r>
              <a:rPr lang="en-US" altLang="en-US" u="sng" dirty="0" smtClean="0"/>
              <a:t>Variable</a:t>
            </a:r>
          </a:p>
          <a:p>
            <a:pPr lvl="2" eaLnBrk="1" hangingPunct="1"/>
            <a:r>
              <a:rPr lang="en-US" altLang="en-US" dirty="0" smtClean="0"/>
              <a:t>A symbol that can represent different objects at different times</a:t>
            </a:r>
          </a:p>
          <a:p>
            <a:pPr lvl="2" eaLnBrk="1" hangingPunct="1"/>
            <a:r>
              <a:rPr lang="en-US" altLang="en-US" dirty="0" smtClean="0"/>
              <a:t>Different from variables in imperative languages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2023 Addison-Wesley. All rights reserved.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20303168-001C-43DE-B514-F25CA4E5D8B7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153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dirty="0" smtClean="0"/>
              <a:t>Predicate Calculus:</a:t>
            </a:r>
            <a:br>
              <a:rPr lang="en-US" altLang="en-US" sz="3200" dirty="0" smtClean="0"/>
            </a:br>
            <a:r>
              <a:rPr lang="en-US" altLang="en-US" sz="3200" dirty="0" smtClean="0"/>
              <a:t>Atomic Propositions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Two types of propositions</a:t>
            </a:r>
          </a:p>
          <a:p>
            <a:pPr lvl="1" eaLnBrk="1" hangingPunct="1"/>
            <a:r>
              <a:rPr lang="en-US" altLang="en-US" dirty="0" smtClean="0"/>
              <a:t>Atomic propositions</a:t>
            </a:r>
          </a:p>
          <a:p>
            <a:pPr lvl="1" eaLnBrk="1" hangingPunct="1"/>
            <a:r>
              <a:rPr lang="en-US" altLang="en-US" dirty="0" smtClean="0"/>
              <a:t>Compound propositions</a:t>
            </a:r>
          </a:p>
          <a:p>
            <a:pPr eaLnBrk="1" hangingPunct="1"/>
            <a:r>
              <a:rPr lang="en-US" altLang="en-US" u="sng" dirty="0" smtClean="0"/>
              <a:t>Atomic propositions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The simplest kind of proposition</a:t>
            </a:r>
          </a:p>
          <a:p>
            <a:pPr lvl="1" eaLnBrk="1" hangingPunct="1"/>
            <a:r>
              <a:rPr lang="en-US" altLang="en-US" dirty="0" smtClean="0"/>
              <a:t>Written like a mathematical function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2023 Addison-Wesley. All rights reserved.</a:t>
            </a: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A6579671-96A8-4CC5-997B-0BC51A05C8B1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153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dirty="0" smtClean="0"/>
              <a:t>Predicate Calculus:</a:t>
            </a:r>
            <a:br>
              <a:rPr lang="en-US" altLang="en-US" sz="3200" dirty="0" smtClean="0"/>
            </a:br>
            <a:r>
              <a:rPr lang="en-US" altLang="en-US" sz="3200" dirty="0" smtClean="0"/>
              <a:t>Parts of Atomic Propositions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6770"/>
            <a:ext cx="8382000" cy="472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/>
              <a:t>Atomic proposition is composed of two parts</a:t>
            </a:r>
          </a:p>
          <a:p>
            <a:pPr lvl="1" eaLnBrk="1" hangingPunct="1">
              <a:defRPr/>
            </a:pPr>
            <a:r>
              <a:rPr lang="en-US" altLang="en-US" dirty="0" err="1" smtClean="0"/>
              <a:t>Functor</a:t>
            </a:r>
            <a:endParaRPr lang="en-US" altLang="en-US" dirty="0" smtClean="0"/>
          </a:p>
          <a:p>
            <a:pPr lvl="2" eaLnBrk="1" hangingPunct="1">
              <a:defRPr/>
            </a:pPr>
            <a:r>
              <a:rPr lang="en-US" altLang="en-US" dirty="0" smtClean="0"/>
              <a:t>Function symbol that names the </a:t>
            </a:r>
            <a:r>
              <a:rPr lang="en-US" altLang="en-US" dirty="0" smtClean="0"/>
              <a:t>relationships</a:t>
            </a:r>
            <a:endParaRPr lang="en-US" altLang="en-US" dirty="0" smtClean="0"/>
          </a:p>
          <a:p>
            <a:pPr lvl="1" eaLnBrk="1" hangingPunct="1">
              <a:defRPr/>
            </a:pPr>
            <a:r>
              <a:rPr lang="en-US" altLang="en-US" dirty="0" smtClean="0"/>
              <a:t>Ordered list of parameters</a:t>
            </a:r>
          </a:p>
          <a:p>
            <a:pPr lvl="2" eaLnBrk="1" hangingPunct="1">
              <a:defRPr/>
            </a:pPr>
            <a:r>
              <a:rPr lang="en-US" altLang="en-US" dirty="0" smtClean="0"/>
              <a:t>Tuple (e.g. 1-tuple, 2-tuple, etc.)</a:t>
            </a:r>
          </a:p>
          <a:p>
            <a:pPr eaLnBrk="1" hangingPunct="1">
              <a:defRPr/>
            </a:pPr>
            <a:r>
              <a:rPr lang="en-US" altLang="en-US" dirty="0" smtClean="0"/>
              <a:t>Atomic propositions </a:t>
            </a:r>
            <a:r>
              <a:rPr lang="en-US" altLang="en-US" dirty="0" smtClean="0"/>
              <a:t>expressing relationships</a:t>
            </a:r>
            <a:endParaRPr lang="en-US" altLang="en-US" dirty="0" smtClean="0"/>
          </a:p>
          <a:p>
            <a:pPr eaLnBrk="1" hangingPunct="1">
              <a:buFontTx/>
              <a:buNone/>
              <a:defRPr/>
            </a:pPr>
            <a:r>
              <a:rPr lang="en-US" altLang="en-US" dirty="0" smtClean="0"/>
              <a:t>		</a:t>
            </a:r>
            <a:r>
              <a:rPr lang="en-US" altLang="en-US" sz="2400" dirty="0" smtClean="0">
                <a:latin typeface="+mj-lt"/>
                <a:cs typeface="Courier New" panose="02070309020205020404" pitchFamily="49" charset="0"/>
              </a:rPr>
              <a:t>student(</a:t>
            </a:r>
            <a:r>
              <a:rPr lang="en-US" altLang="en-US" sz="2400" dirty="0" err="1" smtClean="0">
                <a:latin typeface="+mj-lt"/>
                <a:cs typeface="Courier New" panose="02070309020205020404" pitchFamily="49" charset="0"/>
              </a:rPr>
              <a:t>jon</a:t>
            </a:r>
            <a:r>
              <a:rPr lang="en-US" altLang="en-US" sz="2400" dirty="0" smtClean="0">
                <a:latin typeface="+mj-lt"/>
                <a:cs typeface="Courier New" panose="02070309020205020404" pitchFamily="49" charset="0"/>
              </a:rPr>
              <a:t>)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2400" dirty="0" smtClean="0">
                <a:latin typeface="+mj-lt"/>
                <a:cs typeface="Courier New" panose="02070309020205020404" pitchFamily="49" charset="0"/>
              </a:rPr>
              <a:t>		like(</a:t>
            </a:r>
            <a:r>
              <a:rPr lang="en-US" altLang="en-US" sz="2400" dirty="0" err="1" smtClean="0">
                <a:latin typeface="+mj-lt"/>
                <a:cs typeface="Courier New" panose="02070309020205020404" pitchFamily="49" charset="0"/>
              </a:rPr>
              <a:t>seth</a:t>
            </a:r>
            <a:r>
              <a:rPr lang="en-US" altLang="en-US" sz="2400" dirty="0" smtClean="0">
                <a:latin typeface="+mj-lt"/>
                <a:cs typeface="Courier New" panose="02070309020205020404" pitchFamily="49" charset="0"/>
              </a:rPr>
              <a:t>, </a:t>
            </a:r>
            <a:r>
              <a:rPr lang="en-US" altLang="en-US" sz="2400" dirty="0" err="1" smtClean="0">
                <a:latin typeface="+mj-lt"/>
                <a:cs typeface="Courier New" panose="02070309020205020404" pitchFamily="49" charset="0"/>
              </a:rPr>
              <a:t>osx</a:t>
            </a:r>
            <a:r>
              <a:rPr lang="en-US" altLang="en-US" sz="2400" dirty="0" smtClean="0">
                <a:latin typeface="+mj-lt"/>
                <a:cs typeface="Courier New" panose="02070309020205020404" pitchFamily="49" charset="0"/>
              </a:rPr>
              <a:t>)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2400" dirty="0" smtClean="0">
                <a:latin typeface="+mj-lt"/>
                <a:cs typeface="Courier New" panose="02070309020205020404" pitchFamily="49" charset="0"/>
              </a:rPr>
              <a:t>		like(nick, windows)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2400" dirty="0" smtClean="0">
                <a:latin typeface="+mj-lt"/>
                <a:cs typeface="Courier New" panose="02070309020205020404" pitchFamily="49" charset="0"/>
              </a:rPr>
              <a:t>		like(</a:t>
            </a:r>
            <a:r>
              <a:rPr lang="en-US" altLang="en-US" sz="2400" dirty="0" err="1" smtClean="0">
                <a:latin typeface="+mj-lt"/>
                <a:cs typeface="Courier New" panose="02070309020205020404" pitchFamily="49" charset="0"/>
              </a:rPr>
              <a:t>jim</a:t>
            </a:r>
            <a:r>
              <a:rPr lang="en-US" altLang="en-US" sz="2400" dirty="0" smtClean="0">
                <a:latin typeface="+mj-lt"/>
                <a:cs typeface="Courier New" panose="02070309020205020404" pitchFamily="49" charset="0"/>
              </a:rPr>
              <a:t>, </a:t>
            </a:r>
            <a:r>
              <a:rPr lang="en-US" altLang="en-US" sz="2400" dirty="0" err="1" smtClean="0">
                <a:latin typeface="+mj-lt"/>
                <a:cs typeface="Courier New" panose="02070309020205020404" pitchFamily="49" charset="0"/>
              </a:rPr>
              <a:t>linux</a:t>
            </a:r>
            <a:r>
              <a:rPr lang="en-US" altLang="en-US" sz="2400" dirty="0" smtClean="0">
                <a:latin typeface="+mj-lt"/>
                <a:cs typeface="Courier New" panose="02070309020205020404" pitchFamily="49" charset="0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2023 Addison-Wesley. All rights reserved.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1769DD61-BFD8-417B-B085-768B3AD5CD5F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153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dirty="0" smtClean="0"/>
              <a:t>Predicate Calculus:</a:t>
            </a:r>
            <a:br>
              <a:rPr lang="en-US" altLang="en-US" sz="3200" dirty="0" smtClean="0"/>
            </a:br>
            <a:r>
              <a:rPr lang="en-US" altLang="en-US" sz="3200" dirty="0" smtClean="0"/>
              <a:t>Forms of a Proposition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Propositions can be stated in two forms</a:t>
            </a:r>
          </a:p>
          <a:p>
            <a:pPr lvl="1" eaLnBrk="1" hangingPunct="1"/>
            <a:r>
              <a:rPr lang="en-US" altLang="en-US" u="sng" dirty="0" smtClean="0"/>
              <a:t>Fact</a:t>
            </a:r>
            <a:r>
              <a:rPr lang="en-US" altLang="en-US" dirty="0" smtClean="0"/>
              <a:t>: Proposition is assumed to be true</a:t>
            </a:r>
          </a:p>
          <a:p>
            <a:pPr lvl="1" eaLnBrk="1" hangingPunct="1"/>
            <a:r>
              <a:rPr lang="en-US" altLang="en-US" u="sng" dirty="0" smtClean="0"/>
              <a:t>Query</a:t>
            </a:r>
            <a:r>
              <a:rPr lang="en-US" altLang="en-US" dirty="0" smtClean="0"/>
              <a:t>: Truth of proposition is to be determined</a:t>
            </a:r>
          </a:p>
          <a:p>
            <a:pPr eaLnBrk="1" hangingPunct="1"/>
            <a:r>
              <a:rPr lang="en-US" altLang="en-US" dirty="0" smtClean="0"/>
              <a:t>For example, given </a:t>
            </a:r>
            <a:r>
              <a:rPr lang="en-US" altLang="en-US" dirty="0" smtClean="0">
                <a:cs typeface="Courier New" panose="02070309020205020404" pitchFamily="49" charset="0"/>
              </a:rPr>
              <a:t>student(</a:t>
            </a:r>
            <a:r>
              <a:rPr lang="en-US" altLang="en-US" dirty="0" err="1" smtClean="0">
                <a:cs typeface="Courier New" panose="02070309020205020404" pitchFamily="49" charset="0"/>
              </a:rPr>
              <a:t>jon</a:t>
            </a:r>
            <a:r>
              <a:rPr lang="en-US" altLang="en-US" dirty="0" smtClean="0">
                <a:cs typeface="Courier New" panose="02070309020205020404" pitchFamily="49" charset="0"/>
              </a:rPr>
              <a:t>)</a:t>
            </a:r>
          </a:p>
          <a:p>
            <a:pPr lvl="1" eaLnBrk="1" hangingPunct="1"/>
            <a:r>
              <a:rPr lang="en-US" altLang="en-US" dirty="0" smtClean="0">
                <a:cs typeface="Courier New" panose="02070309020205020404" pitchFamily="49" charset="0"/>
              </a:rPr>
              <a:t>As fact: “Jon is a student”</a:t>
            </a:r>
          </a:p>
          <a:p>
            <a:pPr lvl="1" eaLnBrk="1" hangingPunct="1"/>
            <a:r>
              <a:rPr lang="en-US" altLang="en-US" dirty="0" smtClean="0">
                <a:cs typeface="Courier New" panose="02070309020205020404" pitchFamily="49" charset="0"/>
              </a:rPr>
              <a:t>As query: “Can you prove that Jon is a student?”</a:t>
            </a:r>
            <a:endParaRPr lang="en-US" altLang="en-US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2023 Addison-Wesley. All rights reserved.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1769DD61-BFD8-417B-B085-768B3AD5CD5F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153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dirty="0" smtClean="0"/>
              <a:t>Predicate Calculus:</a:t>
            </a:r>
            <a:br>
              <a:rPr lang="en-US" altLang="en-US" sz="3200" dirty="0" smtClean="0"/>
            </a:br>
            <a:r>
              <a:rPr lang="en-US" altLang="en-US" sz="3200" dirty="0" smtClean="0"/>
              <a:t>Compound Propositions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We’ve looked at atomic propositions</a:t>
            </a:r>
          </a:p>
          <a:p>
            <a:pPr eaLnBrk="1" hangingPunct="1"/>
            <a:r>
              <a:rPr lang="en-US" altLang="en-US" u="sng" dirty="0" smtClean="0"/>
              <a:t>Compound propositions</a:t>
            </a:r>
          </a:p>
          <a:p>
            <a:pPr lvl="1" eaLnBrk="1" hangingPunct="1"/>
            <a:r>
              <a:rPr lang="en-US" altLang="en-US" dirty="0" smtClean="0"/>
              <a:t>More complex than atomic propositions</a:t>
            </a:r>
          </a:p>
          <a:p>
            <a:pPr lvl="1" eaLnBrk="1" hangingPunct="1"/>
            <a:r>
              <a:rPr lang="en-US" altLang="en-US" dirty="0" smtClean="0"/>
              <a:t>Have two or more atomic propositions</a:t>
            </a:r>
          </a:p>
          <a:p>
            <a:pPr lvl="1" eaLnBrk="1" hangingPunct="1"/>
            <a:r>
              <a:rPr lang="en-US" altLang="en-US" dirty="0" smtClean="0"/>
              <a:t>Atomic propositions are connected by operators</a:t>
            </a:r>
          </a:p>
        </p:txBody>
      </p:sp>
    </p:spTree>
    <p:extLst>
      <p:ext uri="{BB962C8B-B14F-4D97-AF65-F5344CB8AC3E}">
        <p14:creationId xmlns:p14="http://schemas.microsoft.com/office/powerpoint/2010/main" val="136030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dirty="0" smtClean="0">
                <a:solidFill>
                  <a:schemeClr val="tx1"/>
                </a:solidFill>
                <a:latin typeface="Arial" panose="020B0604020202020204" pitchFamily="34" charset="0"/>
              </a:rPr>
              <a:t>Copyright © 2023 Addison-Wesley. All rights reserved.</a:t>
            </a:r>
          </a:p>
        </p:txBody>
      </p:sp>
      <p:sp>
        <p:nvSpPr>
          <p:cNvPr id="2253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7B03744B-9395-4AEA-84CF-8B18D10D0097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 sz="3200" dirty="0" smtClean="0"/>
              <a:t>Predicate Calculus: Logical Operators</a:t>
            </a:r>
          </a:p>
        </p:txBody>
      </p:sp>
      <p:graphicFrame>
        <p:nvGraphicFramePr>
          <p:cNvPr id="15400" name="Group 40"/>
          <p:cNvGraphicFramePr>
            <a:graphicFrameLocks noGrp="1"/>
          </p:cNvGraphicFramePr>
          <p:nvPr/>
        </p:nvGraphicFramePr>
        <p:xfrm>
          <a:off x="609600" y="1487488"/>
          <a:ext cx="8229600" cy="4429125"/>
        </p:xfrm>
        <a:graphic>
          <a:graphicData uri="http://schemas.openxmlformats.org/drawingml/2006/table">
            <a:tbl>
              <a:tblPr/>
              <a:tblGrid>
                <a:gridCol w="2311400"/>
                <a:gridCol w="1506538"/>
                <a:gridCol w="1697037"/>
                <a:gridCol w="2714625"/>
              </a:tblGrid>
              <a:tr h="67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Name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Symbol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Example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Meaning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63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negation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Symbol" pitchFamily="18" charset="2"/>
                        </a:rPr>
                        <a:t>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Symbol" pitchFamily="18" charset="2"/>
                        </a:rPr>
                        <a:t>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Math1" pitchFamily="2" charset="2"/>
                        </a:rPr>
                        <a:t> a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not a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conjunction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Symbol" pitchFamily="18" charset="2"/>
                        </a:rPr>
                        <a:t>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Math1" pitchFamily="2" charset="2"/>
                        </a:rPr>
                        <a:t>a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Symbol" pitchFamily="18" charset="2"/>
                        </a:rPr>
                        <a:t>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Math1" pitchFamily="2" charset="2"/>
                        </a:rPr>
                        <a:t>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 and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8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disjunction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Symbol" pitchFamily="18" charset="2"/>
                        </a:rPr>
                        <a:t>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Math1" pitchFamily="2" charset="2"/>
                        </a:rPr>
                        <a:t>a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Symbol" pitchFamily="18" charset="2"/>
                        </a:rPr>
                        <a:t>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Math1" pitchFamily="2" charset="2"/>
                        </a:rPr>
                        <a:t>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 or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229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equivalence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Symbol" pitchFamily="18" charset="2"/>
                        </a:rPr>
                        <a:t>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Math1" pitchFamily="2" charset="2"/>
                        </a:rPr>
                        <a:t>a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Symbol" pitchFamily="18" charset="2"/>
                        </a:rPr>
                        <a:t>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Math1" pitchFamily="2" charset="2"/>
                        </a:rPr>
                        <a:t>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 is equivalent to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96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implication</a:t>
                      </a: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Symbol" pitchFamily="18" charset="2"/>
                        </a:rPr>
                        <a:t>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pitchFamily="34" charset="0"/>
                        <a:ea typeface="Lucida Sans Unicode" pitchFamily="34" charset="0"/>
                        <a:cs typeface="Lucida Sans Unicode" pitchFamily="34" charset="0"/>
                        <a:sym typeface="Math1" pitchFamily="2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Symbol" pitchFamily="18" charset="2"/>
                        </a:rPr>
                        <a:t>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Lucida Sans Unicode" pitchFamily="34" charset="0"/>
                        <a:ea typeface="Lucida Sans Unicode" pitchFamily="34" charset="0"/>
                        <a:cs typeface="Lucida Sans Unicode" pitchFamily="34" charset="0"/>
                      </a:endParaRP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Math1" pitchFamily="2" charset="2"/>
                        </a:rPr>
                        <a:t>a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Symbol" pitchFamily="18" charset="2"/>
                        </a:rPr>
                        <a:t>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Math1" pitchFamily="2" charset="2"/>
                        </a:rPr>
                        <a:t>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Math1" pitchFamily="2" charset="2"/>
                        </a:rPr>
                        <a:t>a 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Symbol" pitchFamily="18" charset="2"/>
                        </a:rPr>
                        <a:t></a:t>
                      </a: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  <a:sym typeface="Math1" pitchFamily="2" charset="2"/>
                        </a:rPr>
                        <a:t> b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a implies 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Lucida Sans Unicode" pitchFamily="34" charset="0"/>
                          <a:ea typeface="Lucida Sans Unicode" pitchFamily="34" charset="0"/>
                          <a:cs typeface="Lucida Sans Unicode" pitchFamily="34" charset="0"/>
                        </a:rPr>
                        <a:t>b implies a</a:t>
                      </a:r>
                    </a:p>
                  </a:txBody>
                  <a:tcPr marT="45722" marB="4572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2023 Addison-Wesley. All rights reserved.</a:t>
            </a:r>
          </a:p>
        </p:txBody>
      </p:sp>
      <p:sp>
        <p:nvSpPr>
          <p:cNvPr id="3481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3A7203F2-08DB-46AF-A3A1-E3360E4B0428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Horn Clauses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We use a restricted form of propositions</a:t>
            </a:r>
          </a:p>
          <a:p>
            <a:pPr lvl="1" eaLnBrk="1" hangingPunct="1"/>
            <a:r>
              <a:rPr lang="en-US" altLang="en-US" u="sng" dirty="0"/>
              <a:t>Horn clauses</a:t>
            </a:r>
            <a:r>
              <a:rPr lang="en-US" altLang="en-US" dirty="0"/>
              <a:t> can represent most propositions</a:t>
            </a:r>
            <a:endParaRPr lang="en-US" altLang="en-US" dirty="0" smtClean="0"/>
          </a:p>
          <a:p>
            <a:pPr eaLnBrk="1" hangingPunct="1"/>
            <a:r>
              <a:rPr lang="en-US" altLang="en-US" dirty="0" smtClean="0"/>
              <a:t>Horn clause can have only two forms</a:t>
            </a:r>
          </a:p>
          <a:p>
            <a:pPr lvl="1" eaLnBrk="1" hangingPunct="1"/>
            <a:r>
              <a:rPr lang="en-US" altLang="en-US" u="sng" dirty="0" smtClean="0"/>
              <a:t>Headed</a:t>
            </a:r>
            <a:endParaRPr lang="en-US" altLang="en-US" dirty="0"/>
          </a:p>
          <a:p>
            <a:pPr lvl="2" eaLnBrk="1" hangingPunct="1"/>
            <a:r>
              <a:rPr lang="en-US" altLang="en-US" sz="1800" dirty="0" smtClean="0"/>
              <a:t>Conjunction of propositions on right (antecedent)</a:t>
            </a:r>
          </a:p>
          <a:p>
            <a:pPr lvl="2" eaLnBrk="1" hangingPunct="1"/>
            <a:r>
              <a:rPr lang="en-US" altLang="en-US" sz="1800" dirty="0" smtClean="0"/>
              <a:t>One atomic proposition on left side (consequent)</a:t>
            </a:r>
          </a:p>
          <a:p>
            <a:pPr lvl="2" eaLnBrk="1" hangingPunct="1"/>
            <a:r>
              <a:rPr lang="en-US" altLang="en-US" sz="1800" dirty="0"/>
              <a:t>S</a:t>
            </a:r>
            <a:r>
              <a:rPr lang="en-US" altLang="en-US" sz="1800" dirty="0" smtClean="0"/>
              <a:t>tate relationships (rules)</a:t>
            </a:r>
          </a:p>
          <a:p>
            <a:pPr lvl="2" eaLnBrk="1" hangingPunct="1"/>
            <a:r>
              <a:rPr lang="en-US" altLang="en-US" sz="1800" dirty="0" smtClean="0"/>
              <a:t>likes(bob, trout) </a:t>
            </a:r>
            <a:r>
              <a:rPr lang="en-US" altLang="en-US" sz="1800" dirty="0" smtClean="0">
                <a:sym typeface="Symbol" panose="05050102010706020507" pitchFamily="18" charset="2"/>
              </a:rPr>
              <a:t> likes(bob, fish)  fish(trout)</a:t>
            </a:r>
            <a:endParaRPr lang="en-US" altLang="en-US" sz="1800" dirty="0" smtClean="0"/>
          </a:p>
          <a:p>
            <a:pPr lvl="1" eaLnBrk="1" hangingPunct="1"/>
            <a:r>
              <a:rPr lang="en-US" altLang="en-US" u="sng" dirty="0" smtClean="0"/>
              <a:t>Headless</a:t>
            </a:r>
            <a:endParaRPr lang="en-US" altLang="en-US" dirty="0"/>
          </a:p>
          <a:p>
            <a:pPr lvl="2" eaLnBrk="1" hangingPunct="1"/>
            <a:r>
              <a:rPr lang="en-US" altLang="en-US" sz="1800" dirty="0" smtClean="0"/>
              <a:t>Empty left side</a:t>
            </a:r>
          </a:p>
          <a:p>
            <a:pPr lvl="2" eaLnBrk="1" hangingPunct="1"/>
            <a:r>
              <a:rPr lang="en-US" altLang="en-US" sz="1800" dirty="0"/>
              <a:t>S</a:t>
            </a:r>
            <a:r>
              <a:rPr lang="en-US" altLang="en-US" sz="1800" dirty="0" smtClean="0"/>
              <a:t>tate facts and queries</a:t>
            </a:r>
          </a:p>
          <a:p>
            <a:pPr lvl="2" eaLnBrk="1" hangingPunct="1"/>
            <a:r>
              <a:rPr lang="en-US" altLang="en-US" sz="1800" dirty="0" smtClean="0"/>
              <a:t>father(bob, </a:t>
            </a:r>
            <a:r>
              <a:rPr lang="en-US" altLang="en-US" sz="1800" dirty="0" err="1" smtClean="0"/>
              <a:t>jake</a:t>
            </a:r>
            <a:r>
              <a:rPr lang="en-US" altLang="en-US" sz="18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85297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2023 Addison-Wesley. All rights reserved.</a:t>
            </a:r>
          </a:p>
        </p:txBody>
      </p:sp>
      <p:sp>
        <p:nvSpPr>
          <p:cNvPr id="2867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92BAF6A5-ABCE-45ED-A37B-17507E74DA63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12900"/>
            <a:ext cx="8305800" cy="46482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Want to infer facts from known propositions</a:t>
            </a:r>
          </a:p>
          <a:p>
            <a:pPr eaLnBrk="1" hangingPunct="1"/>
            <a:r>
              <a:rPr lang="en-US" altLang="en-US" u="sng" dirty="0" smtClean="0"/>
              <a:t>Resolution</a:t>
            </a:r>
            <a:r>
              <a:rPr lang="en-US" altLang="en-US" dirty="0" smtClean="0"/>
              <a:t> is an inference principle</a:t>
            </a:r>
          </a:p>
          <a:p>
            <a:pPr lvl="1" eaLnBrk="1" hangingPunct="1"/>
            <a:r>
              <a:rPr lang="en-US" altLang="en-US" dirty="0" smtClean="0"/>
              <a:t>Allows inferred propositions to be computed from given propositions</a:t>
            </a:r>
          </a:p>
          <a:p>
            <a:pPr lvl="1" eaLnBrk="1" hangingPunct="1"/>
            <a:r>
              <a:rPr lang="en-US" altLang="en-US" dirty="0" smtClean="0"/>
              <a:t>For example, given</a:t>
            </a:r>
          </a:p>
          <a:p>
            <a:pPr lvl="2" eaLnBrk="1" hangingPunct="1"/>
            <a:r>
              <a:rPr lang="en-US" altLang="en-US" dirty="0" smtClean="0"/>
              <a:t>older(</a:t>
            </a:r>
            <a:r>
              <a:rPr lang="en-US" altLang="en-US" dirty="0" err="1" smtClean="0"/>
              <a:t>joanna</a:t>
            </a:r>
            <a:r>
              <a:rPr lang="en-US" altLang="en-US" dirty="0" smtClean="0"/>
              <a:t>, </a:t>
            </a:r>
            <a:r>
              <a:rPr lang="en-US" altLang="en-US" dirty="0" err="1" smtClean="0"/>
              <a:t>jake</a:t>
            </a:r>
            <a:r>
              <a:rPr lang="en-US" altLang="en-US" dirty="0" smtClean="0"/>
              <a:t>) </a:t>
            </a:r>
            <a:r>
              <a:rPr lang="en-US" altLang="en-US" dirty="0" smtClean="0">
                <a:sym typeface="Symbol" panose="05050102010706020507" pitchFamily="18" charset="2"/>
              </a:rPr>
              <a:t> mother(</a:t>
            </a:r>
            <a:r>
              <a:rPr lang="en-US" altLang="en-US" dirty="0" err="1" smtClean="0">
                <a:sym typeface="Symbol" panose="05050102010706020507" pitchFamily="18" charset="2"/>
              </a:rPr>
              <a:t>joanna</a:t>
            </a:r>
            <a:r>
              <a:rPr lang="en-US" altLang="en-US" dirty="0" smtClean="0">
                <a:sym typeface="Symbol" panose="05050102010706020507" pitchFamily="18" charset="2"/>
              </a:rPr>
              <a:t>, </a:t>
            </a:r>
            <a:r>
              <a:rPr lang="en-US" altLang="en-US" dirty="0" err="1" smtClean="0">
                <a:sym typeface="Symbol" panose="05050102010706020507" pitchFamily="18" charset="2"/>
              </a:rPr>
              <a:t>jake</a:t>
            </a:r>
            <a:r>
              <a:rPr lang="en-US" altLang="en-US" dirty="0" smtClean="0">
                <a:sym typeface="Symbol" panose="05050102010706020507" pitchFamily="18" charset="2"/>
              </a:rPr>
              <a:t>)</a:t>
            </a:r>
          </a:p>
          <a:p>
            <a:pPr lvl="2" eaLnBrk="1" hangingPunct="1"/>
            <a:r>
              <a:rPr lang="en-US" altLang="en-US" dirty="0" smtClean="0"/>
              <a:t>wiser(</a:t>
            </a:r>
            <a:r>
              <a:rPr lang="en-US" altLang="en-US" dirty="0" err="1" smtClean="0"/>
              <a:t>joanna</a:t>
            </a:r>
            <a:r>
              <a:rPr lang="en-US" altLang="en-US" dirty="0" smtClean="0"/>
              <a:t>, </a:t>
            </a:r>
            <a:r>
              <a:rPr lang="en-US" altLang="en-US" dirty="0" err="1" smtClean="0"/>
              <a:t>jake</a:t>
            </a:r>
            <a:r>
              <a:rPr lang="en-US" altLang="en-US" dirty="0" smtClean="0"/>
              <a:t>) </a:t>
            </a:r>
            <a:r>
              <a:rPr lang="en-US" altLang="en-US" dirty="0" smtClean="0">
                <a:sym typeface="Symbol" panose="05050102010706020507" pitchFamily="18" charset="2"/>
              </a:rPr>
              <a:t> older(</a:t>
            </a:r>
            <a:r>
              <a:rPr lang="en-US" altLang="en-US" dirty="0" err="1" smtClean="0">
                <a:sym typeface="Symbol" panose="05050102010706020507" pitchFamily="18" charset="2"/>
              </a:rPr>
              <a:t>joanna</a:t>
            </a:r>
            <a:r>
              <a:rPr lang="en-US" altLang="en-US" dirty="0" smtClean="0">
                <a:sym typeface="Symbol" panose="05050102010706020507" pitchFamily="18" charset="2"/>
              </a:rPr>
              <a:t>, </a:t>
            </a:r>
            <a:r>
              <a:rPr lang="en-US" altLang="en-US" dirty="0" err="1" smtClean="0">
                <a:sym typeface="Symbol" panose="05050102010706020507" pitchFamily="18" charset="2"/>
              </a:rPr>
              <a:t>jake</a:t>
            </a:r>
            <a:r>
              <a:rPr lang="en-US" altLang="en-US" dirty="0" smtClean="0">
                <a:sym typeface="Symbol" panose="05050102010706020507" pitchFamily="18" charset="2"/>
              </a:rPr>
              <a:t>)</a:t>
            </a:r>
          </a:p>
          <a:p>
            <a:pPr lvl="1" eaLnBrk="1" hangingPunct="1"/>
            <a:r>
              <a:rPr lang="en-US" altLang="en-US" dirty="0" smtClean="0">
                <a:sym typeface="Symbol" panose="05050102010706020507" pitchFamily="18" charset="2"/>
              </a:rPr>
              <a:t>Resolution can infer that</a:t>
            </a:r>
          </a:p>
          <a:p>
            <a:pPr lvl="2" eaLnBrk="1" hangingPunct="1"/>
            <a:r>
              <a:rPr lang="en-US" altLang="en-US" dirty="0" smtClean="0">
                <a:sym typeface="Symbol" panose="05050102010706020507" pitchFamily="18" charset="2"/>
              </a:rPr>
              <a:t>wiser(</a:t>
            </a:r>
            <a:r>
              <a:rPr lang="en-US" altLang="en-US" dirty="0" err="1" smtClean="0">
                <a:sym typeface="Symbol" panose="05050102010706020507" pitchFamily="18" charset="2"/>
              </a:rPr>
              <a:t>joanna</a:t>
            </a:r>
            <a:r>
              <a:rPr lang="en-US" altLang="en-US" dirty="0" smtClean="0">
                <a:sym typeface="Symbol" panose="05050102010706020507" pitchFamily="18" charset="2"/>
              </a:rPr>
              <a:t>, </a:t>
            </a:r>
            <a:r>
              <a:rPr lang="en-US" altLang="en-US" dirty="0" err="1" smtClean="0">
                <a:sym typeface="Symbol" panose="05050102010706020507" pitchFamily="18" charset="2"/>
              </a:rPr>
              <a:t>jake</a:t>
            </a:r>
            <a:r>
              <a:rPr lang="en-US" altLang="en-US" dirty="0" smtClean="0">
                <a:sym typeface="Symbol" panose="05050102010706020507" pitchFamily="18" charset="2"/>
              </a:rPr>
              <a:t>)  mother(</a:t>
            </a:r>
            <a:r>
              <a:rPr lang="en-US" altLang="en-US" dirty="0" err="1" smtClean="0">
                <a:sym typeface="Symbol" panose="05050102010706020507" pitchFamily="18" charset="2"/>
              </a:rPr>
              <a:t>joanna</a:t>
            </a:r>
            <a:r>
              <a:rPr lang="en-US" altLang="en-US" dirty="0" smtClean="0">
                <a:sym typeface="Symbol" panose="05050102010706020507" pitchFamily="18" charset="2"/>
              </a:rPr>
              <a:t>, </a:t>
            </a:r>
            <a:r>
              <a:rPr lang="en-US" altLang="en-US" dirty="0" err="1" smtClean="0">
                <a:sym typeface="Symbol" panose="05050102010706020507" pitchFamily="18" charset="2"/>
              </a:rPr>
              <a:t>jake</a:t>
            </a:r>
            <a:r>
              <a:rPr lang="en-US" altLang="en-US" dirty="0" smtClean="0">
                <a:sym typeface="Symbol" panose="05050102010706020507" pitchFamily="18" charset="2"/>
              </a:rPr>
              <a:t>)</a:t>
            </a:r>
          </a:p>
          <a:p>
            <a:pPr lvl="1" eaLnBrk="1" hangingPunct="1"/>
            <a:r>
              <a:rPr lang="en-US" altLang="en-US" dirty="0" smtClean="0">
                <a:sym typeface="Symbol" panose="05050102010706020507" pitchFamily="18" charset="2"/>
              </a:rPr>
              <a:t>This is a matching process</a:t>
            </a:r>
            <a:endParaRPr lang="en-US" altLang="en-US" dirty="0" smtClean="0"/>
          </a:p>
        </p:txBody>
      </p:sp>
      <p:sp>
        <p:nvSpPr>
          <p:cNvPr id="286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 smtClean="0"/>
              <a:t>Predicate Calculus &amp; Proving Theorems</a:t>
            </a:r>
            <a:endParaRPr lang="en-ZA" altLang="en-US" sz="3200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2023 Addison-Wesley. All rights reserved.</a:t>
            </a:r>
          </a:p>
        </p:txBody>
      </p:sp>
      <p:sp>
        <p:nvSpPr>
          <p:cNvPr id="307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EF612C5D-D5EF-4589-ADA9-2B097A71B934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 smtClean="0"/>
              <a:t>Predicate Calculus &amp; Proving Theorems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820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Variables can appear in propositions</a:t>
            </a:r>
          </a:p>
          <a:p>
            <a:pPr lvl="1" eaLnBrk="1" hangingPunct="1"/>
            <a:r>
              <a:rPr lang="en-US" altLang="en-US" dirty="0" smtClean="0"/>
              <a:t>father(X, </a:t>
            </a:r>
            <a:r>
              <a:rPr lang="en-US" altLang="en-US" dirty="0" err="1" smtClean="0"/>
              <a:t>jake</a:t>
            </a:r>
            <a:r>
              <a:rPr lang="en-US" altLang="en-US" dirty="0" smtClean="0"/>
              <a:t>)</a:t>
            </a:r>
          </a:p>
          <a:p>
            <a:pPr eaLnBrk="1" hangingPunct="1"/>
            <a:r>
              <a:rPr lang="en-US" altLang="en-US" u="sng" dirty="0" smtClean="0"/>
              <a:t>Unification</a:t>
            </a:r>
            <a:r>
              <a:rPr lang="en-US" altLang="en-US" dirty="0" smtClean="0"/>
              <a:t> process</a:t>
            </a:r>
          </a:p>
          <a:p>
            <a:pPr lvl="1" eaLnBrk="1" hangingPunct="1"/>
            <a:r>
              <a:rPr lang="en-US" altLang="en-US" dirty="0" smtClean="0"/>
              <a:t>Finds values for variables in propositions</a:t>
            </a:r>
          </a:p>
          <a:p>
            <a:pPr lvl="2" eaLnBrk="1" hangingPunct="1"/>
            <a:r>
              <a:rPr lang="en-US" altLang="en-US" dirty="0" smtClean="0"/>
              <a:t>These values allow </a:t>
            </a:r>
            <a:r>
              <a:rPr lang="en-US" altLang="en-US" dirty="0"/>
              <a:t>a</a:t>
            </a:r>
            <a:r>
              <a:rPr lang="en-US" altLang="en-US" dirty="0" smtClean="0"/>
              <a:t> matching process to succeed</a:t>
            </a:r>
          </a:p>
          <a:p>
            <a:pPr lvl="2" eaLnBrk="1" hangingPunct="1"/>
            <a:r>
              <a:rPr lang="en-US" altLang="en-US" dirty="0" smtClean="0"/>
              <a:t>Matching process leads to assumed propositions</a:t>
            </a:r>
          </a:p>
          <a:p>
            <a:pPr lvl="1" eaLnBrk="1" hangingPunct="1"/>
            <a:r>
              <a:rPr lang="en-US" altLang="en-US" dirty="0" smtClean="0"/>
              <a:t>A variable is </a:t>
            </a:r>
            <a:r>
              <a:rPr lang="en-US" altLang="en-US" u="sng" dirty="0" smtClean="0"/>
              <a:t>instantiated</a:t>
            </a:r>
            <a:r>
              <a:rPr lang="en-US" altLang="en-US" dirty="0" smtClean="0"/>
              <a:t> to a temporary value to try to allow unification to succeed</a:t>
            </a:r>
          </a:p>
          <a:p>
            <a:pPr lvl="1" eaLnBrk="1" hangingPunct="1"/>
            <a:r>
              <a:rPr lang="en-US" altLang="en-US" dirty="0" smtClean="0"/>
              <a:t>After instantiating a variable with a value</a:t>
            </a:r>
          </a:p>
          <a:p>
            <a:pPr lvl="2" eaLnBrk="1" hangingPunct="1"/>
            <a:r>
              <a:rPr lang="en-US" altLang="en-US" dirty="0" smtClean="0"/>
              <a:t>Matching may fail</a:t>
            </a:r>
          </a:p>
          <a:p>
            <a:pPr lvl="2" eaLnBrk="1" hangingPunct="1"/>
            <a:r>
              <a:rPr lang="en-US" altLang="en-US" u="sng" dirty="0" smtClean="0"/>
              <a:t>Backtrack</a:t>
            </a:r>
            <a:r>
              <a:rPr lang="en-US" altLang="en-US" dirty="0" smtClean="0"/>
              <a:t>: instantiate variable with different value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Copyright © 2023 Addison-Wesley. All rights reserved.</a:t>
            </a:r>
          </a:p>
        </p:txBody>
      </p:sp>
      <p:sp>
        <p:nvSpPr>
          <p:cNvPr id="327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1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accent2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Lucida Sans Unicode" panose="020B0602030504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t>1-</a:t>
            </a:r>
            <a:fld id="{D01AEFB8-35FE-4913-9AB5-517E86A7F528}" type="slidenum">
              <a:rPr lang="en-US" altLang="en-US" sz="1000" smtClean="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000" smtClean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Predicate Calculus &amp; Proving Theorems</a:t>
            </a:r>
            <a:endParaRPr lang="en-US" altLang="en-US" sz="3200" dirty="0" smtClean="0"/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305800" cy="4572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Resolution can be used to prove theorems</a:t>
            </a:r>
          </a:p>
          <a:p>
            <a:pPr eaLnBrk="1" hangingPunct="1"/>
            <a:r>
              <a:rPr lang="en-US" altLang="en-US" u="sng" dirty="0" smtClean="0"/>
              <a:t>Hypotheses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A set of assumed propositions</a:t>
            </a:r>
          </a:p>
          <a:p>
            <a:pPr eaLnBrk="1" hangingPunct="1"/>
            <a:r>
              <a:rPr lang="en-US" altLang="en-US" u="sng" dirty="0" smtClean="0"/>
              <a:t>Theorem</a:t>
            </a:r>
          </a:p>
          <a:p>
            <a:pPr lvl="1" eaLnBrk="1" hangingPunct="1"/>
            <a:r>
              <a:rPr lang="en-US" altLang="en-US" dirty="0" smtClean="0"/>
              <a:t>A new proposition we want to infer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sebesta">
  <a:themeElements>
    <a:clrScheme name="1_sebes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sebesta">
      <a:majorFont>
        <a:latin typeface="Lucida Sans Unicode"/>
        <a:ea typeface="Lucida Sans Unicode"/>
        <a:cs typeface="Lucida Sans Unicode"/>
      </a:majorFont>
      <a:minorFont>
        <a:latin typeface="Lucida Sans Unicode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1_sebes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ebes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ebes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sebesta2</Template>
  <TotalTime>23530</TotalTime>
  <Words>1346</Words>
  <Application>Microsoft Office PowerPoint</Application>
  <PresentationFormat>On-screen Show (4:3)</PresentationFormat>
  <Paragraphs>204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Courier New</vt:lpstr>
      <vt:lpstr>Lucida Sans Unicode</vt:lpstr>
      <vt:lpstr>Math1</vt:lpstr>
      <vt:lpstr>Symbol</vt:lpstr>
      <vt:lpstr>Times</vt:lpstr>
      <vt:lpstr>1_sebesta</vt:lpstr>
      <vt:lpstr>Chapter 16 Part 1</vt:lpstr>
      <vt:lpstr>Chapter 16 Topics</vt:lpstr>
      <vt:lpstr>Introduction</vt:lpstr>
      <vt:lpstr>Predicate Calculus: Propositions</vt:lpstr>
      <vt:lpstr>Predicate Calculus: Symbolic Logic</vt:lpstr>
      <vt:lpstr>Predicate Calculus: Object Representation</vt:lpstr>
      <vt:lpstr>Predicate Calculus: Atomic Propositions</vt:lpstr>
      <vt:lpstr>Predicate Calculus: Parts of Atomic Propositions</vt:lpstr>
      <vt:lpstr>Predicate Calculus: Forms of a Proposition</vt:lpstr>
      <vt:lpstr>Predicate Calculus: Compound Propositions</vt:lpstr>
      <vt:lpstr>Predicate Calculus: Logical Operators</vt:lpstr>
      <vt:lpstr>Horn Clauses</vt:lpstr>
      <vt:lpstr>Predicate Calculus &amp; Proving Theorems</vt:lpstr>
      <vt:lpstr>Predicate Calculus &amp; Proving Theorems</vt:lpstr>
      <vt:lpstr>Predicate Calculus &amp; Proving Theorems</vt:lpstr>
    </vt:vector>
  </TitlesOfParts>
  <Company>Pearson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David Garrett</dc:creator>
  <cp:lastModifiedBy>Willem S. van Heerden</cp:lastModifiedBy>
  <cp:revision>242</cp:revision>
  <dcterms:created xsi:type="dcterms:W3CDTF">2003-08-01T12:29:19Z</dcterms:created>
  <dcterms:modified xsi:type="dcterms:W3CDTF">2026-03-09T22:55:38Z</dcterms:modified>
</cp:coreProperties>
</file>