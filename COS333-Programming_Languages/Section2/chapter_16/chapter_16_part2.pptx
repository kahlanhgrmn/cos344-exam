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2" r:id="rId1"/>
  </p:sldMasterIdLst>
  <p:notesMasterIdLst>
    <p:notesMasterId r:id="rId20"/>
  </p:notesMasterIdLst>
  <p:sldIdLst>
    <p:sldId id="295" r:id="rId2"/>
    <p:sldId id="257" r:id="rId3"/>
    <p:sldId id="338" r:id="rId4"/>
    <p:sldId id="339" r:id="rId5"/>
    <p:sldId id="311" r:id="rId6"/>
    <p:sldId id="312" r:id="rId7"/>
    <p:sldId id="313" r:id="rId8"/>
    <p:sldId id="337" r:id="rId9"/>
    <p:sldId id="314" r:id="rId10"/>
    <p:sldId id="315" r:id="rId11"/>
    <p:sldId id="316" r:id="rId12"/>
    <p:sldId id="317" r:id="rId13"/>
    <p:sldId id="318" r:id="rId14"/>
    <p:sldId id="319" r:id="rId15"/>
    <p:sldId id="320" r:id="rId16"/>
    <p:sldId id="321" r:id="rId17"/>
    <p:sldId id="335" r:id="rId18"/>
    <p:sldId id="336" r:id="rId19"/>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2860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7432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2004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6576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6699"/>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743" autoAdjust="0"/>
    <p:restoredTop sz="86424" autoAdjust="0"/>
  </p:normalViewPr>
  <p:slideViewPr>
    <p:cSldViewPr>
      <p:cViewPr varScale="1">
        <p:scale>
          <a:sx n="73" d="100"/>
          <a:sy n="73" d="100"/>
        </p:scale>
        <p:origin x="1109"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US"/>
          </a:p>
        </p:txBody>
      </p:sp>
      <p:sp>
        <p:nvSpPr>
          <p:cNvPr id="409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F9DAD68F-4EBF-4AA1-9DB5-493B55C567E7}" type="slidenum">
              <a:rPr lang="en-US" altLang="en-US"/>
              <a:pPr>
                <a:defRPr/>
              </a:pPr>
              <a:t>‹#›</a:t>
            </a:fld>
            <a:endParaRPr lang="en-US" altLang="en-US"/>
          </a:p>
        </p:txBody>
      </p:sp>
    </p:spTree>
    <p:extLst>
      <p:ext uri="{BB962C8B-B14F-4D97-AF65-F5344CB8AC3E}">
        <p14:creationId xmlns:p14="http://schemas.microsoft.com/office/powerpoint/2010/main" val="334131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D6F4CDA6-B3FE-4828-A403-60DC1BC98EE3}" type="slidenum">
              <a:rPr lang="en-US" altLang="en-US" sz="1200" smtClean="0"/>
              <a:pPr/>
              <a:t>1</a:t>
            </a:fld>
            <a:endParaRPr lang="en-US" altLang="en-US" sz="1200" smtClean="0"/>
          </a:p>
        </p:txBody>
      </p:sp>
      <p:sp>
        <p:nvSpPr>
          <p:cNvPr id="5123" name="Rectangle 2"/>
          <p:cNvSpPr>
            <a:spLocks noGrp="1" noRot="1" noChangeAspect="1" noChangeArrowheads="1" noTextEdit="1"/>
          </p:cNvSpPr>
          <p:nvPr>
            <p:ph type="sldImg"/>
          </p:nvPr>
        </p:nvSpPr>
        <p:spPr>
          <a:ln/>
        </p:spPr>
      </p:sp>
      <p:sp>
        <p:nvSpPr>
          <p:cNvPr id="5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dirty="0" smtClean="0"/>
          </a:p>
        </p:txBody>
      </p:sp>
    </p:spTree>
    <p:extLst>
      <p:ext uri="{BB962C8B-B14F-4D97-AF65-F5344CB8AC3E}">
        <p14:creationId xmlns:p14="http://schemas.microsoft.com/office/powerpoint/2010/main" val="35761051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29DF7C2B-65CA-44DB-9DB0-02AC4534D3A9}" type="slidenum">
              <a:rPr lang="en-US" altLang="en-US" sz="1200" smtClean="0"/>
              <a:pPr/>
              <a:t>2</a:t>
            </a:fld>
            <a:endParaRPr lang="en-US" altLang="en-US" sz="1200" smtClean="0"/>
          </a:p>
        </p:txBody>
      </p:sp>
      <p:sp>
        <p:nvSpPr>
          <p:cNvPr id="7171" name="Rectangle 2"/>
          <p:cNvSpPr>
            <a:spLocks noGrp="1" noRot="1" noChangeAspect="1" noChangeArrowheads="1" noTextEdit="1"/>
          </p:cNvSpPr>
          <p:nvPr>
            <p:ph type="sldImg"/>
          </p:nvPr>
        </p:nvSpPr>
        <p:spPr>
          <a:solidFill>
            <a:srgbClr val="FFFFFF"/>
          </a:solidFill>
          <a:ln/>
        </p:spPr>
      </p:sp>
      <p:sp>
        <p:nvSpPr>
          <p:cNvPr id="7172" name="Rectangle 3"/>
          <p:cNvSpPr>
            <a:spLocks noGrp="1" noChangeArrowheads="1"/>
          </p:cNvSpPr>
          <p:nvPr>
            <p:ph type="body" idx="1"/>
          </p:nvPr>
        </p:nvSpPr>
        <p:spPr>
          <a:solidFill>
            <a:srgbClr val="FFFFFF"/>
          </a:solidFill>
          <a:ln>
            <a:solidFill>
              <a:srgbClr val="000000"/>
            </a:solidFill>
          </a:ln>
        </p:spPr>
        <p:txBody>
          <a:bodyPr lIns="89986" tIns="44993" rIns="89986" bIns="44993"/>
          <a:lstStyle/>
          <a:p>
            <a:pPr eaLnBrk="1" hangingPunct="1"/>
            <a:endParaRPr lang="en-US" altLang="en-US" smtClean="0"/>
          </a:p>
        </p:txBody>
      </p:sp>
    </p:spTree>
    <p:extLst>
      <p:ext uri="{BB962C8B-B14F-4D97-AF65-F5344CB8AC3E}">
        <p14:creationId xmlns:p14="http://schemas.microsoft.com/office/powerpoint/2010/main" val="19752498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A928C7E9-5E84-41E7-AEA2-8293CDDC42AC}" type="slidenum">
              <a:rPr lang="en-US" altLang="en-US" sz="1300" smtClean="0"/>
              <a:pPr/>
              <a:t>3</a:t>
            </a:fld>
            <a:endParaRPr lang="en-US" altLang="en-US" sz="1300" smtClean="0"/>
          </a:p>
        </p:txBody>
      </p:sp>
      <p:sp>
        <p:nvSpPr>
          <p:cNvPr id="37891" name="Rectangle 2"/>
          <p:cNvSpPr>
            <a:spLocks noGrp="1" noRot="1" noChangeAspect="1" noChangeArrowheads="1" noTextEdit="1"/>
          </p:cNvSpPr>
          <p:nvPr>
            <p:ph type="sldImg"/>
          </p:nvPr>
        </p:nvSpPr>
        <p:spPr>
          <a:xfrm>
            <a:off x="992188" y="768350"/>
            <a:ext cx="5114925" cy="3836988"/>
          </a:xfrm>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Saying that statement meaning is context-independent means that the meaning of the statement can be determined from the statement itself, without referring to previous statements. In an imperative programming language this is not the case, because we need to understand the entire program’s execution up to the statement in order to understand the statement</a:t>
            </a:r>
            <a:r>
              <a:rPr lang="en-GB" altLang="en-US" baseline="0" dirty="0" smtClean="0"/>
              <a:t> (e.g. if the statement uses a variable, we need to know what the variable’s value is). </a:t>
            </a:r>
            <a:r>
              <a:rPr lang="en-GB" altLang="en-US" dirty="0" smtClean="0"/>
              <a:t>Context-independence</a:t>
            </a:r>
            <a:r>
              <a:rPr lang="en-GB" altLang="en-US" baseline="0" dirty="0" smtClean="0"/>
              <a:t> also </a:t>
            </a:r>
            <a:r>
              <a:rPr lang="en-GB" altLang="en-US" dirty="0" smtClean="0"/>
              <a:t>implies that the order of statements is unimportant. This isn’t strictly speaking true in </a:t>
            </a:r>
            <a:r>
              <a:rPr lang="en-GB" altLang="en-US" dirty="0" err="1" smtClean="0"/>
              <a:t>Prolog</a:t>
            </a:r>
            <a:r>
              <a:rPr lang="en-GB" altLang="en-US" dirty="0" smtClean="0"/>
              <a:t>, as we’ll see.</a:t>
            </a:r>
          </a:p>
        </p:txBody>
      </p:sp>
    </p:spTree>
    <p:extLst>
      <p:ext uri="{BB962C8B-B14F-4D97-AF65-F5344CB8AC3E}">
        <p14:creationId xmlns:p14="http://schemas.microsoft.com/office/powerpoint/2010/main" val="36465920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54F2C283-78E5-4178-A095-9C1AE36C7031}" type="slidenum">
              <a:rPr lang="en-US" altLang="en-US" sz="1300" smtClean="0"/>
              <a:pPr/>
              <a:t>4</a:t>
            </a:fld>
            <a:endParaRPr lang="en-US" altLang="en-US" sz="1300" smtClean="0"/>
          </a:p>
        </p:txBody>
      </p:sp>
      <p:sp>
        <p:nvSpPr>
          <p:cNvPr id="39939" name="Rectangle 2"/>
          <p:cNvSpPr>
            <a:spLocks noGrp="1" noRot="1" noChangeAspect="1" noChangeArrowheads="1" noTextEdit="1"/>
          </p:cNvSpPr>
          <p:nvPr>
            <p:ph type="sldImg"/>
          </p:nvPr>
        </p:nvSpPr>
        <p:spPr>
          <a:xfrm>
            <a:off x="992188" y="768350"/>
            <a:ext cx="5114925" cy="3836988"/>
          </a:xfrm>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Consider the example program: </a:t>
            </a:r>
            <a:r>
              <a:rPr lang="en-GB" altLang="en-US" dirty="0" err="1" smtClean="0"/>
              <a:t>new_list</a:t>
            </a:r>
            <a:r>
              <a:rPr lang="en-GB" altLang="en-US" dirty="0" smtClean="0"/>
              <a:t> is a sorted version of </a:t>
            </a:r>
            <a:r>
              <a:rPr lang="en-GB" altLang="en-US" dirty="0" err="1" smtClean="0"/>
              <a:t>old_list</a:t>
            </a:r>
            <a:r>
              <a:rPr lang="en-GB" altLang="en-US" dirty="0" smtClean="0"/>
              <a:t> if </a:t>
            </a:r>
            <a:r>
              <a:rPr lang="en-GB" altLang="en-US" dirty="0" err="1" smtClean="0"/>
              <a:t>new_list</a:t>
            </a:r>
            <a:r>
              <a:rPr lang="en-GB" altLang="en-US" dirty="0" smtClean="0"/>
              <a:t> is a permutation of </a:t>
            </a:r>
            <a:r>
              <a:rPr lang="en-GB" altLang="en-US" dirty="0" err="1" smtClean="0"/>
              <a:t>old_list</a:t>
            </a:r>
            <a:r>
              <a:rPr lang="en-GB" altLang="en-US" dirty="0" smtClean="0"/>
              <a:t>, and the elements in </a:t>
            </a:r>
            <a:r>
              <a:rPr lang="en-GB" altLang="en-US" dirty="0" err="1" smtClean="0"/>
              <a:t>new_list</a:t>
            </a:r>
            <a:r>
              <a:rPr lang="en-GB" altLang="en-US" dirty="0" smtClean="0"/>
              <a:t> are also sorted. A list is sorted if the elements are ordered in ascending order. Note that this describes the characteristics of a sorted list, not how the list should be sorted. How would this program be executed? </a:t>
            </a:r>
            <a:r>
              <a:rPr lang="en-GB" altLang="en-US" dirty="0" err="1" smtClean="0"/>
              <a:t>Prolog</a:t>
            </a:r>
            <a:r>
              <a:rPr lang="en-GB" altLang="en-US" dirty="0" smtClean="0"/>
              <a:t> will repeatedly generate permutations of </a:t>
            </a:r>
            <a:r>
              <a:rPr lang="en-GB" altLang="en-US" dirty="0" err="1" smtClean="0"/>
              <a:t>old_list</a:t>
            </a:r>
            <a:r>
              <a:rPr lang="en-GB" altLang="en-US" dirty="0" smtClean="0"/>
              <a:t>, and test each one to see whether it is sorted. This process continues until one of the permutations is sorted. Clearly this is an inefficient process, which is one of the drawbacks to Logic programming, which we’ll look at towards the end of the chapter.</a:t>
            </a:r>
          </a:p>
        </p:txBody>
      </p:sp>
    </p:spTree>
    <p:extLst>
      <p:ext uri="{BB962C8B-B14F-4D97-AF65-F5344CB8AC3E}">
        <p14:creationId xmlns:p14="http://schemas.microsoft.com/office/powerpoint/2010/main" val="26356520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4E2D3AAC-6FB1-4103-B14A-B60AE1ACA388}" type="slidenum">
              <a:rPr lang="en-US" altLang="en-US" sz="1300" smtClean="0"/>
              <a:pPr/>
              <a:t>5</a:t>
            </a:fld>
            <a:endParaRPr lang="en-US" altLang="en-US" sz="1300" smtClean="0"/>
          </a:p>
        </p:txBody>
      </p:sp>
      <p:sp>
        <p:nvSpPr>
          <p:cNvPr id="41987" name="Rectangle 2"/>
          <p:cNvSpPr>
            <a:spLocks noGrp="1" noRot="1" noChangeAspect="1" noChangeArrowheads="1" noTextEdit="1"/>
          </p:cNvSpPr>
          <p:nvPr>
            <p:ph type="sldImg"/>
          </p:nvPr>
        </p:nvSpPr>
        <p:spPr>
          <a:xfrm>
            <a:off x="992188" y="768350"/>
            <a:ext cx="5114925" cy="3836988"/>
          </a:xfrm>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12419060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358F602B-6E4E-4D43-A83B-FA19BC18D6D9}" type="slidenum">
              <a:rPr lang="en-US" altLang="en-US" sz="1300" smtClean="0"/>
              <a:pPr/>
              <a:t>6</a:t>
            </a:fld>
            <a:endParaRPr lang="en-US" altLang="en-US" sz="1300" smtClean="0"/>
          </a:p>
        </p:txBody>
      </p:sp>
      <p:sp>
        <p:nvSpPr>
          <p:cNvPr id="44035" name="Rectangle 2"/>
          <p:cNvSpPr>
            <a:spLocks noGrp="1" noRot="1" noChangeAspect="1" noChangeArrowheads="1" noTextEdit="1"/>
          </p:cNvSpPr>
          <p:nvPr>
            <p:ph type="sldImg"/>
          </p:nvPr>
        </p:nvSpPr>
        <p:spPr>
          <a:xfrm>
            <a:off x="992188" y="768350"/>
            <a:ext cx="5114925" cy="3836988"/>
          </a:xfrm>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smtClean="0"/>
              <a:t>A symbolic value is an object we are reasoning about.</a:t>
            </a:r>
          </a:p>
        </p:txBody>
      </p:sp>
    </p:spTree>
    <p:extLst>
      <p:ext uri="{BB962C8B-B14F-4D97-AF65-F5344CB8AC3E}">
        <p14:creationId xmlns:p14="http://schemas.microsoft.com/office/powerpoint/2010/main" val="12504785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86BA1F7F-57F9-4626-AD73-DAFBFE7D49ED}" type="slidenum">
              <a:rPr lang="en-US" altLang="en-US" sz="1300" smtClean="0"/>
              <a:pPr/>
              <a:t>7</a:t>
            </a:fld>
            <a:endParaRPr lang="en-US" altLang="en-US" sz="1300" smtClean="0"/>
          </a:p>
        </p:txBody>
      </p:sp>
      <p:sp>
        <p:nvSpPr>
          <p:cNvPr id="46083" name="Rectangle 2"/>
          <p:cNvSpPr>
            <a:spLocks noGrp="1" noRot="1" noChangeAspect="1" noChangeArrowheads="1" noTextEdit="1"/>
          </p:cNvSpPr>
          <p:nvPr>
            <p:ph type="sldImg"/>
          </p:nvPr>
        </p:nvSpPr>
        <p:spPr>
          <a:xfrm>
            <a:off x="992188" y="768350"/>
            <a:ext cx="5114925" cy="3836988"/>
          </a:xfrm>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21666878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952CC610-62B1-4D19-8C8C-003461CA6230}" type="slidenum">
              <a:rPr lang="en-US" altLang="en-US" sz="1300" smtClean="0"/>
              <a:pPr/>
              <a:t>8</a:t>
            </a:fld>
            <a:endParaRPr lang="en-US" altLang="en-US" sz="1300" smtClean="0"/>
          </a:p>
        </p:txBody>
      </p:sp>
      <p:sp>
        <p:nvSpPr>
          <p:cNvPr id="48131" name="Rectangle 2"/>
          <p:cNvSpPr>
            <a:spLocks noGrp="1" noRot="1" noChangeAspect="1" noChangeArrowheads="1" noTextEdit="1"/>
          </p:cNvSpPr>
          <p:nvPr>
            <p:ph type="sldImg"/>
          </p:nvPr>
        </p:nvSpPr>
        <p:spPr>
          <a:xfrm>
            <a:off x="992188" y="768350"/>
            <a:ext cx="5114925" cy="3836988"/>
          </a:xfrm>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smtClean="0"/>
          </a:p>
        </p:txBody>
      </p:sp>
    </p:spTree>
    <p:extLst>
      <p:ext uri="{BB962C8B-B14F-4D97-AF65-F5344CB8AC3E}">
        <p14:creationId xmlns:p14="http://schemas.microsoft.com/office/powerpoint/2010/main" val="901855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952CC610-62B1-4D19-8C8C-003461CA6230}" type="slidenum">
              <a:rPr lang="en-US" altLang="en-US" sz="1300" smtClean="0"/>
              <a:pPr/>
              <a:t>9</a:t>
            </a:fld>
            <a:endParaRPr lang="en-US" altLang="en-US" sz="1300" smtClean="0"/>
          </a:p>
        </p:txBody>
      </p:sp>
      <p:sp>
        <p:nvSpPr>
          <p:cNvPr id="48131" name="Rectangle 2"/>
          <p:cNvSpPr>
            <a:spLocks noGrp="1" noRot="1" noChangeAspect="1" noChangeArrowheads="1" noTextEdit="1"/>
          </p:cNvSpPr>
          <p:nvPr>
            <p:ph type="sldImg"/>
          </p:nvPr>
        </p:nvSpPr>
        <p:spPr>
          <a:xfrm>
            <a:off x="992188" y="768350"/>
            <a:ext cx="5114925" cy="3836988"/>
          </a:xfrm>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We’ve looked at atomic propositions before. Fact statements are represented and interpreted in the same way.</a:t>
            </a:r>
          </a:p>
        </p:txBody>
      </p:sp>
    </p:spTree>
    <p:extLst>
      <p:ext uri="{BB962C8B-B14F-4D97-AF65-F5344CB8AC3E}">
        <p14:creationId xmlns:p14="http://schemas.microsoft.com/office/powerpoint/2010/main" val="3296570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5787B7FB-AA82-4E0E-8312-70B402BEC315}" type="slidenum">
              <a:rPr lang="en-US" altLang="en-US" sz="1300" smtClean="0"/>
              <a:pPr/>
              <a:t>10</a:t>
            </a:fld>
            <a:endParaRPr lang="en-US" altLang="en-US" sz="1300" smtClean="0"/>
          </a:p>
        </p:txBody>
      </p:sp>
      <p:sp>
        <p:nvSpPr>
          <p:cNvPr id="50179" name="Rectangle 2"/>
          <p:cNvSpPr>
            <a:spLocks noGrp="1" noRot="1" noChangeAspect="1" noChangeArrowheads="1" noTextEdit="1"/>
          </p:cNvSpPr>
          <p:nvPr>
            <p:ph type="sldImg"/>
          </p:nvPr>
        </p:nvSpPr>
        <p:spPr>
          <a:xfrm>
            <a:off x="992188" y="768350"/>
            <a:ext cx="5114925" cy="3836988"/>
          </a:xfrm>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32156731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BDCC3AD1-B58E-4A24-A76C-A87BCBD0EAC4}" type="slidenum">
              <a:rPr lang="en-US" altLang="en-US" sz="1300" smtClean="0"/>
              <a:pPr/>
              <a:t>11</a:t>
            </a:fld>
            <a:endParaRPr lang="en-US" altLang="en-US" sz="1300" smtClean="0"/>
          </a:p>
        </p:txBody>
      </p:sp>
      <p:sp>
        <p:nvSpPr>
          <p:cNvPr id="52227" name="Rectangle 2"/>
          <p:cNvSpPr>
            <a:spLocks noGrp="1" noRot="1" noChangeAspect="1" noChangeArrowheads="1" noTextEdit="1"/>
          </p:cNvSpPr>
          <p:nvPr>
            <p:ph type="sldImg"/>
          </p:nvPr>
        </p:nvSpPr>
        <p:spPr>
          <a:xfrm>
            <a:off x="992188" y="768350"/>
            <a:ext cx="5114925" cy="3836988"/>
          </a:xfrm>
          <a:ln/>
        </p:spPr>
      </p:sp>
      <p:sp>
        <p:nvSpPr>
          <p:cNvPr id="52228" name="Rectangle 3"/>
          <p:cNvSpPr>
            <a:spLocks noGrp="1" noChangeArrowheads="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defRPr/>
            </a:pPr>
            <a:r>
              <a:rPr lang="en-GB" altLang="en-US" dirty="0" smtClean="0"/>
              <a:t>Logical “and”</a:t>
            </a:r>
            <a:r>
              <a:rPr lang="en-GB" altLang="en-US" baseline="0" dirty="0" smtClean="0"/>
              <a:t> operators</a:t>
            </a:r>
            <a:r>
              <a:rPr lang="en-GB" altLang="en-US" dirty="0" smtClean="0"/>
              <a:t> are represented using commas. A logical implication is specified using the :- notation. Implications work from right to left, so the right hand side of :- represents the antecedent, and the left hand side represents the consequent.</a:t>
            </a:r>
          </a:p>
          <a:p>
            <a:pPr eaLnBrk="1" hangingPunct="1">
              <a:defRPr/>
            </a:pPr>
            <a:endParaRPr lang="en-GB" altLang="en-US" dirty="0" smtClean="0"/>
          </a:p>
          <a:p>
            <a:pPr eaLnBrk="1" hangingPunct="1">
              <a:defRPr/>
            </a:pPr>
            <a:r>
              <a:rPr lang="en-GB" altLang="en-US" dirty="0" smtClean="0"/>
              <a:t>The first rule should be read as follows:</a:t>
            </a:r>
          </a:p>
          <a:p>
            <a:pPr marL="171450" indent="-171450" eaLnBrk="1" hangingPunct="1">
              <a:buFontTx/>
              <a:buChar char="-"/>
              <a:defRPr/>
            </a:pPr>
            <a:r>
              <a:rPr lang="en-GB" altLang="en-US" dirty="0" smtClean="0"/>
              <a:t>If </a:t>
            </a:r>
            <a:r>
              <a:rPr lang="en-GB" altLang="en-US" dirty="0" err="1" smtClean="0"/>
              <a:t>mary</a:t>
            </a:r>
            <a:r>
              <a:rPr lang="en-GB" altLang="en-US" dirty="0" smtClean="0"/>
              <a:t> is the mother of </a:t>
            </a:r>
            <a:r>
              <a:rPr lang="en-GB" altLang="en-US" dirty="0" err="1" smtClean="0"/>
              <a:t>shelley</a:t>
            </a:r>
            <a:r>
              <a:rPr lang="en-GB" altLang="en-US" dirty="0" smtClean="0"/>
              <a:t>, </a:t>
            </a:r>
            <a:r>
              <a:rPr lang="en-GB" altLang="en-US" dirty="0" err="1" smtClean="0"/>
              <a:t>mary</a:t>
            </a:r>
            <a:r>
              <a:rPr lang="en-GB" altLang="en-US" dirty="0" smtClean="0"/>
              <a:t> is the ancestor of </a:t>
            </a:r>
            <a:r>
              <a:rPr lang="en-GB" altLang="en-US" dirty="0" err="1" smtClean="0"/>
              <a:t>shelley</a:t>
            </a:r>
            <a:r>
              <a:rPr lang="en-GB" altLang="en-US" dirty="0" smtClean="0"/>
              <a:t>.</a:t>
            </a:r>
          </a:p>
          <a:p>
            <a:pPr marL="171450" indent="-171450" eaLnBrk="1" hangingPunct="1">
              <a:buFontTx/>
              <a:buChar char="-"/>
              <a:defRPr/>
            </a:pPr>
            <a:r>
              <a:rPr lang="en-GB" altLang="en-US" dirty="0" smtClean="0"/>
              <a:t>Note that specific rules are less useful than general rules, because general rules can reason about facts, while specific rules are just statements about facts.</a:t>
            </a:r>
          </a:p>
          <a:p>
            <a:pPr eaLnBrk="1" hangingPunct="1">
              <a:defRPr/>
            </a:pPr>
            <a:endParaRPr lang="en-GB" altLang="en-US" dirty="0" smtClean="0"/>
          </a:p>
          <a:p>
            <a:pPr eaLnBrk="1" hangingPunct="1">
              <a:defRPr/>
            </a:pPr>
            <a:r>
              <a:rPr lang="en-GB" altLang="en-US" dirty="0" smtClean="0"/>
              <a:t>The second set of rules:</a:t>
            </a:r>
          </a:p>
          <a:p>
            <a:pPr marL="171450" indent="-171450" eaLnBrk="1" hangingPunct="1">
              <a:buFontTx/>
              <a:buChar char="-"/>
              <a:defRPr/>
            </a:pPr>
            <a:r>
              <a:rPr lang="en-GB" altLang="en-US" dirty="0" smtClean="0"/>
              <a:t>If X is the mother of Y, then X is also the parent of Y.</a:t>
            </a:r>
          </a:p>
          <a:p>
            <a:pPr marL="171450" indent="-171450" eaLnBrk="1" hangingPunct="1">
              <a:buFontTx/>
              <a:buChar char="-"/>
              <a:defRPr/>
            </a:pPr>
            <a:r>
              <a:rPr lang="en-GB" altLang="en-US" dirty="0" smtClean="0"/>
              <a:t>If X is the father of Y, then X is also the parent of Y.</a:t>
            </a:r>
          </a:p>
          <a:p>
            <a:pPr marL="171450" indent="-171450" eaLnBrk="1" hangingPunct="1">
              <a:buFontTx/>
              <a:buChar char="-"/>
              <a:defRPr/>
            </a:pPr>
            <a:r>
              <a:rPr lang="en-GB" altLang="en-US" dirty="0" smtClean="0"/>
              <a:t>If X is the parent of Y, and Y is the parent of Z, then X is also the grandparent of Z.</a:t>
            </a:r>
          </a:p>
          <a:p>
            <a:pPr marL="171450" indent="-171450" eaLnBrk="1" hangingPunct="1">
              <a:buFontTx/>
              <a:buChar char="-"/>
              <a:defRPr/>
            </a:pPr>
            <a:r>
              <a:rPr lang="en-GB" altLang="en-US" dirty="0" smtClean="0"/>
              <a:t>If M is the mother of X, and M is the mother of Y, and F is the father of X, and F is the father of Y, then X is also the sibling of Y.</a:t>
            </a:r>
          </a:p>
          <a:p>
            <a:pPr eaLnBrk="1" hangingPunct="1">
              <a:defRPr/>
            </a:pPr>
            <a:endParaRPr lang="en-GB" altLang="en-US" dirty="0" smtClean="0"/>
          </a:p>
          <a:p>
            <a:pPr eaLnBrk="1" hangingPunct="1">
              <a:defRPr/>
            </a:pPr>
            <a:r>
              <a:rPr lang="en-GB" altLang="en-US" dirty="0" smtClean="0"/>
              <a:t>A logical or is not explicitly represented, but is implied by separate rules with the same antecedent, but different consequents.</a:t>
            </a:r>
          </a:p>
        </p:txBody>
      </p:sp>
    </p:spTree>
    <p:extLst>
      <p:ext uri="{BB962C8B-B14F-4D97-AF65-F5344CB8AC3E}">
        <p14:creationId xmlns:p14="http://schemas.microsoft.com/office/powerpoint/2010/main" val="23997837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6D0AB108-36ED-466C-AF4B-08DC0A486FBF}" type="slidenum">
              <a:rPr lang="en-US" altLang="en-US" sz="1300" smtClean="0"/>
              <a:pPr/>
              <a:t>12</a:t>
            </a:fld>
            <a:endParaRPr lang="en-US" altLang="en-US" sz="1300" smtClean="0"/>
          </a:p>
        </p:txBody>
      </p:sp>
      <p:sp>
        <p:nvSpPr>
          <p:cNvPr id="54275" name="Rectangle 2"/>
          <p:cNvSpPr>
            <a:spLocks noGrp="1" noRot="1" noChangeAspect="1" noChangeArrowheads="1" noTextEdit="1"/>
          </p:cNvSpPr>
          <p:nvPr>
            <p:ph type="sldImg"/>
          </p:nvPr>
        </p:nvSpPr>
        <p:spPr>
          <a:xfrm>
            <a:off x="992188" y="768350"/>
            <a:ext cx="5114925" cy="3836988"/>
          </a:xfrm>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In the case of </a:t>
            </a:r>
            <a:r>
              <a:rPr lang="en-GB" altLang="en-US" dirty="0" smtClean="0"/>
              <a:t>“man(</a:t>
            </a:r>
            <a:r>
              <a:rPr lang="en-GB" altLang="en-US" dirty="0" err="1" smtClean="0"/>
              <a:t>fred</a:t>
            </a:r>
            <a:r>
              <a:rPr lang="en-GB" altLang="en-US" dirty="0" smtClean="0"/>
              <a:t>)”, </a:t>
            </a:r>
            <a:r>
              <a:rPr lang="en-GB" altLang="en-US" dirty="0" smtClean="0"/>
              <a:t>you are asking </a:t>
            </a:r>
            <a:r>
              <a:rPr lang="en-GB" altLang="en-US" dirty="0" err="1" smtClean="0"/>
              <a:t>Prolog</a:t>
            </a:r>
            <a:r>
              <a:rPr lang="en-GB" altLang="en-US" dirty="0" smtClean="0"/>
              <a:t> “Can you prove that </a:t>
            </a:r>
            <a:r>
              <a:rPr lang="en-GB" altLang="en-US" dirty="0" err="1" smtClean="0"/>
              <a:t>fred</a:t>
            </a:r>
            <a:r>
              <a:rPr lang="en-GB" altLang="en-US" dirty="0" smtClean="0"/>
              <a:t> is a man?” </a:t>
            </a:r>
            <a:r>
              <a:rPr lang="en-GB" altLang="en-US" dirty="0" err="1" smtClean="0"/>
              <a:t>Prolog</a:t>
            </a:r>
            <a:r>
              <a:rPr lang="en-GB" altLang="en-US" dirty="0" smtClean="0"/>
              <a:t> will respond with either “true” (meaning that it can prove this query holds), or “false” (meaning that </a:t>
            </a:r>
            <a:r>
              <a:rPr lang="en-GB" altLang="en-US" dirty="0" err="1" smtClean="0"/>
              <a:t>Prolog</a:t>
            </a:r>
            <a:r>
              <a:rPr lang="en-GB" altLang="en-US" dirty="0" smtClean="0"/>
              <a:t> can’t prove the query holds). Note that a “false” doesn’t necessarily mean that the query does not hold, just that </a:t>
            </a:r>
            <a:r>
              <a:rPr lang="en-GB" altLang="en-US" dirty="0" err="1" smtClean="0"/>
              <a:t>Prolog</a:t>
            </a:r>
            <a:r>
              <a:rPr lang="en-GB" altLang="en-US" dirty="0" smtClean="0"/>
              <a:t> can’t prove it given the facts and rules it has. </a:t>
            </a:r>
            <a:r>
              <a:rPr lang="en-GB" altLang="en-US" dirty="0" err="1" smtClean="0"/>
              <a:t>Prolog</a:t>
            </a:r>
            <a:r>
              <a:rPr lang="en-GB" altLang="en-US" dirty="0" smtClean="0"/>
              <a:t> may not be able to prove a query holds if you haven’t given it the facts or rules necessary to prove the query.</a:t>
            </a:r>
          </a:p>
          <a:p>
            <a:pPr eaLnBrk="1" hangingPunct="1"/>
            <a:endParaRPr lang="en-GB" altLang="en-US" dirty="0" smtClean="0"/>
          </a:p>
          <a:p>
            <a:pPr marL="0" marR="0" lvl="0" indent="0" algn="l" defTabSz="914400" rtl="0" eaLnBrk="1" fontAlgn="base" latinLnBrk="0" hangingPunct="1">
              <a:lnSpc>
                <a:spcPct val="100000"/>
              </a:lnSpc>
              <a:spcBef>
                <a:spcPct val="30000"/>
              </a:spcBef>
              <a:spcAft>
                <a:spcPct val="0"/>
              </a:spcAft>
              <a:buClrTx/>
              <a:buSzTx/>
              <a:buFontTx/>
              <a:buNone/>
              <a:tabLst/>
              <a:defRPr/>
            </a:pPr>
            <a:r>
              <a:rPr lang="en-GB" altLang="en-US" dirty="0" smtClean="0"/>
              <a:t>In the case of “parent(</a:t>
            </a:r>
            <a:r>
              <a:rPr lang="en-GB" altLang="en-US" dirty="0" err="1" smtClean="0"/>
              <a:t>X,mike</a:t>
            </a:r>
            <a:r>
              <a:rPr lang="en-GB" altLang="en-US" dirty="0" smtClean="0"/>
              <a:t>)”, you are asking </a:t>
            </a:r>
            <a:r>
              <a:rPr lang="en-GB" altLang="en-US" dirty="0" err="1" smtClean="0"/>
              <a:t>Prolog</a:t>
            </a:r>
            <a:r>
              <a:rPr lang="en-GB" altLang="en-US" dirty="0" smtClean="0"/>
              <a:t> “Can you find an X so that X is the parent of mike?” If </a:t>
            </a:r>
            <a:r>
              <a:rPr lang="en-GB" altLang="en-US" dirty="0" err="1" smtClean="0"/>
              <a:t>Prolog</a:t>
            </a:r>
            <a:r>
              <a:rPr lang="en-GB" altLang="en-US" dirty="0" smtClean="0"/>
              <a:t> can’t find an X to make the query hold, it will immediately respond with “false”. If </a:t>
            </a:r>
            <a:r>
              <a:rPr lang="en-GB" altLang="en-US" dirty="0" err="1" smtClean="0"/>
              <a:t>Prolog</a:t>
            </a:r>
            <a:r>
              <a:rPr lang="en-GB" altLang="en-US" dirty="0" smtClean="0"/>
              <a:t> can find an X to make the query hold, it will respond with “true” and a value of X that makes the query hold. You can re-query </a:t>
            </a:r>
            <a:r>
              <a:rPr lang="en-GB" altLang="en-US" dirty="0" err="1" smtClean="0"/>
              <a:t>Prolog</a:t>
            </a:r>
            <a:r>
              <a:rPr lang="en-GB" altLang="en-US" dirty="0" smtClean="0"/>
              <a:t>, which means “Can you find another X so that X is the parent of mike?” You can continue querying for a new X until </a:t>
            </a:r>
            <a:r>
              <a:rPr lang="en-GB" altLang="en-US" dirty="0" err="1" smtClean="0"/>
              <a:t>Prolog</a:t>
            </a:r>
            <a:r>
              <a:rPr lang="en-GB" altLang="en-US" dirty="0" smtClean="0"/>
              <a:t> can’t find any more values for X that make the query hold. Once this happens, </a:t>
            </a:r>
            <a:r>
              <a:rPr lang="en-GB" altLang="en-US" dirty="0" err="1" smtClean="0"/>
              <a:t>Prolog</a:t>
            </a:r>
            <a:r>
              <a:rPr lang="en-GB" altLang="en-US" dirty="0" smtClean="0"/>
              <a:t> responds with a “false”.</a:t>
            </a:r>
          </a:p>
          <a:p>
            <a:pPr eaLnBrk="1" hangingPunct="1"/>
            <a:endParaRPr lang="en-GB" altLang="en-US" dirty="0" smtClean="0"/>
          </a:p>
          <a:p>
            <a:pPr eaLnBrk="1" hangingPunct="1"/>
            <a:r>
              <a:rPr lang="en-GB" altLang="en-US" dirty="0" smtClean="0"/>
              <a:t>You can have multiple sub-queries, where each sub-query is separated by a comma (because all sub-queries must be proved to hold, a comma again represents a logical “and”).</a:t>
            </a:r>
          </a:p>
          <a:p>
            <a:pPr eaLnBrk="1" hangingPunct="1"/>
            <a:endParaRPr lang="en-GB" altLang="en-US" dirty="0" smtClean="0"/>
          </a:p>
          <a:p>
            <a:pPr eaLnBrk="1" hangingPunct="1"/>
            <a:r>
              <a:rPr lang="en-GB" altLang="en-US" dirty="0" err="1" smtClean="0"/>
              <a:t>Subgoals</a:t>
            </a:r>
            <a:r>
              <a:rPr lang="en-GB" altLang="en-US" dirty="0" smtClean="0"/>
              <a:t> are</a:t>
            </a:r>
            <a:r>
              <a:rPr lang="en-GB" altLang="en-US" baseline="0" dirty="0" smtClean="0"/>
              <a:t> illustrated i</a:t>
            </a:r>
            <a:r>
              <a:rPr lang="en-GB" altLang="en-US" dirty="0" smtClean="0"/>
              <a:t>n </a:t>
            </a:r>
            <a:r>
              <a:rPr lang="en-GB" altLang="en-US" dirty="0" smtClean="0"/>
              <a:t>the case of </a:t>
            </a:r>
            <a:r>
              <a:rPr lang="en-GB" altLang="en-US" dirty="0" smtClean="0"/>
              <a:t>“parent(X, mike), male(X)”, where the “parent(X, mike)” term is the first </a:t>
            </a:r>
            <a:r>
              <a:rPr lang="en-GB" altLang="en-US" dirty="0" err="1" smtClean="0"/>
              <a:t>subgoal</a:t>
            </a:r>
            <a:r>
              <a:rPr lang="en-GB" altLang="en-US" dirty="0" smtClean="0"/>
              <a:t>, and “male(X)” is the second </a:t>
            </a:r>
            <a:r>
              <a:rPr lang="en-GB" altLang="en-US" dirty="0" err="1" smtClean="0"/>
              <a:t>subgoal</a:t>
            </a:r>
            <a:r>
              <a:rPr lang="en-GB" altLang="en-US" dirty="0" smtClean="0"/>
              <a:t>. You </a:t>
            </a:r>
            <a:r>
              <a:rPr lang="en-GB" altLang="en-US" dirty="0" smtClean="0"/>
              <a:t>are asking </a:t>
            </a:r>
            <a:r>
              <a:rPr lang="en-GB" altLang="en-US" dirty="0" err="1" smtClean="0"/>
              <a:t>Prolog</a:t>
            </a:r>
            <a:r>
              <a:rPr lang="en-GB" altLang="en-US" dirty="0" smtClean="0"/>
              <a:t> “Can you find an X so that X is the </a:t>
            </a:r>
            <a:r>
              <a:rPr lang="en-GB" altLang="en-US" dirty="0" smtClean="0"/>
              <a:t>parent </a:t>
            </a:r>
            <a:r>
              <a:rPr lang="en-GB" altLang="en-US" dirty="0" smtClean="0"/>
              <a:t>of </a:t>
            </a:r>
            <a:r>
              <a:rPr lang="en-GB" altLang="en-US" dirty="0" smtClean="0"/>
              <a:t>mike, and X is also male?” </a:t>
            </a:r>
            <a:r>
              <a:rPr lang="en-GB" altLang="en-US" dirty="0" smtClean="0"/>
              <a:t>If </a:t>
            </a:r>
            <a:r>
              <a:rPr lang="en-GB" altLang="en-US" dirty="0" err="1" smtClean="0"/>
              <a:t>Prolog</a:t>
            </a:r>
            <a:r>
              <a:rPr lang="en-GB" altLang="en-US" dirty="0" smtClean="0"/>
              <a:t> can’t find an X to make the </a:t>
            </a:r>
            <a:r>
              <a:rPr lang="en-GB" altLang="en-US" dirty="0" smtClean="0"/>
              <a:t>“parent(X, mike)” proposition </a:t>
            </a:r>
            <a:r>
              <a:rPr lang="en-GB" altLang="en-US" dirty="0" smtClean="0"/>
              <a:t>hold, it will immediately respond with “false”. If </a:t>
            </a:r>
            <a:r>
              <a:rPr lang="en-GB" altLang="en-US" dirty="0" err="1" smtClean="0"/>
              <a:t>Prolog</a:t>
            </a:r>
            <a:r>
              <a:rPr lang="en-GB" altLang="en-US" dirty="0" smtClean="0"/>
              <a:t> can find an X to make the query hold, it </a:t>
            </a:r>
            <a:r>
              <a:rPr lang="en-GB" altLang="en-US" dirty="0" smtClean="0"/>
              <a:t>has satisfied the first </a:t>
            </a:r>
            <a:r>
              <a:rPr lang="en-GB" altLang="en-US" dirty="0" err="1" smtClean="0"/>
              <a:t>subgoal</a:t>
            </a:r>
            <a:r>
              <a:rPr lang="en-GB" altLang="en-US" dirty="0" smtClean="0"/>
              <a:t>, and moves on to the second, to try to prove that the same X is also a male. If </a:t>
            </a:r>
            <a:r>
              <a:rPr lang="en-GB" altLang="en-US" dirty="0" err="1" smtClean="0"/>
              <a:t>Prolog</a:t>
            </a:r>
            <a:r>
              <a:rPr lang="en-GB" altLang="en-US" dirty="0" smtClean="0"/>
              <a:t> can prove the second </a:t>
            </a:r>
            <a:r>
              <a:rPr lang="en-GB" altLang="en-US" dirty="0" err="1" smtClean="0"/>
              <a:t>subgoal</a:t>
            </a:r>
            <a:r>
              <a:rPr lang="en-GB" altLang="en-US" dirty="0" smtClean="0"/>
              <a:t>, it will </a:t>
            </a:r>
            <a:r>
              <a:rPr lang="en-GB" altLang="en-US" dirty="0" smtClean="0"/>
              <a:t>respond with “true” and a value of X that makes the query hold. You can re-query </a:t>
            </a:r>
            <a:r>
              <a:rPr lang="en-GB" altLang="en-US" dirty="0" err="1" smtClean="0"/>
              <a:t>Prolog</a:t>
            </a:r>
            <a:r>
              <a:rPr lang="en-GB" altLang="en-US" dirty="0" smtClean="0"/>
              <a:t>, which means “Can you find another X so that X is the </a:t>
            </a:r>
            <a:r>
              <a:rPr lang="en-GB" altLang="en-US" dirty="0" smtClean="0"/>
              <a:t>parent </a:t>
            </a:r>
            <a:r>
              <a:rPr lang="en-GB" altLang="en-US" dirty="0" smtClean="0"/>
              <a:t>of </a:t>
            </a:r>
            <a:r>
              <a:rPr lang="en-GB" altLang="en-US" dirty="0" smtClean="0"/>
              <a:t>mike, and X is</a:t>
            </a:r>
            <a:r>
              <a:rPr lang="en-GB" altLang="en-US" baseline="0" dirty="0" smtClean="0"/>
              <a:t> also male</a:t>
            </a:r>
            <a:r>
              <a:rPr lang="en-GB" altLang="en-US" dirty="0" smtClean="0"/>
              <a:t>?” </a:t>
            </a:r>
            <a:r>
              <a:rPr lang="en-GB" altLang="en-US" dirty="0" smtClean="0"/>
              <a:t>You can continue querying for a new X until </a:t>
            </a:r>
            <a:r>
              <a:rPr lang="en-GB" altLang="en-US" dirty="0" err="1" smtClean="0"/>
              <a:t>Prolog</a:t>
            </a:r>
            <a:r>
              <a:rPr lang="en-GB" altLang="en-US" dirty="0" smtClean="0"/>
              <a:t> can’t find any more values for X that make the query hold. Once this happens, </a:t>
            </a:r>
            <a:r>
              <a:rPr lang="en-GB" altLang="en-US" dirty="0" err="1" smtClean="0"/>
              <a:t>Prolog</a:t>
            </a:r>
            <a:r>
              <a:rPr lang="en-GB" altLang="en-US" dirty="0" smtClean="0"/>
              <a:t> responds with a “false</a:t>
            </a:r>
            <a:r>
              <a:rPr lang="en-GB" altLang="en-US" dirty="0" smtClean="0"/>
              <a:t>”. We’ll look at this process in more detail when</a:t>
            </a:r>
            <a:r>
              <a:rPr lang="en-GB" altLang="en-US" baseline="0" dirty="0" smtClean="0"/>
              <a:t> discuss the inferencing process in the coming slides</a:t>
            </a:r>
            <a:r>
              <a:rPr lang="en-GB" altLang="en-US" dirty="0" smtClean="0"/>
              <a:t> .</a:t>
            </a:r>
            <a:endParaRPr lang="en-GB" altLang="en-US" dirty="0" smtClean="0"/>
          </a:p>
        </p:txBody>
      </p:sp>
    </p:spTree>
    <p:extLst>
      <p:ext uri="{BB962C8B-B14F-4D97-AF65-F5344CB8AC3E}">
        <p14:creationId xmlns:p14="http://schemas.microsoft.com/office/powerpoint/2010/main" val="13222334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E96FEA7D-1D66-4530-A085-0C08B60C5D83}" type="slidenum">
              <a:rPr lang="en-US" altLang="en-US" sz="1300" smtClean="0"/>
              <a:pPr/>
              <a:t>13</a:t>
            </a:fld>
            <a:endParaRPr lang="en-US" altLang="en-US" sz="1300" smtClean="0"/>
          </a:p>
        </p:txBody>
      </p:sp>
      <p:sp>
        <p:nvSpPr>
          <p:cNvPr id="56323" name="Rectangle 2"/>
          <p:cNvSpPr>
            <a:spLocks noGrp="1" noRot="1" noChangeAspect="1" noChangeArrowheads="1" noTextEdit="1"/>
          </p:cNvSpPr>
          <p:nvPr>
            <p:ph type="sldImg"/>
          </p:nvPr>
        </p:nvSpPr>
        <p:spPr>
          <a:xfrm>
            <a:off x="992188" y="768350"/>
            <a:ext cx="5114925" cy="3836988"/>
          </a:xfrm>
          <a:ln/>
        </p:spPr>
      </p:sp>
      <p:sp>
        <p:nvSpPr>
          <p:cNvPr id="563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19916290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31D0CC15-AE4F-403A-A8D7-E68BD69CA2F7}" type="slidenum">
              <a:rPr lang="en-US" altLang="en-US" sz="1300" smtClean="0"/>
              <a:pPr/>
              <a:t>14</a:t>
            </a:fld>
            <a:endParaRPr lang="en-US" altLang="en-US" sz="1300" smtClean="0"/>
          </a:p>
        </p:txBody>
      </p:sp>
      <p:sp>
        <p:nvSpPr>
          <p:cNvPr id="58371" name="Rectangle 2"/>
          <p:cNvSpPr>
            <a:spLocks noGrp="1" noRot="1" noChangeAspect="1" noChangeArrowheads="1" noTextEdit="1"/>
          </p:cNvSpPr>
          <p:nvPr>
            <p:ph type="sldImg"/>
          </p:nvPr>
        </p:nvSpPr>
        <p:spPr>
          <a:xfrm>
            <a:off x="992188" y="768350"/>
            <a:ext cx="5114925" cy="3836988"/>
          </a:xfrm>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smtClean="0"/>
              <a:t>If </a:t>
            </a:r>
            <a:r>
              <a:rPr lang="en-GB" altLang="en-US" u="sng" dirty="0" smtClean="0"/>
              <a:t>forward chaining</a:t>
            </a:r>
            <a:r>
              <a:rPr lang="en-GB" altLang="en-US" dirty="0" smtClean="0"/>
              <a:t> is used, we start with the facts. There is only one fact, so we start with:</a:t>
            </a:r>
          </a:p>
          <a:p>
            <a:pPr eaLnBrk="1" hangingPunct="1"/>
            <a:endParaRPr lang="en-GB" altLang="en-US" dirty="0" smtClean="0"/>
          </a:p>
          <a:p>
            <a:pPr eaLnBrk="1" hangingPunct="1"/>
            <a:r>
              <a:rPr lang="en-GB" altLang="en-US" dirty="0" smtClean="0"/>
              <a:t>father(bob).</a:t>
            </a:r>
          </a:p>
          <a:p>
            <a:pPr eaLnBrk="1" hangingPunct="1"/>
            <a:endParaRPr lang="en-GB" altLang="en-US" dirty="0" smtClean="0"/>
          </a:p>
          <a:p>
            <a:pPr eaLnBrk="1" hangingPunct="1"/>
            <a:r>
              <a:rPr lang="en-GB" altLang="en-US" dirty="0" smtClean="0"/>
              <a:t>Now we try to find a rule that will make man(bob) true. We find the rule:</a:t>
            </a:r>
          </a:p>
          <a:p>
            <a:pPr eaLnBrk="1" hangingPunct="1"/>
            <a:endParaRPr lang="en-GB" altLang="en-US" dirty="0" smtClean="0"/>
          </a:p>
          <a:p>
            <a:pPr eaLnBrk="1" hangingPunct="1"/>
            <a:r>
              <a:rPr lang="en-GB" altLang="en-US" dirty="0" smtClean="0"/>
              <a:t>man(X) :- father(X).</a:t>
            </a:r>
          </a:p>
          <a:p>
            <a:pPr eaLnBrk="1" hangingPunct="1"/>
            <a:endParaRPr lang="en-GB" altLang="en-US" dirty="0" smtClean="0"/>
          </a:p>
          <a:p>
            <a:pPr eaLnBrk="1" hangingPunct="1"/>
            <a:r>
              <a:rPr lang="en-GB" altLang="en-US" dirty="0" smtClean="0"/>
              <a:t>And can substitute bob for X, because this produces:</a:t>
            </a:r>
          </a:p>
          <a:p>
            <a:pPr eaLnBrk="1" hangingPunct="1"/>
            <a:endParaRPr lang="en-GB" altLang="en-US" dirty="0" smtClean="0"/>
          </a:p>
          <a:p>
            <a:pPr eaLnBrk="1" hangingPunct="1"/>
            <a:r>
              <a:rPr lang="en-GB" altLang="en-US" dirty="0" smtClean="0"/>
              <a:t>man(bob) :- father(bob).</a:t>
            </a:r>
          </a:p>
          <a:p>
            <a:pPr eaLnBrk="1" hangingPunct="1"/>
            <a:endParaRPr lang="en-GB" altLang="en-US" dirty="0" smtClean="0"/>
          </a:p>
          <a:p>
            <a:pPr eaLnBrk="1" hangingPunct="1"/>
            <a:r>
              <a:rPr lang="en-GB" altLang="en-US" dirty="0" smtClean="0"/>
              <a:t>and we already know that father(bob) holds. We see that we’ve established that man(bob) also holds, because of the rule, and we conclude that the query does hold.</a:t>
            </a:r>
          </a:p>
          <a:p>
            <a:pPr eaLnBrk="1" hangingPunct="1"/>
            <a:endParaRPr lang="en-GB" altLang="en-US" dirty="0" smtClean="0"/>
          </a:p>
          <a:p>
            <a:pPr eaLnBrk="1" hangingPunct="1"/>
            <a:r>
              <a:rPr lang="en-GB" altLang="en-US" dirty="0" smtClean="0"/>
              <a:t>========</a:t>
            </a:r>
          </a:p>
          <a:p>
            <a:pPr eaLnBrk="1" hangingPunct="1"/>
            <a:endParaRPr lang="en-GB" altLang="en-US" dirty="0" smtClean="0"/>
          </a:p>
          <a:p>
            <a:pPr eaLnBrk="1" hangingPunct="1"/>
            <a:r>
              <a:rPr lang="en-GB" altLang="en-US" dirty="0" smtClean="0"/>
              <a:t>If </a:t>
            </a:r>
            <a:r>
              <a:rPr lang="en-GB" altLang="en-US" u="sng" dirty="0" smtClean="0"/>
              <a:t>backward chaining</a:t>
            </a:r>
            <a:r>
              <a:rPr lang="en-GB" altLang="en-US" dirty="0" smtClean="0"/>
              <a:t> is used, we start with the goal:</a:t>
            </a:r>
          </a:p>
          <a:p>
            <a:pPr eaLnBrk="1" hangingPunct="1"/>
            <a:endParaRPr lang="en-GB" altLang="en-US" dirty="0" smtClean="0"/>
          </a:p>
          <a:p>
            <a:pPr eaLnBrk="1" hangingPunct="1"/>
            <a:r>
              <a:rPr lang="en-GB" altLang="en-US" dirty="0" smtClean="0"/>
              <a:t>man(bob).</a:t>
            </a:r>
          </a:p>
          <a:p>
            <a:pPr eaLnBrk="1" hangingPunct="1"/>
            <a:endParaRPr lang="en-GB" altLang="en-US" dirty="0" smtClean="0"/>
          </a:p>
          <a:p>
            <a:pPr eaLnBrk="1" hangingPunct="1"/>
            <a:r>
              <a:rPr lang="en-GB" altLang="en-US" dirty="0" smtClean="0"/>
              <a:t>Now we want to find a path to a fact. We look at the rules first, and find:</a:t>
            </a:r>
          </a:p>
          <a:p>
            <a:pPr eaLnBrk="1" hangingPunct="1"/>
            <a:endParaRPr lang="en-GB" altLang="en-US" dirty="0" smtClean="0"/>
          </a:p>
          <a:p>
            <a:pPr eaLnBrk="1" hangingPunct="1"/>
            <a:r>
              <a:rPr lang="en-GB" altLang="en-US" dirty="0" smtClean="0"/>
              <a:t>man(X) :- father(X).</a:t>
            </a:r>
          </a:p>
          <a:p>
            <a:pPr eaLnBrk="1" hangingPunct="1"/>
            <a:endParaRPr lang="en-GB" altLang="en-US" dirty="0" smtClean="0"/>
          </a:p>
          <a:p>
            <a:pPr eaLnBrk="1" hangingPunct="1"/>
            <a:r>
              <a:rPr lang="en-GB" altLang="en-US" dirty="0" smtClean="0"/>
              <a:t>and can substitute bob for X because we have assumed that man(bob) holds. So we get:</a:t>
            </a:r>
          </a:p>
          <a:p>
            <a:pPr eaLnBrk="1" hangingPunct="1"/>
            <a:endParaRPr lang="en-GB" altLang="en-US" dirty="0" smtClean="0"/>
          </a:p>
          <a:p>
            <a:pPr eaLnBrk="1" hangingPunct="1"/>
            <a:r>
              <a:rPr lang="en-GB" altLang="en-US" dirty="0" smtClean="0"/>
              <a:t>man(bob) :- father(bob).</a:t>
            </a:r>
          </a:p>
          <a:p>
            <a:pPr eaLnBrk="1" hangingPunct="1"/>
            <a:endParaRPr lang="en-GB" altLang="en-US" dirty="0" smtClean="0"/>
          </a:p>
          <a:p>
            <a:pPr eaLnBrk="1" hangingPunct="1"/>
            <a:r>
              <a:rPr lang="en-GB" altLang="en-US" dirty="0" smtClean="0"/>
              <a:t>From this rule, we see that father(bob) must hold if man(bob) holds. Now we’ve found a path from the query to a fact, so the query must hold.</a:t>
            </a:r>
          </a:p>
        </p:txBody>
      </p:sp>
    </p:spTree>
    <p:extLst>
      <p:ext uri="{BB962C8B-B14F-4D97-AF65-F5344CB8AC3E}">
        <p14:creationId xmlns:p14="http://schemas.microsoft.com/office/powerpoint/2010/main" val="42547000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E933BA3E-1684-4650-AF3F-A0CB856A9081}" type="slidenum">
              <a:rPr lang="en-US" altLang="en-US" sz="1300" smtClean="0"/>
              <a:pPr/>
              <a:t>15</a:t>
            </a:fld>
            <a:endParaRPr lang="en-US" altLang="en-US" sz="1300" smtClean="0"/>
          </a:p>
        </p:txBody>
      </p:sp>
      <p:sp>
        <p:nvSpPr>
          <p:cNvPr id="60419" name="Rectangle 2"/>
          <p:cNvSpPr>
            <a:spLocks noGrp="1" noRot="1" noChangeAspect="1" noChangeArrowheads="1" noTextEdit="1"/>
          </p:cNvSpPr>
          <p:nvPr>
            <p:ph type="sldImg"/>
          </p:nvPr>
        </p:nvSpPr>
        <p:spPr>
          <a:xfrm>
            <a:off x="992188" y="768350"/>
            <a:ext cx="5114925" cy="3836988"/>
          </a:xfrm>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smtClean="0"/>
          </a:p>
        </p:txBody>
      </p:sp>
    </p:spTree>
    <p:extLst>
      <p:ext uri="{BB962C8B-B14F-4D97-AF65-F5344CB8AC3E}">
        <p14:creationId xmlns:p14="http://schemas.microsoft.com/office/powerpoint/2010/main" val="21459866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42658D2D-68D5-4E77-B456-84DA8C585210}" type="slidenum">
              <a:rPr lang="en-US" altLang="en-US" sz="1300" smtClean="0"/>
              <a:pPr/>
              <a:t>16</a:t>
            </a:fld>
            <a:endParaRPr lang="en-US" altLang="en-US" sz="1300" smtClean="0"/>
          </a:p>
        </p:txBody>
      </p:sp>
      <p:sp>
        <p:nvSpPr>
          <p:cNvPr id="62467" name="Rectangle 2"/>
          <p:cNvSpPr>
            <a:spLocks noGrp="1" noRot="1" noChangeAspect="1" noChangeArrowheads="1" noTextEdit="1"/>
          </p:cNvSpPr>
          <p:nvPr>
            <p:ph type="sldImg"/>
          </p:nvPr>
        </p:nvSpPr>
        <p:spPr>
          <a:xfrm>
            <a:off x="992188" y="768350"/>
            <a:ext cx="5114925" cy="3836988"/>
          </a:xfrm>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GB" altLang="en-US" dirty="0" err="1" smtClean="0"/>
              <a:t>Prolog</a:t>
            </a:r>
            <a:r>
              <a:rPr lang="en-GB" altLang="en-US" dirty="0" smtClean="0"/>
              <a:t> always works from left to right when trying to prove sub-goals, and top to bottom when matching facts.</a:t>
            </a:r>
          </a:p>
          <a:p>
            <a:pPr eaLnBrk="1" hangingPunct="1"/>
            <a:endParaRPr lang="en-GB" altLang="en-US" dirty="0" smtClean="0"/>
          </a:p>
          <a:p>
            <a:pPr eaLnBrk="1" hangingPunct="1"/>
            <a:r>
              <a:rPr lang="en-GB" altLang="en-US" dirty="0" smtClean="0"/>
              <a:t>Given the last example, </a:t>
            </a:r>
            <a:r>
              <a:rPr lang="en-GB" altLang="en-US" dirty="0" err="1" smtClean="0"/>
              <a:t>Prolog</a:t>
            </a:r>
            <a:r>
              <a:rPr lang="en-GB" altLang="en-US" dirty="0" smtClean="0"/>
              <a:t> will end up searching for a long time if there are a lot of male</a:t>
            </a:r>
            <a:r>
              <a:rPr lang="en-GB" altLang="en-US" dirty="0" smtClean="0"/>
              <a:t>(...) </a:t>
            </a:r>
            <a:r>
              <a:rPr lang="en-GB" altLang="en-US" dirty="0" smtClean="0"/>
              <a:t>facts. The worst case scenario is if there is no fact (or rule) supporting that </a:t>
            </a:r>
            <a:r>
              <a:rPr lang="en-GB" altLang="en-US" dirty="0" err="1" smtClean="0"/>
              <a:t>shelley</a:t>
            </a:r>
            <a:r>
              <a:rPr lang="en-GB" altLang="en-US" dirty="0" smtClean="0"/>
              <a:t> has a male parent. In that case, all males will have to be checked before </a:t>
            </a:r>
            <a:r>
              <a:rPr lang="en-GB" altLang="en-US" dirty="0" err="1" smtClean="0"/>
              <a:t>Prolog</a:t>
            </a:r>
            <a:r>
              <a:rPr lang="en-GB" altLang="en-US" dirty="0" smtClean="0"/>
              <a:t> can respond with a “false”.</a:t>
            </a:r>
          </a:p>
          <a:p>
            <a:pPr eaLnBrk="1" hangingPunct="1"/>
            <a:endParaRPr lang="en-GB" altLang="en-US" dirty="0" smtClean="0"/>
          </a:p>
          <a:p>
            <a:pPr eaLnBrk="1" hangingPunct="1"/>
            <a:r>
              <a:rPr lang="en-GB" altLang="en-US" dirty="0" smtClean="0"/>
              <a:t>Can we solve this problem? If we restate the goal as follows:</a:t>
            </a:r>
          </a:p>
          <a:p>
            <a:pPr eaLnBrk="1" hangingPunct="1"/>
            <a:endParaRPr lang="en-GB" altLang="en-US" dirty="0" smtClean="0"/>
          </a:p>
          <a:p>
            <a:pPr eaLnBrk="1" hangingPunct="1"/>
            <a:r>
              <a:rPr lang="en-GB" altLang="en-US" dirty="0" smtClean="0"/>
              <a:t>parent(</a:t>
            </a:r>
            <a:r>
              <a:rPr lang="en-GB" altLang="en-US" dirty="0" err="1" smtClean="0"/>
              <a:t>X,shelley</a:t>
            </a:r>
            <a:r>
              <a:rPr lang="en-GB" altLang="en-US" dirty="0" smtClean="0"/>
              <a:t>), male(X).</a:t>
            </a:r>
          </a:p>
          <a:p>
            <a:pPr eaLnBrk="1" hangingPunct="1"/>
            <a:endParaRPr lang="en-GB" altLang="en-US" dirty="0" smtClean="0"/>
          </a:p>
          <a:p>
            <a:pPr eaLnBrk="1" hangingPunct="1"/>
            <a:r>
              <a:rPr lang="en-GB" altLang="en-US" dirty="0" err="1" smtClean="0"/>
              <a:t>Prolog</a:t>
            </a:r>
            <a:r>
              <a:rPr lang="en-GB" altLang="en-US" dirty="0" smtClean="0"/>
              <a:t> will first try to find an X that is a parent of </a:t>
            </a:r>
            <a:r>
              <a:rPr lang="en-GB" altLang="en-US" dirty="0" err="1" smtClean="0"/>
              <a:t>shelley</a:t>
            </a:r>
            <a:r>
              <a:rPr lang="en-GB" altLang="en-US" dirty="0" smtClean="0"/>
              <a:t>, and then test whether that parent is male. If we assume that any person will have a maximum of two parents, this means </a:t>
            </a:r>
            <a:r>
              <a:rPr lang="en-GB" altLang="en-US" dirty="0" err="1" smtClean="0"/>
              <a:t>Prolog</a:t>
            </a:r>
            <a:r>
              <a:rPr lang="en-GB" altLang="en-US" dirty="0" smtClean="0"/>
              <a:t> will have to go through a maximum of only two instantiations for X before either finding an object that satisfies the </a:t>
            </a:r>
            <a:r>
              <a:rPr lang="en-GB" altLang="en-US" dirty="0" err="1" smtClean="0"/>
              <a:t>subgoals</a:t>
            </a:r>
            <a:r>
              <a:rPr lang="en-GB" altLang="en-US" dirty="0" smtClean="0"/>
              <a:t>, or concluding that it can’t prove the goal.</a:t>
            </a:r>
          </a:p>
          <a:p>
            <a:pPr eaLnBrk="1" hangingPunct="1"/>
            <a:endParaRPr lang="en-GB" altLang="en-US" dirty="0" smtClean="0"/>
          </a:p>
          <a:p>
            <a:pPr eaLnBrk="1" hangingPunct="1"/>
            <a:r>
              <a:rPr lang="en-GB" altLang="en-US" dirty="0" smtClean="0"/>
              <a:t>Note that this breaks </a:t>
            </a:r>
            <a:r>
              <a:rPr lang="en-GB" altLang="en-US" dirty="0" err="1" smtClean="0"/>
              <a:t>Prolog’s</a:t>
            </a:r>
            <a:r>
              <a:rPr lang="en-GB" altLang="en-US" dirty="0" smtClean="0"/>
              <a:t> context independence, because it should not matter which order the </a:t>
            </a:r>
            <a:r>
              <a:rPr lang="en-GB" altLang="en-US" dirty="0" err="1" smtClean="0"/>
              <a:t>subgoals</a:t>
            </a:r>
            <a:r>
              <a:rPr lang="en-GB" altLang="en-US" dirty="0" smtClean="0"/>
              <a:t> appear in.</a:t>
            </a:r>
          </a:p>
        </p:txBody>
      </p:sp>
    </p:spTree>
    <p:extLst>
      <p:ext uri="{BB962C8B-B14F-4D97-AF65-F5344CB8AC3E}">
        <p14:creationId xmlns:p14="http://schemas.microsoft.com/office/powerpoint/2010/main" val="14930039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FE76A287-18B7-4ADD-B922-1DF740F705E6}" type="slidenum">
              <a:rPr lang="en-US" altLang="en-US" sz="1300" smtClean="0"/>
              <a:pPr/>
              <a:t>17</a:t>
            </a:fld>
            <a:endParaRPr lang="en-US" altLang="en-US" sz="1300" smtClean="0"/>
          </a:p>
        </p:txBody>
      </p:sp>
      <p:sp>
        <p:nvSpPr>
          <p:cNvPr id="68611" name="Rectangle 2"/>
          <p:cNvSpPr>
            <a:spLocks noGrp="1" noRot="1" noChangeAspect="1" noChangeArrowheads="1" noTextEdit="1"/>
          </p:cNvSpPr>
          <p:nvPr>
            <p:ph type="sldImg"/>
          </p:nvPr>
        </p:nvSpPr>
        <p:spPr>
          <a:xfrm>
            <a:off x="992188" y="768350"/>
            <a:ext cx="5114925" cy="3836988"/>
          </a:xfrm>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GB" altLang="en-US" dirty="0" smtClean="0"/>
          </a:p>
        </p:txBody>
      </p:sp>
    </p:spTree>
    <p:extLst>
      <p:ext uri="{BB962C8B-B14F-4D97-AF65-F5344CB8AC3E}">
        <p14:creationId xmlns:p14="http://schemas.microsoft.com/office/powerpoint/2010/main" val="31699666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AF2AAB07-A324-42C4-8F3B-686C4101F5E1}" type="slidenum">
              <a:rPr lang="en-US" altLang="en-US" sz="1200" smtClean="0"/>
              <a:pPr/>
              <a:t>18</a:t>
            </a:fld>
            <a:endParaRPr lang="en-US" altLang="en-US" sz="1200" smtClean="0"/>
          </a:p>
        </p:txBody>
      </p:sp>
      <p:sp>
        <p:nvSpPr>
          <p:cNvPr id="70659" name="Rectangle 2"/>
          <p:cNvSpPr>
            <a:spLocks noGrp="1" noRot="1" noChangeAspect="1" noChangeArrowheads="1" noTextEdit="1"/>
          </p:cNvSpPr>
          <p:nvPr>
            <p:ph type="sldImg"/>
          </p:nvPr>
        </p:nvSpPr>
        <p:spPr>
          <a:ln/>
        </p:spPr>
      </p:sp>
      <p:sp>
        <p:nvSpPr>
          <p:cNvPr id="70660" name="Rectangle 3"/>
          <p:cNvSpPr>
            <a:spLocks noGrp="1" noChangeArrowheads="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defRPr/>
            </a:pPr>
            <a:r>
              <a:rPr lang="en-US" altLang="en-US" dirty="0" smtClean="0"/>
              <a:t>This example illustrates the steps Prolog goes through to prove a query. Prolog always works from left to right, and top to bottom when trying to prove a query holds.</a:t>
            </a:r>
          </a:p>
          <a:p>
            <a:pPr eaLnBrk="1" hangingPunct="1">
              <a:defRPr/>
            </a:pPr>
            <a:endParaRPr lang="en-US" altLang="en-US" dirty="0" smtClean="0"/>
          </a:p>
          <a:p>
            <a:pPr eaLnBrk="1" hangingPunct="1">
              <a:defRPr/>
            </a:pPr>
            <a:r>
              <a:rPr lang="en-US" altLang="en-US" dirty="0" smtClean="0"/>
              <a:t>The query is attempting to find an X that both </a:t>
            </a:r>
            <a:r>
              <a:rPr lang="en-US" altLang="en-US" dirty="0" err="1" smtClean="0"/>
              <a:t>jake</a:t>
            </a:r>
            <a:r>
              <a:rPr lang="en-US" altLang="en-US" dirty="0" smtClean="0"/>
              <a:t> and </a:t>
            </a:r>
            <a:r>
              <a:rPr lang="en-US" altLang="en-US" dirty="0" err="1" smtClean="0"/>
              <a:t>darcie</a:t>
            </a:r>
            <a:r>
              <a:rPr lang="en-US" altLang="en-US" dirty="0" smtClean="0"/>
              <a:t> like. The basic approach is as follows:</a:t>
            </a:r>
          </a:p>
          <a:p>
            <a:pPr eaLnBrk="1" hangingPunct="1">
              <a:defRPr/>
            </a:pPr>
            <a:endParaRPr lang="en-US" altLang="en-US" dirty="0" smtClean="0"/>
          </a:p>
          <a:p>
            <a:pPr marL="171450" indent="-171450" eaLnBrk="1" hangingPunct="1">
              <a:buFontTx/>
              <a:buChar char="-"/>
              <a:defRPr/>
            </a:pPr>
            <a:r>
              <a:rPr lang="en-US" altLang="en-US" dirty="0" smtClean="0"/>
              <a:t>Prolog starts with the leftmost sub-goal. It needs to find an instantiation for X that makes likes(</a:t>
            </a:r>
            <a:r>
              <a:rPr lang="en-US" altLang="en-US" dirty="0" err="1" smtClean="0"/>
              <a:t>jake</a:t>
            </a:r>
            <a:r>
              <a:rPr lang="en-US" altLang="en-US" dirty="0" smtClean="0"/>
              <a:t>, X) true.</a:t>
            </a:r>
          </a:p>
          <a:p>
            <a:pPr marL="171450" indent="-171450" eaLnBrk="1" hangingPunct="1">
              <a:buFontTx/>
              <a:buChar char="-"/>
              <a:defRPr/>
            </a:pPr>
            <a:r>
              <a:rPr lang="en-US" altLang="en-US" dirty="0" smtClean="0"/>
              <a:t>Prolog starts searching for a fact from the top. The first fact it finds is likes(</a:t>
            </a:r>
            <a:r>
              <a:rPr lang="en-US" altLang="en-US" dirty="0" err="1" smtClean="0"/>
              <a:t>jake</a:t>
            </a:r>
            <a:r>
              <a:rPr lang="en-US" altLang="en-US" dirty="0" smtClean="0"/>
              <a:t>, chocolate), so X is instantiated to chocolate.</a:t>
            </a:r>
          </a:p>
          <a:p>
            <a:pPr marL="171450" indent="-171450" eaLnBrk="1" hangingPunct="1">
              <a:buFontTx/>
              <a:buChar char="-"/>
              <a:defRPr/>
            </a:pPr>
            <a:r>
              <a:rPr lang="en-US" altLang="en-US" dirty="0" smtClean="0"/>
              <a:t>The first sub-goal has been satisfied, so Prolog moves on to the second sub-goal, likes(</a:t>
            </a:r>
            <a:r>
              <a:rPr lang="en-US" altLang="en-US" dirty="0" err="1" smtClean="0"/>
              <a:t>darcie</a:t>
            </a:r>
            <a:r>
              <a:rPr lang="en-US" altLang="en-US" dirty="0" smtClean="0"/>
              <a:t>, X). Because X has been instantiated to chocolate, the second sub-goal to prove is likes(</a:t>
            </a:r>
            <a:r>
              <a:rPr lang="en-US" altLang="en-US" dirty="0" err="1" smtClean="0"/>
              <a:t>darcie</a:t>
            </a:r>
            <a:r>
              <a:rPr lang="en-US" altLang="en-US" dirty="0" smtClean="0"/>
              <a:t>, chocolate).</a:t>
            </a:r>
          </a:p>
          <a:p>
            <a:pPr marL="171450" indent="-171450" eaLnBrk="1" hangingPunct="1">
              <a:buFontTx/>
              <a:buChar char="-"/>
              <a:defRPr/>
            </a:pPr>
            <a:r>
              <a:rPr lang="en-US" altLang="en-US" dirty="0" smtClean="0"/>
              <a:t>Prolog searches for a matching fact, but can’t find anything.</a:t>
            </a:r>
          </a:p>
          <a:p>
            <a:pPr marL="171450" indent="-171450" eaLnBrk="1" hangingPunct="1">
              <a:buFontTx/>
              <a:buChar char="-"/>
              <a:defRPr/>
            </a:pPr>
            <a:r>
              <a:rPr lang="en-US" altLang="en-US" dirty="0" smtClean="0"/>
              <a:t>Prolog must now backtrack to the previous sub-goal, and try to find another X that makes likes(</a:t>
            </a:r>
            <a:r>
              <a:rPr lang="en-US" altLang="en-US" dirty="0" err="1" smtClean="0"/>
              <a:t>jake</a:t>
            </a:r>
            <a:r>
              <a:rPr lang="en-US" altLang="en-US" dirty="0" smtClean="0"/>
              <a:t>, X) true. The search continues from where the first sub-goal was satisfied.</a:t>
            </a:r>
          </a:p>
          <a:p>
            <a:pPr marL="171450" indent="-171450" eaLnBrk="1" hangingPunct="1">
              <a:buFontTx/>
              <a:buChar char="-"/>
              <a:defRPr/>
            </a:pPr>
            <a:r>
              <a:rPr lang="en-US" altLang="en-US" dirty="0" smtClean="0"/>
              <a:t>The next matching fact is likes(</a:t>
            </a:r>
            <a:r>
              <a:rPr lang="en-US" altLang="en-US" dirty="0" err="1" smtClean="0"/>
              <a:t>jake</a:t>
            </a:r>
            <a:r>
              <a:rPr lang="en-US" altLang="en-US" dirty="0" smtClean="0"/>
              <a:t>, apricots), so X is instantiated to apricots.</a:t>
            </a:r>
          </a:p>
          <a:p>
            <a:pPr marL="171450" indent="-171450" eaLnBrk="1" hangingPunct="1">
              <a:buFontTx/>
              <a:buChar char="-"/>
              <a:defRPr/>
            </a:pPr>
            <a:r>
              <a:rPr lang="en-US" altLang="en-US" dirty="0" smtClean="0"/>
              <a:t>Prolog now moves to the second sub-goal, likes(</a:t>
            </a:r>
            <a:r>
              <a:rPr lang="en-US" altLang="en-US" dirty="0" err="1" smtClean="0"/>
              <a:t>darcie</a:t>
            </a:r>
            <a:r>
              <a:rPr lang="en-US" altLang="en-US" dirty="0" smtClean="0"/>
              <a:t>, X), which becomes likes(</a:t>
            </a:r>
            <a:r>
              <a:rPr lang="en-US" altLang="en-US" dirty="0" err="1" smtClean="0"/>
              <a:t>darcie</a:t>
            </a:r>
            <a:r>
              <a:rPr lang="en-US" altLang="en-US" dirty="0" smtClean="0"/>
              <a:t>, apricots) because X has been instantiated to apricots.</a:t>
            </a:r>
          </a:p>
          <a:p>
            <a:pPr marL="171450" indent="-171450" eaLnBrk="1" hangingPunct="1">
              <a:buFontTx/>
              <a:buChar char="-"/>
              <a:defRPr/>
            </a:pPr>
            <a:r>
              <a:rPr lang="en-US" altLang="en-US" dirty="0" smtClean="0"/>
              <a:t>Prolog finds likes(</a:t>
            </a:r>
            <a:r>
              <a:rPr lang="en-US" altLang="en-US" dirty="0" err="1" smtClean="0"/>
              <a:t>darcie</a:t>
            </a:r>
            <a:r>
              <a:rPr lang="en-US" altLang="en-US" dirty="0" smtClean="0"/>
              <a:t>, apricots), which satisfies the second sub-goal.</a:t>
            </a:r>
          </a:p>
          <a:p>
            <a:pPr marL="171450" indent="-171450" eaLnBrk="1" hangingPunct="1">
              <a:buFontTx/>
              <a:buChar char="-"/>
              <a:defRPr/>
            </a:pPr>
            <a:r>
              <a:rPr lang="en-US" altLang="en-US" dirty="0" smtClean="0"/>
              <a:t>We have no further sub-goals to satisfy, so Prolog responds with “X = apricots”.</a:t>
            </a:r>
          </a:p>
          <a:p>
            <a:pPr eaLnBrk="1" hangingPunct="1">
              <a:defRPr/>
            </a:pPr>
            <a:endParaRPr lang="en-US" altLang="en-US" dirty="0" smtClean="0"/>
          </a:p>
          <a:p>
            <a:pPr eaLnBrk="1" hangingPunct="1">
              <a:defRPr/>
            </a:pPr>
            <a:r>
              <a:rPr lang="en-US" altLang="en-US" dirty="0" smtClean="0"/>
              <a:t>If we were to re-query Prolog after this process, no further instantiations for X can be found to satisfy the first sub-goal, so Prolog responds with “false”.</a:t>
            </a:r>
          </a:p>
        </p:txBody>
      </p:sp>
    </p:spTree>
    <p:extLst>
      <p:ext uri="{BB962C8B-B14F-4D97-AF65-F5344CB8AC3E}">
        <p14:creationId xmlns:p14="http://schemas.microsoft.com/office/powerpoint/2010/main" val="18011540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2226" name="Rectangle 2"/>
          <p:cNvSpPr>
            <a:spLocks noGrp="1" noChangeArrowheads="1"/>
          </p:cNvSpPr>
          <p:nvPr>
            <p:ph type="ctrTitle"/>
          </p:nvPr>
        </p:nvSpPr>
        <p:spPr>
          <a:xfrm>
            <a:off x="381000" y="1371600"/>
            <a:ext cx="3657600" cy="1143000"/>
          </a:xfrm>
        </p:spPr>
        <p:txBody>
          <a:bodyPr/>
          <a:lstStyle>
            <a:lvl1pPr>
              <a:defRPr b="1">
                <a:solidFill>
                  <a:schemeClr val="accent2"/>
                </a:solidFill>
              </a:defRPr>
            </a:lvl1pPr>
          </a:lstStyle>
          <a:p>
            <a:r>
              <a:rPr lang="en-US"/>
              <a:t>Click to edit Master title style</a:t>
            </a:r>
          </a:p>
        </p:txBody>
      </p:sp>
      <p:sp>
        <p:nvSpPr>
          <p:cNvPr id="52227" name="Rectangle 3"/>
          <p:cNvSpPr>
            <a:spLocks noGrp="1" noChangeArrowheads="1"/>
          </p:cNvSpPr>
          <p:nvPr>
            <p:ph type="subTitle" idx="1"/>
          </p:nvPr>
        </p:nvSpPr>
        <p:spPr>
          <a:xfrm>
            <a:off x="381000" y="3276600"/>
            <a:ext cx="3657600" cy="1752600"/>
          </a:xfrm>
        </p:spPr>
        <p:txBody>
          <a:bodyPr/>
          <a:lstStyle>
            <a:lvl1pPr marL="0" indent="0">
              <a:buFontTx/>
              <a:buNone/>
              <a:defRPr>
                <a:solidFill>
                  <a:srgbClr val="CC3300"/>
                </a:solidFill>
              </a:defRPr>
            </a:lvl1pPr>
          </a:lstStyle>
          <a:p>
            <a:r>
              <a:rPr lang="en-US"/>
              <a:t>Click to edit Master subtitle style</a:t>
            </a:r>
          </a:p>
        </p:txBody>
      </p:sp>
      <p:pic>
        <p:nvPicPr>
          <p:cNvPr id="6" name="Picture 8" descr="Front Cover: Concepts of Programming Languages, Global Edition, by Robert W Sebesta&#10;"/>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343400" y="0"/>
            <a:ext cx="4800600" cy="60769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21134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20C04DEE-A083-43E3-BF43-363BAC378B7F}" type="slidenum">
              <a:rPr lang="en-US" altLang="en-US"/>
              <a:pPr>
                <a:defRPr/>
              </a:pPr>
              <a:t>‹#›</a:t>
            </a:fld>
            <a:endParaRPr lang="en-US" altLang="en-US"/>
          </a:p>
        </p:txBody>
      </p:sp>
    </p:spTree>
    <p:extLst>
      <p:ext uri="{BB962C8B-B14F-4D97-AF65-F5344CB8AC3E}">
        <p14:creationId xmlns:p14="http://schemas.microsoft.com/office/powerpoint/2010/main" val="1115730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01245E0B-D39C-4B9B-B497-A0AA4AC02F63}" type="slidenum">
              <a:rPr lang="en-US" altLang="en-US"/>
              <a:pPr>
                <a:defRPr/>
              </a:pPr>
              <a:t>‹#›</a:t>
            </a:fld>
            <a:endParaRPr lang="en-US" altLang="en-US"/>
          </a:p>
        </p:txBody>
      </p:sp>
    </p:spTree>
    <p:extLst>
      <p:ext uri="{BB962C8B-B14F-4D97-AF65-F5344CB8AC3E}">
        <p14:creationId xmlns:p14="http://schemas.microsoft.com/office/powerpoint/2010/main" val="1843631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625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32ABE6BB-5866-472C-AFAC-368E3375D347}" type="slidenum">
              <a:rPr lang="en-US" altLang="en-US"/>
              <a:pPr>
                <a:defRPr/>
              </a:pPr>
              <a:t>‹#›</a:t>
            </a:fld>
            <a:endParaRPr lang="en-US" altLang="en-US"/>
          </a:p>
        </p:txBody>
      </p:sp>
    </p:spTree>
    <p:extLst>
      <p:ext uri="{BB962C8B-B14F-4D97-AF65-F5344CB8AC3E}">
        <p14:creationId xmlns:p14="http://schemas.microsoft.com/office/powerpoint/2010/main" val="42859643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8" name="Rectangle 5"/>
          <p:cNvSpPr>
            <a:spLocks noGrp="1" noChangeArrowheads="1"/>
          </p:cNvSpPr>
          <p:nvPr>
            <p:ph type="sldNum" sz="quarter" idx="11"/>
          </p:nvPr>
        </p:nvSpPr>
        <p:spPr>
          <a:ln/>
        </p:spPr>
        <p:txBody>
          <a:bodyPr/>
          <a:lstStyle>
            <a:lvl1pPr>
              <a:defRPr/>
            </a:lvl1pPr>
          </a:lstStyle>
          <a:p>
            <a:pPr>
              <a:defRPr/>
            </a:pPr>
            <a:r>
              <a:rPr lang="en-US" altLang="en-US"/>
              <a:t>1-</a:t>
            </a:r>
            <a:fld id="{C05BE4C5-F315-4912-87E9-62B9E7F28AF7}" type="slidenum">
              <a:rPr lang="en-US" altLang="en-US"/>
              <a:pPr>
                <a:defRPr/>
              </a:pPr>
              <a:t>‹#›</a:t>
            </a:fld>
            <a:endParaRPr lang="en-US" altLang="en-US"/>
          </a:p>
        </p:txBody>
      </p:sp>
    </p:spTree>
    <p:extLst>
      <p:ext uri="{BB962C8B-B14F-4D97-AF65-F5344CB8AC3E}">
        <p14:creationId xmlns:p14="http://schemas.microsoft.com/office/powerpoint/2010/main" val="5100873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4" name="Rectangle 5"/>
          <p:cNvSpPr>
            <a:spLocks noGrp="1" noChangeArrowheads="1"/>
          </p:cNvSpPr>
          <p:nvPr>
            <p:ph type="sldNum" sz="quarter" idx="11"/>
          </p:nvPr>
        </p:nvSpPr>
        <p:spPr>
          <a:ln/>
        </p:spPr>
        <p:txBody>
          <a:bodyPr/>
          <a:lstStyle>
            <a:lvl1pPr>
              <a:defRPr/>
            </a:lvl1pPr>
          </a:lstStyle>
          <a:p>
            <a:pPr>
              <a:defRPr/>
            </a:pPr>
            <a:r>
              <a:rPr lang="en-US" altLang="en-US"/>
              <a:t>1-</a:t>
            </a:r>
            <a:fld id="{FE945154-0118-407D-A1F3-E2695EE1F149}" type="slidenum">
              <a:rPr lang="en-US" altLang="en-US"/>
              <a:pPr>
                <a:defRPr/>
              </a:pPr>
              <a:t>‹#›</a:t>
            </a:fld>
            <a:endParaRPr lang="en-US" altLang="en-US"/>
          </a:p>
        </p:txBody>
      </p:sp>
    </p:spTree>
    <p:extLst>
      <p:ext uri="{BB962C8B-B14F-4D97-AF65-F5344CB8AC3E}">
        <p14:creationId xmlns:p14="http://schemas.microsoft.com/office/powerpoint/2010/main" val="292160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3" name="Rectangle 5"/>
          <p:cNvSpPr>
            <a:spLocks noGrp="1" noChangeArrowheads="1"/>
          </p:cNvSpPr>
          <p:nvPr>
            <p:ph type="sldNum" sz="quarter" idx="11"/>
          </p:nvPr>
        </p:nvSpPr>
        <p:spPr>
          <a:ln/>
        </p:spPr>
        <p:txBody>
          <a:bodyPr/>
          <a:lstStyle>
            <a:lvl1pPr>
              <a:defRPr/>
            </a:lvl1pPr>
          </a:lstStyle>
          <a:p>
            <a:pPr>
              <a:defRPr/>
            </a:pPr>
            <a:r>
              <a:rPr lang="en-US" altLang="en-US"/>
              <a:t>1-</a:t>
            </a:r>
            <a:fld id="{284BE490-3808-4560-A8A4-98EE2E24C6A7}" type="slidenum">
              <a:rPr lang="en-US" altLang="en-US"/>
              <a:pPr>
                <a:defRPr/>
              </a:pPr>
              <a:t>‹#›</a:t>
            </a:fld>
            <a:endParaRPr lang="en-US" altLang="en-US"/>
          </a:p>
        </p:txBody>
      </p:sp>
    </p:spTree>
    <p:extLst>
      <p:ext uri="{BB962C8B-B14F-4D97-AF65-F5344CB8AC3E}">
        <p14:creationId xmlns:p14="http://schemas.microsoft.com/office/powerpoint/2010/main" val="3035004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56877B48-5206-47DD-B374-2F0C12C91B74}" type="slidenum">
              <a:rPr lang="en-US" altLang="en-US"/>
              <a:pPr>
                <a:defRPr/>
              </a:pPr>
              <a:t>‹#›</a:t>
            </a:fld>
            <a:endParaRPr lang="en-US" altLang="en-US"/>
          </a:p>
        </p:txBody>
      </p:sp>
    </p:spTree>
    <p:extLst>
      <p:ext uri="{BB962C8B-B14F-4D97-AF65-F5344CB8AC3E}">
        <p14:creationId xmlns:p14="http://schemas.microsoft.com/office/powerpoint/2010/main" val="2287928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242213D6-3DA7-401C-9FA8-138D561D85CE}" type="slidenum">
              <a:rPr lang="en-US" altLang="en-US"/>
              <a:pPr>
                <a:defRPr/>
              </a:pPr>
              <a:t>‹#›</a:t>
            </a:fld>
            <a:endParaRPr lang="en-US" altLang="en-US"/>
          </a:p>
        </p:txBody>
      </p:sp>
    </p:spTree>
    <p:extLst>
      <p:ext uri="{BB962C8B-B14F-4D97-AF65-F5344CB8AC3E}">
        <p14:creationId xmlns:p14="http://schemas.microsoft.com/office/powerpoint/2010/main" val="36182164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A5AA8952-C0A9-4758-9214-08B2077C778B}" type="slidenum">
              <a:rPr lang="en-US" altLang="en-US"/>
              <a:pPr>
                <a:defRPr/>
              </a:pPr>
              <a:t>‹#›</a:t>
            </a:fld>
            <a:endParaRPr lang="en-US" altLang="en-US"/>
          </a:p>
        </p:txBody>
      </p:sp>
    </p:spTree>
    <p:extLst>
      <p:ext uri="{BB962C8B-B14F-4D97-AF65-F5344CB8AC3E}">
        <p14:creationId xmlns:p14="http://schemas.microsoft.com/office/powerpoint/2010/main" val="808616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381000"/>
            <a:ext cx="2038350" cy="5791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381000"/>
            <a:ext cx="5962650" cy="5791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2012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F23872FE-0B63-415D-A4A0-BFC2B1056801}" type="slidenum">
              <a:rPr lang="en-US" altLang="en-US"/>
              <a:pPr>
                <a:defRPr/>
              </a:pPr>
              <a:t>‹#›</a:t>
            </a:fld>
            <a:endParaRPr lang="en-US" altLang="en-US"/>
          </a:p>
        </p:txBody>
      </p:sp>
    </p:spTree>
    <p:extLst>
      <p:ext uri="{BB962C8B-B14F-4D97-AF65-F5344CB8AC3E}">
        <p14:creationId xmlns:p14="http://schemas.microsoft.com/office/powerpoint/2010/main" val="15315962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381000"/>
            <a:ext cx="8153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0" y="1600200"/>
            <a:ext cx="8153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51204" name="Rectangle 4"/>
          <p:cNvSpPr>
            <a:spLocks noGrp="1" noChangeArrowheads="1"/>
          </p:cNvSpPr>
          <p:nvPr>
            <p:ph type="ftr" sz="quarter" idx="3"/>
          </p:nvPr>
        </p:nvSpPr>
        <p:spPr bwMode="auto">
          <a:xfrm>
            <a:off x="685800" y="6248400"/>
            <a:ext cx="4876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000">
                <a:latin typeface="Arial" charset="0"/>
                <a:ea typeface="+mn-ea"/>
                <a:cs typeface="+mn-cs"/>
              </a:defRPr>
            </a:lvl1pPr>
          </a:lstStyle>
          <a:p>
            <a:pPr>
              <a:defRPr/>
            </a:pPr>
            <a:r>
              <a:rPr lang="en-US"/>
              <a:t>Copyright © 2012 Addison-Wesley. All rights reserved.</a:t>
            </a:r>
          </a:p>
        </p:txBody>
      </p:sp>
      <p:sp>
        <p:nvSpPr>
          <p:cNvPr id="51205" name="Rectangle 5"/>
          <p:cNvSpPr>
            <a:spLocks noGrp="1" noChangeArrowheads="1"/>
          </p:cNvSpPr>
          <p:nvPr>
            <p:ph type="sldNum" sz="quarter" idx="4"/>
          </p:nvPr>
        </p:nvSpPr>
        <p:spPr bwMode="auto">
          <a:xfrm>
            <a:off x="69342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000">
                <a:latin typeface="Arial" panose="020B0604020202020204" pitchFamily="34" charset="0"/>
              </a:defRPr>
            </a:lvl1pPr>
          </a:lstStyle>
          <a:p>
            <a:pPr>
              <a:defRPr/>
            </a:pPr>
            <a:r>
              <a:rPr lang="en-US" altLang="en-US"/>
              <a:t>1-</a:t>
            </a:r>
            <a:fld id="{9A0258FD-0E2F-4263-A73F-BF2679301C1D}" type="slidenum">
              <a:rPr lang="en-US" altLang="en-US"/>
              <a:pPr>
                <a:defRPr/>
              </a:pPr>
              <a:t>‹#›</a:t>
            </a:fld>
            <a:endParaRPr lang="en-US" altLang="en-US"/>
          </a:p>
        </p:txBody>
      </p:sp>
      <p:sp>
        <p:nvSpPr>
          <p:cNvPr id="1030" name="Line 6"/>
          <p:cNvSpPr>
            <a:spLocks noChangeShapeType="1"/>
          </p:cNvSpPr>
          <p:nvPr/>
        </p:nvSpPr>
        <p:spPr bwMode="auto">
          <a:xfrm>
            <a:off x="609600" y="15240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ZA"/>
          </a:p>
        </p:txBody>
      </p:sp>
      <p:sp>
        <p:nvSpPr>
          <p:cNvPr id="1031" name="Line 7"/>
          <p:cNvSpPr>
            <a:spLocks noChangeShapeType="1"/>
          </p:cNvSpPr>
          <p:nvPr/>
        </p:nvSpPr>
        <p:spPr bwMode="auto">
          <a:xfrm>
            <a:off x="609600" y="1219200"/>
            <a:ext cx="8153400" cy="0"/>
          </a:xfrm>
          <a:prstGeom prst="line">
            <a:avLst/>
          </a:prstGeom>
          <a:noFill/>
          <a:ln w="57150">
            <a:solidFill>
              <a:srgbClr val="CC3300"/>
            </a:solidFill>
            <a:round/>
            <a:headEnd/>
            <a:tailEnd/>
          </a:ln>
          <a:extLst>
            <a:ext uri="{909E8E84-426E-40DD-AFC4-6F175D3DCCD1}">
              <a14:hiddenFill xmlns:a14="http://schemas.microsoft.com/office/drawing/2010/main">
                <a:noFill/>
              </a14:hiddenFill>
            </a:ext>
          </a:extLst>
        </p:spPr>
        <p:txBody>
          <a:bodyPr/>
          <a:lstStyle/>
          <a:p>
            <a:endParaRPr lang="en-ZA"/>
          </a:p>
        </p:txBody>
      </p:sp>
    </p:spTree>
  </p:cSld>
  <p:clrMap bg1="lt1" tx1="dk1" bg2="lt2" tx2="dk2" accent1="accent1" accent2="accent2" accent3="accent3" accent4="accent4" accent5="accent5" accent6="accent6" hlink="hlink" folHlink="folHlink"/>
  <p:sldLayoutIdLst>
    <p:sldLayoutId id="2147483843" r:id="rId1"/>
    <p:sldLayoutId id="2147483833" r:id="rId2"/>
    <p:sldLayoutId id="2147483834" r:id="rId3"/>
    <p:sldLayoutId id="2147483835" r:id="rId4"/>
    <p:sldLayoutId id="2147483836" r:id="rId5"/>
    <p:sldLayoutId id="2147483837" r:id="rId6"/>
    <p:sldLayoutId id="2147483838" r:id="rId7"/>
    <p:sldLayoutId id="2147483839" r:id="rId8"/>
    <p:sldLayoutId id="2147483840" r:id="rId9"/>
    <p:sldLayoutId id="2147483841" r:id="rId10"/>
    <p:sldLayoutId id="2147483842" r:id="rId11"/>
  </p:sldLayoutIdLst>
  <p:hf hdr="0" dt="0"/>
  <p:txStyles>
    <p:titleStyle>
      <a:lvl1pPr algn="l" rtl="0" eaLnBrk="0" fontAlgn="base" hangingPunct="0">
        <a:spcBef>
          <a:spcPct val="0"/>
        </a:spcBef>
        <a:spcAft>
          <a:spcPct val="0"/>
        </a:spcAft>
        <a:defRPr sz="3600">
          <a:solidFill>
            <a:srgbClr val="666699"/>
          </a:solidFill>
          <a:latin typeface="+mj-lt"/>
          <a:ea typeface="+mj-ea"/>
          <a:cs typeface="+mj-cs"/>
        </a:defRPr>
      </a:lvl1pPr>
      <a:lvl2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2pPr>
      <a:lvl3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3pPr>
      <a:lvl4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4pPr>
      <a:lvl5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5pPr>
      <a:lvl6pPr marL="4572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6pPr>
      <a:lvl7pPr marL="9144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7pPr>
      <a:lvl8pPr marL="13716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8pPr>
      <a:lvl9pPr marL="18288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9pPr>
    </p:titleStyle>
    <p:bodyStyle>
      <a:lvl1pPr marL="342900" indent="-342900" algn="l" rtl="0" eaLnBrk="0" fontAlgn="base" hangingPunct="0">
        <a:spcBef>
          <a:spcPct val="20000"/>
        </a:spcBef>
        <a:spcAft>
          <a:spcPct val="0"/>
        </a:spcAft>
        <a:buChar char="•"/>
        <a:defRPr sz="28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400">
          <a:solidFill>
            <a:schemeClr val="accent2"/>
          </a:solidFill>
          <a:latin typeface="+mn-lt"/>
          <a:ea typeface="+mn-ea"/>
          <a:cs typeface="+mn-cs"/>
        </a:defRPr>
      </a:lvl2pPr>
      <a:lvl3pPr marL="1143000" indent="-228600" algn="l" rtl="0" eaLnBrk="0" fontAlgn="base" hangingPunct="0">
        <a:spcBef>
          <a:spcPct val="20000"/>
        </a:spcBef>
        <a:spcAft>
          <a:spcPct val="0"/>
        </a:spcAft>
        <a:buChar char="•"/>
        <a:defRPr sz="21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a:solidFill>
            <a:schemeClr val="accent2"/>
          </a:solidFill>
          <a:latin typeface="+mn-lt"/>
          <a:ea typeface="+mn-ea"/>
          <a:cs typeface="+mn-cs"/>
        </a:defRPr>
      </a:lvl4pPr>
      <a:lvl5pPr marL="2057400" indent="-228600" algn="l" rtl="0" eaLnBrk="0" fontAlgn="base" hangingPunct="0">
        <a:spcBef>
          <a:spcPct val="20000"/>
        </a:spcBef>
        <a:spcAft>
          <a:spcPct val="0"/>
        </a:spcAft>
        <a:buChar char="»"/>
        <a:defRPr sz="2000">
          <a:solidFill>
            <a:srgbClr val="666699"/>
          </a:solidFill>
          <a:latin typeface="+mn-lt"/>
          <a:ea typeface="+mn-ea"/>
          <a:cs typeface="+mn-cs"/>
        </a:defRPr>
      </a:lvl5pPr>
      <a:lvl6pPr marL="2514600" indent="-228600" algn="l" rtl="0" fontAlgn="base">
        <a:spcBef>
          <a:spcPct val="20000"/>
        </a:spcBef>
        <a:spcAft>
          <a:spcPct val="0"/>
        </a:spcAft>
        <a:buChar char="»"/>
        <a:defRPr>
          <a:solidFill>
            <a:srgbClr val="666699"/>
          </a:solidFill>
          <a:latin typeface="+mn-lt"/>
          <a:ea typeface="+mn-ea"/>
          <a:cs typeface="+mn-cs"/>
        </a:defRPr>
      </a:lvl6pPr>
      <a:lvl7pPr marL="2971800" indent="-228600" algn="l" rtl="0" fontAlgn="base">
        <a:spcBef>
          <a:spcPct val="20000"/>
        </a:spcBef>
        <a:spcAft>
          <a:spcPct val="0"/>
        </a:spcAft>
        <a:buChar char="»"/>
        <a:defRPr>
          <a:solidFill>
            <a:srgbClr val="666699"/>
          </a:solidFill>
          <a:latin typeface="+mn-lt"/>
          <a:ea typeface="+mn-ea"/>
          <a:cs typeface="+mn-cs"/>
        </a:defRPr>
      </a:lvl7pPr>
      <a:lvl8pPr marL="3429000" indent="-228600" algn="l" rtl="0" fontAlgn="base">
        <a:spcBef>
          <a:spcPct val="20000"/>
        </a:spcBef>
        <a:spcAft>
          <a:spcPct val="0"/>
        </a:spcAft>
        <a:buChar char="»"/>
        <a:defRPr>
          <a:solidFill>
            <a:srgbClr val="666699"/>
          </a:solidFill>
          <a:latin typeface="+mn-lt"/>
          <a:ea typeface="+mn-ea"/>
          <a:cs typeface="+mn-cs"/>
        </a:defRPr>
      </a:lvl8pPr>
      <a:lvl9pPr marL="3886200" indent="-228600" algn="l" rtl="0" fontAlgn="base">
        <a:spcBef>
          <a:spcPct val="20000"/>
        </a:spcBef>
        <a:spcAft>
          <a:spcPct val="0"/>
        </a:spcAft>
        <a:buChar char="»"/>
        <a:defRPr>
          <a:solidFill>
            <a:srgbClr val="666699"/>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p:cNvSpPr>
            <a:spLocks noGrp="1" noChangeArrowheads="1"/>
          </p:cNvSpPr>
          <p:nvPr>
            <p:ph type="ctrTitle"/>
          </p:nvPr>
        </p:nvSpPr>
        <p:spPr>
          <a:xfrm>
            <a:off x="228600" y="1371600"/>
            <a:ext cx="3657600" cy="1143000"/>
          </a:xfrm>
        </p:spPr>
        <p:txBody>
          <a:bodyPr/>
          <a:lstStyle/>
          <a:p>
            <a:pPr eaLnBrk="1" hangingPunct="1"/>
            <a:r>
              <a:rPr lang="en-US" altLang="en-US" dirty="0" smtClean="0"/>
              <a:t>Chapter 16</a:t>
            </a:r>
            <a:br>
              <a:rPr lang="en-US" altLang="en-US" dirty="0" smtClean="0"/>
            </a:br>
            <a:r>
              <a:rPr lang="en-US" altLang="en-US" sz="2800" dirty="0" smtClean="0"/>
              <a:t>Part 2</a:t>
            </a:r>
          </a:p>
        </p:txBody>
      </p:sp>
      <p:sp>
        <p:nvSpPr>
          <p:cNvPr id="4099" name="Rectangle 5"/>
          <p:cNvSpPr>
            <a:spLocks noGrp="1" noChangeArrowheads="1"/>
          </p:cNvSpPr>
          <p:nvPr>
            <p:ph type="subTitle" idx="1"/>
          </p:nvPr>
        </p:nvSpPr>
        <p:spPr/>
        <p:txBody>
          <a:bodyPr/>
          <a:lstStyle/>
          <a:p>
            <a:pPr eaLnBrk="1" hangingPunct="1"/>
            <a:r>
              <a:rPr lang="en-US" altLang="en-US" smtClean="0"/>
              <a:t>Logic Programming Languages</a:t>
            </a:r>
          </a:p>
          <a:p>
            <a:pPr eaLnBrk="1" hangingPunct="1"/>
            <a:endParaRPr lang="en-US" altLang="en-US"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614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3909EE93-D58A-4246-8953-D511DDF1FD16}" type="slidenum">
              <a:rPr lang="en-US" altLang="en-US" sz="1000" smtClean="0">
                <a:solidFill>
                  <a:schemeClr val="tx1"/>
                </a:solidFill>
                <a:latin typeface="Arial" panose="020B0604020202020204" pitchFamily="34" charset="0"/>
              </a:rPr>
              <a:pPr>
                <a:spcBef>
                  <a:spcPct val="0"/>
                </a:spcBef>
                <a:buFontTx/>
                <a:buNone/>
              </a:pPr>
              <a:t>2</a:t>
            </a:fld>
            <a:endParaRPr lang="en-US" altLang="en-US" sz="1000" smtClean="0">
              <a:solidFill>
                <a:schemeClr val="tx1"/>
              </a:solidFill>
              <a:latin typeface="Arial" panose="020B0604020202020204" pitchFamily="34" charset="0"/>
            </a:endParaRPr>
          </a:p>
        </p:txBody>
      </p:sp>
      <p:sp>
        <p:nvSpPr>
          <p:cNvPr id="6148" name="Rectangle 4"/>
          <p:cNvSpPr>
            <a:spLocks noGrp="1" noChangeArrowheads="1"/>
          </p:cNvSpPr>
          <p:nvPr>
            <p:ph type="title"/>
          </p:nvPr>
        </p:nvSpPr>
        <p:spPr/>
        <p:txBody>
          <a:bodyPr/>
          <a:lstStyle/>
          <a:p>
            <a:pPr eaLnBrk="1" hangingPunct="1"/>
            <a:r>
              <a:rPr lang="en-US" altLang="en-US" smtClean="0"/>
              <a:t>Chapter 16 Topics</a:t>
            </a:r>
          </a:p>
        </p:txBody>
      </p:sp>
      <p:sp>
        <p:nvSpPr>
          <p:cNvPr id="6149" name="Rectangle 5"/>
          <p:cNvSpPr>
            <a:spLocks noGrp="1" noChangeArrowheads="1"/>
          </p:cNvSpPr>
          <p:nvPr>
            <p:ph type="body" idx="1"/>
          </p:nvPr>
        </p:nvSpPr>
        <p:spPr/>
        <p:txBody>
          <a:bodyPr/>
          <a:lstStyle/>
          <a:p>
            <a:pPr eaLnBrk="1" hangingPunct="1"/>
            <a:r>
              <a:rPr lang="en-US" altLang="en-US" dirty="0"/>
              <a:t>An Overview of Logic Programming</a:t>
            </a:r>
          </a:p>
          <a:p>
            <a:pPr eaLnBrk="1" hangingPunct="1"/>
            <a:r>
              <a:rPr lang="en-US" altLang="en-US" dirty="0" smtClean="0"/>
              <a:t>The Origins of Prolog</a:t>
            </a:r>
          </a:p>
          <a:p>
            <a:pPr eaLnBrk="1" hangingPunct="1"/>
            <a:r>
              <a:rPr lang="en-US" altLang="en-US" dirty="0" smtClean="0"/>
              <a:t>The Basic Elements of Prolog</a:t>
            </a:r>
          </a:p>
          <a:p>
            <a:pPr lvl="1" eaLnBrk="1" hangingPunct="1"/>
            <a:r>
              <a:rPr lang="en-US" altLang="en-US" dirty="0" smtClean="0"/>
              <a:t>Terms</a:t>
            </a:r>
          </a:p>
          <a:p>
            <a:pPr lvl="1" eaLnBrk="1" hangingPunct="1"/>
            <a:r>
              <a:rPr lang="en-US" altLang="en-US" dirty="0" smtClean="0"/>
              <a:t>Fact Statements</a:t>
            </a:r>
          </a:p>
          <a:p>
            <a:pPr lvl="1" eaLnBrk="1" hangingPunct="1"/>
            <a:r>
              <a:rPr lang="en-US" altLang="en-US" dirty="0" smtClean="0"/>
              <a:t>Rule Statements</a:t>
            </a:r>
          </a:p>
          <a:p>
            <a:pPr lvl="1" eaLnBrk="1" hangingPunct="1"/>
            <a:r>
              <a:rPr lang="en-US" altLang="en-US" dirty="0" smtClean="0"/>
              <a:t>Goal Statements</a:t>
            </a:r>
          </a:p>
          <a:p>
            <a:pPr lvl="1" eaLnBrk="1" hangingPunct="1"/>
            <a:r>
              <a:rPr lang="en-US" altLang="en-US" dirty="0" smtClean="0"/>
              <a:t>Prolog Inferencing Process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3"/>
          <p:cNvSpPr>
            <a:spLocks noGrp="1"/>
          </p:cNvSpPr>
          <p:nvPr>
            <p:ph type="ftr" sz="quarter" idx="10"/>
          </p:nvPr>
        </p:nvSpPr>
        <p:spPr/>
        <p:txBody>
          <a:bodyPr/>
          <a:lstStyle/>
          <a:p>
            <a:pPr>
              <a:defRPr/>
            </a:pPr>
            <a:r>
              <a:rPr lang="en-US" dirty="0" smtClean="0"/>
              <a:t>Copyright © 2023 Addison-Wesley. All rights reserved.</a:t>
            </a:r>
          </a:p>
        </p:txBody>
      </p:sp>
      <p:sp>
        <p:nvSpPr>
          <p:cNvPr id="3686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C4436B2E-ACA2-4C03-989F-4C25ED010C84}" type="slidenum">
              <a:rPr lang="en-US" altLang="en-US" sz="1000" smtClean="0">
                <a:solidFill>
                  <a:schemeClr val="tx1"/>
                </a:solidFill>
                <a:latin typeface="Arial" panose="020B0604020202020204" pitchFamily="34" charset="0"/>
              </a:rPr>
              <a:pPr>
                <a:spcBef>
                  <a:spcPct val="0"/>
                </a:spcBef>
                <a:buFontTx/>
                <a:buNone/>
              </a:pPr>
              <a:t>3</a:t>
            </a:fld>
            <a:endParaRPr lang="en-US" altLang="en-US" sz="1000" smtClean="0">
              <a:solidFill>
                <a:schemeClr val="tx1"/>
              </a:solidFill>
              <a:latin typeface="Arial" panose="020B0604020202020204" pitchFamily="34" charset="0"/>
            </a:endParaRPr>
          </a:p>
        </p:txBody>
      </p:sp>
      <p:sp>
        <p:nvSpPr>
          <p:cNvPr id="36868" name="Rectangle 2"/>
          <p:cNvSpPr>
            <a:spLocks noGrp="1" noChangeArrowheads="1"/>
          </p:cNvSpPr>
          <p:nvPr>
            <p:ph type="title"/>
          </p:nvPr>
        </p:nvSpPr>
        <p:spPr/>
        <p:txBody>
          <a:bodyPr/>
          <a:lstStyle/>
          <a:p>
            <a:pPr eaLnBrk="1" hangingPunct="1"/>
            <a:r>
              <a:rPr lang="en-US" altLang="en-US" smtClean="0"/>
              <a:t>Overview of Logic Programming</a:t>
            </a:r>
          </a:p>
        </p:txBody>
      </p:sp>
      <p:sp>
        <p:nvSpPr>
          <p:cNvPr id="36869" name="Rectangle 3"/>
          <p:cNvSpPr>
            <a:spLocks noGrp="1" noChangeArrowheads="1"/>
          </p:cNvSpPr>
          <p:nvPr>
            <p:ph type="body" idx="1"/>
          </p:nvPr>
        </p:nvSpPr>
        <p:spPr>
          <a:xfrm>
            <a:off x="609600" y="1600200"/>
            <a:ext cx="8153400" cy="4876800"/>
          </a:xfrm>
        </p:spPr>
        <p:txBody>
          <a:bodyPr/>
          <a:lstStyle/>
          <a:p>
            <a:pPr eaLnBrk="1" hangingPunct="1"/>
            <a:r>
              <a:rPr lang="en-US" altLang="en-US" smtClean="0"/>
              <a:t>Declarative semantics</a:t>
            </a:r>
          </a:p>
          <a:p>
            <a:pPr lvl="1" eaLnBrk="1" hangingPunct="1"/>
            <a:r>
              <a:rPr lang="en-US" altLang="en-US" smtClean="0"/>
              <a:t>There is a simple way to determine the meaning of each statement</a:t>
            </a:r>
          </a:p>
          <a:p>
            <a:pPr lvl="1" eaLnBrk="1" hangingPunct="1"/>
            <a:r>
              <a:rPr lang="en-US" altLang="en-US" smtClean="0"/>
              <a:t>Statement meaning is context-independent</a:t>
            </a:r>
          </a:p>
          <a:p>
            <a:pPr lvl="1" eaLnBrk="1" hangingPunct="1"/>
            <a:r>
              <a:rPr lang="en-US" altLang="en-US" smtClean="0"/>
              <a:t>Thus, logic programming language semantics is simpler than imperative language semantics</a:t>
            </a:r>
          </a:p>
          <a:p>
            <a:pPr eaLnBrk="1" hangingPunct="1"/>
            <a:r>
              <a:rPr lang="en-US" altLang="en-US" smtClean="0"/>
              <a:t>Programming is nonprocedural</a:t>
            </a:r>
          </a:p>
          <a:p>
            <a:pPr lvl="1" eaLnBrk="1" hangingPunct="1"/>
            <a:r>
              <a:rPr lang="en-US" altLang="en-US" smtClean="0"/>
              <a:t>Programs do not state how a result is to be computed, but rather the form of the result</a:t>
            </a:r>
          </a:p>
          <a:p>
            <a:pPr lvl="1" eaLnBrk="1" hangingPunct="1"/>
            <a:r>
              <a:rPr lang="en-US" altLang="en-US" smtClean="0"/>
              <a:t>Use predicate calculus (descriptive mechanism) and resolution (inferencing process)</a:t>
            </a:r>
          </a:p>
        </p:txBody>
      </p:sp>
    </p:spTree>
    <p:extLst>
      <p:ext uri="{BB962C8B-B14F-4D97-AF65-F5344CB8AC3E}">
        <p14:creationId xmlns:p14="http://schemas.microsoft.com/office/powerpoint/2010/main" val="38892941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Footer Placeholder 3"/>
          <p:cNvSpPr>
            <a:spLocks noGrp="1"/>
          </p:cNvSpPr>
          <p:nvPr>
            <p:ph type="ftr" sz="quarter" idx="10"/>
          </p:nvPr>
        </p:nvSpPr>
        <p:spPr/>
        <p:txBody>
          <a:bodyPr/>
          <a:lstStyle/>
          <a:p>
            <a:pPr>
              <a:defRPr/>
            </a:pPr>
            <a:r>
              <a:rPr lang="en-US" dirty="0" smtClean="0"/>
              <a:t>Copyright © 2023 Addison-Wesley. All rights reserved.</a:t>
            </a:r>
          </a:p>
        </p:txBody>
      </p:sp>
      <p:sp>
        <p:nvSpPr>
          <p:cNvPr id="3891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2BF0D7F7-4BD8-4842-8774-49C68BABB46E}" type="slidenum">
              <a:rPr lang="en-US" altLang="en-US" sz="1000" smtClean="0">
                <a:solidFill>
                  <a:schemeClr val="tx1"/>
                </a:solidFill>
                <a:latin typeface="Arial" panose="020B0604020202020204" pitchFamily="34" charset="0"/>
              </a:rPr>
              <a:pPr>
                <a:spcBef>
                  <a:spcPct val="0"/>
                </a:spcBef>
                <a:buFontTx/>
                <a:buNone/>
              </a:pPr>
              <a:t>4</a:t>
            </a:fld>
            <a:endParaRPr lang="en-US" altLang="en-US" sz="1000" smtClean="0">
              <a:solidFill>
                <a:schemeClr val="tx1"/>
              </a:solidFill>
              <a:latin typeface="Arial" panose="020B0604020202020204" pitchFamily="34" charset="0"/>
            </a:endParaRPr>
          </a:p>
        </p:txBody>
      </p:sp>
      <p:sp>
        <p:nvSpPr>
          <p:cNvPr id="38916" name="Rectangle 2"/>
          <p:cNvSpPr>
            <a:spLocks noGrp="1" noChangeArrowheads="1"/>
          </p:cNvSpPr>
          <p:nvPr>
            <p:ph type="title"/>
          </p:nvPr>
        </p:nvSpPr>
        <p:spPr/>
        <p:txBody>
          <a:bodyPr/>
          <a:lstStyle/>
          <a:p>
            <a:pPr eaLnBrk="1" hangingPunct="1"/>
            <a:r>
              <a:rPr lang="en-US" altLang="en-US" smtClean="0"/>
              <a:t>Example: Sorting a List</a:t>
            </a:r>
          </a:p>
        </p:txBody>
      </p:sp>
      <p:sp>
        <p:nvSpPr>
          <p:cNvPr id="38917" name="Rectangle 3"/>
          <p:cNvSpPr>
            <a:spLocks noGrp="1" noChangeArrowheads="1"/>
          </p:cNvSpPr>
          <p:nvPr>
            <p:ph type="body" idx="1"/>
          </p:nvPr>
        </p:nvSpPr>
        <p:spPr>
          <a:xfrm>
            <a:off x="609600" y="1600200"/>
            <a:ext cx="8305800" cy="4572000"/>
          </a:xfrm>
        </p:spPr>
        <p:txBody>
          <a:bodyPr/>
          <a:lstStyle/>
          <a:p>
            <a:pPr eaLnBrk="1" hangingPunct="1"/>
            <a:r>
              <a:rPr lang="en-US" altLang="en-US" dirty="0" smtClean="0"/>
              <a:t>In an imperative language (procedural)</a:t>
            </a:r>
          </a:p>
          <a:p>
            <a:pPr lvl="1" eaLnBrk="1" hangingPunct="1"/>
            <a:r>
              <a:rPr lang="en-US" altLang="en-US" dirty="0" smtClean="0"/>
              <a:t>Describe an algorithm for sorting the list</a:t>
            </a:r>
          </a:p>
          <a:p>
            <a:pPr lvl="1" eaLnBrk="1" hangingPunct="1"/>
            <a:r>
              <a:rPr lang="en-US" altLang="en-US" dirty="0" smtClean="0"/>
              <a:t>Computer executes the steps of the algorithm</a:t>
            </a:r>
          </a:p>
          <a:p>
            <a:pPr eaLnBrk="1" hangingPunct="1"/>
            <a:r>
              <a:rPr lang="en-US" altLang="en-US" dirty="0" smtClean="0"/>
              <a:t>In a logic language (non-procedural)</a:t>
            </a:r>
          </a:p>
          <a:p>
            <a:pPr lvl="1" eaLnBrk="1" hangingPunct="1"/>
            <a:r>
              <a:rPr lang="en-US" altLang="en-US" dirty="0" smtClean="0"/>
              <a:t>Describe the characteristics of a sorted list, not the process of rearranging a list:</a:t>
            </a:r>
          </a:p>
          <a:p>
            <a:pPr eaLnBrk="1" hangingPunct="1">
              <a:buFontTx/>
              <a:buNone/>
            </a:pPr>
            <a:r>
              <a:rPr lang="en-US" altLang="en-US" sz="2000" dirty="0" smtClean="0"/>
              <a:t>	</a:t>
            </a:r>
          </a:p>
          <a:p>
            <a:pPr eaLnBrk="1" hangingPunct="1">
              <a:buFontTx/>
              <a:buNone/>
            </a:pPr>
            <a:r>
              <a:rPr lang="en-US" altLang="en-US" sz="2000" dirty="0" smtClean="0"/>
              <a:t>		sort(</a:t>
            </a:r>
            <a:r>
              <a:rPr lang="en-US" altLang="en-US" sz="2000" dirty="0" err="1" smtClean="0"/>
              <a:t>old_list</a:t>
            </a:r>
            <a:r>
              <a:rPr lang="en-US" altLang="en-US" sz="2000" dirty="0" smtClean="0"/>
              <a:t>, </a:t>
            </a:r>
            <a:r>
              <a:rPr lang="en-US" altLang="en-US" sz="2000" dirty="0" err="1" smtClean="0"/>
              <a:t>new_list</a:t>
            </a:r>
            <a:r>
              <a:rPr lang="en-US" altLang="en-US" sz="2000" dirty="0" smtClean="0"/>
              <a:t>) </a:t>
            </a:r>
            <a:r>
              <a:rPr lang="en-US" altLang="en-US" sz="2000" dirty="0" smtClean="0">
                <a:sym typeface="Symbol" panose="05050102010706020507" pitchFamily="18" charset="2"/>
              </a:rPr>
              <a:t></a:t>
            </a:r>
            <a:r>
              <a:rPr lang="en-US" altLang="en-US" sz="2000" dirty="0" smtClean="0">
                <a:sym typeface="Math1" pitchFamily="2" charset="2"/>
              </a:rPr>
              <a:t> permute(</a:t>
            </a:r>
            <a:r>
              <a:rPr lang="en-US" altLang="en-US" sz="2000" dirty="0" err="1" smtClean="0">
                <a:sym typeface="Math1" pitchFamily="2" charset="2"/>
              </a:rPr>
              <a:t>old_list</a:t>
            </a:r>
            <a:r>
              <a:rPr lang="en-US" altLang="en-US" sz="2000" dirty="0" smtClean="0">
                <a:sym typeface="Math1" pitchFamily="2" charset="2"/>
              </a:rPr>
              <a:t>, </a:t>
            </a:r>
            <a:r>
              <a:rPr lang="en-US" altLang="en-US" sz="2000" dirty="0" err="1" smtClean="0">
                <a:sym typeface="Math1" pitchFamily="2" charset="2"/>
              </a:rPr>
              <a:t>new_list</a:t>
            </a:r>
            <a:r>
              <a:rPr lang="en-US" altLang="en-US" sz="2000" dirty="0" smtClean="0">
                <a:sym typeface="Math1" pitchFamily="2" charset="2"/>
              </a:rPr>
              <a:t>)                  	                                                 </a:t>
            </a:r>
            <a:r>
              <a:rPr lang="en-US" altLang="en-US" sz="2000" dirty="0" smtClean="0">
                <a:sym typeface="Symbol" panose="05050102010706020507" pitchFamily="18" charset="2"/>
              </a:rPr>
              <a:t></a:t>
            </a:r>
            <a:r>
              <a:rPr lang="en-US" altLang="en-US" sz="2000" dirty="0" smtClean="0">
                <a:sym typeface="Math1" pitchFamily="2" charset="2"/>
              </a:rPr>
              <a:t> sorted (</a:t>
            </a:r>
            <a:r>
              <a:rPr lang="en-US" altLang="en-US" sz="2000" dirty="0" err="1" smtClean="0">
                <a:sym typeface="Math1" pitchFamily="2" charset="2"/>
              </a:rPr>
              <a:t>new_list</a:t>
            </a:r>
            <a:r>
              <a:rPr lang="en-US" altLang="en-US" sz="2000" dirty="0" smtClean="0">
                <a:sym typeface="Math1" pitchFamily="2" charset="2"/>
              </a:rPr>
              <a:t>)</a:t>
            </a:r>
          </a:p>
          <a:p>
            <a:pPr eaLnBrk="1" hangingPunct="1">
              <a:buFontTx/>
              <a:buNone/>
            </a:pPr>
            <a:endParaRPr lang="en-US" altLang="en-US" sz="800" dirty="0" smtClean="0">
              <a:sym typeface="Math1" pitchFamily="2" charset="2"/>
            </a:endParaRPr>
          </a:p>
          <a:p>
            <a:pPr eaLnBrk="1" hangingPunct="1">
              <a:buFontTx/>
              <a:buNone/>
            </a:pPr>
            <a:r>
              <a:rPr lang="en-US" altLang="en-US" sz="2400" dirty="0" smtClean="0">
                <a:ea typeface="Arial Unicode MS" panose="020B0604020202020204" pitchFamily="34" charset="-128"/>
                <a:cs typeface="Arial Unicode MS" panose="020B0604020202020204" pitchFamily="34" charset="-128"/>
                <a:sym typeface="Math1" pitchFamily="2" charset="2"/>
              </a:rPr>
              <a:t>		</a:t>
            </a:r>
            <a:r>
              <a:rPr lang="en-US" altLang="en-US" sz="2000" dirty="0" smtClean="0">
                <a:ea typeface="Arial Unicode MS" panose="020B0604020202020204" pitchFamily="34" charset="-128"/>
                <a:cs typeface="Arial Unicode MS" panose="020B0604020202020204" pitchFamily="34" charset="-128"/>
                <a:sym typeface="Math1" pitchFamily="2" charset="2"/>
              </a:rPr>
              <a:t>sorted (list) </a:t>
            </a:r>
            <a:r>
              <a:rPr lang="en-US" altLang="en-US" sz="2000" dirty="0" smtClean="0">
                <a:sym typeface="Symbol" panose="05050102010706020507" pitchFamily="18" charset="2"/>
              </a:rPr>
              <a:t></a:t>
            </a:r>
            <a:r>
              <a:rPr lang="en-US" altLang="en-US" sz="2000" dirty="0" smtClean="0">
                <a:ea typeface="Arial Unicode MS" panose="020B0604020202020204" pitchFamily="34" charset="-128"/>
                <a:cs typeface="Arial Unicode MS" panose="020B0604020202020204" pitchFamily="34" charset="-128"/>
                <a:sym typeface="Math1" pitchFamily="2" charset="2"/>
              </a:rPr>
              <a:t> </a:t>
            </a:r>
            <a:r>
              <a:rPr lang="en-US" altLang="en-US" sz="2000" dirty="0" smtClean="0">
                <a:ea typeface="Arial Unicode MS" panose="020B0604020202020204" pitchFamily="34" charset="-128"/>
                <a:cs typeface="Arial Unicode MS" panose="020B0604020202020204" pitchFamily="34" charset="-128"/>
                <a:sym typeface="Symbol" panose="05050102010706020507" pitchFamily="18" charset="2"/>
              </a:rPr>
              <a:t></a:t>
            </a:r>
            <a:r>
              <a:rPr lang="en-US" altLang="en-US" sz="2000" baseline="-25000" dirty="0" smtClean="0">
                <a:ea typeface="Arial Unicode MS" panose="020B0604020202020204" pitchFamily="34" charset="-128"/>
                <a:cs typeface="Arial Unicode MS" panose="020B0604020202020204" pitchFamily="34" charset="-128"/>
                <a:sym typeface="Math1" pitchFamily="2" charset="2"/>
              </a:rPr>
              <a:t>j</a:t>
            </a:r>
            <a:r>
              <a:rPr lang="en-US" altLang="en-US" sz="2000" dirty="0" smtClean="0">
                <a:ea typeface="Arial Unicode MS" panose="020B0604020202020204" pitchFamily="34" charset="-128"/>
                <a:cs typeface="Arial Unicode MS" panose="020B0604020202020204" pitchFamily="34" charset="-128"/>
                <a:sym typeface="Math1" pitchFamily="2" charset="2"/>
              </a:rPr>
              <a:t> such that 1</a:t>
            </a:r>
            <a:r>
              <a:rPr lang="en-US" altLang="en-US" sz="2000" dirty="0" smtClean="0">
                <a:ea typeface="Arial Unicode MS" panose="020B0604020202020204" pitchFamily="34" charset="-128"/>
                <a:cs typeface="Arial Unicode MS" panose="020B0604020202020204" pitchFamily="34" charset="-128"/>
                <a:sym typeface="Symbol" panose="05050102010706020507" pitchFamily="18" charset="2"/>
              </a:rPr>
              <a:t></a:t>
            </a:r>
            <a:r>
              <a:rPr lang="en-US" altLang="en-US" sz="2000" dirty="0" smtClean="0">
                <a:ea typeface="Arial Unicode MS" panose="020B0604020202020204" pitchFamily="34" charset="-128"/>
                <a:cs typeface="Arial Unicode MS" panose="020B0604020202020204" pitchFamily="34" charset="-128"/>
                <a:sym typeface="Math1" pitchFamily="2" charset="2"/>
              </a:rPr>
              <a:t> j&lt;n, list(j) </a:t>
            </a:r>
            <a:r>
              <a:rPr lang="en-US" altLang="en-US" sz="2000" dirty="0" smtClean="0">
                <a:ea typeface="Arial Unicode MS" panose="020B0604020202020204" pitchFamily="34" charset="-128"/>
                <a:cs typeface="Arial Unicode MS" panose="020B0604020202020204" pitchFamily="34" charset="-128"/>
                <a:sym typeface="Symbol" panose="05050102010706020507" pitchFamily="18" charset="2"/>
              </a:rPr>
              <a:t></a:t>
            </a:r>
            <a:r>
              <a:rPr lang="en-US" altLang="en-US" sz="2000" dirty="0" smtClean="0">
                <a:ea typeface="Arial Unicode MS" panose="020B0604020202020204" pitchFamily="34" charset="-128"/>
                <a:cs typeface="Arial Unicode MS" panose="020B0604020202020204" pitchFamily="34" charset="-128"/>
                <a:sym typeface="Math1" pitchFamily="2" charset="2"/>
              </a:rPr>
              <a:t> list(j+1)</a:t>
            </a:r>
          </a:p>
        </p:txBody>
      </p:sp>
    </p:spTree>
    <p:extLst>
      <p:ext uri="{BB962C8B-B14F-4D97-AF65-F5344CB8AC3E}">
        <p14:creationId xmlns:p14="http://schemas.microsoft.com/office/powerpoint/2010/main" val="21078154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p:cNvSpPr>
            <a:spLocks noGrp="1"/>
          </p:cNvSpPr>
          <p:nvPr>
            <p:ph type="ftr" sz="quarter" idx="10"/>
          </p:nvPr>
        </p:nvSpPr>
        <p:spPr/>
        <p:txBody>
          <a:bodyPr/>
          <a:lstStyle/>
          <a:p>
            <a:pPr>
              <a:defRPr/>
            </a:pPr>
            <a:r>
              <a:rPr lang="en-US" dirty="0" smtClean="0"/>
              <a:t>Copyright © 2023 Addison-Wesley. All rights reserved.</a:t>
            </a:r>
          </a:p>
        </p:txBody>
      </p:sp>
      <p:sp>
        <p:nvSpPr>
          <p:cNvPr id="4096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30D1BF4A-E463-4295-AB25-5B631EB8A71D}" type="slidenum">
              <a:rPr lang="en-US" altLang="en-US" sz="1000" smtClean="0">
                <a:solidFill>
                  <a:schemeClr val="tx1"/>
                </a:solidFill>
                <a:latin typeface="Arial" panose="020B0604020202020204" pitchFamily="34" charset="0"/>
              </a:rPr>
              <a:pPr>
                <a:spcBef>
                  <a:spcPct val="0"/>
                </a:spcBef>
                <a:buFontTx/>
                <a:buNone/>
              </a:pPr>
              <a:t>5</a:t>
            </a:fld>
            <a:endParaRPr lang="en-US" altLang="en-US" sz="1000" smtClean="0">
              <a:solidFill>
                <a:schemeClr val="tx1"/>
              </a:solidFill>
              <a:latin typeface="Arial" panose="020B0604020202020204" pitchFamily="34" charset="0"/>
            </a:endParaRPr>
          </a:p>
        </p:txBody>
      </p:sp>
      <p:sp>
        <p:nvSpPr>
          <p:cNvPr id="40964" name="Rectangle 2"/>
          <p:cNvSpPr>
            <a:spLocks noGrp="1" noChangeArrowheads="1"/>
          </p:cNvSpPr>
          <p:nvPr>
            <p:ph type="title"/>
          </p:nvPr>
        </p:nvSpPr>
        <p:spPr/>
        <p:txBody>
          <a:bodyPr/>
          <a:lstStyle/>
          <a:p>
            <a:pPr eaLnBrk="1" hangingPunct="1"/>
            <a:r>
              <a:rPr lang="en-US" altLang="en-US" smtClean="0"/>
              <a:t>The Origins of Prolog</a:t>
            </a:r>
          </a:p>
        </p:txBody>
      </p:sp>
      <p:sp>
        <p:nvSpPr>
          <p:cNvPr id="40965" name="Rectangle 3"/>
          <p:cNvSpPr>
            <a:spLocks noGrp="1" noChangeArrowheads="1"/>
          </p:cNvSpPr>
          <p:nvPr>
            <p:ph type="body" idx="1"/>
          </p:nvPr>
        </p:nvSpPr>
        <p:spPr/>
        <p:txBody>
          <a:bodyPr/>
          <a:lstStyle/>
          <a:p>
            <a:pPr eaLnBrk="1" hangingPunct="1"/>
            <a:r>
              <a:rPr lang="en-US" altLang="en-US" dirty="0" smtClean="0"/>
              <a:t>Development started in early 1970s</a:t>
            </a:r>
          </a:p>
          <a:p>
            <a:pPr eaLnBrk="1" hangingPunct="1"/>
            <a:r>
              <a:rPr lang="en-US" altLang="en-US" dirty="0" smtClean="0"/>
              <a:t>University of Aix-Marseille</a:t>
            </a:r>
          </a:p>
          <a:p>
            <a:pPr lvl="1" eaLnBrk="1" hangingPunct="1"/>
            <a:r>
              <a:rPr lang="en-US" altLang="en-US" dirty="0" smtClean="0"/>
              <a:t>Alain </a:t>
            </a:r>
            <a:r>
              <a:rPr lang="en-US" altLang="en-US" dirty="0" err="1" smtClean="0"/>
              <a:t>Colmerauer</a:t>
            </a:r>
            <a:r>
              <a:rPr lang="en-US" altLang="en-US" dirty="0" smtClean="0"/>
              <a:t> and Phillippe </a:t>
            </a:r>
            <a:r>
              <a:rPr lang="en-US" altLang="en-US" dirty="0" err="1" smtClean="0"/>
              <a:t>Roussel</a:t>
            </a:r>
            <a:endParaRPr lang="en-US" altLang="en-US" dirty="0" smtClean="0"/>
          </a:p>
          <a:p>
            <a:pPr lvl="1" eaLnBrk="1" hangingPunct="1"/>
            <a:r>
              <a:rPr lang="en-US" altLang="en-US" dirty="0" smtClean="0"/>
              <a:t>Natural language processing</a:t>
            </a:r>
          </a:p>
          <a:p>
            <a:pPr eaLnBrk="1" hangingPunct="1"/>
            <a:r>
              <a:rPr lang="en-US" altLang="en-US" dirty="0" smtClean="0"/>
              <a:t>University of Edinburgh</a:t>
            </a:r>
          </a:p>
          <a:p>
            <a:pPr lvl="1" eaLnBrk="1" hangingPunct="1"/>
            <a:r>
              <a:rPr lang="en-US" altLang="en-US" dirty="0" smtClean="0"/>
              <a:t>Robert Kowalski</a:t>
            </a:r>
          </a:p>
          <a:p>
            <a:pPr lvl="1" eaLnBrk="1" hangingPunct="1"/>
            <a:r>
              <a:rPr lang="en-US" altLang="en-US" dirty="0" smtClean="0"/>
              <a:t>Automated theorem proving</a:t>
            </a:r>
          </a:p>
          <a:p>
            <a:pPr eaLnBrk="1" hangingPunct="1"/>
            <a:r>
              <a:rPr lang="en-US" altLang="en-US" dirty="0" smtClean="0"/>
              <a:t>Two main dialects exist</a:t>
            </a:r>
          </a:p>
          <a:p>
            <a:pPr lvl="1" eaLnBrk="1" hangingPunct="1"/>
            <a:r>
              <a:rPr lang="en-US" altLang="en-US" dirty="0" smtClean="0"/>
              <a:t>We will use Edinburgh syntax</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Footer Placeholder 3"/>
          <p:cNvSpPr>
            <a:spLocks noGrp="1"/>
          </p:cNvSpPr>
          <p:nvPr>
            <p:ph type="ftr" sz="quarter" idx="10"/>
          </p:nvPr>
        </p:nvSpPr>
        <p:spPr/>
        <p:txBody>
          <a:bodyPr/>
          <a:lstStyle/>
          <a:p>
            <a:pPr>
              <a:defRPr/>
            </a:pPr>
            <a:r>
              <a:rPr lang="en-US" dirty="0" smtClean="0"/>
              <a:t>Copyright © 2023 Addison-Wesley. All rights reserved.</a:t>
            </a:r>
          </a:p>
        </p:txBody>
      </p:sp>
      <p:sp>
        <p:nvSpPr>
          <p:cNvPr id="4301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39AF7766-5842-4F0B-93E0-AF38F6BC4CCF}" type="slidenum">
              <a:rPr lang="en-US" altLang="en-US" sz="1000" smtClean="0">
                <a:solidFill>
                  <a:schemeClr val="tx1"/>
                </a:solidFill>
                <a:latin typeface="Arial" panose="020B0604020202020204" pitchFamily="34" charset="0"/>
              </a:rPr>
              <a:pPr>
                <a:spcBef>
                  <a:spcPct val="0"/>
                </a:spcBef>
                <a:buFontTx/>
                <a:buNone/>
              </a:pPr>
              <a:t>6</a:t>
            </a:fld>
            <a:endParaRPr lang="en-US" altLang="en-US" sz="1000" smtClean="0">
              <a:solidFill>
                <a:schemeClr val="tx1"/>
              </a:solidFill>
              <a:latin typeface="Arial" panose="020B0604020202020204" pitchFamily="34" charset="0"/>
            </a:endParaRPr>
          </a:p>
        </p:txBody>
      </p:sp>
      <p:sp>
        <p:nvSpPr>
          <p:cNvPr id="43012" name="Rectangle 2"/>
          <p:cNvSpPr>
            <a:spLocks noGrp="1" noChangeArrowheads="1"/>
          </p:cNvSpPr>
          <p:nvPr>
            <p:ph type="title"/>
          </p:nvPr>
        </p:nvSpPr>
        <p:spPr/>
        <p:txBody>
          <a:bodyPr/>
          <a:lstStyle/>
          <a:p>
            <a:pPr eaLnBrk="1" hangingPunct="1"/>
            <a:r>
              <a:rPr lang="en-US" altLang="en-US" dirty="0" smtClean="0"/>
              <a:t>Prolog: Terms</a:t>
            </a:r>
          </a:p>
        </p:txBody>
      </p:sp>
      <p:sp>
        <p:nvSpPr>
          <p:cNvPr id="43013" name="Rectangle 3"/>
          <p:cNvSpPr>
            <a:spLocks noGrp="1" noChangeArrowheads="1"/>
          </p:cNvSpPr>
          <p:nvPr>
            <p:ph type="body" idx="1"/>
          </p:nvPr>
        </p:nvSpPr>
        <p:spPr/>
        <p:txBody>
          <a:bodyPr/>
          <a:lstStyle/>
          <a:p>
            <a:pPr eaLnBrk="1" hangingPunct="1"/>
            <a:r>
              <a:rPr lang="en-US" altLang="en-US" u="sng" dirty="0" smtClean="0"/>
              <a:t>Term</a:t>
            </a:r>
            <a:endParaRPr lang="en-US" altLang="en-US" dirty="0"/>
          </a:p>
          <a:p>
            <a:pPr lvl="1" eaLnBrk="1" hangingPunct="1"/>
            <a:r>
              <a:rPr lang="en-US" altLang="en-US" dirty="0" smtClean="0"/>
              <a:t>A constant, variable, or structure</a:t>
            </a:r>
          </a:p>
          <a:p>
            <a:pPr eaLnBrk="1" hangingPunct="1"/>
            <a:r>
              <a:rPr lang="en-US" altLang="en-US" u="sng" dirty="0" smtClean="0"/>
              <a:t>Constant</a:t>
            </a:r>
            <a:endParaRPr lang="en-US" altLang="en-US" dirty="0"/>
          </a:p>
          <a:p>
            <a:pPr lvl="1" eaLnBrk="1" hangingPunct="1"/>
            <a:r>
              <a:rPr lang="en-US" altLang="en-US" dirty="0" smtClean="0"/>
              <a:t>An atom or an integer (e.g. </a:t>
            </a:r>
            <a:r>
              <a:rPr lang="en-US" altLang="en-US" dirty="0" smtClean="0">
                <a:latin typeface="Courier New" panose="02070309020205020404" pitchFamily="49" charset="0"/>
                <a:cs typeface="Courier New" panose="02070309020205020404" pitchFamily="49" charset="0"/>
              </a:rPr>
              <a:t>42</a:t>
            </a:r>
            <a:r>
              <a:rPr lang="en-US" altLang="en-US" dirty="0" smtClean="0"/>
              <a:t>)</a:t>
            </a:r>
          </a:p>
          <a:p>
            <a:pPr eaLnBrk="1" hangingPunct="1"/>
            <a:r>
              <a:rPr lang="en-US" altLang="en-US" u="sng" dirty="0" smtClean="0"/>
              <a:t>Atom</a:t>
            </a:r>
            <a:endParaRPr lang="en-US" altLang="en-US" dirty="0"/>
          </a:p>
          <a:p>
            <a:pPr lvl="1" eaLnBrk="1" hangingPunct="1"/>
            <a:r>
              <a:rPr lang="en-US" altLang="en-US" dirty="0"/>
              <a:t>A</a:t>
            </a:r>
            <a:r>
              <a:rPr lang="en-US" altLang="en-US" dirty="0" smtClean="0"/>
              <a:t> symbolic value in Prolog</a:t>
            </a:r>
          </a:p>
          <a:p>
            <a:pPr lvl="1" eaLnBrk="1" hangingPunct="1"/>
            <a:r>
              <a:rPr lang="en-US" altLang="en-US" dirty="0" smtClean="0"/>
              <a:t>Consists of either</a:t>
            </a:r>
          </a:p>
          <a:p>
            <a:pPr lvl="2" eaLnBrk="1" hangingPunct="1"/>
            <a:r>
              <a:rPr lang="en-US" altLang="en-US" dirty="0" smtClean="0"/>
              <a:t>A string of letters, digits and underscores starting with a </a:t>
            </a:r>
            <a:r>
              <a:rPr lang="en-US" altLang="en-US" u="sng" dirty="0" smtClean="0"/>
              <a:t>lowercase letter</a:t>
            </a:r>
            <a:r>
              <a:rPr lang="en-US" altLang="en-US" dirty="0" smtClean="0"/>
              <a:t> (e.g. </a:t>
            </a:r>
            <a:r>
              <a:rPr lang="en-US" altLang="en-US" dirty="0" smtClean="0">
                <a:latin typeface="Courier New" panose="02070309020205020404" pitchFamily="49" charset="0"/>
                <a:cs typeface="Courier New" panose="02070309020205020404" pitchFamily="49" charset="0"/>
              </a:rPr>
              <a:t>joe</a:t>
            </a:r>
            <a:r>
              <a:rPr lang="en-US" altLang="en-US" dirty="0" smtClean="0"/>
              <a:t>)</a:t>
            </a:r>
            <a:endParaRPr lang="en-US" altLang="en-US" u="sng" dirty="0" smtClean="0"/>
          </a:p>
          <a:p>
            <a:pPr lvl="2" eaLnBrk="1" hangingPunct="1"/>
            <a:r>
              <a:rPr lang="en-US" altLang="en-US" dirty="0" smtClean="0"/>
              <a:t>A string of any printable ASCII characters delimited by </a:t>
            </a:r>
            <a:r>
              <a:rPr lang="en-US" altLang="en-US" u="sng" dirty="0" smtClean="0"/>
              <a:t>apostrophes</a:t>
            </a:r>
            <a:r>
              <a:rPr lang="en-US" altLang="en-US" dirty="0" smtClean="0"/>
              <a:t> (e.g. </a:t>
            </a:r>
            <a:r>
              <a:rPr lang="en-US" altLang="en-US" dirty="0" smtClean="0">
                <a:latin typeface="Courier New" panose="02070309020205020404" pitchFamily="49" charset="0"/>
                <a:cs typeface="Courier New" panose="02070309020205020404" pitchFamily="49" charset="0"/>
              </a:rPr>
              <a:t>'Some </a:t>
            </a:r>
            <a:r>
              <a:rPr lang="en-US" altLang="en-US" dirty="0">
                <a:latin typeface="Courier New" panose="02070309020205020404" pitchFamily="49" charset="0"/>
                <a:cs typeface="Courier New" panose="02070309020205020404" pitchFamily="49" charset="0"/>
              </a:rPr>
              <a:t>A</a:t>
            </a:r>
            <a:r>
              <a:rPr lang="en-US" altLang="en-US" dirty="0" smtClean="0">
                <a:latin typeface="Courier New" panose="02070309020205020404" pitchFamily="49" charset="0"/>
                <a:cs typeface="Courier New" panose="02070309020205020404" pitchFamily="49" charset="0"/>
              </a:rPr>
              <a:t>tom'</a:t>
            </a:r>
            <a:r>
              <a:rPr lang="en-US" altLang="en-US" dirty="0" smtClean="0"/>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3"/>
          <p:cNvSpPr>
            <a:spLocks noGrp="1"/>
          </p:cNvSpPr>
          <p:nvPr>
            <p:ph type="ftr" sz="quarter" idx="10"/>
          </p:nvPr>
        </p:nvSpPr>
        <p:spPr/>
        <p:txBody>
          <a:bodyPr/>
          <a:lstStyle/>
          <a:p>
            <a:pPr>
              <a:defRPr/>
            </a:pPr>
            <a:r>
              <a:rPr lang="en-US" dirty="0" smtClean="0"/>
              <a:t>Copyright © 2023 Addison-Wesley. All rights reserved.</a:t>
            </a:r>
          </a:p>
        </p:txBody>
      </p:sp>
      <p:sp>
        <p:nvSpPr>
          <p:cNvPr id="4505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5A11886E-5278-4FA5-B003-EB310C9A3790}" type="slidenum">
              <a:rPr lang="en-US" altLang="en-US" sz="1000" smtClean="0">
                <a:solidFill>
                  <a:schemeClr val="tx1"/>
                </a:solidFill>
                <a:latin typeface="Arial" panose="020B0604020202020204" pitchFamily="34" charset="0"/>
              </a:rPr>
              <a:pPr>
                <a:spcBef>
                  <a:spcPct val="0"/>
                </a:spcBef>
                <a:buFontTx/>
                <a:buNone/>
              </a:pPr>
              <a:t>7</a:t>
            </a:fld>
            <a:endParaRPr lang="en-US" altLang="en-US" sz="1000" smtClean="0">
              <a:solidFill>
                <a:schemeClr val="tx1"/>
              </a:solidFill>
              <a:latin typeface="Arial" panose="020B0604020202020204" pitchFamily="34" charset="0"/>
            </a:endParaRPr>
          </a:p>
        </p:txBody>
      </p:sp>
      <p:sp>
        <p:nvSpPr>
          <p:cNvPr id="45060" name="Rectangle 2"/>
          <p:cNvSpPr>
            <a:spLocks noGrp="1" noChangeArrowheads="1"/>
          </p:cNvSpPr>
          <p:nvPr>
            <p:ph type="title"/>
          </p:nvPr>
        </p:nvSpPr>
        <p:spPr/>
        <p:txBody>
          <a:bodyPr/>
          <a:lstStyle/>
          <a:p>
            <a:pPr eaLnBrk="1" hangingPunct="1"/>
            <a:r>
              <a:rPr lang="en-US" altLang="en-US" dirty="0" smtClean="0"/>
              <a:t>Prolog: Terms</a:t>
            </a:r>
          </a:p>
        </p:txBody>
      </p:sp>
      <p:sp>
        <p:nvSpPr>
          <p:cNvPr id="45061" name="Rectangle 3"/>
          <p:cNvSpPr>
            <a:spLocks noGrp="1" noChangeArrowheads="1"/>
          </p:cNvSpPr>
          <p:nvPr>
            <p:ph type="body" idx="1"/>
          </p:nvPr>
        </p:nvSpPr>
        <p:spPr/>
        <p:txBody>
          <a:bodyPr/>
          <a:lstStyle/>
          <a:p>
            <a:pPr eaLnBrk="1" hangingPunct="1"/>
            <a:r>
              <a:rPr lang="en-US" altLang="en-US" u="sng" dirty="0" smtClean="0"/>
              <a:t>Variable</a:t>
            </a:r>
            <a:endParaRPr lang="en-US" altLang="en-US" dirty="0"/>
          </a:p>
          <a:p>
            <a:pPr lvl="1" eaLnBrk="1" hangingPunct="1"/>
            <a:r>
              <a:rPr lang="en-US" altLang="en-US" dirty="0" smtClean="0"/>
              <a:t>String of letters, digits, and underscores starting with uppercase letter (e.g. </a:t>
            </a:r>
            <a:r>
              <a:rPr lang="en-US" altLang="en-US" dirty="0" smtClean="0">
                <a:latin typeface="Courier New" panose="02070309020205020404" pitchFamily="49" charset="0"/>
                <a:cs typeface="Courier New" panose="02070309020205020404" pitchFamily="49" charset="0"/>
              </a:rPr>
              <a:t>X</a:t>
            </a:r>
            <a:r>
              <a:rPr lang="en-US" altLang="en-US" dirty="0" smtClean="0"/>
              <a:t> or </a:t>
            </a:r>
            <a:r>
              <a:rPr lang="en-US" altLang="en-US" dirty="0" err="1" smtClean="0">
                <a:latin typeface="Courier New" panose="02070309020205020404" pitchFamily="49" charset="0"/>
                <a:cs typeface="Courier New" panose="02070309020205020404" pitchFamily="49" charset="0"/>
              </a:rPr>
              <a:t>MyVar</a:t>
            </a:r>
            <a:r>
              <a:rPr lang="en-US" altLang="en-US" dirty="0" smtClean="0"/>
              <a:t>)</a:t>
            </a:r>
          </a:p>
          <a:p>
            <a:pPr lvl="1" eaLnBrk="1" hangingPunct="1"/>
            <a:r>
              <a:rPr lang="en-US" altLang="en-US" u="sng" dirty="0" smtClean="0"/>
              <a:t>Instantiation</a:t>
            </a:r>
            <a:r>
              <a:rPr lang="en-US" altLang="en-US" dirty="0" smtClean="0"/>
              <a:t>: Binding a variable to a value</a:t>
            </a:r>
          </a:p>
          <a:p>
            <a:pPr lvl="2" eaLnBrk="1" hangingPunct="1"/>
            <a:r>
              <a:rPr lang="en-US" altLang="en-US" dirty="0" smtClean="0"/>
              <a:t>Only happens during the resolution process</a:t>
            </a:r>
          </a:p>
          <a:p>
            <a:pPr lvl="2" eaLnBrk="1" hangingPunct="1"/>
            <a:r>
              <a:rPr lang="en-US" altLang="en-US" dirty="0" smtClean="0"/>
              <a:t>We’ll return to this later</a:t>
            </a:r>
          </a:p>
          <a:p>
            <a:pPr eaLnBrk="1" hangingPunct="1"/>
            <a:r>
              <a:rPr lang="en-US" altLang="en-US" u="sng" dirty="0" smtClean="0"/>
              <a:t>Structure</a:t>
            </a:r>
            <a:endParaRPr lang="en-US" altLang="en-US" dirty="0"/>
          </a:p>
          <a:p>
            <a:pPr lvl="1" eaLnBrk="1" hangingPunct="1"/>
            <a:r>
              <a:rPr lang="en-US" altLang="en-US" dirty="0" smtClean="0"/>
              <a:t>Represents an atomic proposition</a:t>
            </a:r>
          </a:p>
          <a:p>
            <a:pPr lvl="1" eaLnBrk="1" hangingPunct="1"/>
            <a:r>
              <a:rPr lang="en-US" altLang="en-US" dirty="0" smtClean="0"/>
              <a:t>Syntax</a:t>
            </a:r>
          </a:p>
          <a:p>
            <a:pPr lvl="1" eaLnBrk="1" hangingPunct="1">
              <a:buFontTx/>
              <a:buNone/>
            </a:pPr>
            <a:r>
              <a:rPr lang="en-US" altLang="en-US" sz="2100" dirty="0" smtClean="0">
                <a:latin typeface="Courier New" panose="02070309020205020404" pitchFamily="49" charset="0"/>
              </a:rPr>
              <a:t>		</a:t>
            </a:r>
            <a:r>
              <a:rPr lang="en-US" altLang="en-US" sz="2100" dirty="0" smtClean="0">
                <a:latin typeface="Courier New" panose="02070309020205020404" pitchFamily="49" charset="0"/>
              </a:rPr>
              <a:t> </a:t>
            </a:r>
            <a:r>
              <a:rPr lang="en-US" altLang="en-US" sz="2100" dirty="0" err="1" smtClean="0">
                <a:latin typeface="Courier New" panose="02070309020205020404" pitchFamily="49" charset="0"/>
              </a:rPr>
              <a:t>functor</a:t>
            </a:r>
            <a:r>
              <a:rPr lang="en-US" altLang="en-US" sz="2100" dirty="0" smtClean="0">
                <a:latin typeface="Courier New" panose="02070309020205020404" pitchFamily="49" charset="0"/>
              </a:rPr>
              <a:t>(parameter1, parameter2, ...)</a:t>
            </a:r>
            <a:endParaRPr lang="en-US" altLang="en-US" sz="2100" dirty="0"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3"/>
          <p:cNvSpPr>
            <a:spLocks noGrp="1"/>
          </p:cNvSpPr>
          <p:nvPr>
            <p:ph type="ftr" sz="quarter" idx="10"/>
          </p:nvPr>
        </p:nvSpPr>
        <p:spPr/>
        <p:txBody>
          <a:bodyPr/>
          <a:lstStyle/>
          <a:p>
            <a:pPr>
              <a:defRPr/>
            </a:pPr>
            <a:r>
              <a:rPr lang="en-US" dirty="0" smtClean="0"/>
              <a:t>Copyright © 2023 Addison-Wesley. All rights reserved.</a:t>
            </a:r>
          </a:p>
        </p:txBody>
      </p:sp>
      <p:sp>
        <p:nvSpPr>
          <p:cNvPr id="4710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2107D2E3-246A-432F-9EA9-8BF9DF4563A4}" type="slidenum">
              <a:rPr lang="en-US" altLang="en-US" sz="1000" smtClean="0">
                <a:solidFill>
                  <a:schemeClr val="tx1"/>
                </a:solidFill>
                <a:latin typeface="Arial" panose="020B0604020202020204" pitchFamily="34" charset="0"/>
              </a:rPr>
              <a:pPr>
                <a:spcBef>
                  <a:spcPct val="0"/>
                </a:spcBef>
                <a:buFontTx/>
                <a:buNone/>
              </a:pPr>
              <a:t>8</a:t>
            </a:fld>
            <a:endParaRPr lang="en-US" altLang="en-US" sz="1000" smtClean="0">
              <a:solidFill>
                <a:schemeClr val="tx1"/>
              </a:solidFill>
              <a:latin typeface="Arial" panose="020B0604020202020204" pitchFamily="34" charset="0"/>
            </a:endParaRPr>
          </a:p>
        </p:txBody>
      </p:sp>
      <p:sp>
        <p:nvSpPr>
          <p:cNvPr id="47108" name="Rectangle 2"/>
          <p:cNvSpPr>
            <a:spLocks noGrp="1" noChangeArrowheads="1"/>
          </p:cNvSpPr>
          <p:nvPr>
            <p:ph type="title"/>
          </p:nvPr>
        </p:nvSpPr>
        <p:spPr/>
        <p:txBody>
          <a:bodyPr/>
          <a:lstStyle/>
          <a:p>
            <a:pPr eaLnBrk="1" hangingPunct="1"/>
            <a:r>
              <a:rPr lang="en-US" altLang="en-US" dirty="0" smtClean="0"/>
              <a:t>Prolog: Statements</a:t>
            </a:r>
          </a:p>
        </p:txBody>
      </p:sp>
      <p:sp>
        <p:nvSpPr>
          <p:cNvPr id="47109" name="Rectangle 3"/>
          <p:cNvSpPr>
            <a:spLocks noGrp="1" noChangeArrowheads="1"/>
          </p:cNvSpPr>
          <p:nvPr>
            <p:ph type="body" idx="1"/>
          </p:nvPr>
        </p:nvSpPr>
        <p:spPr/>
        <p:txBody>
          <a:bodyPr/>
          <a:lstStyle/>
          <a:p>
            <a:pPr eaLnBrk="1" hangingPunct="1"/>
            <a:r>
              <a:rPr lang="en-US" altLang="en-US" dirty="0" smtClean="0"/>
              <a:t>Three kinds of statements</a:t>
            </a:r>
          </a:p>
          <a:p>
            <a:pPr lvl="1" eaLnBrk="1" hangingPunct="1"/>
            <a:r>
              <a:rPr lang="en-US" altLang="en-US" dirty="0" smtClean="0"/>
              <a:t>Fact statements</a:t>
            </a:r>
          </a:p>
          <a:p>
            <a:pPr lvl="1" eaLnBrk="1" hangingPunct="1"/>
            <a:r>
              <a:rPr lang="en-US" altLang="en-US" dirty="0" smtClean="0"/>
              <a:t>Rule statements</a:t>
            </a:r>
          </a:p>
          <a:p>
            <a:pPr lvl="1" eaLnBrk="1" hangingPunct="1"/>
            <a:r>
              <a:rPr lang="en-US" altLang="en-US" dirty="0" smtClean="0"/>
              <a:t>Goal statements</a:t>
            </a:r>
            <a:endParaRPr lang="en-US" altLang="en-US" sz="2400" b="1" dirty="0" smtClean="0">
              <a:latin typeface="Courier New" panose="02070309020205020404" pitchFamily="49" charset="0"/>
            </a:endParaRPr>
          </a:p>
          <a:p>
            <a:pPr eaLnBrk="1" hangingPunct="1">
              <a:buFontTx/>
              <a:buNone/>
            </a:pPr>
            <a:endParaRPr lang="en-US" altLang="en-US" sz="2400" b="1" dirty="0" smtClean="0">
              <a:latin typeface="Courier New" panose="02070309020205020404" pitchFamily="49" charset="0"/>
            </a:endParaRPr>
          </a:p>
        </p:txBody>
      </p:sp>
    </p:spTree>
    <p:extLst>
      <p:ext uri="{BB962C8B-B14F-4D97-AF65-F5344CB8AC3E}">
        <p14:creationId xmlns:p14="http://schemas.microsoft.com/office/powerpoint/2010/main" val="59176388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Footer Placeholder 3"/>
          <p:cNvSpPr>
            <a:spLocks noGrp="1"/>
          </p:cNvSpPr>
          <p:nvPr>
            <p:ph type="ftr" sz="quarter" idx="10"/>
          </p:nvPr>
        </p:nvSpPr>
        <p:spPr/>
        <p:txBody>
          <a:bodyPr/>
          <a:lstStyle/>
          <a:p>
            <a:pPr>
              <a:defRPr/>
            </a:pPr>
            <a:r>
              <a:rPr lang="en-US" dirty="0" smtClean="0"/>
              <a:t>Copyright © 2023 Addison-Wesley. All rights reserved.</a:t>
            </a:r>
          </a:p>
        </p:txBody>
      </p:sp>
      <p:sp>
        <p:nvSpPr>
          <p:cNvPr id="4710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2107D2E3-246A-432F-9EA9-8BF9DF4563A4}" type="slidenum">
              <a:rPr lang="en-US" altLang="en-US" sz="1000" smtClean="0">
                <a:solidFill>
                  <a:schemeClr val="tx1"/>
                </a:solidFill>
                <a:latin typeface="Arial" panose="020B0604020202020204" pitchFamily="34" charset="0"/>
              </a:rPr>
              <a:pPr>
                <a:spcBef>
                  <a:spcPct val="0"/>
                </a:spcBef>
                <a:buFontTx/>
                <a:buNone/>
              </a:pPr>
              <a:t>9</a:t>
            </a:fld>
            <a:endParaRPr lang="en-US" altLang="en-US" sz="1000" smtClean="0">
              <a:solidFill>
                <a:schemeClr val="tx1"/>
              </a:solidFill>
              <a:latin typeface="Arial" panose="020B0604020202020204" pitchFamily="34" charset="0"/>
            </a:endParaRPr>
          </a:p>
        </p:txBody>
      </p:sp>
      <p:sp>
        <p:nvSpPr>
          <p:cNvPr id="47108" name="Rectangle 2"/>
          <p:cNvSpPr>
            <a:spLocks noGrp="1" noChangeArrowheads="1"/>
          </p:cNvSpPr>
          <p:nvPr>
            <p:ph type="title"/>
          </p:nvPr>
        </p:nvSpPr>
        <p:spPr/>
        <p:txBody>
          <a:bodyPr/>
          <a:lstStyle/>
          <a:p>
            <a:pPr eaLnBrk="1" hangingPunct="1"/>
            <a:r>
              <a:rPr lang="en-US" altLang="en-US" dirty="0" smtClean="0"/>
              <a:t>Prolog: Fact Statements</a:t>
            </a:r>
          </a:p>
        </p:txBody>
      </p:sp>
      <p:sp>
        <p:nvSpPr>
          <p:cNvPr id="47109" name="Rectangle 3"/>
          <p:cNvSpPr>
            <a:spLocks noGrp="1" noChangeArrowheads="1"/>
          </p:cNvSpPr>
          <p:nvPr>
            <p:ph type="body" idx="1"/>
          </p:nvPr>
        </p:nvSpPr>
        <p:spPr/>
        <p:txBody>
          <a:bodyPr/>
          <a:lstStyle/>
          <a:p>
            <a:pPr eaLnBrk="1" hangingPunct="1"/>
            <a:r>
              <a:rPr lang="en-US" altLang="en-US" dirty="0" smtClean="0"/>
              <a:t>Fact statements</a:t>
            </a:r>
          </a:p>
          <a:p>
            <a:pPr lvl="1" eaLnBrk="1" hangingPunct="1"/>
            <a:r>
              <a:rPr lang="en-US" altLang="en-US" dirty="0" smtClean="0"/>
              <a:t>Atomic propositions used for the hypotheses</a:t>
            </a:r>
          </a:p>
          <a:p>
            <a:pPr lvl="1" eaLnBrk="1" hangingPunct="1"/>
            <a:r>
              <a:rPr lang="en-US" altLang="en-US" dirty="0" smtClean="0"/>
              <a:t>Structures representing headless Horn clauses</a:t>
            </a:r>
          </a:p>
          <a:p>
            <a:pPr lvl="1" eaLnBrk="1" hangingPunct="1"/>
            <a:r>
              <a:rPr lang="en-US" altLang="en-US" dirty="0" smtClean="0"/>
              <a:t>Examples</a:t>
            </a:r>
          </a:p>
          <a:p>
            <a:pPr eaLnBrk="1" hangingPunct="1">
              <a:buFontTx/>
              <a:buNone/>
            </a:pPr>
            <a:r>
              <a:rPr lang="en-US" altLang="en-US" sz="2100" dirty="0" smtClean="0">
                <a:latin typeface="Courier New" panose="02070309020205020404" pitchFamily="49" charset="0"/>
              </a:rPr>
              <a:t>		 female(</a:t>
            </a:r>
            <a:r>
              <a:rPr lang="en-US" altLang="en-US" sz="2100" dirty="0" err="1" smtClean="0">
                <a:latin typeface="Courier New" panose="02070309020205020404" pitchFamily="49" charset="0"/>
              </a:rPr>
              <a:t>shelley</a:t>
            </a:r>
            <a:r>
              <a:rPr lang="en-US" altLang="en-US" sz="2100" dirty="0" smtClean="0">
                <a:latin typeface="Courier New" panose="02070309020205020404" pitchFamily="49" charset="0"/>
              </a:rPr>
              <a:t>).</a:t>
            </a:r>
          </a:p>
          <a:p>
            <a:pPr eaLnBrk="1" hangingPunct="1">
              <a:buFontTx/>
              <a:buNone/>
            </a:pPr>
            <a:r>
              <a:rPr lang="en-US" altLang="en-US" sz="2100" dirty="0">
                <a:latin typeface="Courier New" panose="02070309020205020404" pitchFamily="49" charset="0"/>
              </a:rPr>
              <a:t>	</a:t>
            </a:r>
            <a:r>
              <a:rPr lang="en-US" altLang="en-US" sz="2100" dirty="0" smtClean="0">
                <a:latin typeface="Courier New" panose="02070309020205020404" pitchFamily="49" charset="0"/>
              </a:rPr>
              <a:t>	 female(</a:t>
            </a:r>
            <a:r>
              <a:rPr lang="en-US" altLang="en-US" sz="2100" dirty="0" err="1" smtClean="0">
                <a:latin typeface="Courier New" panose="02070309020205020404" pitchFamily="49" charset="0"/>
              </a:rPr>
              <a:t>anna</a:t>
            </a:r>
            <a:r>
              <a:rPr lang="en-US" altLang="en-US" sz="2100" dirty="0" smtClean="0">
                <a:latin typeface="Courier New" panose="02070309020205020404" pitchFamily="49" charset="0"/>
              </a:rPr>
              <a:t>).</a:t>
            </a:r>
          </a:p>
          <a:p>
            <a:pPr eaLnBrk="1" hangingPunct="1">
              <a:buFontTx/>
              <a:buNone/>
            </a:pPr>
            <a:r>
              <a:rPr lang="en-US" altLang="en-US" sz="2100" dirty="0" smtClean="0">
                <a:latin typeface="Courier New" panose="02070309020205020404" pitchFamily="49" charset="0"/>
              </a:rPr>
              <a:t>		 male(bill).</a:t>
            </a:r>
          </a:p>
          <a:p>
            <a:pPr eaLnBrk="1" hangingPunct="1">
              <a:buFontTx/>
              <a:buNone/>
            </a:pPr>
            <a:r>
              <a:rPr lang="en-US" altLang="en-US" sz="2100" dirty="0" smtClean="0">
                <a:latin typeface="Courier New" panose="02070309020205020404" pitchFamily="49" charset="0"/>
              </a:rPr>
              <a:t>		 father(bill, </a:t>
            </a:r>
            <a:r>
              <a:rPr lang="en-US" altLang="en-US" sz="2100" dirty="0" err="1" smtClean="0">
                <a:latin typeface="Courier New" panose="02070309020205020404" pitchFamily="49" charset="0"/>
              </a:rPr>
              <a:t>jake</a:t>
            </a:r>
            <a:r>
              <a:rPr lang="en-US" altLang="en-US" sz="2100" dirty="0" smtClean="0">
                <a:latin typeface="Courier New" panose="02070309020205020404" pitchFamily="49" charset="0"/>
              </a:rPr>
              <a:t>).</a:t>
            </a:r>
            <a:endParaRPr lang="en-US" altLang="en-US" sz="2100" b="1" dirty="0" smtClean="0">
              <a:latin typeface="Courier New" panose="02070309020205020404" pitchFamily="49"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Footer Placeholder 3"/>
          <p:cNvSpPr>
            <a:spLocks noGrp="1"/>
          </p:cNvSpPr>
          <p:nvPr>
            <p:ph type="ftr" sz="quarter" idx="10"/>
          </p:nvPr>
        </p:nvSpPr>
        <p:spPr/>
        <p:txBody>
          <a:bodyPr/>
          <a:lstStyle/>
          <a:p>
            <a:pPr>
              <a:defRPr/>
            </a:pPr>
            <a:r>
              <a:rPr lang="en-US" dirty="0" smtClean="0"/>
              <a:t>Copyright © 2023 Addison-Wesley. All rights reserved.</a:t>
            </a:r>
          </a:p>
        </p:txBody>
      </p:sp>
      <p:sp>
        <p:nvSpPr>
          <p:cNvPr id="4915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331725C1-7E98-48D7-8ACC-5F2CCA5AF56E}" type="slidenum">
              <a:rPr lang="en-US" altLang="en-US" sz="1000" smtClean="0">
                <a:solidFill>
                  <a:schemeClr val="tx1"/>
                </a:solidFill>
                <a:latin typeface="Arial" panose="020B0604020202020204" pitchFamily="34" charset="0"/>
              </a:rPr>
              <a:pPr>
                <a:spcBef>
                  <a:spcPct val="0"/>
                </a:spcBef>
                <a:buFontTx/>
                <a:buNone/>
              </a:pPr>
              <a:t>10</a:t>
            </a:fld>
            <a:endParaRPr lang="en-US" altLang="en-US" sz="1000" smtClean="0">
              <a:solidFill>
                <a:schemeClr val="tx1"/>
              </a:solidFill>
              <a:latin typeface="Arial" panose="020B0604020202020204" pitchFamily="34" charset="0"/>
            </a:endParaRPr>
          </a:p>
        </p:txBody>
      </p:sp>
      <p:sp>
        <p:nvSpPr>
          <p:cNvPr id="49156" name="Rectangle 2"/>
          <p:cNvSpPr>
            <a:spLocks noGrp="1" noChangeArrowheads="1"/>
          </p:cNvSpPr>
          <p:nvPr>
            <p:ph type="title"/>
          </p:nvPr>
        </p:nvSpPr>
        <p:spPr/>
        <p:txBody>
          <a:bodyPr/>
          <a:lstStyle/>
          <a:p>
            <a:pPr eaLnBrk="1" hangingPunct="1"/>
            <a:r>
              <a:rPr lang="en-US" altLang="en-US" dirty="0"/>
              <a:t>Prolog: Rule </a:t>
            </a:r>
            <a:r>
              <a:rPr lang="en-US" altLang="en-US" dirty="0" smtClean="0"/>
              <a:t>Statements</a:t>
            </a:r>
          </a:p>
        </p:txBody>
      </p:sp>
      <p:sp>
        <p:nvSpPr>
          <p:cNvPr id="49157" name="Rectangle 3"/>
          <p:cNvSpPr>
            <a:spLocks noGrp="1" noChangeArrowheads="1"/>
          </p:cNvSpPr>
          <p:nvPr>
            <p:ph type="body" idx="1"/>
          </p:nvPr>
        </p:nvSpPr>
        <p:spPr/>
        <p:txBody>
          <a:bodyPr/>
          <a:lstStyle/>
          <a:p>
            <a:pPr eaLnBrk="1" hangingPunct="1"/>
            <a:r>
              <a:rPr lang="en-US" altLang="en-US" dirty="0" smtClean="0"/>
              <a:t>Rule statements</a:t>
            </a:r>
          </a:p>
          <a:p>
            <a:pPr lvl="1" eaLnBrk="1" hangingPunct="1"/>
            <a:r>
              <a:rPr lang="en-US" altLang="en-US" dirty="0"/>
              <a:t>U</a:t>
            </a:r>
            <a:r>
              <a:rPr lang="en-US" altLang="en-US" dirty="0" smtClean="0"/>
              <a:t>sed for the hypotheses</a:t>
            </a:r>
          </a:p>
          <a:p>
            <a:pPr lvl="1" eaLnBrk="1" hangingPunct="1"/>
            <a:r>
              <a:rPr lang="en-US" altLang="en-US" dirty="0"/>
              <a:t>Headed Horn clauses</a:t>
            </a:r>
            <a:endParaRPr lang="en-US" altLang="en-US" dirty="0" smtClean="0"/>
          </a:p>
          <a:p>
            <a:pPr lvl="1" eaLnBrk="1" hangingPunct="1"/>
            <a:r>
              <a:rPr lang="en-US" altLang="en-US" dirty="0" smtClean="0"/>
              <a:t>Right side: </a:t>
            </a:r>
            <a:r>
              <a:rPr lang="en-US" altLang="en-US" u="sng" dirty="0"/>
              <a:t>A</a:t>
            </a:r>
            <a:r>
              <a:rPr lang="en-US" altLang="en-US" u="sng" dirty="0" smtClean="0"/>
              <a:t>ntecedent</a:t>
            </a:r>
            <a:r>
              <a:rPr lang="en-US" altLang="en-US" dirty="0" smtClean="0"/>
              <a:t> (</a:t>
            </a:r>
            <a:r>
              <a:rPr lang="en-US" altLang="en-US" b="1" dirty="0" smtClean="0"/>
              <a:t>if</a:t>
            </a:r>
            <a:r>
              <a:rPr lang="en-US" altLang="en-US" dirty="0" smtClean="0"/>
              <a:t> part)</a:t>
            </a:r>
          </a:p>
          <a:p>
            <a:pPr lvl="2" eaLnBrk="1" hangingPunct="1"/>
            <a:r>
              <a:rPr lang="en-US" altLang="en-US" dirty="0" smtClean="0"/>
              <a:t>May be single term or </a:t>
            </a:r>
            <a:r>
              <a:rPr lang="en-US" altLang="en-US" u="sng" dirty="0" smtClean="0"/>
              <a:t>conjunction</a:t>
            </a:r>
            <a:r>
              <a:rPr lang="en-US" altLang="en-US" dirty="0" smtClean="0"/>
              <a:t> of terms</a:t>
            </a:r>
            <a:endParaRPr lang="en-US" altLang="en-US" dirty="0" smtClean="0"/>
          </a:p>
          <a:p>
            <a:pPr lvl="2" eaLnBrk="1" hangingPunct="1"/>
            <a:r>
              <a:rPr lang="en-US" altLang="en-US" dirty="0" smtClean="0"/>
              <a:t>Form of conjunction</a:t>
            </a:r>
          </a:p>
          <a:p>
            <a:pPr lvl="3" eaLnBrk="1" hangingPunct="1"/>
            <a:r>
              <a:rPr lang="en-US" altLang="en-US" dirty="0" smtClean="0"/>
              <a:t>Several terms separated by commas</a:t>
            </a:r>
          </a:p>
          <a:p>
            <a:pPr lvl="3" eaLnBrk="1" hangingPunct="1"/>
            <a:r>
              <a:rPr lang="en-US" altLang="en-US" dirty="0" smtClean="0"/>
              <a:t>Logical AND operators are </a:t>
            </a:r>
            <a:r>
              <a:rPr lang="en-US" altLang="en-US" u="sng" dirty="0" smtClean="0"/>
              <a:t>implied</a:t>
            </a:r>
            <a:r>
              <a:rPr lang="en-US" altLang="en-US" dirty="0" smtClean="0"/>
              <a:t> by each comma</a:t>
            </a:r>
            <a:endParaRPr lang="en-US" altLang="en-US" u="sng" dirty="0" smtClean="0"/>
          </a:p>
          <a:p>
            <a:pPr lvl="1" eaLnBrk="1" hangingPunct="1"/>
            <a:r>
              <a:rPr lang="en-US" altLang="en-US" dirty="0"/>
              <a:t>Left side: </a:t>
            </a:r>
            <a:r>
              <a:rPr lang="en-US" altLang="en-US" u="sng" dirty="0"/>
              <a:t>Consequent</a:t>
            </a:r>
            <a:r>
              <a:rPr lang="en-US" altLang="en-US" dirty="0"/>
              <a:t> (</a:t>
            </a:r>
            <a:r>
              <a:rPr lang="en-US" altLang="en-US" b="1" dirty="0"/>
              <a:t>then</a:t>
            </a:r>
            <a:r>
              <a:rPr lang="en-US" altLang="en-US" dirty="0"/>
              <a:t> part)</a:t>
            </a:r>
          </a:p>
          <a:p>
            <a:pPr lvl="2" eaLnBrk="1" hangingPunct="1"/>
            <a:r>
              <a:rPr lang="en-US" altLang="en-US" dirty="0"/>
              <a:t>Must </a:t>
            </a:r>
            <a:r>
              <a:rPr lang="en-US" altLang="en-US" dirty="0" smtClean="0"/>
              <a:t>be a </a:t>
            </a:r>
            <a:r>
              <a:rPr lang="en-US" altLang="en-US" dirty="0"/>
              <a:t>single term</a:t>
            </a:r>
            <a:endParaRPr lang="en-US" altLang="en-US" dirty="0"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3"/>
          <p:cNvSpPr>
            <a:spLocks noGrp="1"/>
          </p:cNvSpPr>
          <p:nvPr>
            <p:ph type="ftr" sz="quarter" idx="10"/>
          </p:nvPr>
        </p:nvSpPr>
        <p:spPr/>
        <p:txBody>
          <a:bodyPr/>
          <a:lstStyle/>
          <a:p>
            <a:pPr>
              <a:defRPr/>
            </a:pPr>
            <a:r>
              <a:rPr lang="en-US" dirty="0" smtClean="0"/>
              <a:t>Copyright © 2023 Addison-Wesley. All rights reserved.</a:t>
            </a:r>
          </a:p>
        </p:txBody>
      </p:sp>
      <p:sp>
        <p:nvSpPr>
          <p:cNvPr id="5120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549C12BE-3D03-4D5F-ABD2-EABE05E22B1C}" type="slidenum">
              <a:rPr lang="en-US" altLang="en-US" sz="1000" smtClean="0">
                <a:solidFill>
                  <a:schemeClr val="tx1"/>
                </a:solidFill>
                <a:latin typeface="Arial" panose="020B0604020202020204" pitchFamily="34" charset="0"/>
              </a:rPr>
              <a:pPr>
                <a:spcBef>
                  <a:spcPct val="0"/>
                </a:spcBef>
                <a:buFontTx/>
                <a:buNone/>
              </a:pPr>
              <a:t>11</a:t>
            </a:fld>
            <a:endParaRPr lang="en-US" altLang="en-US" sz="1000" smtClean="0">
              <a:solidFill>
                <a:schemeClr val="tx1"/>
              </a:solidFill>
              <a:latin typeface="Arial" panose="020B0604020202020204" pitchFamily="34" charset="0"/>
            </a:endParaRPr>
          </a:p>
        </p:txBody>
      </p:sp>
      <p:sp>
        <p:nvSpPr>
          <p:cNvPr id="51204" name="Rectangle 2"/>
          <p:cNvSpPr>
            <a:spLocks noGrp="1" noChangeArrowheads="1"/>
          </p:cNvSpPr>
          <p:nvPr>
            <p:ph type="title"/>
          </p:nvPr>
        </p:nvSpPr>
        <p:spPr/>
        <p:txBody>
          <a:bodyPr/>
          <a:lstStyle/>
          <a:p>
            <a:pPr eaLnBrk="1" hangingPunct="1"/>
            <a:r>
              <a:rPr lang="en-US" altLang="en-US" dirty="0"/>
              <a:t>Prolog: Rule </a:t>
            </a:r>
            <a:r>
              <a:rPr lang="en-US" altLang="en-US" dirty="0" smtClean="0"/>
              <a:t>Statement Examples</a:t>
            </a:r>
          </a:p>
        </p:txBody>
      </p:sp>
      <p:sp>
        <p:nvSpPr>
          <p:cNvPr id="51205" name="Rectangle 3"/>
          <p:cNvSpPr>
            <a:spLocks noGrp="1" noChangeArrowheads="1"/>
          </p:cNvSpPr>
          <p:nvPr>
            <p:ph type="body" idx="1"/>
          </p:nvPr>
        </p:nvSpPr>
        <p:spPr>
          <a:xfrm>
            <a:off x="622300" y="1651000"/>
            <a:ext cx="8216900" cy="4419600"/>
          </a:xfrm>
        </p:spPr>
        <p:txBody>
          <a:bodyPr/>
          <a:lstStyle/>
          <a:p>
            <a:pPr eaLnBrk="1" hangingPunct="1">
              <a:lnSpc>
                <a:spcPct val="90000"/>
              </a:lnSpc>
              <a:tabLst>
                <a:tab pos="809625" algn="l"/>
              </a:tabLst>
            </a:pPr>
            <a:r>
              <a:rPr lang="en-US" altLang="en-US" sz="2400" dirty="0" smtClean="0"/>
              <a:t>A specific rule (using atoms):</a:t>
            </a:r>
          </a:p>
          <a:p>
            <a:pPr eaLnBrk="1" hangingPunct="1">
              <a:lnSpc>
                <a:spcPct val="90000"/>
              </a:lnSpc>
              <a:buFontTx/>
              <a:buNone/>
              <a:tabLst>
                <a:tab pos="809625" algn="l"/>
              </a:tabLst>
            </a:pPr>
            <a:r>
              <a:rPr lang="en-US" altLang="en-US" sz="2400" dirty="0" smtClean="0">
                <a:latin typeface="Courier New" panose="02070309020205020404" pitchFamily="49" charset="0"/>
              </a:rPr>
              <a:t>	</a:t>
            </a:r>
            <a:r>
              <a:rPr lang="en-US" altLang="en-US" sz="1800" dirty="0" smtClean="0">
                <a:latin typeface="Courier New" panose="02070309020205020404" pitchFamily="49" charset="0"/>
              </a:rPr>
              <a:t>	ancestor(</a:t>
            </a:r>
            <a:r>
              <a:rPr lang="en-US" altLang="en-US" sz="1800" dirty="0" err="1" smtClean="0">
                <a:latin typeface="Courier New" panose="02070309020205020404" pitchFamily="49" charset="0"/>
              </a:rPr>
              <a:t>mary</a:t>
            </a:r>
            <a:r>
              <a:rPr lang="en-US" altLang="en-US" sz="1800" dirty="0" smtClean="0">
                <a:latin typeface="Courier New" panose="02070309020205020404" pitchFamily="49" charset="0"/>
              </a:rPr>
              <a:t>, </a:t>
            </a:r>
            <a:r>
              <a:rPr lang="en-US" altLang="en-US" sz="1800" dirty="0" err="1" smtClean="0">
                <a:latin typeface="Courier New" panose="02070309020205020404" pitchFamily="49" charset="0"/>
              </a:rPr>
              <a:t>shelley</a:t>
            </a:r>
            <a:r>
              <a:rPr lang="en-US" altLang="en-US" sz="1800" dirty="0" smtClean="0">
                <a:latin typeface="Courier New" panose="02070309020205020404" pitchFamily="49" charset="0"/>
              </a:rPr>
              <a:t>) :- </a:t>
            </a:r>
            <a:r>
              <a:rPr lang="en-US" altLang="en-US" sz="1800" dirty="0" smtClean="0">
                <a:latin typeface="Courier New" panose="02070309020205020404" pitchFamily="49" charset="0"/>
              </a:rPr>
              <a:t>mother(</a:t>
            </a:r>
            <a:r>
              <a:rPr lang="en-US" altLang="en-US" sz="1800" dirty="0" err="1" smtClean="0">
                <a:latin typeface="Courier New" panose="02070309020205020404" pitchFamily="49" charset="0"/>
              </a:rPr>
              <a:t>mary</a:t>
            </a:r>
            <a:r>
              <a:rPr lang="en-US" altLang="en-US" sz="1800" dirty="0" smtClean="0">
                <a:latin typeface="Courier New" panose="02070309020205020404" pitchFamily="49" charset="0"/>
              </a:rPr>
              <a:t>, </a:t>
            </a:r>
            <a:r>
              <a:rPr lang="en-US" altLang="en-US" sz="1800" dirty="0" err="1" smtClean="0">
                <a:latin typeface="Courier New" panose="02070309020205020404" pitchFamily="49" charset="0"/>
              </a:rPr>
              <a:t>shelley</a:t>
            </a:r>
            <a:r>
              <a:rPr lang="en-US" altLang="en-US" sz="1800" dirty="0" smtClean="0">
                <a:latin typeface="Courier New" panose="02070309020205020404" pitchFamily="49" charset="0"/>
              </a:rPr>
              <a:t>).</a:t>
            </a:r>
            <a:endParaRPr lang="en-US" altLang="en-US" sz="1800" b="1" dirty="0" smtClean="0">
              <a:latin typeface="Courier New" panose="02070309020205020404" pitchFamily="49" charset="0"/>
            </a:endParaRPr>
          </a:p>
          <a:p>
            <a:pPr eaLnBrk="1" hangingPunct="1">
              <a:lnSpc>
                <a:spcPct val="90000"/>
              </a:lnSpc>
              <a:buFontTx/>
              <a:buNone/>
              <a:tabLst>
                <a:tab pos="809625" algn="l"/>
              </a:tabLst>
            </a:pPr>
            <a:endParaRPr lang="en-US" altLang="en-US" sz="3200" dirty="0" smtClean="0"/>
          </a:p>
          <a:p>
            <a:pPr eaLnBrk="1" hangingPunct="1">
              <a:lnSpc>
                <a:spcPct val="90000"/>
              </a:lnSpc>
              <a:tabLst>
                <a:tab pos="809625" algn="l"/>
              </a:tabLst>
            </a:pPr>
            <a:r>
              <a:rPr lang="en-US" altLang="en-US" sz="2400" dirty="0" smtClean="0"/>
              <a:t>General rules use variables (universal objects):</a:t>
            </a:r>
          </a:p>
          <a:p>
            <a:pPr eaLnBrk="1" hangingPunct="1">
              <a:lnSpc>
                <a:spcPct val="90000"/>
              </a:lnSpc>
              <a:buFontTx/>
              <a:buNone/>
              <a:tabLst>
                <a:tab pos="809625" algn="l"/>
              </a:tabLst>
            </a:pPr>
            <a:r>
              <a:rPr lang="en-US" altLang="en-US" sz="1800" dirty="0" smtClean="0">
                <a:latin typeface="Courier New" panose="02070309020205020404" pitchFamily="49" charset="0"/>
              </a:rPr>
              <a:t>		parent(X</a:t>
            </a:r>
            <a:r>
              <a:rPr lang="en-US" altLang="en-US" sz="1800" dirty="0" smtClean="0">
                <a:latin typeface="Courier New" panose="02070309020205020404" pitchFamily="49" charset="0"/>
              </a:rPr>
              <a:t>, Y</a:t>
            </a:r>
            <a:r>
              <a:rPr lang="en-US" altLang="en-US" sz="1800" dirty="0" smtClean="0">
                <a:latin typeface="Courier New" panose="02070309020205020404" pitchFamily="49" charset="0"/>
              </a:rPr>
              <a:t>) :- mother(X</a:t>
            </a:r>
            <a:r>
              <a:rPr lang="en-US" altLang="en-US" sz="1800" dirty="0" smtClean="0">
                <a:latin typeface="Courier New" panose="02070309020205020404" pitchFamily="49" charset="0"/>
              </a:rPr>
              <a:t>, Y</a:t>
            </a:r>
            <a:r>
              <a:rPr lang="en-US" altLang="en-US" sz="1800" dirty="0" smtClean="0">
                <a:latin typeface="Courier New" panose="02070309020205020404" pitchFamily="49" charset="0"/>
              </a:rPr>
              <a:t>).</a:t>
            </a:r>
          </a:p>
          <a:p>
            <a:pPr eaLnBrk="1" hangingPunct="1">
              <a:lnSpc>
                <a:spcPct val="90000"/>
              </a:lnSpc>
              <a:buFontTx/>
              <a:buNone/>
              <a:tabLst>
                <a:tab pos="809625" algn="l"/>
              </a:tabLst>
            </a:pPr>
            <a:r>
              <a:rPr lang="en-US" altLang="en-US" sz="1800" dirty="0" smtClean="0">
                <a:latin typeface="Courier New" panose="02070309020205020404" pitchFamily="49" charset="0"/>
              </a:rPr>
              <a:t>		parent(X</a:t>
            </a:r>
            <a:r>
              <a:rPr lang="en-US" altLang="en-US" sz="1800" dirty="0" smtClean="0">
                <a:latin typeface="Courier New" panose="02070309020205020404" pitchFamily="49" charset="0"/>
              </a:rPr>
              <a:t>, Y</a:t>
            </a:r>
            <a:r>
              <a:rPr lang="en-US" altLang="en-US" sz="1800" dirty="0" smtClean="0">
                <a:latin typeface="Courier New" panose="02070309020205020404" pitchFamily="49" charset="0"/>
              </a:rPr>
              <a:t>) :- father(X</a:t>
            </a:r>
            <a:r>
              <a:rPr lang="en-US" altLang="en-US" sz="1800" dirty="0" smtClean="0">
                <a:latin typeface="Courier New" panose="02070309020205020404" pitchFamily="49" charset="0"/>
              </a:rPr>
              <a:t>, Y</a:t>
            </a:r>
            <a:r>
              <a:rPr lang="en-US" altLang="en-US" sz="1800" dirty="0" smtClean="0">
                <a:latin typeface="Courier New" panose="02070309020205020404" pitchFamily="49" charset="0"/>
              </a:rPr>
              <a:t>).</a:t>
            </a:r>
          </a:p>
          <a:p>
            <a:pPr eaLnBrk="1" hangingPunct="1">
              <a:lnSpc>
                <a:spcPct val="90000"/>
              </a:lnSpc>
              <a:buFontTx/>
              <a:buNone/>
              <a:tabLst>
                <a:tab pos="809625" algn="l"/>
              </a:tabLst>
            </a:pPr>
            <a:r>
              <a:rPr lang="en-US" altLang="en-US" sz="1800" dirty="0" smtClean="0">
                <a:latin typeface="Courier New" panose="02070309020205020404" pitchFamily="49" charset="0"/>
              </a:rPr>
              <a:t>		grandparent(X</a:t>
            </a:r>
            <a:r>
              <a:rPr lang="en-US" altLang="en-US" sz="1800" dirty="0" smtClean="0">
                <a:latin typeface="Courier New" panose="02070309020205020404" pitchFamily="49" charset="0"/>
              </a:rPr>
              <a:t>, Z</a:t>
            </a:r>
            <a:r>
              <a:rPr lang="en-US" altLang="en-US" sz="1800" dirty="0" smtClean="0">
                <a:latin typeface="Courier New" panose="02070309020205020404" pitchFamily="49" charset="0"/>
              </a:rPr>
              <a:t>) :- parent(X</a:t>
            </a:r>
            <a:r>
              <a:rPr lang="en-US" altLang="en-US" sz="1800" dirty="0" smtClean="0">
                <a:latin typeface="Courier New" panose="02070309020205020404" pitchFamily="49" charset="0"/>
              </a:rPr>
              <a:t>, Y</a:t>
            </a:r>
            <a:r>
              <a:rPr lang="en-US" altLang="en-US" sz="1800" dirty="0" smtClean="0">
                <a:latin typeface="Courier New" panose="02070309020205020404" pitchFamily="49" charset="0"/>
              </a:rPr>
              <a:t>), parent(Y</a:t>
            </a:r>
            <a:r>
              <a:rPr lang="en-US" altLang="en-US" sz="1800" dirty="0" smtClean="0">
                <a:latin typeface="Courier New" panose="02070309020205020404" pitchFamily="49" charset="0"/>
              </a:rPr>
              <a:t>, Z</a:t>
            </a:r>
            <a:r>
              <a:rPr lang="en-US" altLang="en-US" sz="1800" dirty="0" smtClean="0">
                <a:latin typeface="Courier New" panose="02070309020205020404" pitchFamily="49" charset="0"/>
              </a:rPr>
              <a:t>).</a:t>
            </a:r>
          </a:p>
          <a:p>
            <a:pPr eaLnBrk="1" hangingPunct="1">
              <a:lnSpc>
                <a:spcPct val="90000"/>
              </a:lnSpc>
              <a:buFontTx/>
              <a:buNone/>
              <a:tabLst>
                <a:tab pos="809625" algn="l"/>
              </a:tabLst>
            </a:pPr>
            <a:r>
              <a:rPr lang="en-US" altLang="en-US" sz="1800" dirty="0" smtClean="0">
                <a:latin typeface="Courier New" panose="02070309020205020404" pitchFamily="49" charset="0"/>
              </a:rPr>
              <a:t>	</a:t>
            </a:r>
            <a:r>
              <a:rPr lang="en-US" altLang="en-US" sz="1800" dirty="0">
                <a:latin typeface="Courier New" panose="02070309020205020404" pitchFamily="49" charset="0"/>
              </a:rPr>
              <a:t>	</a:t>
            </a:r>
            <a:r>
              <a:rPr lang="en-US" altLang="en-US" sz="1800" dirty="0" smtClean="0">
                <a:latin typeface="Courier New" panose="02070309020205020404" pitchFamily="49" charset="0"/>
              </a:rPr>
              <a:t>sibling(X</a:t>
            </a:r>
            <a:r>
              <a:rPr lang="en-US" altLang="en-US" sz="1800" dirty="0" smtClean="0">
                <a:latin typeface="Courier New" panose="02070309020205020404" pitchFamily="49" charset="0"/>
              </a:rPr>
              <a:t>, Y</a:t>
            </a:r>
            <a:r>
              <a:rPr lang="en-US" altLang="en-US" sz="1800" dirty="0" smtClean="0">
                <a:latin typeface="Courier New" panose="02070309020205020404" pitchFamily="49" charset="0"/>
              </a:rPr>
              <a:t>) :- mother(M</a:t>
            </a:r>
            <a:r>
              <a:rPr lang="en-US" altLang="en-US" sz="1800" dirty="0" smtClean="0">
                <a:latin typeface="Courier New" panose="02070309020205020404" pitchFamily="49" charset="0"/>
              </a:rPr>
              <a:t>, X</a:t>
            </a:r>
            <a:r>
              <a:rPr lang="en-US" altLang="en-US" sz="1800" dirty="0" smtClean="0">
                <a:latin typeface="Courier New" panose="02070309020205020404" pitchFamily="49" charset="0"/>
              </a:rPr>
              <a:t>), mother(M</a:t>
            </a:r>
            <a:r>
              <a:rPr lang="en-US" altLang="en-US" sz="1800" dirty="0" smtClean="0">
                <a:latin typeface="Courier New" panose="02070309020205020404" pitchFamily="49" charset="0"/>
              </a:rPr>
              <a:t>, Y</a:t>
            </a:r>
            <a:r>
              <a:rPr lang="en-US" altLang="en-US" sz="1800" dirty="0" smtClean="0">
                <a:latin typeface="Courier New" panose="02070309020205020404" pitchFamily="49" charset="0"/>
              </a:rPr>
              <a:t>),</a:t>
            </a:r>
          </a:p>
          <a:p>
            <a:pPr defTabSz="3048000" eaLnBrk="1" hangingPunct="1">
              <a:lnSpc>
                <a:spcPct val="90000"/>
              </a:lnSpc>
              <a:buFontTx/>
              <a:buNone/>
              <a:tabLst>
                <a:tab pos="809625" algn="l"/>
              </a:tabLst>
            </a:pPr>
            <a:r>
              <a:rPr lang="en-US" altLang="en-US" sz="1800" dirty="0" smtClean="0">
                <a:latin typeface="Courier New" panose="02070309020205020404" pitchFamily="49" charset="0"/>
              </a:rPr>
              <a:t>		</a:t>
            </a:r>
            <a:r>
              <a:rPr lang="en-US" altLang="en-US" sz="1800" dirty="0" smtClean="0">
                <a:latin typeface="Courier New" panose="02070309020205020404" pitchFamily="49" charset="0"/>
              </a:rPr>
              <a:t>                 father(F, X</a:t>
            </a:r>
            <a:r>
              <a:rPr lang="en-US" altLang="en-US" sz="1800" dirty="0" smtClean="0">
                <a:latin typeface="Courier New" panose="02070309020205020404" pitchFamily="49" charset="0"/>
              </a:rPr>
              <a:t>), father(F</a:t>
            </a:r>
            <a:r>
              <a:rPr lang="en-US" altLang="en-US" sz="1800" dirty="0" smtClean="0">
                <a:latin typeface="Courier New" panose="02070309020205020404" pitchFamily="49" charset="0"/>
              </a:rPr>
              <a:t>, Y</a:t>
            </a:r>
            <a:r>
              <a:rPr lang="en-US" altLang="en-US" sz="1800" dirty="0" smtClean="0">
                <a:latin typeface="Courier New" panose="02070309020205020404" pitchFamily="49" charset="0"/>
              </a:rPr>
              <a: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3"/>
          <p:cNvSpPr>
            <a:spLocks noGrp="1"/>
          </p:cNvSpPr>
          <p:nvPr>
            <p:ph type="ftr" sz="quarter" idx="10"/>
          </p:nvPr>
        </p:nvSpPr>
        <p:spPr/>
        <p:txBody>
          <a:bodyPr/>
          <a:lstStyle/>
          <a:p>
            <a:pPr>
              <a:defRPr/>
            </a:pPr>
            <a:r>
              <a:rPr lang="en-US" dirty="0" smtClean="0"/>
              <a:t>Copyright © 2023 Addison-Wesley. All rights reserved.</a:t>
            </a:r>
          </a:p>
        </p:txBody>
      </p:sp>
      <p:sp>
        <p:nvSpPr>
          <p:cNvPr id="5325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7ACB2547-4906-438D-8A54-E9EF5D1080AA}" type="slidenum">
              <a:rPr lang="en-US" altLang="en-US" sz="1000" smtClean="0">
                <a:solidFill>
                  <a:schemeClr val="tx1"/>
                </a:solidFill>
                <a:latin typeface="Arial" panose="020B0604020202020204" pitchFamily="34" charset="0"/>
              </a:rPr>
              <a:pPr>
                <a:spcBef>
                  <a:spcPct val="0"/>
                </a:spcBef>
                <a:buFontTx/>
                <a:buNone/>
              </a:pPr>
              <a:t>12</a:t>
            </a:fld>
            <a:endParaRPr lang="en-US" altLang="en-US" sz="1000" smtClean="0">
              <a:solidFill>
                <a:schemeClr val="tx1"/>
              </a:solidFill>
              <a:latin typeface="Arial" panose="020B0604020202020204" pitchFamily="34" charset="0"/>
            </a:endParaRPr>
          </a:p>
        </p:txBody>
      </p:sp>
      <p:sp>
        <p:nvSpPr>
          <p:cNvPr id="53252" name="Rectangle 2"/>
          <p:cNvSpPr>
            <a:spLocks noGrp="1" noChangeArrowheads="1"/>
          </p:cNvSpPr>
          <p:nvPr>
            <p:ph type="title"/>
          </p:nvPr>
        </p:nvSpPr>
        <p:spPr/>
        <p:txBody>
          <a:bodyPr/>
          <a:lstStyle/>
          <a:p>
            <a:pPr eaLnBrk="1" hangingPunct="1"/>
            <a:r>
              <a:rPr lang="en-US" altLang="en-US" dirty="0"/>
              <a:t>Prolog: Goal </a:t>
            </a:r>
            <a:r>
              <a:rPr lang="en-US" altLang="en-US" dirty="0" smtClean="0"/>
              <a:t>Statements</a:t>
            </a:r>
          </a:p>
        </p:txBody>
      </p:sp>
      <p:sp>
        <p:nvSpPr>
          <p:cNvPr id="53253" name="Rectangle 3"/>
          <p:cNvSpPr>
            <a:spLocks noGrp="1" noChangeArrowheads="1"/>
          </p:cNvSpPr>
          <p:nvPr>
            <p:ph type="body" idx="1"/>
          </p:nvPr>
        </p:nvSpPr>
        <p:spPr>
          <a:xfrm>
            <a:off x="609600" y="1638300"/>
            <a:ext cx="8382000" cy="4572000"/>
          </a:xfrm>
        </p:spPr>
        <p:txBody>
          <a:bodyPr/>
          <a:lstStyle/>
          <a:p>
            <a:pPr eaLnBrk="1" hangingPunct="1">
              <a:lnSpc>
                <a:spcPct val="90000"/>
              </a:lnSpc>
            </a:pPr>
            <a:r>
              <a:rPr lang="en-US" altLang="en-US" u="sng" dirty="0" smtClean="0"/>
              <a:t>Goals</a:t>
            </a:r>
            <a:r>
              <a:rPr lang="en-US" altLang="en-US" dirty="0" smtClean="0"/>
              <a:t> or </a:t>
            </a:r>
            <a:r>
              <a:rPr lang="en-US" altLang="en-US" u="sng" dirty="0" smtClean="0"/>
              <a:t>queries</a:t>
            </a:r>
            <a:r>
              <a:rPr lang="en-US" altLang="en-US" dirty="0" smtClean="0"/>
              <a:t> are used in theorem proving</a:t>
            </a:r>
          </a:p>
          <a:p>
            <a:pPr eaLnBrk="1" hangingPunct="1">
              <a:lnSpc>
                <a:spcPct val="90000"/>
              </a:lnSpc>
            </a:pPr>
            <a:r>
              <a:rPr lang="en-US" altLang="en-US" dirty="0" smtClean="0"/>
              <a:t>A theorem</a:t>
            </a:r>
          </a:p>
          <a:p>
            <a:pPr lvl="1" eaLnBrk="1" hangingPunct="1">
              <a:lnSpc>
                <a:spcPct val="90000"/>
              </a:lnSpc>
            </a:pPr>
            <a:r>
              <a:rPr lang="en-US" altLang="en-US" dirty="0" smtClean="0"/>
              <a:t>A proposition Prolog must try to prove</a:t>
            </a:r>
          </a:p>
          <a:p>
            <a:pPr lvl="1" eaLnBrk="1" hangingPunct="1">
              <a:lnSpc>
                <a:spcPct val="90000"/>
              </a:lnSpc>
            </a:pPr>
            <a:r>
              <a:rPr lang="en-US" altLang="en-US" dirty="0" smtClean="0"/>
              <a:t>A simple goal uses the syntax of a fact statement</a:t>
            </a:r>
          </a:p>
          <a:p>
            <a:pPr lvl="1" eaLnBrk="1" hangingPunct="1">
              <a:lnSpc>
                <a:spcPct val="90000"/>
              </a:lnSpc>
            </a:pPr>
            <a:r>
              <a:rPr lang="en-US" altLang="en-US" dirty="0" smtClean="0"/>
              <a:t>Example (the </a:t>
            </a:r>
            <a:r>
              <a:rPr lang="en-US" altLang="en-US" b="1" dirty="0" smtClean="0">
                <a:latin typeface="Courier New" panose="02070309020205020404" pitchFamily="49" charset="0"/>
                <a:cs typeface="Courier New" panose="02070309020205020404" pitchFamily="49" charset="0"/>
              </a:rPr>
              <a:t>?-</a:t>
            </a:r>
            <a:r>
              <a:rPr lang="en-US" altLang="en-US" dirty="0" smtClean="0"/>
              <a:t> is a prompt Prolog often uses)</a:t>
            </a:r>
          </a:p>
          <a:p>
            <a:pPr eaLnBrk="1" hangingPunct="1">
              <a:lnSpc>
                <a:spcPct val="90000"/>
              </a:lnSpc>
              <a:buFontTx/>
              <a:buNone/>
            </a:pPr>
            <a:r>
              <a:rPr lang="en-US" altLang="en-US" sz="2100" b="1" dirty="0" smtClean="0">
                <a:latin typeface="Courier New" panose="02070309020205020404" pitchFamily="49" charset="0"/>
              </a:rPr>
              <a:t>		 ?-</a:t>
            </a:r>
            <a:r>
              <a:rPr lang="en-US" altLang="en-US" sz="2100" dirty="0" smtClean="0">
                <a:latin typeface="Courier New" panose="02070309020205020404" pitchFamily="49" charset="0"/>
              </a:rPr>
              <a:t> man(</a:t>
            </a:r>
            <a:r>
              <a:rPr lang="en-US" altLang="en-US" sz="2100" dirty="0" err="1" smtClean="0">
                <a:latin typeface="Courier New" panose="02070309020205020404" pitchFamily="49" charset="0"/>
              </a:rPr>
              <a:t>fred</a:t>
            </a:r>
            <a:r>
              <a:rPr lang="en-US" altLang="en-US" sz="2100" dirty="0" smtClean="0">
                <a:latin typeface="Courier New" panose="02070309020205020404" pitchFamily="49" charset="0"/>
              </a:rPr>
              <a:t>).</a:t>
            </a:r>
          </a:p>
          <a:p>
            <a:pPr lvl="1" eaLnBrk="1" hangingPunct="1">
              <a:lnSpc>
                <a:spcPct val="90000"/>
              </a:lnSpc>
            </a:pPr>
            <a:endParaRPr lang="en-US" altLang="en-US" sz="500" dirty="0" smtClean="0"/>
          </a:p>
          <a:p>
            <a:pPr lvl="1" eaLnBrk="1" hangingPunct="1">
              <a:lnSpc>
                <a:spcPct val="90000"/>
              </a:lnSpc>
            </a:pPr>
            <a:r>
              <a:rPr lang="en-US" altLang="en-US" dirty="0" smtClean="0"/>
              <a:t>Conjunctive </a:t>
            </a:r>
            <a:r>
              <a:rPr lang="en-US" altLang="en-US" dirty="0" smtClean="0"/>
              <a:t>propositions and propositions with variables are also legal goals</a:t>
            </a:r>
          </a:p>
          <a:p>
            <a:pPr eaLnBrk="1" hangingPunct="1">
              <a:lnSpc>
                <a:spcPct val="90000"/>
              </a:lnSpc>
              <a:buFontTx/>
              <a:buNone/>
            </a:pPr>
            <a:r>
              <a:rPr lang="en-US" altLang="en-US" sz="2100" b="1" dirty="0" smtClean="0">
                <a:latin typeface="Courier New" panose="02070309020205020404" pitchFamily="49" charset="0"/>
              </a:rPr>
              <a:t>		 ?- </a:t>
            </a:r>
            <a:r>
              <a:rPr lang="en-US" altLang="en-US" sz="2100" dirty="0" smtClean="0">
                <a:latin typeface="Courier New" panose="02070309020205020404" pitchFamily="49" charset="0"/>
              </a:rPr>
              <a:t>parent(X, mike</a:t>
            </a:r>
            <a:r>
              <a:rPr lang="en-US" altLang="en-US" sz="2100" dirty="0" smtClean="0">
                <a:latin typeface="Courier New" panose="02070309020205020404" pitchFamily="49" charset="0"/>
              </a:rPr>
              <a:t>).</a:t>
            </a:r>
          </a:p>
          <a:p>
            <a:pPr eaLnBrk="1" hangingPunct="1">
              <a:lnSpc>
                <a:spcPct val="90000"/>
              </a:lnSpc>
              <a:buFontTx/>
              <a:buNone/>
            </a:pPr>
            <a:r>
              <a:rPr lang="en-US" altLang="en-US" sz="2100" dirty="0">
                <a:latin typeface="Courier New" panose="02070309020205020404" pitchFamily="49" charset="0"/>
              </a:rPr>
              <a:t>	</a:t>
            </a:r>
            <a:r>
              <a:rPr lang="en-US" altLang="en-US" sz="2100" dirty="0" smtClean="0">
                <a:latin typeface="Courier New" panose="02070309020205020404" pitchFamily="49" charset="0"/>
              </a:rPr>
              <a:t>	 </a:t>
            </a:r>
            <a:r>
              <a:rPr lang="en-US" altLang="en-US" sz="2100" b="1" dirty="0" smtClean="0">
                <a:latin typeface="Courier New" panose="02070309020205020404" pitchFamily="49" charset="0"/>
              </a:rPr>
              <a:t>?-</a:t>
            </a:r>
            <a:r>
              <a:rPr lang="en-US" altLang="en-US" sz="2100" dirty="0" smtClean="0">
                <a:latin typeface="Courier New" panose="02070309020205020404" pitchFamily="49" charset="0"/>
              </a:rPr>
              <a:t> </a:t>
            </a:r>
            <a:r>
              <a:rPr lang="en-US" altLang="en-US" sz="2100" dirty="0" smtClean="0">
                <a:latin typeface="Courier New" panose="02070309020205020404" pitchFamily="49" charset="0"/>
              </a:rPr>
              <a:t>parent(X, mike</a:t>
            </a:r>
            <a:r>
              <a:rPr lang="en-US" altLang="en-US" sz="2100" dirty="0" smtClean="0">
                <a:latin typeface="Courier New" panose="02070309020205020404" pitchFamily="49" charset="0"/>
              </a:rPr>
              <a:t>), male(X).</a:t>
            </a:r>
          </a:p>
          <a:p>
            <a:pPr lvl="1" eaLnBrk="1" hangingPunct="1"/>
            <a:endParaRPr lang="en-US" altLang="en-US" sz="500" dirty="0" smtClean="0"/>
          </a:p>
          <a:p>
            <a:pPr lvl="1" eaLnBrk="1" hangingPunct="1"/>
            <a:r>
              <a:rPr lang="en-US" altLang="en-US" dirty="0" smtClean="0"/>
              <a:t>Conjunctive </a:t>
            </a:r>
            <a:r>
              <a:rPr lang="en-US" altLang="en-US" dirty="0" smtClean="0"/>
              <a:t>propositions made up of </a:t>
            </a:r>
            <a:r>
              <a:rPr lang="en-US" altLang="en-US" u="sng" dirty="0" err="1" smtClean="0"/>
              <a:t>subgoals</a:t>
            </a:r>
            <a:endParaRPr lang="en-US" altLang="en-US" u="sng"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3"/>
          <p:cNvSpPr>
            <a:spLocks noGrp="1"/>
          </p:cNvSpPr>
          <p:nvPr>
            <p:ph type="ftr" sz="quarter" idx="10"/>
          </p:nvPr>
        </p:nvSpPr>
        <p:spPr/>
        <p:txBody>
          <a:bodyPr/>
          <a:lstStyle/>
          <a:p>
            <a:pPr>
              <a:defRPr/>
            </a:pPr>
            <a:r>
              <a:rPr lang="en-US" dirty="0" smtClean="0"/>
              <a:t>Copyright © 2023 Addison-Wesley. All rights reserved.</a:t>
            </a:r>
          </a:p>
        </p:txBody>
      </p:sp>
      <p:sp>
        <p:nvSpPr>
          <p:cNvPr id="5529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50850472-7EBC-4E62-B37B-56EBAF670B2C}" type="slidenum">
              <a:rPr lang="en-US" altLang="en-US" sz="1000" smtClean="0">
                <a:solidFill>
                  <a:schemeClr val="tx1"/>
                </a:solidFill>
                <a:latin typeface="Arial" panose="020B0604020202020204" pitchFamily="34" charset="0"/>
              </a:rPr>
              <a:pPr>
                <a:spcBef>
                  <a:spcPct val="0"/>
                </a:spcBef>
                <a:buFontTx/>
                <a:buNone/>
              </a:pPr>
              <a:t>13</a:t>
            </a:fld>
            <a:endParaRPr lang="en-US" altLang="en-US" sz="1000" smtClean="0">
              <a:solidFill>
                <a:schemeClr val="tx1"/>
              </a:solidFill>
              <a:latin typeface="Arial" panose="020B0604020202020204" pitchFamily="34" charset="0"/>
            </a:endParaRPr>
          </a:p>
        </p:txBody>
      </p:sp>
      <p:sp>
        <p:nvSpPr>
          <p:cNvPr id="55300" name="Rectangle 2"/>
          <p:cNvSpPr>
            <a:spLocks noGrp="1" noChangeArrowheads="1"/>
          </p:cNvSpPr>
          <p:nvPr>
            <p:ph type="title"/>
          </p:nvPr>
        </p:nvSpPr>
        <p:spPr/>
        <p:txBody>
          <a:bodyPr/>
          <a:lstStyle/>
          <a:p>
            <a:pPr eaLnBrk="1" hangingPunct="1"/>
            <a:r>
              <a:rPr lang="en-US" altLang="en-US" dirty="0"/>
              <a:t>Prolog: </a:t>
            </a:r>
            <a:r>
              <a:rPr lang="en-US" altLang="en-US" dirty="0" smtClean="0"/>
              <a:t>Inferencing Process</a:t>
            </a:r>
          </a:p>
        </p:txBody>
      </p:sp>
      <p:sp>
        <p:nvSpPr>
          <p:cNvPr id="55301" name="Rectangle 3"/>
          <p:cNvSpPr>
            <a:spLocks noGrp="1" noChangeArrowheads="1"/>
          </p:cNvSpPr>
          <p:nvPr>
            <p:ph type="body" idx="1"/>
          </p:nvPr>
        </p:nvSpPr>
        <p:spPr>
          <a:xfrm>
            <a:off x="622300" y="1612900"/>
            <a:ext cx="8293100" cy="4940300"/>
          </a:xfrm>
        </p:spPr>
        <p:txBody>
          <a:bodyPr/>
          <a:lstStyle/>
          <a:p>
            <a:pPr eaLnBrk="1" hangingPunct="1"/>
            <a:r>
              <a:rPr lang="en-US" altLang="en-US" dirty="0" smtClean="0"/>
              <a:t>To prove a goal or </a:t>
            </a:r>
            <a:r>
              <a:rPr lang="en-US" altLang="en-US" dirty="0" err="1" smtClean="0"/>
              <a:t>subgoal</a:t>
            </a:r>
            <a:r>
              <a:rPr lang="en-US" altLang="en-US" dirty="0" smtClean="0"/>
              <a:t> is true</a:t>
            </a:r>
          </a:p>
          <a:p>
            <a:pPr lvl="1" eaLnBrk="1" hangingPunct="1"/>
            <a:r>
              <a:rPr lang="en-US" altLang="en-US" dirty="0" smtClean="0"/>
              <a:t>Must find a chain of facts and rules</a:t>
            </a:r>
          </a:p>
          <a:p>
            <a:pPr lvl="1" eaLnBrk="1" hangingPunct="1"/>
            <a:r>
              <a:rPr lang="en-US" altLang="en-US" dirty="0" smtClean="0"/>
              <a:t>For goal </a:t>
            </a:r>
            <a:r>
              <a:rPr lang="en-US" altLang="en-US" dirty="0" smtClean="0">
                <a:latin typeface="Courier New" panose="02070309020205020404" pitchFamily="49" charset="0"/>
              </a:rPr>
              <a:t>Q</a:t>
            </a:r>
            <a:r>
              <a:rPr lang="en-US" altLang="en-US" dirty="0" smtClean="0"/>
              <a:t>, find fact </a:t>
            </a:r>
            <a:r>
              <a:rPr lang="en-US" altLang="en-US" dirty="0" smtClean="0">
                <a:latin typeface="Courier New" panose="02070309020205020404" pitchFamily="49" charset="0"/>
              </a:rPr>
              <a:t>A</a:t>
            </a:r>
            <a:r>
              <a:rPr lang="en-US" altLang="en-US" dirty="0" smtClean="0"/>
              <a:t>, such that</a:t>
            </a:r>
          </a:p>
          <a:p>
            <a:pPr lvl="1" eaLnBrk="1" hangingPunct="1">
              <a:buFontTx/>
              <a:buNone/>
            </a:pPr>
            <a:r>
              <a:rPr lang="en-US" altLang="en-US" sz="2100" dirty="0" smtClean="0">
                <a:latin typeface="Courier New" panose="02070309020205020404" pitchFamily="49" charset="0"/>
              </a:rPr>
              <a:t>		 B :- A</a:t>
            </a:r>
          </a:p>
          <a:p>
            <a:pPr lvl="1" eaLnBrk="1" hangingPunct="1">
              <a:buFontTx/>
              <a:buNone/>
            </a:pPr>
            <a:r>
              <a:rPr lang="en-US" altLang="en-US" sz="2100" dirty="0" smtClean="0">
                <a:latin typeface="Courier New" panose="02070309020205020404" pitchFamily="49" charset="0"/>
              </a:rPr>
              <a:t>		 C :- B</a:t>
            </a:r>
          </a:p>
          <a:p>
            <a:pPr lvl="1" eaLnBrk="1" hangingPunct="1">
              <a:buFontTx/>
              <a:buNone/>
            </a:pPr>
            <a:r>
              <a:rPr lang="en-US" altLang="en-US" sz="2100" dirty="0" smtClean="0">
                <a:latin typeface="Courier New" panose="02070309020205020404" pitchFamily="49" charset="0"/>
                <a:cs typeface="Courier New" panose="02070309020205020404" pitchFamily="49" charset="0"/>
              </a:rPr>
              <a:t>		   …</a:t>
            </a:r>
          </a:p>
          <a:p>
            <a:pPr lvl="1" eaLnBrk="1" hangingPunct="1">
              <a:buFontTx/>
              <a:buNone/>
            </a:pPr>
            <a:r>
              <a:rPr lang="en-US" altLang="en-US" sz="2100" dirty="0" smtClean="0">
                <a:latin typeface="Courier New" panose="02070309020205020404" pitchFamily="49" charset="0"/>
              </a:rPr>
              <a:t>		 Q :- P</a:t>
            </a:r>
            <a:endParaRPr lang="en-US" altLang="en-US" sz="2100" b="1" dirty="0" smtClean="0">
              <a:latin typeface="Courier New" panose="02070309020205020404" pitchFamily="49" charset="0"/>
            </a:endParaRPr>
          </a:p>
          <a:p>
            <a:pPr lvl="1" eaLnBrk="1" hangingPunct="1"/>
            <a:endParaRPr lang="en-US" altLang="en-US" sz="600" dirty="0" smtClean="0"/>
          </a:p>
          <a:p>
            <a:pPr lvl="1" eaLnBrk="1" hangingPunct="1"/>
            <a:r>
              <a:rPr lang="en-US" altLang="en-US" dirty="0" smtClean="0"/>
              <a:t>This process is called matching</a:t>
            </a:r>
          </a:p>
          <a:p>
            <a:pPr lvl="1" eaLnBrk="1" hangingPunct="1"/>
            <a:r>
              <a:rPr lang="en-US" altLang="en-US" dirty="0" smtClean="0"/>
              <a:t>Proving a </a:t>
            </a:r>
            <a:r>
              <a:rPr lang="en-US" altLang="en-US" dirty="0" err="1" smtClean="0"/>
              <a:t>subgoal</a:t>
            </a:r>
            <a:r>
              <a:rPr lang="en-US" altLang="en-US" dirty="0"/>
              <a:t> </a:t>
            </a:r>
            <a:r>
              <a:rPr lang="en-US" altLang="en-US" dirty="0" smtClean="0"/>
              <a:t>is called satisfying</a:t>
            </a:r>
            <a:r>
              <a:rPr lang="en-US" altLang="en-US" dirty="0"/>
              <a:t> </a:t>
            </a:r>
            <a:r>
              <a:rPr lang="en-US" altLang="en-US" dirty="0" smtClean="0"/>
              <a:t>the </a:t>
            </a:r>
            <a:r>
              <a:rPr lang="en-US" altLang="en-US" dirty="0" err="1" smtClean="0"/>
              <a:t>subgoal</a:t>
            </a:r>
            <a:endParaRPr lang="en-US" altLang="en-US" dirty="0"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3"/>
          <p:cNvSpPr>
            <a:spLocks noGrp="1"/>
          </p:cNvSpPr>
          <p:nvPr>
            <p:ph type="ftr" sz="quarter" idx="10"/>
          </p:nvPr>
        </p:nvSpPr>
        <p:spPr/>
        <p:txBody>
          <a:bodyPr/>
          <a:lstStyle/>
          <a:p>
            <a:pPr>
              <a:defRPr/>
            </a:pPr>
            <a:r>
              <a:rPr lang="en-US" dirty="0" smtClean="0"/>
              <a:t>Copyright © 2023 Addison-Wesley. All rights reserved.</a:t>
            </a:r>
          </a:p>
        </p:txBody>
      </p:sp>
      <p:sp>
        <p:nvSpPr>
          <p:cNvPr id="5734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66D9AB99-B38E-48CA-BF2D-D35D97BCE638}" type="slidenum">
              <a:rPr lang="en-US" altLang="en-US" sz="1000" smtClean="0">
                <a:solidFill>
                  <a:schemeClr val="tx1"/>
                </a:solidFill>
                <a:latin typeface="Arial" panose="020B0604020202020204" pitchFamily="34" charset="0"/>
              </a:rPr>
              <a:pPr>
                <a:spcBef>
                  <a:spcPct val="0"/>
                </a:spcBef>
                <a:buFontTx/>
                <a:buNone/>
              </a:pPr>
              <a:t>14</a:t>
            </a:fld>
            <a:endParaRPr lang="en-US" altLang="en-US" sz="1000" smtClean="0">
              <a:solidFill>
                <a:schemeClr val="tx1"/>
              </a:solidFill>
              <a:latin typeface="Arial" panose="020B0604020202020204" pitchFamily="34" charset="0"/>
            </a:endParaRPr>
          </a:p>
        </p:txBody>
      </p:sp>
      <p:sp>
        <p:nvSpPr>
          <p:cNvPr id="57348" name="Rectangle 2"/>
          <p:cNvSpPr>
            <a:spLocks noGrp="1" noChangeArrowheads="1"/>
          </p:cNvSpPr>
          <p:nvPr>
            <p:ph type="title"/>
          </p:nvPr>
        </p:nvSpPr>
        <p:spPr>
          <a:xfrm>
            <a:off x="609600" y="31530"/>
            <a:ext cx="8153400" cy="1143000"/>
          </a:xfrm>
        </p:spPr>
        <p:txBody>
          <a:bodyPr/>
          <a:lstStyle/>
          <a:p>
            <a:pPr eaLnBrk="1" hangingPunct="1"/>
            <a:r>
              <a:rPr lang="en-US" altLang="en-US" dirty="0" smtClean="0"/>
              <a:t>Prolog Inferencing Process: Approaches</a:t>
            </a:r>
          </a:p>
        </p:txBody>
      </p:sp>
      <p:sp>
        <p:nvSpPr>
          <p:cNvPr id="57349" name="Rectangle 3"/>
          <p:cNvSpPr>
            <a:spLocks noGrp="1" noChangeArrowheads="1"/>
          </p:cNvSpPr>
          <p:nvPr>
            <p:ph type="body" idx="1"/>
          </p:nvPr>
        </p:nvSpPr>
        <p:spPr>
          <a:xfrm>
            <a:off x="622300" y="1612900"/>
            <a:ext cx="8153400" cy="4572000"/>
          </a:xfrm>
        </p:spPr>
        <p:txBody>
          <a:bodyPr/>
          <a:lstStyle/>
          <a:p>
            <a:pPr eaLnBrk="1" hangingPunct="1"/>
            <a:r>
              <a:rPr lang="en-US" altLang="en-US" sz="2400" u="sng" dirty="0" smtClean="0"/>
              <a:t>Bottom-up resolution</a:t>
            </a:r>
            <a:r>
              <a:rPr lang="en-US" altLang="en-US" sz="2400" dirty="0" smtClean="0"/>
              <a:t>, or </a:t>
            </a:r>
            <a:r>
              <a:rPr lang="en-US" altLang="en-US" sz="2400" u="sng" dirty="0" smtClean="0"/>
              <a:t>forward chaining</a:t>
            </a:r>
          </a:p>
          <a:p>
            <a:pPr lvl="1" eaLnBrk="1" hangingPunct="1"/>
            <a:r>
              <a:rPr lang="en-US" altLang="en-US" sz="2000" dirty="0" smtClean="0"/>
              <a:t>Begin with facts and rules</a:t>
            </a:r>
          </a:p>
          <a:p>
            <a:pPr lvl="1" eaLnBrk="1" hangingPunct="1"/>
            <a:r>
              <a:rPr lang="en-US" altLang="en-US" sz="2000" dirty="0"/>
              <a:t>A</a:t>
            </a:r>
            <a:r>
              <a:rPr lang="en-US" altLang="en-US" sz="2000" dirty="0" smtClean="0"/>
              <a:t>ttempt to find a sequence of matches that leads to goal</a:t>
            </a:r>
          </a:p>
          <a:p>
            <a:pPr lvl="1" eaLnBrk="1" hangingPunct="1"/>
            <a:r>
              <a:rPr lang="en-US" altLang="en-US" sz="2000" dirty="0" smtClean="0"/>
              <a:t>Works well with a large set of possibly appropriate facts</a:t>
            </a:r>
          </a:p>
          <a:p>
            <a:pPr eaLnBrk="1" hangingPunct="1"/>
            <a:r>
              <a:rPr lang="en-US" altLang="en-US" sz="2400" u="sng" dirty="0" smtClean="0"/>
              <a:t>Top-down resolution</a:t>
            </a:r>
            <a:r>
              <a:rPr lang="en-US" altLang="en-US" sz="2400" dirty="0" smtClean="0"/>
              <a:t>, or </a:t>
            </a:r>
            <a:r>
              <a:rPr lang="en-US" altLang="en-US" sz="2400" u="sng" dirty="0" smtClean="0"/>
              <a:t>backward chaining</a:t>
            </a:r>
          </a:p>
          <a:p>
            <a:pPr lvl="1" eaLnBrk="1" hangingPunct="1"/>
            <a:r>
              <a:rPr lang="en-US" altLang="en-US" sz="2000" dirty="0" smtClean="0"/>
              <a:t>Begin with goal</a:t>
            </a:r>
          </a:p>
          <a:p>
            <a:pPr lvl="1" eaLnBrk="1" hangingPunct="1"/>
            <a:r>
              <a:rPr lang="en-US" altLang="en-US" sz="2000" dirty="0"/>
              <a:t>A</a:t>
            </a:r>
            <a:r>
              <a:rPr lang="en-US" altLang="en-US" sz="2000" dirty="0" smtClean="0"/>
              <a:t>ttempt to find a sequence of matches that leads to facts</a:t>
            </a:r>
          </a:p>
          <a:p>
            <a:pPr lvl="1" eaLnBrk="1" hangingPunct="1"/>
            <a:r>
              <a:rPr lang="en-US" altLang="en-US" sz="2000" dirty="0" smtClean="0"/>
              <a:t>Works well with a small set of possibly appropriate facts</a:t>
            </a:r>
          </a:p>
          <a:p>
            <a:pPr lvl="1" eaLnBrk="1" hangingPunct="1"/>
            <a:r>
              <a:rPr lang="en-US" altLang="en-US" sz="2000" dirty="0" smtClean="0"/>
              <a:t>Prolog uses this approach</a:t>
            </a:r>
          </a:p>
          <a:p>
            <a:pPr eaLnBrk="1" hangingPunct="1"/>
            <a:r>
              <a:rPr lang="en-US" altLang="en-US" sz="2400" dirty="0" smtClean="0"/>
              <a:t>Compare bottom-up and top-down resolution</a:t>
            </a:r>
          </a:p>
          <a:p>
            <a:pPr lvl="1" eaLnBrk="1" hangingPunct="1">
              <a:buFontTx/>
              <a:buNone/>
            </a:pPr>
            <a:r>
              <a:rPr lang="en-US" altLang="en-US" sz="1800" dirty="0" smtClean="0">
                <a:latin typeface="Courier New" panose="02070309020205020404" pitchFamily="49" charset="0"/>
              </a:rPr>
              <a:t>	father(bob).</a:t>
            </a:r>
          </a:p>
          <a:p>
            <a:pPr lvl="1" eaLnBrk="1" hangingPunct="1">
              <a:buFontTx/>
              <a:buNone/>
            </a:pPr>
            <a:r>
              <a:rPr lang="en-US" altLang="en-US" sz="1800" dirty="0" smtClean="0">
                <a:latin typeface="Courier New" panose="02070309020205020404" pitchFamily="49" charset="0"/>
              </a:rPr>
              <a:t>	man(X) :- father(X).</a:t>
            </a:r>
          </a:p>
        </p:txBody>
      </p:sp>
      <p:sp>
        <p:nvSpPr>
          <p:cNvPr id="57350" name="Text Box 7"/>
          <p:cNvSpPr txBox="1">
            <a:spLocks noChangeArrowheads="1"/>
          </p:cNvSpPr>
          <p:nvPr/>
        </p:nvSpPr>
        <p:spPr bwMode="auto">
          <a:xfrm>
            <a:off x="4848563" y="5613400"/>
            <a:ext cx="2031325" cy="400110"/>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lgn="ctr">
              <a:spcBef>
                <a:spcPct val="0"/>
              </a:spcBef>
              <a:buFontTx/>
              <a:buNone/>
            </a:pPr>
            <a:r>
              <a:rPr lang="en-US" altLang="en-US" sz="2000" b="1" dirty="0" smtClean="0">
                <a:latin typeface="Courier New" panose="02070309020205020404" pitchFamily="49" charset="0"/>
                <a:cs typeface="Courier New" panose="02070309020205020404" pitchFamily="49" charset="0"/>
              </a:rPr>
              <a:t>?-</a:t>
            </a:r>
            <a:r>
              <a:rPr lang="en-US" altLang="en-US" sz="2000" dirty="0" smtClean="0">
                <a:latin typeface="Courier New" panose="02070309020205020404" pitchFamily="49" charset="0"/>
                <a:cs typeface="Courier New" panose="02070309020205020404" pitchFamily="49" charset="0"/>
              </a:rPr>
              <a:t> </a:t>
            </a:r>
            <a:r>
              <a:rPr lang="en-US" altLang="en-US" sz="2000" dirty="0">
                <a:latin typeface="Courier New" panose="02070309020205020404" pitchFamily="49" charset="0"/>
              </a:rPr>
              <a:t>man(bob).</a:t>
            </a:r>
            <a:endParaRPr lang="en-GB" altLang="en-US" sz="2000" dirty="0">
              <a:latin typeface="Courier New" panose="02070309020205020404" pitchFamily="49"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3"/>
          <p:cNvSpPr>
            <a:spLocks noGrp="1"/>
          </p:cNvSpPr>
          <p:nvPr>
            <p:ph type="ftr" sz="quarter" idx="10"/>
          </p:nvPr>
        </p:nvSpPr>
        <p:spPr/>
        <p:txBody>
          <a:bodyPr/>
          <a:lstStyle/>
          <a:p>
            <a:pPr>
              <a:defRPr/>
            </a:pPr>
            <a:r>
              <a:rPr lang="en-US" dirty="0" smtClean="0"/>
              <a:t>Copyright © 2023 Addison-Wesley. All rights reserved.</a:t>
            </a:r>
          </a:p>
        </p:txBody>
      </p:sp>
      <p:sp>
        <p:nvSpPr>
          <p:cNvPr id="5939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CC9BF915-8752-4379-94DF-E713E20F0194}" type="slidenum">
              <a:rPr lang="en-US" altLang="en-US" sz="1000" smtClean="0">
                <a:solidFill>
                  <a:schemeClr val="tx1"/>
                </a:solidFill>
                <a:latin typeface="Arial" panose="020B0604020202020204" pitchFamily="34" charset="0"/>
              </a:rPr>
              <a:pPr>
                <a:spcBef>
                  <a:spcPct val="0"/>
                </a:spcBef>
                <a:buFontTx/>
                <a:buNone/>
              </a:pPr>
              <a:t>15</a:t>
            </a:fld>
            <a:endParaRPr lang="en-US" altLang="en-US" sz="1000" smtClean="0">
              <a:solidFill>
                <a:schemeClr val="tx1"/>
              </a:solidFill>
              <a:latin typeface="Arial" panose="020B0604020202020204" pitchFamily="34" charset="0"/>
            </a:endParaRPr>
          </a:p>
        </p:txBody>
      </p:sp>
      <p:sp>
        <p:nvSpPr>
          <p:cNvPr id="59396" name="Rectangle 2"/>
          <p:cNvSpPr>
            <a:spLocks noGrp="1" noChangeArrowheads="1"/>
          </p:cNvSpPr>
          <p:nvPr>
            <p:ph type="title"/>
          </p:nvPr>
        </p:nvSpPr>
        <p:spPr>
          <a:xfrm>
            <a:off x="609600" y="31530"/>
            <a:ext cx="8153400" cy="1143000"/>
          </a:xfrm>
        </p:spPr>
        <p:txBody>
          <a:bodyPr/>
          <a:lstStyle/>
          <a:p>
            <a:pPr eaLnBrk="1" hangingPunct="1"/>
            <a:r>
              <a:rPr lang="en-US" altLang="en-US" dirty="0" smtClean="0"/>
              <a:t>Prolog Inferencing Process: </a:t>
            </a:r>
            <a:r>
              <a:rPr lang="en-US" altLang="en-US" dirty="0" err="1" smtClean="0"/>
              <a:t>Subgoals</a:t>
            </a:r>
            <a:endParaRPr lang="en-US" altLang="en-US" dirty="0" smtClean="0"/>
          </a:p>
        </p:txBody>
      </p:sp>
      <p:sp>
        <p:nvSpPr>
          <p:cNvPr id="59397" name="Rectangle 3"/>
          <p:cNvSpPr>
            <a:spLocks noGrp="1" noChangeArrowheads="1"/>
          </p:cNvSpPr>
          <p:nvPr>
            <p:ph type="body" idx="1"/>
          </p:nvPr>
        </p:nvSpPr>
        <p:spPr/>
        <p:txBody>
          <a:bodyPr/>
          <a:lstStyle/>
          <a:p>
            <a:pPr eaLnBrk="1" hangingPunct="1"/>
            <a:r>
              <a:rPr lang="en-US" altLang="en-US" dirty="0" smtClean="0"/>
              <a:t>When goal has multiple </a:t>
            </a:r>
            <a:r>
              <a:rPr lang="en-US" altLang="en-US" dirty="0" err="1" smtClean="0"/>
              <a:t>subgoals</a:t>
            </a:r>
            <a:r>
              <a:rPr lang="en-US" altLang="en-US" dirty="0" smtClean="0"/>
              <a:t>, can use</a:t>
            </a:r>
          </a:p>
          <a:p>
            <a:pPr lvl="1" eaLnBrk="1" hangingPunct="1"/>
            <a:r>
              <a:rPr lang="en-US" altLang="en-US" dirty="0"/>
              <a:t>Breadth-first search</a:t>
            </a:r>
          </a:p>
          <a:p>
            <a:pPr lvl="2" eaLnBrk="1" hangingPunct="1"/>
            <a:r>
              <a:rPr lang="en-US" altLang="en-US" dirty="0"/>
              <a:t>Work on all the </a:t>
            </a:r>
            <a:r>
              <a:rPr lang="en-US" altLang="en-US" dirty="0" err="1"/>
              <a:t>subgoals</a:t>
            </a:r>
            <a:r>
              <a:rPr lang="en-US" altLang="en-US" dirty="0"/>
              <a:t> in </a:t>
            </a:r>
            <a:r>
              <a:rPr lang="en-US" altLang="en-US" dirty="0" smtClean="0"/>
              <a:t>parallel</a:t>
            </a:r>
          </a:p>
          <a:p>
            <a:pPr lvl="1" eaLnBrk="1" hangingPunct="1"/>
            <a:r>
              <a:rPr lang="en-US" altLang="en-US" dirty="0" smtClean="0"/>
              <a:t>Depth-first search</a:t>
            </a:r>
          </a:p>
          <a:p>
            <a:pPr lvl="2" eaLnBrk="1" hangingPunct="1"/>
            <a:r>
              <a:rPr lang="en-US" altLang="en-US" dirty="0" smtClean="0"/>
              <a:t>Find a complete proof for the first </a:t>
            </a:r>
            <a:r>
              <a:rPr lang="en-US" altLang="en-US" dirty="0" err="1" smtClean="0"/>
              <a:t>subgoal</a:t>
            </a:r>
            <a:r>
              <a:rPr lang="en-US" altLang="en-US" dirty="0" smtClean="0"/>
              <a:t>, then work on the second, and so on</a:t>
            </a:r>
          </a:p>
          <a:p>
            <a:pPr lvl="2" eaLnBrk="1" hangingPunct="1"/>
            <a:r>
              <a:rPr lang="en-US" altLang="en-US" dirty="0" smtClean="0"/>
              <a:t>Can be done with fewer computational resources</a:t>
            </a:r>
          </a:p>
          <a:p>
            <a:pPr lvl="2" eaLnBrk="1" hangingPunct="1"/>
            <a:r>
              <a:rPr lang="en-US" altLang="en-US" dirty="0" smtClean="0"/>
              <a:t>Prolog uses this approach</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3"/>
          <p:cNvSpPr>
            <a:spLocks noGrp="1"/>
          </p:cNvSpPr>
          <p:nvPr>
            <p:ph type="ftr" sz="quarter" idx="10"/>
          </p:nvPr>
        </p:nvSpPr>
        <p:spPr/>
        <p:txBody>
          <a:bodyPr/>
          <a:lstStyle/>
          <a:p>
            <a:pPr>
              <a:defRPr/>
            </a:pPr>
            <a:r>
              <a:rPr lang="en-US" dirty="0" smtClean="0"/>
              <a:t>Copyright © 2023 Addison-Wesley. All rights reserved.</a:t>
            </a:r>
          </a:p>
        </p:txBody>
      </p:sp>
      <p:sp>
        <p:nvSpPr>
          <p:cNvPr id="6144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137ACFDB-6040-48DA-AAF9-90365CAD8E3A}" type="slidenum">
              <a:rPr lang="en-US" altLang="en-US" sz="1000" smtClean="0">
                <a:solidFill>
                  <a:schemeClr val="tx1"/>
                </a:solidFill>
                <a:latin typeface="Arial" panose="020B0604020202020204" pitchFamily="34" charset="0"/>
              </a:rPr>
              <a:pPr>
                <a:spcBef>
                  <a:spcPct val="0"/>
                </a:spcBef>
                <a:buFontTx/>
                <a:buNone/>
              </a:pPr>
              <a:t>16</a:t>
            </a:fld>
            <a:endParaRPr lang="en-US" altLang="en-US" sz="1000" smtClean="0">
              <a:solidFill>
                <a:schemeClr val="tx1"/>
              </a:solidFill>
              <a:latin typeface="Arial" panose="020B0604020202020204" pitchFamily="34" charset="0"/>
            </a:endParaRPr>
          </a:p>
        </p:txBody>
      </p:sp>
      <p:sp>
        <p:nvSpPr>
          <p:cNvPr id="61444" name="Rectangle 2"/>
          <p:cNvSpPr>
            <a:spLocks noGrp="1" noChangeArrowheads="1"/>
          </p:cNvSpPr>
          <p:nvPr>
            <p:ph type="title"/>
          </p:nvPr>
        </p:nvSpPr>
        <p:spPr>
          <a:xfrm>
            <a:off x="609600" y="31530"/>
            <a:ext cx="8153400" cy="1143000"/>
          </a:xfrm>
        </p:spPr>
        <p:txBody>
          <a:bodyPr/>
          <a:lstStyle/>
          <a:p>
            <a:pPr eaLnBrk="1" hangingPunct="1"/>
            <a:r>
              <a:rPr lang="en-US" altLang="en-US" dirty="0" smtClean="0"/>
              <a:t>Prolog Inferencing Process: Backtracking</a:t>
            </a:r>
          </a:p>
        </p:txBody>
      </p:sp>
      <p:sp>
        <p:nvSpPr>
          <p:cNvPr id="61445" name="Rectangle 3"/>
          <p:cNvSpPr>
            <a:spLocks noGrp="1" noChangeArrowheads="1"/>
          </p:cNvSpPr>
          <p:nvPr>
            <p:ph type="body" idx="1"/>
          </p:nvPr>
        </p:nvSpPr>
        <p:spPr>
          <a:xfrm>
            <a:off x="609600" y="1371600"/>
            <a:ext cx="8382000" cy="4572000"/>
          </a:xfrm>
        </p:spPr>
        <p:txBody>
          <a:bodyPr/>
          <a:lstStyle/>
          <a:p>
            <a:pPr eaLnBrk="1" hangingPunct="1"/>
            <a:r>
              <a:rPr lang="en-US" altLang="en-US" u="sng" dirty="0" smtClean="0"/>
              <a:t>Backtracking</a:t>
            </a:r>
          </a:p>
          <a:p>
            <a:pPr lvl="1" eaLnBrk="1" hangingPunct="1"/>
            <a:r>
              <a:rPr lang="en-US" altLang="en-US" dirty="0" smtClean="0"/>
              <a:t>Multiple </a:t>
            </a:r>
            <a:r>
              <a:rPr lang="en-US" altLang="en-US" dirty="0" err="1" smtClean="0"/>
              <a:t>subgoals</a:t>
            </a:r>
            <a:r>
              <a:rPr lang="en-US" altLang="en-US" dirty="0" smtClean="0"/>
              <a:t>, and we fail to prove one</a:t>
            </a:r>
          </a:p>
          <a:p>
            <a:pPr lvl="1" eaLnBrk="1" hangingPunct="1"/>
            <a:r>
              <a:rPr lang="en-US" altLang="en-US" dirty="0" smtClean="0"/>
              <a:t>Reconsider previous </a:t>
            </a:r>
            <a:r>
              <a:rPr lang="en-US" altLang="en-US" dirty="0" err="1" smtClean="0"/>
              <a:t>subgoal</a:t>
            </a:r>
            <a:r>
              <a:rPr lang="en-US" altLang="en-US" dirty="0" smtClean="0"/>
              <a:t> for different solution</a:t>
            </a:r>
          </a:p>
          <a:p>
            <a:pPr lvl="1" eaLnBrk="1" hangingPunct="1"/>
            <a:r>
              <a:rPr lang="en-US" altLang="en-US" dirty="0" smtClean="0"/>
              <a:t>Begin search where previous search left off</a:t>
            </a:r>
          </a:p>
          <a:p>
            <a:pPr eaLnBrk="1" hangingPunct="1"/>
            <a:r>
              <a:rPr lang="en-US" altLang="en-US" dirty="0" smtClean="0"/>
              <a:t>Can take lots of time and space</a:t>
            </a:r>
          </a:p>
          <a:p>
            <a:pPr lvl="1" eaLnBrk="1" hangingPunct="1"/>
            <a:r>
              <a:rPr lang="en-US" altLang="en-US" dirty="0" smtClean="0"/>
              <a:t>May find all possible proofs to every </a:t>
            </a:r>
            <a:r>
              <a:rPr lang="en-US" altLang="en-US" dirty="0" err="1" smtClean="0"/>
              <a:t>subgoal</a:t>
            </a:r>
            <a:endParaRPr lang="en-US" altLang="en-US" dirty="0" smtClean="0"/>
          </a:p>
          <a:p>
            <a:pPr eaLnBrk="1" hangingPunct="1"/>
            <a:r>
              <a:rPr lang="en-US" altLang="en-US" dirty="0" smtClean="0"/>
              <a:t>Consider the goal</a:t>
            </a:r>
          </a:p>
          <a:p>
            <a:pPr lvl="1" eaLnBrk="1" hangingPunct="1">
              <a:buFontTx/>
              <a:buNone/>
            </a:pPr>
            <a:r>
              <a:rPr lang="en-US" altLang="en-US" sz="2000" dirty="0" smtClean="0">
                <a:latin typeface="Courier New" panose="02070309020205020404" pitchFamily="49" charset="0"/>
              </a:rPr>
              <a:t>	</a:t>
            </a:r>
            <a:r>
              <a:rPr lang="en-US" altLang="en-US" sz="2000" b="1" dirty="0" smtClean="0">
                <a:latin typeface="Courier New" panose="02070309020205020404" pitchFamily="49" charset="0"/>
              </a:rPr>
              <a:t>?-</a:t>
            </a:r>
            <a:r>
              <a:rPr lang="en-US" altLang="en-US" sz="2000" dirty="0" smtClean="0">
                <a:latin typeface="Courier New" panose="02070309020205020404" pitchFamily="49" charset="0"/>
              </a:rPr>
              <a:t> male(X), </a:t>
            </a:r>
            <a:r>
              <a:rPr lang="en-US" altLang="en-US" sz="2000" dirty="0" smtClean="0">
                <a:latin typeface="Courier New" panose="02070309020205020404" pitchFamily="49" charset="0"/>
              </a:rPr>
              <a:t>parent(X, </a:t>
            </a:r>
            <a:r>
              <a:rPr lang="en-US" altLang="en-US" sz="2000" dirty="0" err="1" smtClean="0">
                <a:latin typeface="Courier New" panose="02070309020205020404" pitchFamily="49" charset="0"/>
              </a:rPr>
              <a:t>shelley</a:t>
            </a:r>
            <a:r>
              <a:rPr lang="en-US" altLang="en-US" sz="2000" dirty="0" smtClean="0">
                <a:latin typeface="Courier New" panose="02070309020205020404" pitchFamily="49" charset="0"/>
              </a:rPr>
              <a:t>).</a:t>
            </a:r>
            <a:endParaRPr lang="en-US" altLang="en-US" dirty="0" smtClean="0"/>
          </a:p>
        </p:txBody>
      </p:sp>
      <p:sp>
        <p:nvSpPr>
          <p:cNvPr id="61446" name="Text Box 7"/>
          <p:cNvSpPr txBox="1">
            <a:spLocks noChangeArrowheads="1"/>
          </p:cNvSpPr>
          <p:nvPr/>
        </p:nvSpPr>
        <p:spPr bwMode="auto">
          <a:xfrm>
            <a:off x="1447800" y="5181600"/>
            <a:ext cx="6837128" cy="1077218"/>
          </a:xfrm>
          <a:prstGeom prst="rect">
            <a:avLst/>
          </a:prstGeom>
          <a:noFill/>
          <a:ln w="9525">
            <a:solidFill>
              <a:srgbClr val="333399"/>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ZA" altLang="en-US" sz="1600" dirty="0"/>
              <a:t>Instantiates first </a:t>
            </a:r>
            <a:r>
              <a:rPr lang="en-ZA" altLang="en-US" sz="1600" dirty="0">
                <a:latin typeface="Courier New" panose="02070309020205020404" pitchFamily="49" charset="0"/>
              </a:rPr>
              <a:t>X</a:t>
            </a:r>
            <a:r>
              <a:rPr lang="en-ZA" altLang="en-US" sz="1600" dirty="0"/>
              <a:t> that is male, then tests if </a:t>
            </a:r>
            <a:r>
              <a:rPr lang="en-ZA" altLang="en-US" sz="1600" dirty="0">
                <a:latin typeface="Courier New" panose="02070309020205020404" pitchFamily="49" charset="0"/>
              </a:rPr>
              <a:t>X</a:t>
            </a:r>
            <a:r>
              <a:rPr lang="en-ZA" altLang="en-US" sz="1600" dirty="0"/>
              <a:t> is </a:t>
            </a:r>
            <a:r>
              <a:rPr lang="en-ZA" altLang="en-US" sz="1600" dirty="0" err="1">
                <a:latin typeface="Courier New" panose="02070309020205020404" pitchFamily="49" charset="0"/>
              </a:rPr>
              <a:t>shelley</a:t>
            </a:r>
            <a:r>
              <a:rPr lang="en-ZA" altLang="en-US" sz="1600" dirty="0" err="1"/>
              <a:t>’s</a:t>
            </a:r>
            <a:r>
              <a:rPr lang="en-ZA" altLang="en-US" sz="1600" dirty="0"/>
              <a:t> parent.</a:t>
            </a:r>
          </a:p>
          <a:p>
            <a:pPr>
              <a:spcBef>
                <a:spcPct val="0"/>
              </a:spcBef>
              <a:buFontTx/>
              <a:buNone/>
            </a:pPr>
            <a:r>
              <a:rPr lang="en-ZA" altLang="en-US" sz="1600" dirty="0"/>
              <a:t>If not, backtrack and try another </a:t>
            </a:r>
            <a:r>
              <a:rPr lang="en-ZA" altLang="en-US" sz="1600" dirty="0">
                <a:latin typeface="Courier New" panose="02070309020205020404" pitchFamily="49" charset="0"/>
              </a:rPr>
              <a:t>X</a:t>
            </a:r>
            <a:r>
              <a:rPr lang="en-ZA" altLang="en-US" sz="1600" dirty="0" smtClean="0"/>
              <a:t>.</a:t>
            </a:r>
          </a:p>
          <a:p>
            <a:pPr>
              <a:spcBef>
                <a:spcPct val="0"/>
              </a:spcBef>
              <a:buFontTx/>
              <a:buNone/>
            </a:pPr>
            <a:endParaRPr lang="en-ZA" altLang="en-US" sz="1600" dirty="0"/>
          </a:p>
          <a:p>
            <a:pPr>
              <a:spcBef>
                <a:spcPct val="0"/>
              </a:spcBef>
              <a:buFontTx/>
              <a:buNone/>
            </a:pPr>
            <a:r>
              <a:rPr lang="en-ZA" altLang="en-US" sz="1600" dirty="0" smtClean="0"/>
              <a:t>What makes this query suboptimal? How would you solve it?</a:t>
            </a:r>
            <a:endParaRPr lang="en-GB" altLang="en-US" sz="16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Footer Placeholder 3"/>
          <p:cNvSpPr>
            <a:spLocks noGrp="1"/>
          </p:cNvSpPr>
          <p:nvPr>
            <p:ph type="ftr" sz="quarter" idx="10"/>
          </p:nvPr>
        </p:nvSpPr>
        <p:spPr/>
        <p:txBody>
          <a:bodyPr/>
          <a:lstStyle/>
          <a:p>
            <a:pPr>
              <a:defRPr/>
            </a:pPr>
            <a:r>
              <a:rPr lang="en-US" dirty="0" smtClean="0"/>
              <a:t>Copyright © 2023 Addison-Wesley. All rights reserved.</a:t>
            </a:r>
          </a:p>
        </p:txBody>
      </p:sp>
      <p:sp>
        <p:nvSpPr>
          <p:cNvPr id="6758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C0EBB050-92C7-4C82-B017-80C38594468D}" type="slidenum">
              <a:rPr lang="en-US" altLang="en-US" sz="1000" smtClean="0">
                <a:solidFill>
                  <a:schemeClr val="tx1"/>
                </a:solidFill>
                <a:latin typeface="Arial" panose="020B0604020202020204" pitchFamily="34" charset="0"/>
              </a:rPr>
              <a:pPr>
                <a:spcBef>
                  <a:spcPct val="0"/>
                </a:spcBef>
                <a:buFontTx/>
                <a:buNone/>
              </a:pPr>
              <a:t>17</a:t>
            </a:fld>
            <a:endParaRPr lang="en-US" altLang="en-US" sz="1000" smtClean="0">
              <a:solidFill>
                <a:schemeClr val="tx1"/>
              </a:solidFill>
              <a:latin typeface="Arial" panose="020B0604020202020204" pitchFamily="34" charset="0"/>
            </a:endParaRPr>
          </a:p>
        </p:txBody>
      </p:sp>
      <p:sp>
        <p:nvSpPr>
          <p:cNvPr id="67588" name="Rectangle 2"/>
          <p:cNvSpPr>
            <a:spLocks noGrp="1" noChangeArrowheads="1"/>
          </p:cNvSpPr>
          <p:nvPr>
            <p:ph type="title"/>
          </p:nvPr>
        </p:nvSpPr>
        <p:spPr>
          <a:xfrm>
            <a:off x="609600" y="31530"/>
            <a:ext cx="8153400" cy="1143000"/>
          </a:xfrm>
        </p:spPr>
        <p:txBody>
          <a:bodyPr/>
          <a:lstStyle/>
          <a:p>
            <a:pPr eaLnBrk="1" hangingPunct="1"/>
            <a:r>
              <a:rPr lang="en-US" altLang="en-US" dirty="0" smtClean="0"/>
              <a:t>Prolog Inferencing Process:</a:t>
            </a:r>
            <a:br>
              <a:rPr lang="en-US" altLang="en-US" dirty="0" smtClean="0"/>
            </a:br>
            <a:r>
              <a:rPr lang="en-US" altLang="en-US" dirty="0" smtClean="0"/>
              <a:t>Tracing Model</a:t>
            </a:r>
          </a:p>
        </p:txBody>
      </p:sp>
      <p:sp>
        <p:nvSpPr>
          <p:cNvPr id="67589" name="Rectangle 3"/>
          <p:cNvSpPr>
            <a:spLocks noGrp="1" noChangeArrowheads="1"/>
          </p:cNvSpPr>
          <p:nvPr>
            <p:ph type="body" idx="1"/>
          </p:nvPr>
        </p:nvSpPr>
        <p:spPr/>
        <p:txBody>
          <a:bodyPr/>
          <a:lstStyle/>
          <a:p>
            <a:pPr eaLnBrk="1" hangingPunct="1"/>
            <a:r>
              <a:rPr lang="en-US" altLang="en-US" dirty="0" smtClean="0"/>
              <a:t>Prolog has a built-in </a:t>
            </a:r>
            <a:r>
              <a:rPr lang="en-US" altLang="en-US" dirty="0" smtClean="0">
                <a:latin typeface="Courier New" panose="02070309020205020404" pitchFamily="49" charset="0"/>
                <a:cs typeface="Courier New" panose="02070309020205020404" pitchFamily="49" charset="0"/>
              </a:rPr>
              <a:t>trace</a:t>
            </a:r>
            <a:r>
              <a:rPr lang="en-US" altLang="en-US" dirty="0" smtClean="0"/>
              <a:t> structure</a:t>
            </a:r>
          </a:p>
          <a:p>
            <a:pPr lvl="1" eaLnBrk="1" hangingPunct="1"/>
            <a:r>
              <a:rPr lang="en-US" altLang="en-US" dirty="0" smtClean="0"/>
              <a:t>Displays variable instantiations at each step</a:t>
            </a:r>
          </a:p>
          <a:p>
            <a:pPr eaLnBrk="1" hangingPunct="1"/>
            <a:r>
              <a:rPr lang="en-US" altLang="en-US" u="sng" dirty="0" smtClean="0"/>
              <a:t>Tracing model</a:t>
            </a:r>
            <a:r>
              <a:rPr lang="en-US" altLang="en-US" dirty="0" smtClean="0"/>
              <a:t> of execution has 4 events</a:t>
            </a:r>
          </a:p>
          <a:p>
            <a:pPr lvl="1" eaLnBrk="1" hangingPunct="1"/>
            <a:r>
              <a:rPr lang="en-US" altLang="en-US" u="sng" dirty="0" smtClean="0"/>
              <a:t>Call</a:t>
            </a:r>
            <a:r>
              <a:rPr lang="en-US" altLang="en-US" dirty="0" smtClean="0"/>
              <a:t> (beginning of attempt to satisfy goal)</a:t>
            </a:r>
          </a:p>
          <a:p>
            <a:pPr lvl="1" eaLnBrk="1" hangingPunct="1"/>
            <a:r>
              <a:rPr lang="en-US" altLang="en-US" u="sng" dirty="0" smtClean="0"/>
              <a:t>Exit</a:t>
            </a:r>
            <a:r>
              <a:rPr lang="en-US" altLang="en-US" dirty="0" smtClean="0"/>
              <a:t> (when a goal has been satisfied)</a:t>
            </a:r>
          </a:p>
          <a:p>
            <a:pPr lvl="1" eaLnBrk="1" hangingPunct="1"/>
            <a:r>
              <a:rPr lang="en-US" altLang="en-US" u="sng" dirty="0" smtClean="0"/>
              <a:t>Redo</a:t>
            </a:r>
            <a:r>
              <a:rPr lang="en-US" altLang="en-US" dirty="0" smtClean="0"/>
              <a:t> (when backtracking occurs)</a:t>
            </a:r>
          </a:p>
          <a:p>
            <a:pPr lvl="1" eaLnBrk="1" hangingPunct="1"/>
            <a:r>
              <a:rPr lang="en-US" altLang="en-US" u="sng" dirty="0" smtClean="0"/>
              <a:t>Fail</a:t>
            </a:r>
            <a:r>
              <a:rPr lang="en-US" altLang="en-US" dirty="0" smtClean="0"/>
              <a:t> (when goal fails)</a:t>
            </a:r>
          </a:p>
        </p:txBody>
      </p:sp>
    </p:spTree>
    <p:extLst>
      <p:ext uri="{BB962C8B-B14F-4D97-AF65-F5344CB8AC3E}">
        <p14:creationId xmlns:p14="http://schemas.microsoft.com/office/powerpoint/2010/main" val="28195958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0200" y="1333500"/>
            <a:ext cx="3636962" cy="521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6963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BE90A433-CE0A-49CA-9129-20518CBCD5C9}" type="slidenum">
              <a:rPr lang="en-US" altLang="en-US" sz="1000" smtClean="0">
                <a:solidFill>
                  <a:schemeClr val="tx1"/>
                </a:solidFill>
                <a:latin typeface="Arial" panose="020B0604020202020204" pitchFamily="34" charset="0"/>
              </a:rPr>
              <a:pPr>
                <a:spcBef>
                  <a:spcPct val="0"/>
                </a:spcBef>
                <a:buFontTx/>
                <a:buNone/>
              </a:pPr>
              <a:t>18</a:t>
            </a:fld>
            <a:endParaRPr lang="en-US" altLang="en-US" sz="1000" smtClean="0">
              <a:solidFill>
                <a:schemeClr val="tx1"/>
              </a:solidFill>
              <a:latin typeface="Arial" panose="020B0604020202020204" pitchFamily="34" charset="0"/>
            </a:endParaRPr>
          </a:p>
        </p:txBody>
      </p:sp>
      <p:sp>
        <p:nvSpPr>
          <p:cNvPr id="69638" name="Rectangle 3"/>
          <p:cNvSpPr>
            <a:spLocks noGrp="1" noChangeArrowheads="1"/>
          </p:cNvSpPr>
          <p:nvPr>
            <p:ph type="body" idx="1"/>
          </p:nvPr>
        </p:nvSpPr>
        <p:spPr>
          <a:xfrm>
            <a:off x="609600" y="1600200"/>
            <a:ext cx="5105400" cy="4648200"/>
          </a:xfrm>
        </p:spPr>
        <p:txBody>
          <a:bodyPr/>
          <a:lstStyle/>
          <a:p>
            <a:pPr eaLnBrk="1" hangingPunct="1">
              <a:buFontTx/>
              <a:buNone/>
            </a:pPr>
            <a:r>
              <a:rPr lang="en-US" altLang="en-US" sz="1600" dirty="0" smtClean="0">
                <a:latin typeface="Courier New" panose="02070309020205020404" pitchFamily="49" charset="0"/>
              </a:rPr>
              <a:t>likes(</a:t>
            </a:r>
            <a:r>
              <a:rPr lang="en-US" altLang="en-US" sz="1600" dirty="0" err="1" smtClean="0">
                <a:latin typeface="Courier New" panose="02070309020205020404" pitchFamily="49" charset="0"/>
              </a:rPr>
              <a:t>jake</a:t>
            </a:r>
            <a:r>
              <a:rPr lang="en-US" altLang="en-US" sz="1600" dirty="0" smtClean="0">
                <a:latin typeface="Courier New" panose="02070309020205020404" pitchFamily="49" charset="0"/>
              </a:rPr>
              <a:t>, chocolate).</a:t>
            </a:r>
          </a:p>
          <a:p>
            <a:pPr eaLnBrk="1" hangingPunct="1">
              <a:buFontTx/>
              <a:buNone/>
            </a:pPr>
            <a:r>
              <a:rPr lang="en-US" altLang="en-US" sz="1600" dirty="0" smtClean="0">
                <a:latin typeface="Courier New" panose="02070309020205020404" pitchFamily="49" charset="0"/>
              </a:rPr>
              <a:t>likes(</a:t>
            </a:r>
            <a:r>
              <a:rPr lang="en-US" altLang="en-US" sz="1600" dirty="0" err="1" smtClean="0">
                <a:latin typeface="Courier New" panose="02070309020205020404" pitchFamily="49" charset="0"/>
              </a:rPr>
              <a:t>jake</a:t>
            </a:r>
            <a:r>
              <a:rPr lang="en-US" altLang="en-US" sz="1600" dirty="0" smtClean="0">
                <a:latin typeface="Courier New" panose="02070309020205020404" pitchFamily="49" charset="0"/>
              </a:rPr>
              <a:t>, apricots).</a:t>
            </a:r>
          </a:p>
          <a:p>
            <a:pPr eaLnBrk="1" hangingPunct="1">
              <a:buFontTx/>
              <a:buNone/>
            </a:pPr>
            <a:r>
              <a:rPr lang="en-US" altLang="en-US" sz="1600" dirty="0" smtClean="0">
                <a:latin typeface="Courier New" panose="02070309020205020404" pitchFamily="49" charset="0"/>
              </a:rPr>
              <a:t>likes(</a:t>
            </a:r>
            <a:r>
              <a:rPr lang="en-US" altLang="en-US" sz="1600" dirty="0" err="1" smtClean="0">
                <a:latin typeface="Courier New" panose="02070309020205020404" pitchFamily="49" charset="0"/>
              </a:rPr>
              <a:t>darcie</a:t>
            </a:r>
            <a:r>
              <a:rPr lang="en-US" altLang="en-US" sz="1600" dirty="0" smtClean="0">
                <a:latin typeface="Courier New" panose="02070309020205020404" pitchFamily="49" charset="0"/>
              </a:rPr>
              <a:t>, licorice).</a:t>
            </a:r>
          </a:p>
          <a:p>
            <a:pPr eaLnBrk="1" hangingPunct="1">
              <a:buFontTx/>
              <a:buNone/>
            </a:pPr>
            <a:r>
              <a:rPr lang="en-US" altLang="en-US" sz="1600" dirty="0" smtClean="0">
                <a:latin typeface="Courier New" panose="02070309020205020404" pitchFamily="49" charset="0"/>
              </a:rPr>
              <a:t>likes(</a:t>
            </a:r>
            <a:r>
              <a:rPr lang="en-US" altLang="en-US" sz="1600" dirty="0" err="1" smtClean="0">
                <a:latin typeface="Courier New" panose="02070309020205020404" pitchFamily="49" charset="0"/>
              </a:rPr>
              <a:t>darcie</a:t>
            </a:r>
            <a:r>
              <a:rPr lang="en-US" altLang="en-US" sz="1600" dirty="0" smtClean="0">
                <a:latin typeface="Courier New" panose="02070309020205020404" pitchFamily="49" charset="0"/>
              </a:rPr>
              <a:t>, apricots).</a:t>
            </a:r>
          </a:p>
          <a:p>
            <a:pPr eaLnBrk="1" hangingPunct="1">
              <a:buFontTx/>
              <a:buNone/>
            </a:pPr>
            <a:endParaRPr lang="en-US" altLang="en-US" sz="1600" dirty="0" smtClean="0">
              <a:latin typeface="Courier New" panose="02070309020205020404" pitchFamily="49" charset="0"/>
            </a:endParaRPr>
          </a:p>
          <a:p>
            <a:pPr eaLnBrk="1" hangingPunct="1">
              <a:buFontTx/>
              <a:buNone/>
            </a:pPr>
            <a:r>
              <a:rPr lang="en-US" altLang="en-US" sz="1600" dirty="0" smtClean="0">
                <a:latin typeface="Courier New" panose="02070309020205020404" pitchFamily="49" charset="0"/>
              </a:rPr>
              <a:t>?- trace.</a:t>
            </a:r>
          </a:p>
          <a:p>
            <a:pPr eaLnBrk="1" hangingPunct="1">
              <a:buFontTx/>
              <a:buNone/>
            </a:pPr>
            <a:r>
              <a:rPr lang="en-US" altLang="en-US" sz="1600" dirty="0" smtClean="0">
                <a:latin typeface="Courier New" panose="02070309020205020404" pitchFamily="49" charset="0"/>
              </a:rPr>
              <a:t>?- likes(</a:t>
            </a:r>
            <a:r>
              <a:rPr lang="en-US" altLang="en-US" sz="1600" dirty="0" err="1" smtClean="0">
                <a:latin typeface="Courier New" panose="02070309020205020404" pitchFamily="49" charset="0"/>
              </a:rPr>
              <a:t>jake</a:t>
            </a:r>
            <a:r>
              <a:rPr lang="en-US" altLang="en-US" sz="1600" dirty="0" smtClean="0">
                <a:latin typeface="Courier New" panose="02070309020205020404" pitchFamily="49" charset="0"/>
              </a:rPr>
              <a:t>, X), likes(</a:t>
            </a:r>
            <a:r>
              <a:rPr lang="en-US" altLang="en-US" sz="1600" dirty="0" err="1" smtClean="0">
                <a:latin typeface="Courier New" panose="02070309020205020404" pitchFamily="49" charset="0"/>
              </a:rPr>
              <a:t>darcie</a:t>
            </a:r>
            <a:r>
              <a:rPr lang="en-US" altLang="en-US" sz="1600" dirty="0" smtClean="0">
                <a:latin typeface="Courier New" panose="02070309020205020404" pitchFamily="49" charset="0"/>
              </a:rPr>
              <a:t>, X).</a:t>
            </a:r>
          </a:p>
          <a:p>
            <a:pPr eaLnBrk="1" hangingPunct="1">
              <a:buFontTx/>
              <a:buNone/>
            </a:pPr>
            <a:endParaRPr lang="en-US" altLang="en-US" sz="1600" dirty="0" smtClean="0">
              <a:latin typeface="Courier New" panose="02070309020205020404" pitchFamily="49" charset="0"/>
            </a:endParaRPr>
          </a:p>
          <a:p>
            <a:pPr eaLnBrk="1" hangingPunct="1">
              <a:buFontTx/>
              <a:buAutoNum type="arabicParenBoth"/>
            </a:pPr>
            <a:r>
              <a:rPr lang="en-US" altLang="en-US" sz="1400" dirty="0" smtClean="0">
                <a:latin typeface="Courier New" panose="02070309020205020404" pitchFamily="49" charset="0"/>
              </a:rPr>
              <a:t> 1 Call: likes(</a:t>
            </a:r>
            <a:r>
              <a:rPr lang="en-US" altLang="en-US" sz="1400" dirty="0" err="1" smtClean="0">
                <a:latin typeface="Courier New" panose="02070309020205020404" pitchFamily="49" charset="0"/>
              </a:rPr>
              <a:t>jake</a:t>
            </a:r>
            <a:r>
              <a:rPr lang="en-US" altLang="en-US" sz="1400" dirty="0" smtClean="0">
                <a:latin typeface="Courier New" panose="02070309020205020404" pitchFamily="49" charset="0"/>
              </a:rPr>
              <a:t>, _0)?</a:t>
            </a:r>
          </a:p>
          <a:p>
            <a:pPr eaLnBrk="1" hangingPunct="1">
              <a:buFontTx/>
              <a:buNone/>
            </a:pPr>
            <a:r>
              <a:rPr lang="en-US" altLang="en-US" sz="1400" dirty="0" smtClean="0">
                <a:latin typeface="Courier New" panose="02070309020205020404" pitchFamily="49" charset="0"/>
              </a:rPr>
              <a:t>(1) 1 Exit: likes(</a:t>
            </a:r>
            <a:r>
              <a:rPr lang="en-US" altLang="en-US" sz="1400" dirty="0" err="1" smtClean="0">
                <a:latin typeface="Courier New" panose="02070309020205020404" pitchFamily="49" charset="0"/>
              </a:rPr>
              <a:t>jake</a:t>
            </a:r>
            <a:r>
              <a:rPr lang="en-US" altLang="en-US" sz="1400" dirty="0" smtClean="0">
                <a:latin typeface="Courier New" panose="02070309020205020404" pitchFamily="49" charset="0"/>
              </a:rPr>
              <a:t>, chocolate)</a:t>
            </a:r>
          </a:p>
          <a:p>
            <a:pPr eaLnBrk="1" hangingPunct="1">
              <a:buFontTx/>
              <a:buNone/>
            </a:pPr>
            <a:r>
              <a:rPr lang="en-US" altLang="en-US" sz="1400" dirty="0" smtClean="0">
                <a:latin typeface="Courier New" panose="02070309020205020404" pitchFamily="49" charset="0"/>
              </a:rPr>
              <a:t>(2) 1 Call: likes(</a:t>
            </a:r>
            <a:r>
              <a:rPr lang="en-US" altLang="en-US" sz="1400" dirty="0" err="1" smtClean="0">
                <a:latin typeface="Courier New" panose="02070309020205020404" pitchFamily="49" charset="0"/>
              </a:rPr>
              <a:t>darcie</a:t>
            </a:r>
            <a:r>
              <a:rPr lang="en-US" altLang="en-US" sz="1400" dirty="0" smtClean="0">
                <a:latin typeface="Courier New" panose="02070309020205020404" pitchFamily="49" charset="0"/>
              </a:rPr>
              <a:t>, chocolate)?</a:t>
            </a:r>
          </a:p>
          <a:p>
            <a:pPr eaLnBrk="1" hangingPunct="1">
              <a:buFontTx/>
              <a:buNone/>
            </a:pPr>
            <a:r>
              <a:rPr lang="en-US" altLang="en-US" sz="1400" dirty="0" smtClean="0">
                <a:latin typeface="Courier New" panose="02070309020205020404" pitchFamily="49" charset="0"/>
              </a:rPr>
              <a:t>(2) 1 Fail: likes(</a:t>
            </a:r>
            <a:r>
              <a:rPr lang="en-US" altLang="en-US" sz="1400" dirty="0" err="1" smtClean="0">
                <a:latin typeface="Courier New" panose="02070309020205020404" pitchFamily="49" charset="0"/>
              </a:rPr>
              <a:t>darcie</a:t>
            </a:r>
            <a:r>
              <a:rPr lang="en-US" altLang="en-US" sz="1400" dirty="0" smtClean="0">
                <a:latin typeface="Courier New" panose="02070309020205020404" pitchFamily="49" charset="0"/>
              </a:rPr>
              <a:t>, chocolate)</a:t>
            </a:r>
          </a:p>
          <a:p>
            <a:pPr eaLnBrk="1" hangingPunct="1">
              <a:buFontTx/>
              <a:buAutoNum type="arabicParenBoth"/>
            </a:pPr>
            <a:r>
              <a:rPr lang="en-US" altLang="en-US" sz="1400" dirty="0" smtClean="0">
                <a:latin typeface="Courier New" panose="02070309020205020404" pitchFamily="49" charset="0"/>
              </a:rPr>
              <a:t> 1 Redo: likes(</a:t>
            </a:r>
            <a:r>
              <a:rPr lang="en-US" altLang="en-US" sz="1400" dirty="0" err="1" smtClean="0">
                <a:latin typeface="Courier New" panose="02070309020205020404" pitchFamily="49" charset="0"/>
              </a:rPr>
              <a:t>jake</a:t>
            </a:r>
            <a:r>
              <a:rPr lang="en-US" altLang="en-US" sz="1400" dirty="0" smtClean="0">
                <a:latin typeface="Courier New" panose="02070309020205020404" pitchFamily="49" charset="0"/>
              </a:rPr>
              <a:t>, _0)?</a:t>
            </a:r>
          </a:p>
          <a:p>
            <a:pPr eaLnBrk="1" hangingPunct="1">
              <a:buFontTx/>
              <a:buNone/>
            </a:pPr>
            <a:r>
              <a:rPr lang="en-US" altLang="en-US" sz="1400" dirty="0" smtClean="0">
                <a:latin typeface="Courier New" panose="02070309020205020404" pitchFamily="49" charset="0"/>
              </a:rPr>
              <a:t>(1) 1 Exit: likes(</a:t>
            </a:r>
            <a:r>
              <a:rPr lang="en-US" altLang="en-US" sz="1400" dirty="0" err="1" smtClean="0">
                <a:latin typeface="Courier New" panose="02070309020205020404" pitchFamily="49" charset="0"/>
              </a:rPr>
              <a:t>jake</a:t>
            </a:r>
            <a:r>
              <a:rPr lang="en-US" altLang="en-US" sz="1400" dirty="0" smtClean="0">
                <a:latin typeface="Courier New" panose="02070309020205020404" pitchFamily="49" charset="0"/>
              </a:rPr>
              <a:t>, apricots)</a:t>
            </a:r>
          </a:p>
          <a:p>
            <a:pPr eaLnBrk="1" hangingPunct="1">
              <a:buFontTx/>
              <a:buNone/>
            </a:pPr>
            <a:r>
              <a:rPr lang="en-US" altLang="en-US" sz="1400" dirty="0" smtClean="0">
                <a:latin typeface="Courier New" panose="02070309020205020404" pitchFamily="49" charset="0"/>
              </a:rPr>
              <a:t>(3) 1 Call: likes(</a:t>
            </a:r>
            <a:r>
              <a:rPr lang="en-US" altLang="en-US" sz="1400" dirty="0" err="1" smtClean="0">
                <a:latin typeface="Courier New" panose="02070309020205020404" pitchFamily="49" charset="0"/>
              </a:rPr>
              <a:t>darcie</a:t>
            </a:r>
            <a:r>
              <a:rPr lang="en-US" altLang="en-US" sz="1400" dirty="0" smtClean="0">
                <a:latin typeface="Courier New" panose="02070309020205020404" pitchFamily="49" charset="0"/>
              </a:rPr>
              <a:t>, apricots)?</a:t>
            </a:r>
          </a:p>
          <a:p>
            <a:pPr eaLnBrk="1" hangingPunct="1">
              <a:buFontTx/>
              <a:buNone/>
            </a:pPr>
            <a:r>
              <a:rPr lang="en-US" altLang="en-US" sz="1400" dirty="0" smtClean="0">
                <a:latin typeface="Courier New" panose="02070309020205020404" pitchFamily="49" charset="0"/>
              </a:rPr>
              <a:t>(3) 1 Exit: likes(</a:t>
            </a:r>
            <a:r>
              <a:rPr lang="en-US" altLang="en-US" sz="1400" dirty="0" err="1" smtClean="0">
                <a:latin typeface="Courier New" panose="02070309020205020404" pitchFamily="49" charset="0"/>
              </a:rPr>
              <a:t>darcie</a:t>
            </a:r>
            <a:r>
              <a:rPr lang="en-US" altLang="en-US" sz="1400" dirty="0" smtClean="0">
                <a:latin typeface="Courier New" panose="02070309020205020404" pitchFamily="49" charset="0"/>
              </a:rPr>
              <a:t>, apricots)</a:t>
            </a:r>
          </a:p>
          <a:p>
            <a:pPr eaLnBrk="1" hangingPunct="1">
              <a:buFontTx/>
              <a:buNone/>
            </a:pPr>
            <a:r>
              <a:rPr lang="en-US" altLang="en-US" sz="1400" dirty="0" smtClean="0">
                <a:latin typeface="Courier New" panose="02070309020205020404" pitchFamily="49" charset="0"/>
              </a:rPr>
              <a:t>X = apricots</a:t>
            </a:r>
          </a:p>
          <a:p>
            <a:pPr eaLnBrk="1" hangingPunct="1">
              <a:buFontTx/>
              <a:buNone/>
            </a:pPr>
            <a:endParaRPr lang="en-US" altLang="en-US" sz="1400" dirty="0" smtClean="0">
              <a:latin typeface="Courier New" panose="02070309020205020404" pitchFamily="49" charset="0"/>
            </a:endParaRPr>
          </a:p>
        </p:txBody>
      </p:sp>
      <p:sp>
        <p:nvSpPr>
          <p:cNvPr id="8" name="Rectangle 2"/>
          <p:cNvSpPr>
            <a:spLocks noGrp="1" noChangeArrowheads="1"/>
          </p:cNvSpPr>
          <p:nvPr>
            <p:ph type="title"/>
          </p:nvPr>
        </p:nvSpPr>
        <p:spPr>
          <a:xfrm>
            <a:off x="609600" y="31530"/>
            <a:ext cx="8229600" cy="1143000"/>
          </a:xfrm>
        </p:spPr>
        <p:txBody>
          <a:bodyPr/>
          <a:lstStyle/>
          <a:p>
            <a:pPr eaLnBrk="1" hangingPunct="1"/>
            <a:r>
              <a:rPr lang="en-US" altLang="en-US" dirty="0" smtClean="0"/>
              <a:t>Prolog Inferencing Process:</a:t>
            </a:r>
            <a:br>
              <a:rPr lang="en-US" altLang="en-US" dirty="0" smtClean="0"/>
            </a:br>
            <a:r>
              <a:rPr lang="en-US" altLang="en-US" dirty="0" smtClean="0"/>
              <a:t>Tracing Model Example</a:t>
            </a:r>
          </a:p>
        </p:txBody>
      </p:sp>
    </p:spTree>
    <p:extLst>
      <p:ext uri="{BB962C8B-B14F-4D97-AF65-F5344CB8AC3E}">
        <p14:creationId xmlns:p14="http://schemas.microsoft.com/office/powerpoint/2010/main" val="3990636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theme/theme1.xml><?xml version="1.0" encoding="utf-8"?>
<a:theme xmlns:a="http://schemas.openxmlformats.org/drawingml/2006/main" name="1_sebesta">
  <a:themeElements>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sebesta">
      <a:majorFont>
        <a:latin typeface="Lucida Sans Unicode"/>
        <a:ea typeface="Lucida Sans Unicode"/>
        <a:cs typeface="Lucida Sans Unicode"/>
      </a:majorFont>
      <a:minorFont>
        <a:latin typeface="Lucida Sans Unicode"/>
        <a:ea typeface="Lucida Sans Unicode"/>
        <a:cs typeface="Lucida Sans Unicod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sebesta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sebesta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sebesta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sebesta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sebesta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sebesta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sebesta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sebesta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sebesta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sebesta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sebesta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sebesta2</Template>
  <TotalTime>13978</TotalTime>
  <Words>2715</Words>
  <Application>Microsoft Office PowerPoint</Application>
  <PresentationFormat>On-screen Show (4:3)</PresentationFormat>
  <Paragraphs>310</Paragraphs>
  <Slides>18</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 Unicode MS</vt:lpstr>
      <vt:lpstr>Arial</vt:lpstr>
      <vt:lpstr>Courier New</vt:lpstr>
      <vt:lpstr>Lucida Sans Unicode</vt:lpstr>
      <vt:lpstr>Math1</vt:lpstr>
      <vt:lpstr>Symbol</vt:lpstr>
      <vt:lpstr>Times</vt:lpstr>
      <vt:lpstr>1_sebesta</vt:lpstr>
      <vt:lpstr>Chapter 16 Part 2</vt:lpstr>
      <vt:lpstr>Chapter 16 Topics</vt:lpstr>
      <vt:lpstr>Overview of Logic Programming</vt:lpstr>
      <vt:lpstr>Example: Sorting a List</vt:lpstr>
      <vt:lpstr>The Origins of Prolog</vt:lpstr>
      <vt:lpstr>Prolog: Terms</vt:lpstr>
      <vt:lpstr>Prolog: Terms</vt:lpstr>
      <vt:lpstr>Prolog: Statements</vt:lpstr>
      <vt:lpstr>Prolog: Fact Statements</vt:lpstr>
      <vt:lpstr>Prolog: Rule Statements</vt:lpstr>
      <vt:lpstr>Prolog: Rule Statement Examples</vt:lpstr>
      <vt:lpstr>Prolog: Goal Statements</vt:lpstr>
      <vt:lpstr>Prolog: Inferencing Process</vt:lpstr>
      <vt:lpstr>Prolog Inferencing Process: Approaches</vt:lpstr>
      <vt:lpstr>Prolog Inferencing Process: Subgoals</vt:lpstr>
      <vt:lpstr>Prolog Inferencing Process: Backtracking</vt:lpstr>
      <vt:lpstr>Prolog Inferencing Process: Tracing Model</vt:lpstr>
      <vt:lpstr>Prolog Inferencing Process: Tracing Model Example</vt:lpstr>
    </vt:vector>
  </TitlesOfParts>
  <Company>Pearson Education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David Garrett</dc:creator>
  <cp:lastModifiedBy>Willem S. van Heerden</cp:lastModifiedBy>
  <cp:revision>279</cp:revision>
  <dcterms:created xsi:type="dcterms:W3CDTF">2003-08-01T12:29:19Z</dcterms:created>
  <dcterms:modified xsi:type="dcterms:W3CDTF">2026-03-23T14:29:41Z</dcterms:modified>
</cp:coreProperties>
</file>