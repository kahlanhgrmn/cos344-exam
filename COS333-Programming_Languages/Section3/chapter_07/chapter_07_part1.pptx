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52" r:id="rId1"/>
  </p:sldMasterIdLst>
  <p:notesMasterIdLst>
    <p:notesMasterId r:id="rId22"/>
  </p:notesMasterIdLst>
  <p:sldIdLst>
    <p:sldId id="295" r:id="rId2"/>
    <p:sldId id="258" r:id="rId3"/>
    <p:sldId id="296" r:id="rId4"/>
    <p:sldId id="297" r:id="rId5"/>
    <p:sldId id="298" r:id="rId6"/>
    <p:sldId id="261" r:id="rId7"/>
    <p:sldId id="299" r:id="rId8"/>
    <p:sldId id="300" r:id="rId9"/>
    <p:sldId id="301" r:id="rId10"/>
    <p:sldId id="302" r:id="rId11"/>
    <p:sldId id="287" r:id="rId12"/>
    <p:sldId id="264" r:id="rId13"/>
    <p:sldId id="305" r:id="rId14"/>
    <p:sldId id="324" r:id="rId15"/>
    <p:sldId id="306" r:id="rId16"/>
    <p:sldId id="307" r:id="rId17"/>
    <p:sldId id="308" r:id="rId18"/>
    <p:sldId id="325" r:id="rId19"/>
    <p:sldId id="309" r:id="rId20"/>
    <p:sldId id="310" r:id="rId2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6699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743" autoAdjust="0"/>
    <p:restoredTop sz="86424" autoAdjust="0"/>
  </p:normalViewPr>
  <p:slideViewPr>
    <p:cSldViewPr>
      <p:cViewPr varScale="1">
        <p:scale>
          <a:sx n="73" d="100"/>
          <a:sy n="73" d="100"/>
        </p:scale>
        <p:origin x="1109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6423D5CC-5C54-4B7A-8720-977599102A9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9014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F93A1600-FEB9-4C03-AA8B-5E4A57A836CA}" type="slidenum">
              <a:rPr lang="en-US" altLang="en-US" sz="1200" b="0" smtClean="0"/>
              <a:pPr/>
              <a:t>1</a:t>
            </a:fld>
            <a:endParaRPr lang="en-US" altLang="en-US" sz="1200" b="0" smtClean="0"/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 smtClean="0"/>
          </a:p>
        </p:txBody>
      </p:sp>
    </p:spTree>
    <p:extLst>
      <p:ext uri="{BB962C8B-B14F-4D97-AF65-F5344CB8AC3E}">
        <p14:creationId xmlns:p14="http://schemas.microsoft.com/office/powerpoint/2010/main" val="24490751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0BE58E0F-6BC2-493F-9DC7-B2D9DB352770}" type="slidenum">
              <a:rPr lang="en-US" altLang="en-US" sz="1200" b="0" smtClean="0"/>
              <a:pPr/>
              <a:t>2</a:t>
            </a:fld>
            <a:endParaRPr lang="en-US" altLang="en-US" sz="1200" b="0" smtClean="0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0004" tIns="45002" rIns="90004" bIns="45002"/>
          <a:lstStyle/>
          <a:p>
            <a:pPr eaLnBrk="1" hangingPunct="1"/>
            <a:endParaRPr lang="es-MX" altLang="en-US" smtClean="0"/>
          </a:p>
        </p:txBody>
      </p:sp>
    </p:spTree>
    <p:extLst>
      <p:ext uri="{BB962C8B-B14F-4D97-AF65-F5344CB8AC3E}">
        <p14:creationId xmlns:p14="http://schemas.microsoft.com/office/powerpoint/2010/main" val="37059695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C3131D4E-71E8-4C5C-ABB5-407587A07A91}" type="slidenum">
              <a:rPr lang="en-US" altLang="en-US" sz="1300" b="0" smtClean="0"/>
              <a:pPr/>
              <a:t>3</a:t>
            </a:fld>
            <a:endParaRPr lang="en-US" altLang="en-US" sz="1300" b="0" smtClean="0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 smtClean="0"/>
          </a:p>
        </p:txBody>
      </p:sp>
    </p:spTree>
    <p:extLst>
      <p:ext uri="{BB962C8B-B14F-4D97-AF65-F5344CB8AC3E}">
        <p14:creationId xmlns:p14="http://schemas.microsoft.com/office/powerpoint/2010/main" val="21613020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A1F122CC-3043-434F-A7FC-7762719C5A1F}" type="slidenum">
              <a:rPr lang="en-US" altLang="en-US" sz="1300" b="0" smtClean="0"/>
              <a:pPr/>
              <a:t>4</a:t>
            </a:fld>
            <a:endParaRPr lang="en-US" altLang="en-US" sz="1300" b="0" smtClean="0"/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 smtClean="0"/>
          </a:p>
        </p:txBody>
      </p:sp>
    </p:spTree>
    <p:extLst>
      <p:ext uri="{BB962C8B-B14F-4D97-AF65-F5344CB8AC3E}">
        <p14:creationId xmlns:p14="http://schemas.microsoft.com/office/powerpoint/2010/main" val="11291558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4305D7D2-3750-4A12-9214-68C318495506}" type="slidenum">
              <a:rPr lang="en-US" altLang="en-US" sz="1300" b="0" smtClean="0"/>
              <a:pPr/>
              <a:t>5</a:t>
            </a:fld>
            <a:endParaRPr lang="en-US" altLang="en-US" sz="1300" b="0" smtClean="0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409543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AF654045-4AEB-4526-A13B-D3CE5199E02B}" type="slidenum">
              <a:rPr lang="en-US" altLang="en-US" sz="1200" b="0" smtClean="0"/>
              <a:pPr/>
              <a:t>6</a:t>
            </a:fld>
            <a:endParaRPr lang="en-US" altLang="en-US" sz="1200" b="0" smtClean="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 smtClean="0"/>
          </a:p>
        </p:txBody>
      </p:sp>
    </p:spTree>
    <p:extLst>
      <p:ext uri="{BB962C8B-B14F-4D97-AF65-F5344CB8AC3E}">
        <p14:creationId xmlns:p14="http://schemas.microsoft.com/office/powerpoint/2010/main" val="17938222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8E5CB671-E919-47E7-BD51-762D9D8546A1}" type="slidenum">
              <a:rPr lang="en-US" altLang="en-US" sz="1300" b="0" smtClean="0"/>
              <a:pPr/>
              <a:t>7</a:t>
            </a:fld>
            <a:endParaRPr lang="en-US" altLang="en-US" sz="1300" b="0" smtClean="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 smtClean="0"/>
          </a:p>
        </p:txBody>
      </p:sp>
    </p:spTree>
    <p:extLst>
      <p:ext uri="{BB962C8B-B14F-4D97-AF65-F5344CB8AC3E}">
        <p14:creationId xmlns:p14="http://schemas.microsoft.com/office/powerpoint/2010/main" val="41035208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D6F8B22B-0093-4A7E-A531-62C4D1D4C30D}" type="slidenum">
              <a:rPr lang="en-US" altLang="en-US" sz="1300" b="0" smtClean="0"/>
              <a:pPr/>
              <a:t>8</a:t>
            </a:fld>
            <a:endParaRPr lang="en-US" altLang="en-US" sz="1300" b="0" smtClean="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ZA" altLang="en-US" dirty="0" smtClean="0"/>
              <a:t>As an example, in the C-based programming languages, the + and – operators are in the same precedence level, and are left to right associative. This means that if a number of + and – operators occur side by side, they are evaluated left to right. Therefore, the expression:</a:t>
            </a:r>
          </a:p>
          <a:p>
            <a:pPr eaLnBrk="1" hangingPunct="1"/>
            <a:endParaRPr lang="en-ZA" altLang="en-US" dirty="0" smtClean="0"/>
          </a:p>
          <a:p>
            <a:pPr eaLnBrk="1" hangingPunct="1"/>
            <a:r>
              <a:rPr lang="en-ZA" altLang="en-US" dirty="0" smtClean="0"/>
              <a:t>1 + 3 – 2</a:t>
            </a:r>
          </a:p>
          <a:p>
            <a:pPr eaLnBrk="1" hangingPunct="1"/>
            <a:endParaRPr lang="en-ZA" altLang="en-US" dirty="0" smtClean="0"/>
          </a:p>
          <a:p>
            <a:pPr eaLnBrk="1" hangingPunct="1"/>
            <a:r>
              <a:rPr lang="en-ZA" altLang="en-US" dirty="0" smtClean="0"/>
              <a:t>would be evaluated as though parentheses had been added as follows:</a:t>
            </a:r>
          </a:p>
          <a:p>
            <a:pPr eaLnBrk="1" hangingPunct="1"/>
            <a:endParaRPr lang="en-ZA" altLang="en-US" dirty="0" smtClean="0"/>
          </a:p>
          <a:p>
            <a:pPr eaLnBrk="1" hangingPunct="1"/>
            <a:r>
              <a:rPr lang="en-ZA" altLang="en-US" dirty="0" smtClean="0"/>
              <a:t>(1 + 3) – 2</a:t>
            </a:r>
          </a:p>
          <a:p>
            <a:pPr eaLnBrk="1" hangingPunct="1"/>
            <a:endParaRPr lang="en-ZA" altLang="en-US" dirty="0" smtClean="0"/>
          </a:p>
          <a:p>
            <a:pPr eaLnBrk="1" hangingPunct="1"/>
            <a:r>
              <a:rPr lang="en-ZA" altLang="en-US" dirty="0" smtClean="0"/>
              <a:t>The addition happens first because it is leftmost, then the subtraction happens.</a:t>
            </a:r>
          </a:p>
          <a:p>
            <a:pPr eaLnBrk="1" hangingPunct="1"/>
            <a:endParaRPr lang="en-ZA" altLang="en-US" dirty="0" smtClean="0"/>
          </a:p>
          <a:p>
            <a:pPr eaLnBrk="1" hangingPunct="1"/>
            <a:r>
              <a:rPr lang="en-ZA" altLang="en-US" dirty="0" smtClean="0"/>
              <a:t>In most C-based languages, unary postfix increment and decrement are left to right associative, while unary prefix increment and decrement are right to left associative. Therefore, the expression:</a:t>
            </a:r>
          </a:p>
          <a:p>
            <a:pPr eaLnBrk="1" hangingPunct="1"/>
            <a:endParaRPr lang="en-ZA" altLang="en-US" dirty="0" smtClean="0"/>
          </a:p>
          <a:p>
            <a:pPr eaLnBrk="1" hangingPunct="1"/>
            <a:r>
              <a:rPr lang="en-ZA" altLang="en-US" dirty="0" smtClean="0"/>
              <a:t>a ++ --</a:t>
            </a:r>
          </a:p>
          <a:p>
            <a:pPr eaLnBrk="1" hangingPunct="1"/>
            <a:endParaRPr lang="en-ZA" altLang="en-US" dirty="0" smtClean="0"/>
          </a:p>
          <a:p>
            <a:pPr eaLnBrk="1" hangingPunct="1"/>
            <a:r>
              <a:rPr lang="en-ZA" altLang="en-US" dirty="0" smtClean="0"/>
              <a:t>is equivalent to:</a:t>
            </a:r>
          </a:p>
          <a:p>
            <a:pPr eaLnBrk="1" hangingPunct="1"/>
            <a:endParaRPr lang="en-ZA" altLang="en-US" dirty="0" smtClean="0"/>
          </a:p>
          <a:p>
            <a:pPr eaLnBrk="1" hangingPunct="1"/>
            <a:r>
              <a:rPr lang="en-ZA" altLang="en-US" dirty="0" smtClean="0"/>
              <a:t>((a++)--)</a:t>
            </a:r>
          </a:p>
          <a:p>
            <a:pPr eaLnBrk="1" hangingPunct="1"/>
            <a:endParaRPr lang="en-ZA" altLang="en-US" dirty="0" smtClean="0"/>
          </a:p>
          <a:p>
            <a:pPr eaLnBrk="1" hangingPunct="1"/>
            <a:r>
              <a:rPr lang="en-ZA" altLang="en-US" dirty="0" smtClean="0"/>
              <a:t>where the postfix increment happens before the postfix decrement.</a:t>
            </a:r>
          </a:p>
          <a:p>
            <a:pPr eaLnBrk="1" hangingPunct="1"/>
            <a:endParaRPr lang="en-ZA" altLang="en-US" dirty="0" smtClean="0"/>
          </a:p>
          <a:p>
            <a:pPr eaLnBrk="1" hangingPunct="1"/>
            <a:r>
              <a:rPr lang="en-ZA" altLang="en-US" dirty="0" smtClean="0"/>
              <a:t>The expression:</a:t>
            </a:r>
          </a:p>
          <a:p>
            <a:pPr eaLnBrk="1" hangingPunct="1"/>
            <a:endParaRPr lang="en-ZA" altLang="en-US" dirty="0" smtClean="0"/>
          </a:p>
          <a:p>
            <a:pPr eaLnBrk="1" hangingPunct="1"/>
            <a:r>
              <a:rPr lang="en-ZA" altLang="en-US" dirty="0" smtClean="0"/>
              <a:t>++ -- a</a:t>
            </a:r>
          </a:p>
          <a:p>
            <a:pPr eaLnBrk="1" hangingPunct="1"/>
            <a:endParaRPr lang="en-ZA" altLang="en-US" dirty="0" smtClean="0"/>
          </a:p>
          <a:p>
            <a:pPr eaLnBrk="1" hangingPunct="1"/>
            <a:r>
              <a:rPr lang="en-ZA" altLang="en-US" dirty="0" smtClean="0"/>
              <a:t>is equivalent to:</a:t>
            </a:r>
          </a:p>
          <a:p>
            <a:pPr eaLnBrk="1" hangingPunct="1"/>
            <a:endParaRPr lang="en-ZA" altLang="en-US" dirty="0" smtClean="0"/>
          </a:p>
          <a:p>
            <a:pPr eaLnBrk="1" hangingPunct="1"/>
            <a:r>
              <a:rPr lang="en-ZA" altLang="en-US" dirty="0" smtClean="0"/>
              <a:t>(++(--a))</a:t>
            </a:r>
          </a:p>
          <a:p>
            <a:pPr eaLnBrk="1" hangingPunct="1"/>
            <a:endParaRPr lang="en-ZA" altLang="en-US" dirty="0" smtClean="0"/>
          </a:p>
          <a:p>
            <a:pPr eaLnBrk="1" hangingPunct="1"/>
            <a:r>
              <a:rPr lang="en-ZA" altLang="en-US" dirty="0" smtClean="0"/>
              <a:t>where the prefix decrement happens before the prefix increment</a:t>
            </a:r>
          </a:p>
        </p:txBody>
      </p:sp>
    </p:spTree>
    <p:extLst>
      <p:ext uri="{BB962C8B-B14F-4D97-AF65-F5344CB8AC3E}">
        <p14:creationId xmlns:p14="http://schemas.microsoft.com/office/powerpoint/2010/main" val="19871510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ECCEDE4F-3964-4DBF-B524-84DF7C78C07E}" type="slidenum">
              <a:rPr lang="en-US" altLang="en-US" sz="1300" b="0" smtClean="0"/>
              <a:pPr/>
              <a:t>9</a:t>
            </a:fld>
            <a:endParaRPr lang="en-US" altLang="en-US" sz="1300" b="0" smtClean="0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ZA" altLang="en-US" noProof="0" dirty="0" smtClean="0"/>
              <a:t>In Ruby, all arithmetic operators are implemented as methods. There are, however, other operators that are not implemented as methods, notably </a:t>
            </a:r>
            <a:r>
              <a:rPr lang="en-ZA" altLang="en-US" noProof="0" smtClean="0"/>
              <a:t>Boolean operators.</a:t>
            </a:r>
            <a:endParaRPr lang="en-ZA" altLang="en-US" noProof="0" dirty="0" smtClean="0"/>
          </a:p>
        </p:txBody>
      </p:sp>
    </p:spTree>
    <p:extLst>
      <p:ext uri="{BB962C8B-B14F-4D97-AF65-F5344CB8AC3E}">
        <p14:creationId xmlns:p14="http://schemas.microsoft.com/office/powerpoint/2010/main" val="19284931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542A8BD1-A497-475A-9370-DFC244A6E7AA}" type="slidenum">
              <a:rPr lang="en-US" altLang="en-US" sz="1300" b="0" smtClean="0"/>
              <a:pPr/>
              <a:t>10</a:t>
            </a:fld>
            <a:endParaRPr lang="en-US" altLang="en-US" sz="1300" b="0" smtClean="0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 smtClean="0"/>
          </a:p>
        </p:txBody>
      </p:sp>
    </p:spTree>
    <p:extLst>
      <p:ext uri="{BB962C8B-B14F-4D97-AF65-F5344CB8AC3E}">
        <p14:creationId xmlns:p14="http://schemas.microsoft.com/office/powerpoint/2010/main" val="18499646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707B51D9-DBC3-4C82-8F0A-AB51D53F15BE}" type="slidenum">
              <a:rPr lang="en-US" altLang="en-US" sz="1200" b="0" smtClean="0"/>
              <a:pPr/>
              <a:t>11</a:t>
            </a:fld>
            <a:endParaRPr lang="en-US" altLang="en-US" sz="1200" b="0" smtClean="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ZA" altLang="en-US" dirty="0" smtClean="0"/>
              <a:t>The semantics of the conditional expression are as follows:</a:t>
            </a:r>
          </a:p>
          <a:p>
            <a:pPr marL="171450" indent="-171450" eaLnBrk="1" hangingPunct="1">
              <a:buFont typeface="Arial" panose="020B0604020202020204" pitchFamily="34" charset="0"/>
              <a:buChar char="•"/>
              <a:defRPr/>
            </a:pPr>
            <a:r>
              <a:rPr lang="en-ZA" altLang="en-US" dirty="0" smtClean="0"/>
              <a:t>There are two operator symbols (? and :) and three operands (one before the ? symbol, one between the ? and : symbols, and one after the : symbol).</a:t>
            </a:r>
          </a:p>
          <a:p>
            <a:pPr marL="171450" indent="-171450" eaLnBrk="1" hangingPunct="1">
              <a:buFont typeface="Arial" panose="020B0604020202020204" pitchFamily="34" charset="0"/>
              <a:buChar char="•"/>
              <a:defRPr/>
            </a:pPr>
            <a:r>
              <a:rPr lang="en-ZA" altLang="en-US" dirty="0" smtClean="0"/>
              <a:t>The first operand is a Boolean expression, and is evaluated.</a:t>
            </a:r>
          </a:p>
          <a:p>
            <a:pPr marL="171450" indent="-171450" eaLnBrk="1" hangingPunct="1">
              <a:buFont typeface="Arial" panose="020B0604020202020204" pitchFamily="34" charset="0"/>
              <a:buChar char="•"/>
              <a:defRPr/>
            </a:pPr>
            <a:r>
              <a:rPr lang="en-ZA" altLang="en-US" dirty="0" smtClean="0"/>
              <a:t>If the Boolean expression is true, the </a:t>
            </a:r>
            <a:r>
              <a:rPr lang="en-ZA" altLang="en-US" u="sng" dirty="0" smtClean="0"/>
              <a:t>entire conditional expression</a:t>
            </a:r>
            <a:r>
              <a:rPr lang="en-ZA" altLang="en-US" dirty="0" smtClean="0"/>
              <a:t> evaluates to the second operand (the operand between the ? and : symbols).</a:t>
            </a:r>
          </a:p>
          <a:p>
            <a:pPr marL="171450" indent="-171450" eaLnBrk="1" hangingPunct="1">
              <a:buFont typeface="Arial" panose="020B0604020202020204" pitchFamily="34" charset="0"/>
              <a:buChar char="•"/>
              <a:defRPr/>
            </a:pPr>
            <a:r>
              <a:rPr lang="en-ZA" altLang="en-US" dirty="0" smtClean="0"/>
              <a:t>If the Boolean expression is false, the </a:t>
            </a:r>
            <a:r>
              <a:rPr lang="en-ZA" altLang="en-US" u="sng" dirty="0" smtClean="0"/>
              <a:t>entire conditional expression</a:t>
            </a:r>
            <a:r>
              <a:rPr lang="en-ZA" altLang="en-US" dirty="0" smtClean="0"/>
              <a:t> evaluates to the third operand (the operand after the : symbol).</a:t>
            </a:r>
          </a:p>
        </p:txBody>
      </p:sp>
    </p:spTree>
    <p:extLst>
      <p:ext uri="{BB962C8B-B14F-4D97-AF65-F5344CB8AC3E}">
        <p14:creationId xmlns:p14="http://schemas.microsoft.com/office/powerpoint/2010/main" val="13570878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D00BE8CD-DA28-41AB-B515-BC367B981F68}" type="slidenum">
              <a:rPr lang="en-US" altLang="en-US" sz="1200" b="0" smtClean="0"/>
              <a:pPr/>
              <a:t>12</a:t>
            </a:fld>
            <a:endParaRPr lang="en-US" altLang="en-US" sz="1200" b="0" smtClean="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 smtClean="0"/>
          </a:p>
        </p:txBody>
      </p:sp>
    </p:spTree>
    <p:extLst>
      <p:ext uri="{BB962C8B-B14F-4D97-AF65-F5344CB8AC3E}">
        <p14:creationId xmlns:p14="http://schemas.microsoft.com/office/powerpoint/2010/main" val="21522463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F1E9D677-3185-4B94-9A76-8E5DC352D00D}" type="slidenum">
              <a:rPr lang="en-US" altLang="en-US" sz="1300" b="0" smtClean="0"/>
              <a:pPr/>
              <a:t>13</a:t>
            </a:fld>
            <a:endParaRPr lang="en-US" altLang="en-US" sz="1300" b="0" smtClean="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 smtClean="0"/>
          </a:p>
        </p:txBody>
      </p:sp>
    </p:spTree>
    <p:extLst>
      <p:ext uri="{BB962C8B-B14F-4D97-AF65-F5344CB8AC3E}">
        <p14:creationId xmlns:p14="http://schemas.microsoft.com/office/powerpoint/2010/main" val="37813993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8AB85B5E-6336-44B4-AA49-FE53769DA9D3}" type="slidenum">
              <a:rPr lang="en-US" altLang="en-US" sz="1300" b="0" smtClean="0"/>
              <a:pPr/>
              <a:t>14</a:t>
            </a:fld>
            <a:endParaRPr lang="en-US" altLang="en-US" sz="1300" b="0" smtClean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9656079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802B058F-E79A-446E-9375-D82B7EB00A49}" type="slidenum">
              <a:rPr lang="en-US" altLang="en-US" sz="1300" b="0" smtClean="0"/>
              <a:pPr/>
              <a:t>15</a:t>
            </a:fld>
            <a:endParaRPr lang="en-US" altLang="en-US" sz="1300" b="0" smtClean="0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ZA" altLang="en-US" dirty="0" smtClean="0"/>
              <a:t>Nonsensical operations are simply operations that bear no relation to the operator. For example, defining a + operator to print out the operator’s two operands.</a:t>
            </a:r>
          </a:p>
          <a:p>
            <a:pPr eaLnBrk="1" hangingPunct="1"/>
            <a:endParaRPr lang="en-ZA" altLang="en-US" dirty="0" smtClean="0"/>
          </a:p>
          <a:p>
            <a:pPr eaLnBrk="1" hangingPunct="1"/>
            <a:r>
              <a:rPr lang="en-ZA" altLang="en-US" dirty="0" smtClean="0"/>
              <a:t>The necessity of finding the types of the operands can be illustrated by the following expression:</a:t>
            </a:r>
          </a:p>
          <a:p>
            <a:pPr eaLnBrk="1" hangingPunct="1"/>
            <a:endParaRPr lang="en-ZA" altLang="en-US" dirty="0" smtClean="0"/>
          </a:p>
          <a:p>
            <a:pPr eaLnBrk="1" hangingPunct="1"/>
            <a:r>
              <a:rPr lang="en-ZA" altLang="en-US" dirty="0" smtClean="0"/>
              <a:t>a + b</a:t>
            </a:r>
          </a:p>
          <a:p>
            <a:pPr eaLnBrk="1" hangingPunct="1"/>
            <a:endParaRPr lang="en-ZA" altLang="en-US" dirty="0" smtClean="0"/>
          </a:p>
          <a:p>
            <a:pPr eaLnBrk="1" hangingPunct="1"/>
            <a:r>
              <a:rPr lang="en-ZA" altLang="en-US" dirty="0" smtClean="0"/>
              <a:t>We can’t determine what the expression does by just looking at it. We first need to find what the types of the variables a and b are. This will require us to find the declarations for the variables. All this makes the expression more difficult to read.</a:t>
            </a:r>
          </a:p>
          <a:p>
            <a:pPr eaLnBrk="1" hangingPunct="1"/>
            <a:endParaRPr lang="en-ZA" altLang="en-US" dirty="0" smtClean="0"/>
          </a:p>
          <a:p>
            <a:pPr eaLnBrk="1" hangingPunct="1"/>
            <a:r>
              <a:rPr lang="en-ZA" altLang="en-US" dirty="0" smtClean="0"/>
              <a:t>Consider the example of adding lists. Let’s assume we have two lists: lis1, which contains the elements [1, 2, 3] and lis2, which contains the elements [4, 5, 6]. Now let’s assume we add them as follows:</a:t>
            </a:r>
          </a:p>
          <a:p>
            <a:pPr eaLnBrk="1" hangingPunct="1"/>
            <a:endParaRPr lang="en-ZA" altLang="en-US" dirty="0" smtClean="0"/>
          </a:p>
          <a:p>
            <a:pPr eaLnBrk="1" hangingPunct="1"/>
            <a:r>
              <a:rPr lang="en-ZA" altLang="en-US" dirty="0" smtClean="0"/>
              <a:t>lis1 + lis2</a:t>
            </a:r>
          </a:p>
          <a:p>
            <a:pPr eaLnBrk="1" hangingPunct="1"/>
            <a:endParaRPr lang="en-ZA" altLang="en-US" dirty="0" smtClean="0"/>
          </a:p>
          <a:p>
            <a:pPr eaLnBrk="1" hangingPunct="1"/>
            <a:r>
              <a:rPr lang="en-ZA" altLang="en-US" dirty="0" smtClean="0"/>
              <a:t>There are different sensible interpretations of the operation. One possible interpretation is concatenation, in which a new list is constructed containing the elements in the two operands. This would produce a list containing the elements [1, 2, 3, 4, 5, 6]). Another possible interpretation is a pairwise addition, where corresponding values in the two lists are added to create a new list. In this case, the resulting list would contain the elements [5, 7, 9]. There may be other equally valid interpretations of the addition operation for lists.</a:t>
            </a:r>
          </a:p>
        </p:txBody>
      </p:sp>
    </p:spTree>
    <p:extLst>
      <p:ext uri="{BB962C8B-B14F-4D97-AF65-F5344CB8AC3E}">
        <p14:creationId xmlns:p14="http://schemas.microsoft.com/office/powerpoint/2010/main" val="20365468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24661D45-2026-448A-B016-EF57F195B695}" type="slidenum">
              <a:rPr lang="en-US" altLang="en-US" sz="1300" b="0" smtClean="0"/>
              <a:pPr/>
              <a:t>16</a:t>
            </a:fld>
            <a:endParaRPr lang="en-US" altLang="en-US" sz="1300" b="0" smtClean="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ZA" altLang="en-US" dirty="0" smtClean="0"/>
              <a:t>A float value has a much wider range than an </a:t>
            </a:r>
            <a:r>
              <a:rPr lang="en-ZA" altLang="en-US" dirty="0" err="1" smtClean="0"/>
              <a:t>int</a:t>
            </a:r>
            <a:r>
              <a:rPr lang="en-ZA" altLang="en-US" dirty="0" smtClean="0"/>
              <a:t> does. This means that a float value that is either greater than the maximum possible </a:t>
            </a:r>
            <a:r>
              <a:rPr lang="en-ZA" altLang="en-US" dirty="0" err="1" smtClean="0"/>
              <a:t>int</a:t>
            </a:r>
            <a:r>
              <a:rPr lang="en-ZA" altLang="en-US" dirty="0" smtClean="0"/>
              <a:t> value, or less than the minimum possible </a:t>
            </a:r>
            <a:r>
              <a:rPr lang="en-ZA" altLang="en-US" dirty="0" err="1" smtClean="0"/>
              <a:t>int</a:t>
            </a:r>
            <a:r>
              <a:rPr lang="en-ZA" altLang="en-US" dirty="0" smtClean="0"/>
              <a:t> value, cannot possibly be represented as an int.</a:t>
            </a:r>
          </a:p>
          <a:p>
            <a:pPr eaLnBrk="1" hangingPunct="1"/>
            <a:endParaRPr lang="en-ZA" altLang="en-US" dirty="0" smtClean="0"/>
          </a:p>
          <a:p>
            <a:pPr eaLnBrk="1" hangingPunct="1"/>
            <a:r>
              <a:rPr lang="en-ZA" altLang="en-US" dirty="0" smtClean="0"/>
              <a:t>An </a:t>
            </a:r>
            <a:r>
              <a:rPr lang="en-ZA" altLang="en-US" dirty="0" err="1" smtClean="0"/>
              <a:t>int</a:t>
            </a:r>
            <a:r>
              <a:rPr lang="en-ZA" altLang="en-US" dirty="0" smtClean="0"/>
              <a:t> value has a range that is contained within the range of a float. This means every possible </a:t>
            </a:r>
            <a:r>
              <a:rPr lang="en-ZA" altLang="en-US" dirty="0" err="1" smtClean="0"/>
              <a:t>int</a:t>
            </a:r>
            <a:r>
              <a:rPr lang="en-ZA" altLang="en-US" dirty="0" smtClean="0"/>
              <a:t> value can be converted into a float value. Due to the limitations of floating point representations, the float value may not be able to represent the </a:t>
            </a:r>
            <a:r>
              <a:rPr lang="en-ZA" altLang="en-US" dirty="0" err="1" smtClean="0"/>
              <a:t>int</a:t>
            </a:r>
            <a:r>
              <a:rPr lang="en-ZA" altLang="en-US" dirty="0" smtClean="0"/>
              <a:t> value perfectly accurately (there may be a very small additional fractional part in the float value). However, the </a:t>
            </a:r>
            <a:r>
              <a:rPr lang="en-ZA" altLang="en-US" dirty="0" err="1" smtClean="0"/>
              <a:t>int</a:t>
            </a:r>
            <a:r>
              <a:rPr lang="en-ZA" altLang="en-US" dirty="0" smtClean="0"/>
              <a:t> value is at least approximately represented by the float.</a:t>
            </a:r>
          </a:p>
        </p:txBody>
      </p:sp>
    </p:spTree>
    <p:extLst>
      <p:ext uri="{BB962C8B-B14F-4D97-AF65-F5344CB8AC3E}">
        <p14:creationId xmlns:p14="http://schemas.microsoft.com/office/powerpoint/2010/main" val="6906780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E685C1FF-6712-4190-81E2-02C005E4735A}" type="slidenum">
              <a:rPr lang="en-US" altLang="en-US" sz="1300" b="0" smtClean="0"/>
              <a:pPr/>
              <a:t>17</a:t>
            </a:fld>
            <a:endParaRPr lang="en-US" altLang="en-US" sz="1300" b="0" smtClean="0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 smtClean="0"/>
          </a:p>
        </p:txBody>
      </p:sp>
    </p:spTree>
    <p:extLst>
      <p:ext uri="{BB962C8B-B14F-4D97-AF65-F5344CB8AC3E}">
        <p14:creationId xmlns:p14="http://schemas.microsoft.com/office/powerpoint/2010/main" val="37454736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B358DE31-FCAF-4B55-B6E7-37A1EC8E05A9}" type="slidenum">
              <a:rPr lang="en-US" altLang="en-US" sz="1300" b="0" smtClean="0"/>
              <a:pPr/>
              <a:t>18</a:t>
            </a:fld>
            <a:endParaRPr lang="en-US" altLang="en-US" sz="1300" b="0" smtClean="0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ZA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40718265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E666DE23-8C3A-4046-99C2-01D187A2E3F8}" type="slidenum">
              <a:rPr lang="en-US" altLang="en-US" sz="1300" b="0" smtClean="0"/>
              <a:pPr/>
              <a:t>19</a:t>
            </a:fld>
            <a:endParaRPr lang="en-US" altLang="en-US" sz="1300" b="0" smtClean="0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ZA" altLang="en-US" dirty="0" smtClean="0"/>
              <a:t>C++ also provides functional casting notation, which has the same syntax as a cast in F#. This does the same thing as the traditional C-style cast. The semantics of what happens when either a C-style cast or a functional cast takes place in C++ are relatively complex (they can be equivalent to </a:t>
            </a:r>
            <a:r>
              <a:rPr lang="en-ZA" altLang="en-US" dirty="0" err="1" smtClean="0"/>
              <a:t>static_cast</a:t>
            </a:r>
            <a:r>
              <a:rPr lang="en-ZA" altLang="en-US" dirty="0" smtClean="0"/>
              <a:t>, </a:t>
            </a:r>
            <a:r>
              <a:rPr lang="en-ZA" altLang="en-US" dirty="0" err="1" smtClean="0"/>
              <a:t>const_cast</a:t>
            </a:r>
            <a:r>
              <a:rPr lang="en-ZA" altLang="en-US" dirty="0" smtClean="0"/>
              <a:t>, or </a:t>
            </a:r>
            <a:r>
              <a:rPr lang="en-ZA" altLang="en-US" dirty="0" err="1" smtClean="0"/>
              <a:t>reinterpret_cast</a:t>
            </a:r>
            <a:r>
              <a:rPr lang="en-ZA" altLang="en-US" dirty="0" smtClean="0"/>
              <a:t>, depending on the situation), which is one of the reasons that the explicit C++ casts (</a:t>
            </a:r>
            <a:r>
              <a:rPr lang="en-ZA" altLang="en-US" dirty="0" err="1" smtClean="0"/>
              <a:t>static_cast</a:t>
            </a:r>
            <a:r>
              <a:rPr lang="en-ZA" altLang="en-US" dirty="0" smtClean="0"/>
              <a:t>, </a:t>
            </a:r>
            <a:r>
              <a:rPr lang="en-ZA" altLang="en-US" dirty="0" err="1" smtClean="0"/>
              <a:t>const_cast</a:t>
            </a:r>
            <a:r>
              <a:rPr lang="en-ZA" altLang="en-US" dirty="0" smtClean="0"/>
              <a:t>, or </a:t>
            </a:r>
            <a:r>
              <a:rPr lang="en-ZA" altLang="en-US" dirty="0" err="1" smtClean="0"/>
              <a:t>reinterpret_cast</a:t>
            </a:r>
            <a:r>
              <a:rPr lang="en-ZA" altLang="en-US" dirty="0" smtClean="0"/>
              <a:t>) are preferred.</a:t>
            </a:r>
          </a:p>
        </p:txBody>
      </p:sp>
    </p:spTree>
    <p:extLst>
      <p:ext uri="{BB962C8B-B14F-4D97-AF65-F5344CB8AC3E}">
        <p14:creationId xmlns:p14="http://schemas.microsoft.com/office/powerpoint/2010/main" val="14322763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ED3DF55F-BEDE-44C3-8EC4-B8358EFB925F}" type="slidenum">
              <a:rPr lang="en-US" altLang="en-US" sz="1300" b="0" smtClean="0"/>
              <a:pPr/>
              <a:t>20</a:t>
            </a:fld>
            <a:endParaRPr lang="en-US" altLang="en-US" sz="1300" b="0" smtClean="0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 smtClean="0"/>
          </a:p>
        </p:txBody>
      </p:sp>
    </p:spTree>
    <p:extLst>
      <p:ext uri="{BB962C8B-B14F-4D97-AF65-F5344CB8AC3E}">
        <p14:creationId xmlns:p14="http://schemas.microsoft.com/office/powerpoint/2010/main" val="32812975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7448550" y="6564313"/>
            <a:ext cx="1841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r">
              <a:defRPr/>
            </a:pPr>
            <a:endParaRPr lang="en-US" altLang="en-US" sz="1200" b="0" smtClean="0"/>
          </a:p>
        </p:txBody>
      </p:sp>
      <p:sp>
        <p:nvSpPr>
          <p:cNvPr id="5" name="Text Box 6"/>
          <p:cNvSpPr txBox="1">
            <a:spLocks noChangeArrowheads="1"/>
          </p:cNvSpPr>
          <p:nvPr userDrawn="1"/>
        </p:nvSpPr>
        <p:spPr bwMode="auto">
          <a:xfrm>
            <a:off x="8385175" y="6172200"/>
            <a:ext cx="1841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r">
              <a:defRPr/>
            </a:pPr>
            <a:endParaRPr lang="es-MX" altLang="en-US" sz="1200" b="0" smtClean="0">
              <a:latin typeface="Courier" pitchFamily="49" charset="0"/>
            </a:endParaRPr>
          </a:p>
        </p:txBody>
      </p:sp>
      <p:sp>
        <p:nvSpPr>
          <p:cNvPr id="4608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1371600"/>
            <a:ext cx="3657600" cy="1143000"/>
          </a:xfrm>
        </p:spPr>
        <p:txBody>
          <a:bodyPr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1000" y="3276600"/>
            <a:ext cx="3657600" cy="1752600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rgbClr val="CC3300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7" name="Picture 8" descr="Front Cover: Concepts of Programming Languages, Global Edition, by Robert W Sebesta&#10;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0"/>
            <a:ext cx="4800600" cy="60769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007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Addison-Wesley. All rights reserved.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5EA70BEC-32E0-4984-9BED-3C3F17BFC21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7596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Addison-Wesley. All rights reserved.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280180AC-660F-4CD1-BD2A-51C15E929CC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3044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40005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1600200"/>
            <a:ext cx="40005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Addison-Wesley. All rights reserved.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A0BA0A40-8CAF-459D-8C86-D1906483A01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3547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Addison-Wesley. All rights reserved.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BA91FBD5-D996-4AFD-926C-923BB8D27FC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9116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Addison-Wesley. All rights reserved.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23326F8C-0E4E-433F-B738-56DB0112962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9880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Addison-Wesley. All rights reserved.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D0D0CA76-C7EE-482A-BA40-1019B41F6D7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3411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Addison-Wesley. All rights reserved.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E097B667-484F-4524-A175-D3185081266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5089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Addison-Wesley. All rights reserved.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5A97B311-A8D0-4FF1-BCEA-C4D983584D1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5305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Addison-Wesley. All rights reserved.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6ABD8F16-9D7A-4357-9A15-311AAE1001E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4540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24650" y="381000"/>
            <a:ext cx="2038350" cy="5791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81000"/>
            <a:ext cx="5962650" cy="5791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Addison-Wesley. All rights reserved.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24FE5A2E-09B3-41B6-9E95-B7F56E52FA7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7033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8153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5060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85800" y="6248400"/>
            <a:ext cx="419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000" b="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Copyright © 2012 Addison-Wesley. All rights reserved.</a:t>
            </a:r>
          </a:p>
        </p:txBody>
      </p:sp>
      <p:sp>
        <p:nvSpPr>
          <p:cNvPr id="4506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en-US"/>
              <a:t>1-</a:t>
            </a:r>
            <a:fld id="{BB7A8A3C-580A-4D1E-9D75-ACCBD4E8E56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609600" y="15240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ZA"/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609600" y="1219200"/>
            <a:ext cx="8153400" cy="0"/>
          </a:xfrm>
          <a:prstGeom prst="line">
            <a:avLst/>
          </a:prstGeom>
          <a:noFill/>
          <a:ln w="57150">
            <a:solidFill>
              <a:srgbClr val="CC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Z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5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+mj-lt"/>
          <a:ea typeface="Lucida Sans Unicode" pitchFamily="34" charset="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ea typeface="Lucida Sans Unicode" pitchFamily="34" charset="0"/>
          <a:cs typeface="Lucida Sans Unicode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ea typeface="Lucida Sans Unicode" pitchFamily="34" charset="0"/>
          <a:cs typeface="Lucida Sans Unicode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ea typeface="Lucida Sans Unicode" pitchFamily="34" charset="0"/>
          <a:cs typeface="Lucida Sans Unicode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ea typeface="Lucida Sans Unicode" pitchFamily="34" charset="0"/>
          <a:cs typeface="Lucida Sans Unicode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cs typeface="Lucida Sans Unicode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cs typeface="Lucida Sans Unicode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cs typeface="Lucida Sans Unicode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cs typeface="Lucida Sans Unicode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accent2"/>
          </a:solidFill>
          <a:latin typeface="+mn-lt"/>
          <a:ea typeface="Lucida Sans Unicode" pitchFamily="34" charset="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accent2"/>
          </a:solidFill>
          <a:latin typeface="+mn-lt"/>
          <a:ea typeface="Lucida Sans Unicode" pitchFamily="34" charset="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100">
          <a:solidFill>
            <a:srgbClr val="666699"/>
          </a:solidFill>
          <a:latin typeface="+mn-lt"/>
          <a:ea typeface="Lucida Sans Unicode" pitchFamily="34" charset="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accent2"/>
          </a:solidFill>
          <a:latin typeface="+mn-lt"/>
          <a:ea typeface="Lucida Sans Unicode" pitchFamily="34" charset="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rgbClr val="666699"/>
          </a:solidFill>
          <a:latin typeface="+mn-lt"/>
          <a:ea typeface="Lucida Sans Unicode" pitchFamily="34" charset="0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rgbClr val="666699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rgbClr val="666699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rgbClr val="666699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rgbClr val="666699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Chapter 7</a:t>
            </a:r>
            <a:br>
              <a:rPr lang="en-US" altLang="en-US" dirty="0" smtClean="0"/>
            </a:br>
            <a:r>
              <a:rPr lang="en-US" altLang="en-US" sz="2800" dirty="0" smtClean="0"/>
              <a:t>Part 1</a:t>
            </a:r>
          </a:p>
        </p:txBody>
      </p:sp>
      <p:sp>
        <p:nvSpPr>
          <p:cNvPr id="4099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Expressions and </a:t>
            </a:r>
            <a:br>
              <a:rPr lang="en-US" altLang="en-US" smtClean="0"/>
            </a:br>
            <a:r>
              <a:rPr lang="en-US" altLang="en-US" smtClean="0"/>
              <a:t>Assignment Statements</a:t>
            </a:r>
          </a:p>
          <a:p>
            <a:pPr eaLnBrk="1" hangingPunct="1"/>
            <a:endParaRPr lang="en-US" altLang="en-US" smtClean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BA766B2E-5528-40A9-A7C8-92C9F92F84BF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Chapter 7 Topics</a:t>
            </a:r>
          </a:p>
        </p:txBody>
      </p:sp>
      <p:sp>
        <p:nvSpPr>
          <p:cNvPr id="614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Introduction</a:t>
            </a:r>
          </a:p>
          <a:p>
            <a:pPr eaLnBrk="1" hangingPunct="1"/>
            <a:r>
              <a:rPr lang="en-US" altLang="en-US" dirty="0" smtClean="0"/>
              <a:t>Arithmetic Expressions</a:t>
            </a:r>
          </a:p>
          <a:p>
            <a:pPr eaLnBrk="1" hangingPunct="1"/>
            <a:r>
              <a:rPr lang="en-US" altLang="en-US" dirty="0" smtClean="0"/>
              <a:t>Overloaded Operators</a:t>
            </a:r>
          </a:p>
          <a:p>
            <a:pPr eaLnBrk="1" hangingPunct="1"/>
            <a:r>
              <a:rPr lang="en-US" altLang="en-US" dirty="0" smtClean="0"/>
              <a:t>Type Conversions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12474D68-49CA-458C-8728-9B4D973535A0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smtClean="0"/>
              <a:t>Introduction</a:t>
            </a:r>
          </a:p>
        </p:txBody>
      </p:sp>
      <p:sp>
        <p:nvSpPr>
          <p:cNvPr id="819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Expressions</a:t>
            </a:r>
          </a:p>
          <a:p>
            <a:pPr lvl="1" eaLnBrk="1" hangingPunct="1"/>
            <a:r>
              <a:rPr lang="en-US" altLang="en-US" smtClean="0"/>
              <a:t>The fundamental means of specifying computations in a programming language</a:t>
            </a:r>
          </a:p>
          <a:p>
            <a:pPr eaLnBrk="1" hangingPunct="1"/>
            <a:r>
              <a:rPr lang="en-US" altLang="en-US" smtClean="0"/>
              <a:t>To understand expression evaluation</a:t>
            </a:r>
          </a:p>
          <a:p>
            <a:pPr lvl="1" eaLnBrk="1" hangingPunct="1"/>
            <a:r>
              <a:rPr lang="en-US" altLang="en-US" smtClean="0"/>
              <a:t>Must be familiar with the orders of operator and operand evaluation</a:t>
            </a:r>
          </a:p>
          <a:p>
            <a:pPr eaLnBrk="1" hangingPunct="1"/>
            <a:r>
              <a:rPr lang="en-US" altLang="en-US" smtClean="0"/>
              <a:t>Essence of imperative languages</a:t>
            </a:r>
          </a:p>
          <a:p>
            <a:pPr lvl="1" eaLnBrk="1" hangingPunct="1"/>
            <a:r>
              <a:rPr lang="en-US" altLang="en-US" smtClean="0"/>
              <a:t>The dominant role of assignment statements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5105FDEC-7B6C-4584-A14B-689CE3A9C361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smtClean="0"/>
              <a:t>Arithmetic Expressions</a:t>
            </a:r>
          </a:p>
        </p:txBody>
      </p:sp>
      <p:sp>
        <p:nvSpPr>
          <p:cNvPr id="1024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Arithmetic evaluation</a:t>
            </a:r>
          </a:p>
          <a:p>
            <a:pPr lvl="1" eaLnBrk="1" hangingPunct="1"/>
            <a:r>
              <a:rPr lang="en-US" altLang="en-US" smtClean="0"/>
              <a:t>One of the motivations for the development of the first programming languages</a:t>
            </a:r>
          </a:p>
          <a:p>
            <a:pPr lvl="1" eaLnBrk="1" hangingPunct="1"/>
            <a:r>
              <a:rPr lang="en-US" altLang="en-US" smtClean="0"/>
              <a:t>For example: Fortran</a:t>
            </a:r>
          </a:p>
          <a:p>
            <a:pPr eaLnBrk="1" hangingPunct="1"/>
            <a:r>
              <a:rPr lang="en-US" altLang="en-US" smtClean="0"/>
              <a:t>Arithmetic expressions consist of</a:t>
            </a:r>
          </a:p>
          <a:p>
            <a:pPr lvl="1" eaLnBrk="1" hangingPunct="1"/>
            <a:r>
              <a:rPr lang="en-US" altLang="en-US" smtClean="0"/>
              <a:t>Operators (like </a:t>
            </a:r>
            <a:r>
              <a:rPr lang="en-US" altLang="en-US" smtClean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altLang="en-US" smtClean="0"/>
              <a:t> or </a:t>
            </a:r>
            <a:r>
              <a:rPr lang="en-US" altLang="en-US" smtClean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altLang="en-US" smtClean="0"/>
              <a:t>)</a:t>
            </a:r>
          </a:p>
          <a:p>
            <a:pPr lvl="1" eaLnBrk="1" hangingPunct="1"/>
            <a:r>
              <a:rPr lang="en-US" altLang="en-US" smtClean="0"/>
              <a:t>Operands (the objects or quantities operated on)</a:t>
            </a:r>
          </a:p>
          <a:p>
            <a:pPr lvl="1" eaLnBrk="1" hangingPunct="1"/>
            <a:r>
              <a:rPr lang="en-US" altLang="en-US" smtClean="0"/>
              <a:t>Parentheses</a:t>
            </a:r>
          </a:p>
          <a:p>
            <a:pPr lvl="1" eaLnBrk="1" hangingPunct="1"/>
            <a:r>
              <a:rPr lang="en-US" altLang="en-US" smtClean="0"/>
              <a:t>Function calls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DA561F1B-134A-4C70-9B0F-B32F6C5D8856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8153400" cy="1143000"/>
          </a:xfrm>
        </p:spPr>
        <p:txBody>
          <a:bodyPr/>
          <a:lstStyle/>
          <a:p>
            <a:pPr eaLnBrk="1" hangingPunct="1"/>
            <a:r>
              <a:rPr lang="en-US" altLang="en-US" sz="3200" smtClean="0"/>
              <a:t>Arithmetic Expressions:</a:t>
            </a:r>
            <a:br>
              <a:rPr lang="en-US" altLang="en-US" sz="3200" smtClean="0"/>
            </a:br>
            <a:r>
              <a:rPr lang="en-US" altLang="en-US" sz="3200" smtClean="0"/>
              <a:t>Design Issues</a:t>
            </a:r>
          </a:p>
        </p:txBody>
      </p:sp>
      <p:sp>
        <p:nvSpPr>
          <p:cNvPr id="1229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 eaLnBrk="1" hangingPunct="1"/>
            <a:r>
              <a:rPr lang="en-US" altLang="en-US" dirty="0" smtClean="0"/>
              <a:t>Design issues for arithmetic expressions</a:t>
            </a:r>
          </a:p>
          <a:p>
            <a:pPr marL="914400" lvl="1" indent="-457200" eaLnBrk="1" hangingPunct="1"/>
            <a:r>
              <a:rPr lang="en-US" altLang="en-US" dirty="0" smtClean="0"/>
              <a:t>Two related questions</a:t>
            </a:r>
          </a:p>
          <a:p>
            <a:pPr marL="1314450" lvl="2" indent="-457200" eaLnBrk="1" hangingPunct="1"/>
            <a:r>
              <a:rPr lang="en-US" altLang="en-US" dirty="0" smtClean="0"/>
              <a:t>What are the operator precedence rules?</a:t>
            </a:r>
          </a:p>
          <a:p>
            <a:pPr marL="1314450" lvl="2" indent="-457200" eaLnBrk="1" hangingPunct="1"/>
            <a:r>
              <a:rPr lang="en-US" altLang="en-US" dirty="0" smtClean="0"/>
              <a:t>What are the operator associativity rules?</a:t>
            </a:r>
          </a:p>
          <a:p>
            <a:pPr marL="914400" lvl="1" indent="-457200" eaLnBrk="1" hangingPunct="1"/>
            <a:r>
              <a:rPr lang="en-US" altLang="en-US" dirty="0" smtClean="0"/>
              <a:t>What is the order of operand evaluation?</a:t>
            </a:r>
          </a:p>
          <a:p>
            <a:pPr marL="914400" lvl="1" indent="-457200" eaLnBrk="1" hangingPunct="1"/>
            <a:r>
              <a:rPr lang="en-US" altLang="en-US" dirty="0" smtClean="0"/>
              <a:t>Are operand evaluation side effects restricted?</a:t>
            </a:r>
          </a:p>
          <a:p>
            <a:pPr marL="914400" lvl="1" indent="-457200" eaLnBrk="1" hangingPunct="1"/>
            <a:r>
              <a:rPr lang="en-US" altLang="en-US" dirty="0" smtClean="0"/>
              <a:t>Is user-defined operator overloading allowed?</a:t>
            </a:r>
          </a:p>
          <a:p>
            <a:pPr marL="914400" lvl="1" indent="-457200" eaLnBrk="1" hangingPunct="1"/>
            <a:r>
              <a:rPr lang="en-US" altLang="en-US" dirty="0" smtClean="0"/>
              <a:t>What type mixing is allowed in expressions?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649145A4-BC1E-4F13-A540-1AD5680831E4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8153400" cy="1143000"/>
          </a:xfrm>
        </p:spPr>
        <p:txBody>
          <a:bodyPr/>
          <a:lstStyle/>
          <a:p>
            <a:pPr eaLnBrk="1" hangingPunct="1"/>
            <a:r>
              <a:rPr lang="en-US" altLang="en-US" sz="3200" smtClean="0"/>
              <a:t>Arithmetic Expressions:</a:t>
            </a:r>
            <a:br>
              <a:rPr lang="en-US" altLang="en-US" sz="3200" smtClean="0"/>
            </a:br>
            <a:r>
              <a:rPr lang="en-US" altLang="en-US" sz="3200" smtClean="0"/>
              <a:t>Operators</a:t>
            </a:r>
          </a:p>
        </p:txBody>
      </p:sp>
      <p:sp>
        <p:nvSpPr>
          <p:cNvPr id="1434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 unary operator has one operand</a:t>
            </a:r>
          </a:p>
          <a:p>
            <a:pPr eaLnBrk="1" hangingPunct="1"/>
            <a:r>
              <a:rPr lang="en-US" altLang="en-US" smtClean="0"/>
              <a:t>A binary operator has two operands</a:t>
            </a:r>
          </a:p>
          <a:p>
            <a:pPr eaLnBrk="1" hangingPunct="1"/>
            <a:r>
              <a:rPr lang="en-US" altLang="en-US" smtClean="0"/>
              <a:t>A ternary operator has three operands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599A1165-4916-4158-B304-6C2C858E2629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8153400" cy="1143000"/>
          </a:xfrm>
        </p:spPr>
        <p:txBody>
          <a:bodyPr/>
          <a:lstStyle/>
          <a:p>
            <a:pPr eaLnBrk="1" hangingPunct="1"/>
            <a:r>
              <a:rPr lang="en-US" altLang="en-US" sz="3200" smtClean="0"/>
              <a:t>Arithmetic Expressions:</a:t>
            </a:r>
            <a:br>
              <a:rPr lang="en-US" altLang="en-US" sz="3200" smtClean="0"/>
            </a:br>
            <a:r>
              <a:rPr lang="en-US" altLang="en-US" sz="3200" smtClean="0"/>
              <a:t>Operator Precedence Rules</a:t>
            </a:r>
          </a:p>
        </p:txBody>
      </p:sp>
      <p:sp>
        <p:nvSpPr>
          <p:cNvPr id="1638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39285"/>
            <a:ext cx="8153400" cy="4800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 smtClean="0"/>
              <a:t>Language defines a set of precedence levels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/>
              <a:t>Typical </a:t>
            </a:r>
            <a:r>
              <a:rPr lang="en-US" altLang="en-US" dirty="0" smtClean="0"/>
              <a:t>precedence </a:t>
            </a:r>
            <a:r>
              <a:rPr lang="en-US" altLang="en-US" dirty="0" smtClean="0"/>
              <a:t>levels that group operators</a:t>
            </a:r>
            <a:endParaRPr lang="en-US" altLang="en-US" dirty="0" smtClean="0"/>
          </a:p>
          <a:p>
            <a:pPr lvl="2" eaLnBrk="1" hangingPunct="1">
              <a:lnSpc>
                <a:spcPct val="90000"/>
              </a:lnSpc>
            </a:pPr>
            <a:r>
              <a:rPr lang="en-US" altLang="en-US" dirty="0" smtClean="0"/>
              <a:t>Parentheses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 smtClean="0"/>
              <a:t>Unary operators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 smtClean="0"/>
              <a:t>The </a:t>
            </a:r>
            <a:r>
              <a:rPr lang="en-US" altLang="en-US" dirty="0" smtClean="0">
                <a:latin typeface="Courier New" panose="02070309020205020404" pitchFamily="49" charset="0"/>
              </a:rPr>
              <a:t>**</a:t>
            </a:r>
            <a:r>
              <a:rPr lang="en-US" altLang="en-US" dirty="0" smtClean="0"/>
              <a:t> or </a:t>
            </a:r>
            <a:r>
              <a:rPr lang="en-US" altLang="en-US" dirty="0" smtClean="0">
                <a:latin typeface="Courier New" panose="02070309020205020404" pitchFamily="49" charset="0"/>
              </a:rPr>
              <a:t>^</a:t>
            </a:r>
            <a:r>
              <a:rPr lang="en-US" altLang="en-US" dirty="0" smtClean="0"/>
              <a:t> </a:t>
            </a:r>
            <a:r>
              <a:rPr lang="en-US" altLang="en-US" dirty="0" smtClean="0"/>
              <a:t>operator</a:t>
            </a:r>
            <a:endParaRPr lang="en-US" altLang="en-US" dirty="0" smtClean="0"/>
          </a:p>
          <a:p>
            <a:pPr lvl="3" eaLnBrk="1" hangingPunct="1">
              <a:lnSpc>
                <a:spcPct val="90000"/>
              </a:lnSpc>
            </a:pPr>
            <a:r>
              <a:rPr lang="en-US" altLang="en-US" dirty="0" smtClean="0"/>
              <a:t>Raise left operand to the power of right operand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en-US" dirty="0" smtClean="0"/>
              <a:t>In Fortran, Ruby, Ada, and Visual Basic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 smtClean="0"/>
              <a:t>The </a:t>
            </a:r>
            <a:r>
              <a:rPr lang="en-US" altLang="en-US" dirty="0" smtClean="0"/>
              <a:t>​</a:t>
            </a:r>
            <a:r>
              <a:rPr lang="en-US" altLang="en-US" dirty="0" smtClean="0">
                <a:latin typeface="Courier New" panose="02070309020205020404" pitchFamily="49" charset="0"/>
              </a:rPr>
              <a:t>*</a:t>
            </a:r>
            <a:r>
              <a:rPr lang="en-US" altLang="en-US" dirty="0" smtClean="0"/>
              <a:t> and </a:t>
            </a:r>
            <a:r>
              <a:rPr lang="en-US" altLang="en-US" dirty="0" smtClean="0">
                <a:latin typeface="Courier New" panose="02070309020205020404" pitchFamily="49" charset="0"/>
              </a:rPr>
              <a:t>/</a:t>
            </a:r>
            <a:r>
              <a:rPr lang="en-US" altLang="en-US" dirty="0" smtClean="0"/>
              <a:t> operators</a:t>
            </a:r>
            <a:endParaRPr lang="en-US" altLang="en-US" dirty="0" smtClean="0">
              <a:latin typeface="Courier New" panose="02070309020205020404" pitchFamily="49" charset="0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 smtClean="0"/>
              <a:t>The ​</a:t>
            </a:r>
            <a:r>
              <a:rPr lang="en-US" altLang="en-US" dirty="0" smtClean="0">
                <a:latin typeface="Courier New" panose="02070309020205020404" pitchFamily="49" charset="0"/>
              </a:rPr>
              <a:t>+</a:t>
            </a:r>
            <a:r>
              <a:rPr lang="en-US" altLang="en-US" dirty="0" smtClean="0"/>
              <a:t> and </a:t>
            </a:r>
            <a:r>
              <a:rPr lang="en-US" altLang="en-US" dirty="0" smtClean="0">
                <a:latin typeface="Courier New" panose="02070309020205020404" pitchFamily="49" charset="0"/>
              </a:rPr>
              <a:t>-</a:t>
            </a:r>
            <a:r>
              <a:rPr lang="en-US" altLang="en-US" dirty="0" smtClean="0"/>
              <a:t> operators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Operator precedence</a:t>
            </a:r>
            <a:r>
              <a:rPr lang="en-US" altLang="en-US" dirty="0">
                <a:solidFill>
                  <a:schemeClr val="tx2"/>
                </a:solidFill>
              </a:rPr>
              <a:t> </a:t>
            </a:r>
            <a:r>
              <a:rPr lang="en-US" altLang="en-US" dirty="0"/>
              <a:t>rules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Define order in which “adjacent” operators of </a:t>
            </a:r>
            <a:r>
              <a:rPr lang="en-US" altLang="en-US" u="sng" dirty="0"/>
              <a:t>different</a:t>
            </a:r>
            <a:r>
              <a:rPr lang="en-US" altLang="en-US" dirty="0"/>
              <a:t> precedence levels are evaluated</a:t>
            </a:r>
            <a:endParaRPr lang="en-US" altLang="en-US" dirty="0" smtClean="0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83987D14-FF19-45EB-8B18-F08F33B30407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8153400" cy="1143000"/>
          </a:xfrm>
        </p:spPr>
        <p:txBody>
          <a:bodyPr/>
          <a:lstStyle/>
          <a:p>
            <a:pPr eaLnBrk="1" hangingPunct="1"/>
            <a:r>
              <a:rPr lang="en-US" altLang="en-US" sz="3200" smtClean="0"/>
              <a:t>Arithmetic Expressions:</a:t>
            </a:r>
            <a:br>
              <a:rPr lang="en-US" altLang="en-US" sz="3200" smtClean="0"/>
            </a:br>
            <a:r>
              <a:rPr lang="en-US" altLang="en-US" sz="3200" smtClean="0"/>
              <a:t>Operator Associativity Rules</a:t>
            </a:r>
          </a:p>
        </p:txBody>
      </p:sp>
      <p:sp>
        <p:nvSpPr>
          <p:cNvPr id="1843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8153400" cy="45720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Operator associativity rules</a:t>
            </a:r>
          </a:p>
          <a:p>
            <a:pPr lvl="1" eaLnBrk="1" hangingPunct="1"/>
            <a:r>
              <a:rPr lang="en-US" altLang="en-US" dirty="0" smtClean="0"/>
              <a:t>Define the order in which adjacent operators with the </a:t>
            </a:r>
            <a:r>
              <a:rPr lang="en-US" altLang="en-US" u="sng" dirty="0" smtClean="0"/>
              <a:t>same</a:t>
            </a:r>
            <a:r>
              <a:rPr lang="en-US" altLang="en-US" dirty="0" smtClean="0"/>
              <a:t> precedence level are evaluated</a:t>
            </a:r>
          </a:p>
          <a:p>
            <a:pPr eaLnBrk="1" hangingPunct="1"/>
            <a:r>
              <a:rPr lang="en-US" altLang="en-US" dirty="0" smtClean="0"/>
              <a:t>Typical associativity rules</a:t>
            </a:r>
          </a:p>
          <a:p>
            <a:pPr lvl="1" eaLnBrk="1" hangingPunct="1"/>
            <a:r>
              <a:rPr lang="en-US" altLang="en-US" dirty="0" smtClean="0"/>
              <a:t>Left to right (except </a:t>
            </a:r>
            <a:r>
              <a:rPr lang="en-US" altLang="en-US" dirty="0" smtClean="0">
                <a:latin typeface="Courier New" panose="02070309020205020404" pitchFamily="49" charset="0"/>
              </a:rPr>
              <a:t>**</a:t>
            </a:r>
            <a:r>
              <a:rPr lang="en-US" altLang="en-US" dirty="0" smtClean="0"/>
              <a:t>, which is right to left)</a:t>
            </a:r>
          </a:p>
          <a:p>
            <a:pPr lvl="1" eaLnBrk="1" hangingPunct="1"/>
            <a:r>
              <a:rPr lang="en-US" altLang="en-US" dirty="0" smtClean="0"/>
              <a:t>Some </a:t>
            </a:r>
            <a:r>
              <a:rPr lang="en-US" altLang="en-US" dirty="0" smtClean="0"/>
              <a:t>unary operators associate right to </a:t>
            </a:r>
            <a:r>
              <a:rPr lang="en-US" altLang="en-US" dirty="0" smtClean="0"/>
              <a:t>left</a:t>
            </a:r>
            <a:endParaRPr lang="en-US" altLang="en-US" dirty="0" smtClean="0"/>
          </a:p>
          <a:p>
            <a:pPr eaLnBrk="1" hangingPunct="1"/>
            <a:r>
              <a:rPr lang="en-US" altLang="en-US" dirty="0" smtClean="0"/>
              <a:t>APL has only one precedence level</a:t>
            </a:r>
          </a:p>
          <a:p>
            <a:pPr lvl="1" eaLnBrk="1" hangingPunct="1"/>
            <a:r>
              <a:rPr lang="en-US" altLang="en-US" dirty="0" smtClean="0"/>
              <a:t>All operators associate right to left</a:t>
            </a:r>
          </a:p>
          <a:p>
            <a:pPr eaLnBrk="1" hangingPunct="1"/>
            <a:r>
              <a:rPr lang="en-US" altLang="en-US" dirty="0" smtClean="0"/>
              <a:t>Parentheses supported in many languages</a:t>
            </a:r>
          </a:p>
          <a:p>
            <a:pPr lvl="1" eaLnBrk="1" hangingPunct="1"/>
            <a:r>
              <a:rPr lang="en-US" altLang="en-US" dirty="0" smtClean="0"/>
              <a:t>Can override precedence and associativity rules</a:t>
            </a:r>
            <a:endParaRPr lang="en-US" altLang="en-US" sz="2000" dirty="0" smtClean="0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C1A4A8B6-BAC4-4A93-BF77-06E44C0EDADA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8153400" cy="1143000"/>
          </a:xfrm>
        </p:spPr>
        <p:txBody>
          <a:bodyPr/>
          <a:lstStyle/>
          <a:p>
            <a:pPr eaLnBrk="1" hangingPunct="1"/>
            <a:r>
              <a:rPr lang="en-US" altLang="en-US" sz="3200" dirty="0" smtClean="0"/>
              <a:t>Arithmetic Expressions:</a:t>
            </a:r>
            <a:br>
              <a:rPr lang="en-US" altLang="en-US" sz="3200" dirty="0" smtClean="0"/>
            </a:br>
            <a:r>
              <a:rPr lang="en-US" altLang="en-US" sz="3200" dirty="0" smtClean="0"/>
              <a:t>Ruby Expressions</a:t>
            </a:r>
          </a:p>
        </p:txBody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In Ruby</a:t>
            </a:r>
          </a:p>
          <a:p>
            <a:pPr lvl="1" eaLnBrk="1" hangingPunct="1"/>
            <a:r>
              <a:rPr lang="en-US" altLang="en-US" smtClean="0"/>
              <a:t>Most operators </a:t>
            </a:r>
            <a:r>
              <a:rPr lang="en-US" altLang="en-US" dirty="0" smtClean="0"/>
              <a:t>are implemented as methods</a:t>
            </a:r>
          </a:p>
          <a:p>
            <a:pPr lvl="1" eaLnBrk="1" hangingPunct="1"/>
            <a:r>
              <a:rPr lang="en-US" altLang="en-US" dirty="0" smtClean="0"/>
              <a:t>This includes</a:t>
            </a:r>
          </a:p>
          <a:p>
            <a:pPr lvl="2" eaLnBrk="1" hangingPunct="1"/>
            <a:r>
              <a:rPr lang="en-US" altLang="en-US" dirty="0" smtClean="0"/>
              <a:t>Arithmetic, relational, and assignment operators</a:t>
            </a:r>
          </a:p>
          <a:p>
            <a:pPr lvl="2" eaLnBrk="1" hangingPunct="1"/>
            <a:r>
              <a:rPr lang="en-US" altLang="en-US" dirty="0" smtClean="0"/>
              <a:t>Array indexing operator</a:t>
            </a:r>
          </a:p>
          <a:p>
            <a:pPr lvl="2" eaLnBrk="1" hangingPunct="1"/>
            <a:r>
              <a:rPr lang="en-US" altLang="en-US" dirty="0" smtClean="0"/>
              <a:t>Shift operators</a:t>
            </a:r>
          </a:p>
          <a:p>
            <a:pPr lvl="2" eaLnBrk="1" hangingPunct="1"/>
            <a:r>
              <a:rPr lang="en-US" altLang="en-US" dirty="0" smtClean="0"/>
              <a:t>Bit-wise logic operators</a:t>
            </a:r>
          </a:p>
          <a:p>
            <a:pPr lvl="1" eaLnBrk="1" hangingPunct="1"/>
            <a:r>
              <a:rPr lang="en-US" altLang="en-US" dirty="0" smtClean="0"/>
              <a:t>Because these operators are methods</a:t>
            </a:r>
          </a:p>
          <a:p>
            <a:pPr lvl="2" eaLnBrk="1" hangingPunct="1"/>
            <a:r>
              <a:rPr lang="en-US" altLang="en-US" dirty="0" smtClean="0"/>
              <a:t>All of them can be </a:t>
            </a:r>
            <a:r>
              <a:rPr lang="en-US" altLang="en-US" dirty="0" err="1" smtClean="0"/>
              <a:t>overriden</a:t>
            </a:r>
            <a:r>
              <a:rPr lang="en-US" altLang="en-US" dirty="0" smtClean="0"/>
              <a:t> by the programmer</a:t>
            </a:r>
          </a:p>
          <a:p>
            <a:pPr lvl="2" eaLnBrk="1" hangingPunct="1"/>
            <a:r>
              <a:rPr lang="en-US" altLang="en-US" dirty="0" smtClean="0"/>
              <a:t>Impact on language evaluation criteria?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F804256D-A090-4FA5-B910-F7040AF495A0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8153400" cy="1143000"/>
          </a:xfrm>
        </p:spPr>
        <p:txBody>
          <a:bodyPr/>
          <a:lstStyle/>
          <a:p>
            <a:pPr eaLnBrk="1" hangingPunct="1"/>
            <a:r>
              <a:rPr lang="en-US" altLang="en-US" sz="3200" smtClean="0"/>
              <a:t>Arithmetic Expressions:</a:t>
            </a:r>
            <a:br>
              <a:rPr lang="en-US" altLang="en-US" sz="3200" smtClean="0"/>
            </a:br>
            <a:r>
              <a:rPr lang="en-US" altLang="en-US" sz="3200" smtClean="0"/>
              <a:t>Scheme and Common LISP Expressions</a:t>
            </a:r>
          </a:p>
        </p:txBody>
      </p:sp>
      <p:sp>
        <p:nvSpPr>
          <p:cNvPr id="2253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dirty="0" smtClean="0"/>
              <a:t>In Scheme and Common LISP</a:t>
            </a:r>
          </a:p>
          <a:p>
            <a:pPr lvl="1" eaLnBrk="1" hangingPunct="1">
              <a:buFontTx/>
              <a:buChar char="-"/>
              <a:defRPr/>
            </a:pPr>
            <a:r>
              <a:rPr lang="en-US" altLang="en-US" dirty="0" smtClean="0"/>
              <a:t>All arithmetic and logic operations</a:t>
            </a:r>
          </a:p>
          <a:p>
            <a:pPr lvl="2" eaLnBrk="1" hangingPunct="1">
              <a:buFontTx/>
              <a:buChar char="-"/>
              <a:defRPr/>
            </a:pPr>
            <a:r>
              <a:rPr lang="en-US" altLang="en-US" dirty="0" smtClean="0"/>
              <a:t>Are implemented as explicitly called subprograms</a:t>
            </a:r>
          </a:p>
          <a:p>
            <a:pPr lvl="3" eaLnBrk="1" hangingPunct="1">
              <a:buFontTx/>
              <a:buChar char="-"/>
              <a:defRPr/>
            </a:pPr>
            <a:r>
              <a:rPr lang="en-US" altLang="en-US" dirty="0" smtClean="0"/>
              <a:t>We looked at this in Chapter 15</a:t>
            </a:r>
          </a:p>
          <a:p>
            <a:pPr lvl="2" eaLnBrk="1" hangingPunct="1">
              <a:buFontTx/>
              <a:buChar char="-"/>
              <a:defRPr/>
            </a:pPr>
            <a:r>
              <a:rPr lang="en-US" altLang="en-US" dirty="0" smtClean="0"/>
              <a:t>For example, the expression 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 + b * c</a:t>
            </a:r>
            <a:r>
              <a:rPr lang="en-US" altLang="en-US" dirty="0" smtClean="0"/>
              <a:t> </a:t>
            </a:r>
          </a:p>
          <a:p>
            <a:pPr lvl="3" eaLnBrk="1" hangingPunct="1">
              <a:buFontTx/>
              <a:buChar char="-"/>
              <a:defRPr/>
            </a:pPr>
            <a:r>
              <a:rPr lang="en-US" altLang="en-US" dirty="0" smtClean="0"/>
              <a:t>Is written as 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(+ a (* b c))</a:t>
            </a:r>
          </a:p>
          <a:p>
            <a:pPr lvl="3" eaLnBrk="1" hangingPunct="1">
              <a:buFontTx/>
              <a:buChar char="-"/>
              <a:defRPr/>
            </a:pPr>
            <a:r>
              <a:rPr lang="en-US" altLang="en-US" dirty="0" smtClean="0">
                <a:latin typeface="+mj-lt"/>
                <a:cs typeface="Courier New" panose="02070309020205020404" pitchFamily="49" charset="0"/>
              </a:rPr>
              <a:t>Here 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altLang="en-US" dirty="0" smtClean="0">
                <a:latin typeface="+mj-lt"/>
                <a:cs typeface="Courier New" panose="02070309020205020404" pitchFamily="49" charset="0"/>
              </a:rPr>
              <a:t> and 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altLang="en-US" dirty="0" smtClean="0">
                <a:latin typeface="+mj-lt"/>
                <a:cs typeface="Courier New" panose="02070309020205020404" pitchFamily="49" charset="0"/>
              </a:rPr>
              <a:t> are </a:t>
            </a:r>
            <a:r>
              <a:rPr lang="en-US" altLang="en-US" dirty="0" smtClean="0">
                <a:latin typeface="+mj-lt"/>
                <a:cs typeface="Courier New" panose="02070309020205020404" pitchFamily="49" charset="0"/>
              </a:rPr>
              <a:t>functions</a:t>
            </a:r>
          </a:p>
          <a:p>
            <a:pPr lvl="3" eaLnBrk="1" hangingPunct="1">
              <a:buFontTx/>
              <a:buChar char="-"/>
              <a:defRPr/>
            </a:pPr>
            <a:r>
              <a:rPr lang="en-US" altLang="en-US" dirty="0" smtClean="0">
                <a:latin typeface="+mj-lt"/>
                <a:cs typeface="Courier New" panose="02070309020205020404" pitchFamily="49" charset="0"/>
              </a:rPr>
              <a:t>How does this affect precedence and associativity?</a:t>
            </a:r>
            <a:endParaRPr lang="en-US" altLang="en-US" dirty="0" smtClean="0">
              <a:latin typeface="+mj-lt"/>
              <a:cs typeface="Courier New" panose="02070309020205020404" pitchFamily="49" charset="0"/>
            </a:endParaRPr>
          </a:p>
          <a:p>
            <a:pPr lvl="2" eaLnBrk="1" hangingPunct="1">
              <a:buFontTx/>
              <a:buChar char="-"/>
              <a:defRPr/>
            </a:pPr>
            <a:r>
              <a:rPr lang="en-US" altLang="en-US" dirty="0" smtClean="0">
                <a:latin typeface="+mj-lt"/>
                <a:cs typeface="Courier New" panose="02070309020205020404" pitchFamily="49" charset="0"/>
              </a:rPr>
              <a:t>Scheme is dynamically typed</a:t>
            </a:r>
          </a:p>
          <a:p>
            <a:pPr lvl="3" eaLnBrk="1" hangingPunct="1">
              <a:buFontTx/>
              <a:buChar char="-"/>
              <a:defRPr/>
            </a:pPr>
            <a:r>
              <a:rPr lang="en-US" altLang="en-US" dirty="0" smtClean="0">
                <a:latin typeface="+mj-lt"/>
                <a:cs typeface="Courier New" panose="02070309020205020404" pitchFamily="49" charset="0"/>
              </a:rPr>
              <a:t>So operator overloading doesn’t make sense</a:t>
            </a:r>
          </a:p>
          <a:p>
            <a:pPr lvl="3" eaLnBrk="1" hangingPunct="1">
              <a:buFontTx/>
              <a:buChar char="-"/>
              <a:defRPr/>
            </a:pPr>
            <a:r>
              <a:rPr lang="en-US" altLang="en-US" dirty="0" smtClean="0">
                <a:latin typeface="+mj-lt"/>
                <a:cs typeface="Courier New" panose="02070309020205020404" pitchFamily="49" charset="0"/>
              </a:rPr>
              <a:t>Why does dynamic typing have this effect?</a:t>
            </a:r>
            <a:endParaRPr lang="en-US" altLang="en-US" dirty="0" smtClean="0">
              <a:latin typeface="+mj-lt"/>
            </a:endParaRP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extLst mod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37E565F3-002A-4B15-A8BE-7961501873A4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8153400" cy="1143000"/>
          </a:xfrm>
        </p:spPr>
        <p:txBody>
          <a:bodyPr/>
          <a:lstStyle/>
          <a:p>
            <a:pPr eaLnBrk="1" hangingPunct="1"/>
            <a:r>
              <a:rPr lang="en-US" altLang="en-US" sz="3200" smtClean="0"/>
              <a:t>Arithmetic Expressions:</a:t>
            </a:r>
            <a:br>
              <a:rPr lang="en-US" altLang="en-US" sz="3200" smtClean="0"/>
            </a:br>
            <a:r>
              <a:rPr lang="en-US" altLang="en-US" sz="3200" smtClean="0"/>
              <a:t>Conditional Expressions</a:t>
            </a:r>
          </a:p>
        </p:txBody>
      </p:sp>
      <p:sp>
        <p:nvSpPr>
          <p:cNvPr id="2458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dirty="0" smtClean="0"/>
              <a:t>Conditional Expressions</a:t>
            </a:r>
          </a:p>
          <a:p>
            <a:pPr lvl="1" eaLnBrk="1" hangingPunct="1">
              <a:defRPr/>
            </a:pPr>
            <a:r>
              <a:rPr lang="en-US" altLang="en-US" dirty="0" smtClean="0"/>
              <a:t>Supported in the C-based languages</a:t>
            </a:r>
          </a:p>
          <a:p>
            <a:pPr lvl="1" eaLnBrk="1" hangingPunct="1">
              <a:defRPr/>
            </a:pPr>
            <a:r>
              <a:rPr lang="en-US" altLang="en-US" dirty="0" smtClean="0"/>
              <a:t>An example conditional expression</a:t>
            </a:r>
          </a:p>
          <a:p>
            <a:pPr eaLnBrk="1" hangingPunct="1">
              <a:buFontTx/>
              <a:buNone/>
              <a:defRPr/>
            </a:pPr>
            <a:r>
              <a:rPr lang="en-US" altLang="en-US" sz="2000" dirty="0" smtClean="0">
                <a:latin typeface="Courier New" panose="02070309020205020404" pitchFamily="49" charset="0"/>
              </a:rPr>
              <a:t>		  </a:t>
            </a:r>
            <a:r>
              <a:rPr lang="en-US" altLang="en-US" sz="1800" dirty="0" smtClean="0">
                <a:latin typeface="Courier New" panose="02070309020205020404" pitchFamily="49" charset="0"/>
              </a:rPr>
              <a:t>average = (count == 0)? 0 : sum / count</a:t>
            </a:r>
          </a:p>
          <a:p>
            <a:pPr eaLnBrk="1" hangingPunct="1">
              <a:buFontTx/>
              <a:buNone/>
              <a:defRPr/>
            </a:pPr>
            <a:endParaRPr lang="en-US" altLang="en-US" sz="900" dirty="0" smtClean="0"/>
          </a:p>
          <a:p>
            <a:pPr lvl="1" eaLnBrk="1" hangingPunct="1">
              <a:defRPr/>
            </a:pPr>
            <a:r>
              <a:rPr lang="en-US" altLang="en-US" dirty="0" smtClean="0"/>
              <a:t>The expression evaluates as if written as follows</a:t>
            </a:r>
            <a:endParaRPr lang="en-US" altLang="en-US" sz="1800" b="1" dirty="0" smtClean="0">
              <a:latin typeface="Courier New" panose="02070309020205020404" pitchFamily="49" charset="0"/>
            </a:endParaRPr>
          </a:p>
          <a:p>
            <a:pPr lvl="1" eaLnBrk="1" hangingPunct="1">
              <a:buFontTx/>
              <a:buNone/>
              <a:defRPr/>
            </a:pPr>
            <a:r>
              <a:rPr lang="en-US" altLang="en-US" sz="1800" dirty="0" smtClean="0">
                <a:latin typeface="Courier New" panose="02070309020205020404" pitchFamily="49" charset="0"/>
              </a:rPr>
              <a:t>		  if (count == 0) </a:t>
            </a:r>
          </a:p>
          <a:p>
            <a:pPr lvl="1" eaLnBrk="1" hangingPunct="1">
              <a:buFontTx/>
              <a:buNone/>
              <a:defRPr/>
            </a:pPr>
            <a:r>
              <a:rPr lang="en-US" altLang="en-US" sz="1800" dirty="0" smtClean="0">
                <a:latin typeface="Courier New" panose="02070309020205020404" pitchFamily="49" charset="0"/>
              </a:rPr>
              <a:t>        average = 0</a:t>
            </a:r>
          </a:p>
          <a:p>
            <a:pPr lvl="1" eaLnBrk="1" hangingPunct="1">
              <a:buFontTx/>
              <a:buNone/>
              <a:defRPr/>
            </a:pPr>
            <a:r>
              <a:rPr lang="en-US" altLang="en-US" sz="1800" dirty="0" smtClean="0">
                <a:latin typeface="Courier New" panose="02070309020205020404" pitchFamily="49" charset="0"/>
              </a:rPr>
              <a:t>		  else </a:t>
            </a:r>
          </a:p>
          <a:p>
            <a:pPr lvl="1" eaLnBrk="1" hangingPunct="1">
              <a:buFontTx/>
              <a:buNone/>
              <a:defRPr/>
            </a:pPr>
            <a:r>
              <a:rPr lang="en-US" altLang="en-US" sz="1800" dirty="0" smtClean="0">
                <a:latin typeface="Courier New" panose="02070309020205020404" pitchFamily="49" charset="0"/>
              </a:rPr>
              <a:t>        average = sum / count</a:t>
            </a:r>
          </a:p>
          <a:p>
            <a:pPr marL="457200" lvl="1" indent="0" eaLnBrk="1" hangingPunct="1">
              <a:buFontTx/>
              <a:buNone/>
              <a:defRPr/>
            </a:pPr>
            <a:endParaRPr lang="en-US" altLang="en-US" sz="1100" dirty="0" smtClean="0"/>
          </a:p>
          <a:p>
            <a:pPr lvl="1" eaLnBrk="1" hangingPunct="1">
              <a:defRPr/>
            </a:pPr>
            <a:r>
              <a:rPr lang="en-US" altLang="en-US" dirty="0" smtClean="0"/>
              <a:t>Effect on language evaluation criteria?</a:t>
            </a:r>
            <a:endParaRPr lang="en-US" altLang="en-US" b="1" dirty="0" smtClean="0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  <a:defRPr/>
            </a:pPr>
            <a:endParaRPr lang="en-US" altLang="en-US" sz="2000" b="1" dirty="0" smtClean="0">
              <a:latin typeface="Courier New" panose="02070309020205020404" pitchFamily="49" charset="0"/>
            </a:endParaRP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extLst mod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31506F36-A84C-43EB-AA39-1179DAF0FF03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8153400" cy="1143000"/>
          </a:xfrm>
        </p:spPr>
        <p:txBody>
          <a:bodyPr/>
          <a:lstStyle/>
          <a:p>
            <a:pPr eaLnBrk="1" hangingPunct="1"/>
            <a:r>
              <a:rPr lang="en-US" altLang="en-US" sz="3200" smtClean="0"/>
              <a:t>Arithmetic Expressions:</a:t>
            </a:r>
            <a:br>
              <a:rPr lang="en-US" altLang="en-US" sz="3200" smtClean="0"/>
            </a:br>
            <a:r>
              <a:rPr lang="en-US" altLang="en-US" sz="3200" smtClean="0"/>
              <a:t>Operand Evaluation Order</a:t>
            </a:r>
          </a:p>
        </p:txBody>
      </p:sp>
      <p:sp>
        <p:nvSpPr>
          <p:cNvPr id="2662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 eaLnBrk="1" hangingPunct="1"/>
            <a:r>
              <a:rPr lang="en-US" altLang="en-US" dirty="0" smtClean="0"/>
              <a:t>Operand evaluation order</a:t>
            </a:r>
          </a:p>
          <a:p>
            <a:pPr marL="1077913" lvl="1" indent="-457200" eaLnBrk="1" hangingPunct="1">
              <a:buFontTx/>
              <a:buAutoNum type="arabicPeriod"/>
            </a:pPr>
            <a:r>
              <a:rPr lang="en-US" altLang="en-US" dirty="0" smtClean="0"/>
              <a:t>Variables</a:t>
            </a:r>
          </a:p>
          <a:p>
            <a:pPr marL="1616075" lvl="3" indent="-457200" eaLnBrk="1" hangingPunct="1"/>
            <a:r>
              <a:rPr lang="en-US" altLang="en-US" dirty="0" smtClean="0"/>
              <a:t>Fetch the value from memory</a:t>
            </a:r>
          </a:p>
          <a:p>
            <a:pPr marL="1077913" lvl="1" indent="-457200" eaLnBrk="1" hangingPunct="1">
              <a:buFontTx/>
              <a:buAutoNum type="arabicPeriod"/>
            </a:pPr>
            <a:r>
              <a:rPr lang="en-US" altLang="en-US" dirty="0" smtClean="0"/>
              <a:t>Constants</a:t>
            </a:r>
          </a:p>
          <a:p>
            <a:pPr marL="1616075" lvl="3" indent="-457200" eaLnBrk="1" hangingPunct="1"/>
            <a:r>
              <a:rPr lang="en-US" altLang="en-US" dirty="0" smtClean="0"/>
              <a:t>Sometimes a fetch from memory</a:t>
            </a:r>
          </a:p>
          <a:p>
            <a:pPr marL="1616075" lvl="3" indent="-457200" eaLnBrk="1" hangingPunct="1"/>
            <a:r>
              <a:rPr lang="en-US" altLang="en-US" dirty="0" smtClean="0"/>
              <a:t>Sometimes in the machine language instruction</a:t>
            </a:r>
          </a:p>
          <a:p>
            <a:pPr marL="1077913" lvl="1" indent="-457200" eaLnBrk="1" hangingPunct="1">
              <a:buFontTx/>
              <a:buAutoNum type="arabicPeriod"/>
            </a:pPr>
            <a:r>
              <a:rPr lang="en-US" altLang="en-US" dirty="0" smtClean="0"/>
              <a:t>Parenthesized expressions</a:t>
            </a:r>
          </a:p>
          <a:p>
            <a:pPr marL="1616075" lvl="3" indent="-457200" eaLnBrk="1" hangingPunct="1"/>
            <a:r>
              <a:rPr lang="en-US" altLang="en-US" dirty="0" smtClean="0"/>
              <a:t>Evaluate all contained operands &amp; operators first</a:t>
            </a:r>
          </a:p>
          <a:p>
            <a:pPr marL="1077913" lvl="1" indent="-457200" eaLnBrk="1" hangingPunct="1">
              <a:buFontTx/>
              <a:buAutoNum type="arabicPeriod"/>
            </a:pPr>
            <a:r>
              <a:rPr lang="en-US" altLang="en-US" dirty="0" smtClean="0"/>
              <a:t>The most interesting case</a:t>
            </a:r>
          </a:p>
          <a:p>
            <a:pPr marL="1616075" lvl="3" indent="-457200" eaLnBrk="1" hangingPunct="1"/>
            <a:r>
              <a:rPr lang="en-US" altLang="en-US" dirty="0" smtClean="0"/>
              <a:t>When an operand is a function with side effects</a:t>
            </a:r>
          </a:p>
          <a:p>
            <a:pPr marL="1616075" lvl="3" indent="-457200" eaLnBrk="1" hangingPunct="1"/>
            <a:r>
              <a:rPr lang="en-US" altLang="en-US" dirty="0" smtClean="0"/>
              <a:t>We covered this in Chapter 15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9304332B-59FF-4B4D-9FB6-5608EAE42DB5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86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smtClean="0"/>
              <a:t>Overloaded Operators</a:t>
            </a:r>
          </a:p>
        </p:txBody>
      </p:sp>
      <p:sp>
        <p:nvSpPr>
          <p:cNvPr id="286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36110"/>
            <a:ext cx="81534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 smtClean="0"/>
              <a:t>Operator overloading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/>
              <a:t>Use of an operator for more than one purpose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 smtClean="0"/>
              <a:t>Some are common and safe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/>
              <a:t>For example, </a:t>
            </a:r>
            <a:r>
              <a:rPr lang="en-US" altLang="en-US" dirty="0" smtClean="0">
                <a:latin typeface="Courier New" panose="02070309020205020404" pitchFamily="49" charset="0"/>
              </a:rPr>
              <a:t>+</a:t>
            </a:r>
            <a:r>
              <a:rPr lang="en-US" altLang="en-US" dirty="0" smtClean="0"/>
              <a:t> used for </a:t>
            </a:r>
            <a:r>
              <a:rPr lang="en-US" alt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dirty="0" smtClean="0"/>
              <a:t> and 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altLang="en-US" dirty="0" smtClean="0"/>
              <a:t> addition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C4EB7F1E-A1C6-4946-B79F-D6A6740AB6AC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07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smtClean="0"/>
              <a:t>Overloaded Operators</a:t>
            </a:r>
          </a:p>
        </p:txBody>
      </p:sp>
      <p:sp>
        <p:nvSpPr>
          <p:cNvPr id="307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36110"/>
            <a:ext cx="81534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 smtClean="0"/>
              <a:t>Some overloaded operators are problematic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/>
              <a:t>For example, the </a:t>
            </a:r>
            <a:r>
              <a:rPr lang="en-US" altLang="en-US" dirty="0" smtClean="0">
                <a:latin typeface="Courier New" panose="02070309020205020404" pitchFamily="49" charset="0"/>
              </a:rPr>
              <a:t>&amp;</a:t>
            </a:r>
            <a:r>
              <a:rPr lang="en-US" altLang="en-US" dirty="0" smtClean="0"/>
              <a:t> operators in C and C++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 smtClean="0"/>
              <a:t>Used as a binary operator for bitwise logical AND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 smtClean="0"/>
              <a:t>Used as a unary operator for declaring references and for the address-of operator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/>
              <a:t>Problems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 smtClean="0"/>
              <a:t>Some loss of readability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 smtClean="0"/>
              <a:t>Loss of compiler error detection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en-US" dirty="0" smtClean="0"/>
              <a:t>If you accidentally forget the first operand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en-US" dirty="0" smtClean="0"/>
              <a:t>Error undetected and 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altLang="en-US" dirty="0" smtClean="0"/>
              <a:t> is treated as unary operator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/>
              <a:t>Now consider the 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altLang="en-US" dirty="0" smtClean="0"/>
              <a:t> operators in C and C++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5D829CC5-20BE-4A43-819E-98B73B4BD271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27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smtClean="0"/>
              <a:t>Overloaded Operators</a:t>
            </a:r>
          </a:p>
        </p:txBody>
      </p:sp>
      <p:sp>
        <p:nvSpPr>
          <p:cNvPr id="3277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7535"/>
            <a:ext cx="8229600" cy="45720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User-defined overloaded operators</a:t>
            </a:r>
          </a:p>
          <a:p>
            <a:pPr lvl="1" eaLnBrk="1" hangingPunct="1"/>
            <a:r>
              <a:rPr lang="en-US" altLang="en-US" dirty="0" smtClean="0"/>
              <a:t>C++, C#, and F# support this</a:t>
            </a:r>
          </a:p>
          <a:p>
            <a:pPr eaLnBrk="1" hangingPunct="1"/>
            <a:r>
              <a:rPr lang="en-US" altLang="en-US" dirty="0" smtClean="0"/>
              <a:t>Can aid readability when sensibly used</a:t>
            </a:r>
          </a:p>
          <a:p>
            <a:pPr lvl="1" eaLnBrk="1" hangingPunct="1"/>
            <a:r>
              <a:rPr lang="en-US" altLang="en-US" dirty="0" smtClean="0"/>
              <a:t>More natural than methods (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altLang="en-US" dirty="0" smtClean="0"/>
              <a:t> vs 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en-US" altLang="en-US" dirty="0" smtClean="0"/>
              <a:t> method)</a:t>
            </a:r>
          </a:p>
          <a:p>
            <a:pPr eaLnBrk="1" hangingPunct="1"/>
            <a:r>
              <a:rPr lang="en-US" altLang="en-US" dirty="0" smtClean="0"/>
              <a:t>Potential problems</a:t>
            </a:r>
          </a:p>
          <a:p>
            <a:pPr lvl="1" eaLnBrk="1" hangingPunct="1"/>
            <a:r>
              <a:rPr lang="en-US" altLang="en-US" dirty="0" smtClean="0"/>
              <a:t>Users can define nonsensical operations</a:t>
            </a:r>
          </a:p>
          <a:p>
            <a:pPr lvl="1" eaLnBrk="1" hangingPunct="1"/>
            <a:r>
              <a:rPr lang="en-US" altLang="en-US" dirty="0" smtClean="0"/>
              <a:t>Readability may suffer, even when used sensibly</a:t>
            </a:r>
          </a:p>
          <a:p>
            <a:pPr lvl="2" eaLnBrk="1" hangingPunct="1"/>
            <a:r>
              <a:rPr lang="en-US" altLang="en-US" dirty="0" smtClean="0"/>
              <a:t>To understand what an operator does</a:t>
            </a:r>
          </a:p>
          <a:p>
            <a:pPr lvl="3" eaLnBrk="1" hangingPunct="1"/>
            <a:r>
              <a:rPr lang="en-US" altLang="en-US" dirty="0" smtClean="0"/>
              <a:t>User must find types of the operands</a:t>
            </a:r>
          </a:p>
          <a:p>
            <a:pPr lvl="2" eaLnBrk="1" hangingPunct="1"/>
            <a:r>
              <a:rPr lang="en-US" altLang="en-US" dirty="0" smtClean="0"/>
              <a:t>Different sensible operator implementations</a:t>
            </a:r>
          </a:p>
          <a:p>
            <a:pPr lvl="3" eaLnBrk="1" hangingPunct="1"/>
            <a:r>
              <a:rPr lang="en-US" altLang="en-US" dirty="0" smtClean="0"/>
              <a:t>Adding lists: Concatenate or pairwise add elements?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9BC0786B-A527-4C73-9E98-8B789B01A624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48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smtClean="0"/>
              <a:t>Type Conversions</a:t>
            </a:r>
          </a:p>
        </p:txBody>
      </p:sp>
      <p:sp>
        <p:nvSpPr>
          <p:cNvPr id="3482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36110"/>
            <a:ext cx="81534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 smtClean="0"/>
              <a:t>Narrowing conversion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/>
              <a:t>Converts an object to a type that </a:t>
            </a:r>
            <a:r>
              <a:rPr lang="en-US" altLang="en-US" u="sng" dirty="0" smtClean="0"/>
              <a:t>cannot</a:t>
            </a:r>
            <a:r>
              <a:rPr lang="en-US" altLang="en-US" dirty="0" smtClean="0"/>
              <a:t> include all of the values of the original type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/>
              <a:t>Not always safe (value’s magnitude may be lost)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/>
              <a:t>For example, </a:t>
            </a:r>
            <a:r>
              <a:rPr lang="en-US" altLang="en-US" dirty="0" smtClean="0">
                <a:latin typeface="Courier New" panose="02070309020205020404" pitchFamily="49" charset="0"/>
              </a:rPr>
              <a:t>float</a:t>
            </a:r>
            <a:r>
              <a:rPr lang="en-US" altLang="en-US" dirty="0" smtClean="0"/>
              <a:t> to </a:t>
            </a:r>
            <a:r>
              <a:rPr lang="en-US" altLang="en-US" dirty="0" err="1" smtClean="0">
                <a:latin typeface="Courier New" panose="02070309020205020404" pitchFamily="49" charset="0"/>
              </a:rPr>
              <a:t>int</a:t>
            </a:r>
            <a:endParaRPr lang="en-US" altLang="en-US" dirty="0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dirty="0" smtClean="0"/>
              <a:t>Widening conversion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/>
              <a:t>Converts an object to a type including </a:t>
            </a:r>
            <a:r>
              <a:rPr lang="en-US" altLang="en-US" u="sng" dirty="0" smtClean="0"/>
              <a:t>at least approximations</a:t>
            </a:r>
            <a:r>
              <a:rPr lang="en-US" altLang="en-US" dirty="0" smtClean="0"/>
              <a:t> of all the original type’s values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/>
              <a:t>Generally safe (value’s magnitude preserved)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/>
              <a:t>May lose accuracy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/>
              <a:t>For example, </a:t>
            </a:r>
            <a:r>
              <a:rPr lang="en-US" altLang="en-US" dirty="0" err="1" smtClean="0">
                <a:latin typeface="Courier New" panose="02070309020205020404" pitchFamily="49" charset="0"/>
              </a:rPr>
              <a:t>int</a:t>
            </a:r>
            <a:r>
              <a:rPr lang="en-US" altLang="en-US" dirty="0" smtClean="0"/>
              <a:t> to </a:t>
            </a:r>
            <a:r>
              <a:rPr lang="en-US" altLang="en-US" dirty="0" smtClean="0">
                <a:latin typeface="Courier New" panose="02070309020205020404" pitchFamily="49" charset="0"/>
              </a:rPr>
              <a:t>float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4ED0C712-E174-4FDC-A408-9B3CA4EB9A9D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68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smtClean="0"/>
              <a:t>Type Conversions: Mixed Mode</a:t>
            </a:r>
          </a:p>
        </p:txBody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7535"/>
            <a:ext cx="8153400" cy="45720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Mixed-mode expression</a:t>
            </a:r>
          </a:p>
          <a:p>
            <a:pPr lvl="1" eaLnBrk="1" hangingPunct="1"/>
            <a:r>
              <a:rPr lang="en-US" altLang="en-US" dirty="0" smtClean="0"/>
              <a:t>Expression that has operands of different types</a:t>
            </a:r>
          </a:p>
          <a:p>
            <a:pPr lvl="1" eaLnBrk="1" hangingPunct="1"/>
            <a:r>
              <a:rPr lang="en-US" altLang="en-US" dirty="0" smtClean="0"/>
              <a:t>For example, if 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en-US" dirty="0" smtClean="0"/>
              <a:t> is an </a:t>
            </a:r>
            <a:r>
              <a:rPr lang="en-US" alt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dirty="0" smtClean="0"/>
              <a:t> and 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altLang="en-US" dirty="0" smtClean="0"/>
              <a:t> is a 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</a:p>
          <a:p>
            <a:pPr lvl="2" eaLnBrk="1" hangingPunct="1"/>
            <a:r>
              <a:rPr lang="en-US" altLang="en-US" dirty="0" smtClean="0"/>
              <a:t>The expression 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 + b</a:t>
            </a:r>
            <a:r>
              <a:rPr lang="en-US" altLang="en-US" dirty="0" smtClean="0"/>
              <a:t> is mixed mode</a:t>
            </a:r>
          </a:p>
          <a:p>
            <a:pPr lvl="2" eaLnBrk="1" hangingPunct="1"/>
            <a:r>
              <a:rPr lang="en-US" altLang="en-US" dirty="0" smtClean="0"/>
              <a:t>Addition can’t take place as-is</a:t>
            </a:r>
          </a:p>
          <a:p>
            <a:pPr eaLnBrk="1" hangingPunct="1"/>
            <a:r>
              <a:rPr lang="en-US" altLang="en-US" dirty="0" smtClean="0"/>
              <a:t>Coercion</a:t>
            </a:r>
          </a:p>
          <a:p>
            <a:pPr lvl="1" eaLnBrk="1" hangingPunct="1"/>
            <a:r>
              <a:rPr lang="en-US" altLang="en-US" dirty="0" smtClean="0"/>
              <a:t>Implicit (automatic) type conversion of operands</a:t>
            </a:r>
          </a:p>
          <a:p>
            <a:pPr lvl="1" eaLnBrk="1" hangingPunct="1"/>
            <a:r>
              <a:rPr lang="en-US" altLang="en-US" dirty="0" smtClean="0"/>
              <a:t>Allows mixed mode expression to evaluate</a:t>
            </a:r>
          </a:p>
          <a:p>
            <a:pPr lvl="2" eaLnBrk="1" hangingPunct="1"/>
            <a:r>
              <a:rPr lang="en-US" altLang="en-US" dirty="0" smtClean="0"/>
              <a:t>In example, 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en-US" dirty="0" smtClean="0"/>
              <a:t> changes to 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altLang="en-US" dirty="0" smtClean="0"/>
              <a:t> </a:t>
            </a:r>
            <a:r>
              <a:rPr lang="en-US" altLang="en-US" u="sng" dirty="0" smtClean="0"/>
              <a:t>or</a:t>
            </a:r>
            <a:r>
              <a:rPr lang="en-US" altLang="en-US" dirty="0" smtClean="0"/>
              <a:t> 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altLang="en-US" dirty="0" smtClean="0"/>
              <a:t> changes to </a:t>
            </a:r>
            <a:r>
              <a:rPr lang="en-US" alt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endParaRPr lang="en-US" alt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eaLnBrk="1" hangingPunct="1"/>
            <a:r>
              <a:rPr lang="en-US" altLang="en-US" dirty="0" smtClean="0"/>
              <a:t>Decreases compiler’s type error detection ability</a:t>
            </a:r>
          </a:p>
          <a:p>
            <a:pPr lvl="2" eaLnBrk="1" hangingPunct="1"/>
            <a:r>
              <a:rPr lang="en-US" altLang="en-US" dirty="0" smtClean="0"/>
              <a:t>What kinds of errors can’t be detected?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extLst mod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C0DF926C-F8E2-45C5-BAAF-99FB010B3872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89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smtClean="0"/>
              <a:t>Type Conversions: Mixed Mode</a:t>
            </a:r>
          </a:p>
        </p:txBody>
      </p:sp>
      <p:sp>
        <p:nvSpPr>
          <p:cNvPr id="3891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7535"/>
            <a:ext cx="8153400" cy="45720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Many languages</a:t>
            </a:r>
          </a:p>
          <a:p>
            <a:pPr lvl="1" eaLnBrk="1" hangingPunct="1"/>
            <a:r>
              <a:rPr lang="en-US" altLang="en-US" dirty="0" smtClean="0"/>
              <a:t>Coerce all numeric types in expressions</a:t>
            </a:r>
          </a:p>
          <a:p>
            <a:pPr lvl="1" eaLnBrk="1" hangingPunct="1"/>
            <a:r>
              <a:rPr lang="en-US" altLang="en-US" dirty="0" smtClean="0"/>
              <a:t>Use widening conversions (why?)</a:t>
            </a:r>
          </a:p>
          <a:p>
            <a:pPr eaLnBrk="1" hangingPunct="1"/>
            <a:r>
              <a:rPr lang="en-US" altLang="en-US" dirty="0" smtClean="0"/>
              <a:t>In ML and F#</a:t>
            </a:r>
          </a:p>
          <a:p>
            <a:pPr lvl="1" eaLnBrk="1" hangingPunct="1"/>
            <a:r>
              <a:rPr lang="en-US" altLang="en-US" dirty="0" smtClean="0"/>
              <a:t>No coercions in expressions</a:t>
            </a:r>
          </a:p>
          <a:p>
            <a:pPr lvl="1" eaLnBrk="1" hangingPunct="1"/>
            <a:r>
              <a:rPr lang="en-US" altLang="en-US" dirty="0" smtClean="0"/>
              <a:t>What does this imply?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284515FD-B974-459F-8AF0-AE8BB71EBB86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09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smtClean="0"/>
              <a:t>Type Conversions: Explicit Conversions</a:t>
            </a:r>
          </a:p>
        </p:txBody>
      </p:sp>
      <p:sp>
        <p:nvSpPr>
          <p:cNvPr id="4096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36110"/>
            <a:ext cx="81534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 smtClean="0"/>
              <a:t>Explicit type conversion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/>
              <a:t>Programmer-specified type conversions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/>
              <a:t>Either narrowing or widening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/>
              <a:t>Compiler may give warnings if a narrowing conversion significantly changes an object value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 smtClean="0"/>
              <a:t>Examples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/>
              <a:t>Called </a:t>
            </a:r>
            <a:r>
              <a:rPr lang="en-US" altLang="en-US" u="sng" dirty="0" smtClean="0"/>
              <a:t>casting</a:t>
            </a:r>
            <a:r>
              <a:rPr lang="en-US" altLang="en-US" dirty="0" smtClean="0"/>
              <a:t> in the C-based languages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 smtClean="0">
                <a:latin typeface="Courier New" panose="02070309020205020404" pitchFamily="49" charset="0"/>
              </a:rPr>
              <a:t>(</a:t>
            </a:r>
            <a:r>
              <a:rPr lang="en-US" altLang="en-US" dirty="0" err="1" smtClean="0">
                <a:latin typeface="Courier New" panose="02070309020205020404" pitchFamily="49" charset="0"/>
              </a:rPr>
              <a:t>int</a:t>
            </a:r>
            <a:r>
              <a:rPr lang="en-US" altLang="en-US" dirty="0" smtClean="0">
                <a:latin typeface="Courier New" panose="02070309020205020404" pitchFamily="49" charset="0"/>
              </a:rPr>
              <a:t>) angle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/>
              <a:t>F# uses a similar syntax to a function call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 smtClean="0">
                <a:latin typeface="Courier New" panose="02070309020205020404" pitchFamily="49" charset="0"/>
              </a:rPr>
              <a:t>float(sum)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extLst mod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B30F4D1D-8C27-4496-A1E7-4CF4BE9E1F86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30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smtClean="0"/>
              <a:t>Type Conversions: Errors in Expressions</a:t>
            </a:r>
          </a:p>
        </p:txBody>
      </p:sp>
      <p:sp>
        <p:nvSpPr>
          <p:cNvPr id="4301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7535"/>
            <a:ext cx="8153400" cy="45720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Causes of expression errors</a:t>
            </a:r>
          </a:p>
          <a:p>
            <a:pPr lvl="1" eaLnBrk="1" hangingPunct="1"/>
            <a:r>
              <a:rPr lang="en-US" altLang="en-US" dirty="0" smtClean="0"/>
              <a:t>Type checking and coercion (already discussed)</a:t>
            </a:r>
          </a:p>
          <a:p>
            <a:pPr lvl="1" eaLnBrk="1" hangingPunct="1"/>
            <a:r>
              <a:rPr lang="en-US" altLang="en-US" dirty="0" smtClean="0"/>
              <a:t>Inherent limitations of arithmetic</a:t>
            </a:r>
          </a:p>
          <a:p>
            <a:pPr lvl="2" eaLnBrk="1" hangingPunct="1"/>
            <a:r>
              <a:rPr lang="en-US" altLang="en-US" dirty="0" smtClean="0"/>
              <a:t>For example, division by zero</a:t>
            </a:r>
          </a:p>
          <a:p>
            <a:pPr lvl="2" eaLnBrk="1" hangingPunct="1"/>
            <a:r>
              <a:rPr lang="en-US" altLang="en-US" dirty="0" smtClean="0"/>
              <a:t>Can you think of others?</a:t>
            </a:r>
          </a:p>
          <a:p>
            <a:pPr lvl="1" eaLnBrk="1" hangingPunct="1"/>
            <a:r>
              <a:rPr lang="en-US" altLang="en-US" dirty="0" smtClean="0"/>
              <a:t>Limitations of computer arithmetic</a:t>
            </a:r>
          </a:p>
          <a:p>
            <a:pPr lvl="2" eaLnBrk="1" hangingPunct="1"/>
            <a:r>
              <a:rPr lang="en-US" altLang="en-US" dirty="0" smtClean="0"/>
              <a:t>O</a:t>
            </a:r>
            <a:r>
              <a:rPr lang="en-US" altLang="en-US" dirty="0" smtClean="0"/>
              <a:t>verflow,</a:t>
            </a:r>
            <a:r>
              <a:rPr lang="en-US" altLang="en-US" dirty="0" smtClean="0"/>
              <a:t> </a:t>
            </a:r>
            <a:r>
              <a:rPr lang="en-US" altLang="en-US" dirty="0"/>
              <a:t>w</a:t>
            </a:r>
            <a:r>
              <a:rPr lang="en-US" altLang="en-US" dirty="0" smtClean="0"/>
              <a:t>hen </a:t>
            </a:r>
            <a:r>
              <a:rPr lang="en-US" altLang="en-US" dirty="0" smtClean="0"/>
              <a:t>a computation produces a value larger or smaller than a type can </a:t>
            </a:r>
            <a:r>
              <a:rPr lang="en-US" altLang="en-US" dirty="0" smtClean="0"/>
              <a:t>represent</a:t>
            </a:r>
          </a:p>
          <a:p>
            <a:pPr lvl="2" eaLnBrk="1" hangingPunct="1"/>
            <a:r>
              <a:rPr lang="en-US" altLang="en-US" dirty="0" smtClean="0"/>
              <a:t>Can you think of others?</a:t>
            </a:r>
            <a:endParaRPr lang="en-US" altLang="en-US" dirty="0" smtClean="0"/>
          </a:p>
          <a:p>
            <a:pPr eaLnBrk="1" hangingPunct="1"/>
            <a:r>
              <a:rPr lang="en-US" altLang="en-US" dirty="0" smtClean="0"/>
              <a:t>Some </a:t>
            </a:r>
            <a:r>
              <a:rPr lang="en-US" altLang="en-US" dirty="0" smtClean="0"/>
              <a:t>run-time errors </a:t>
            </a:r>
            <a:r>
              <a:rPr lang="en-US" altLang="en-US" dirty="0" smtClean="0"/>
              <a:t>can </a:t>
            </a:r>
            <a:r>
              <a:rPr lang="en-US" altLang="en-US" dirty="0" smtClean="0"/>
              <a:t>be ignored</a:t>
            </a:r>
          </a:p>
          <a:p>
            <a:pPr lvl="1" eaLnBrk="1" hangingPunct="1"/>
            <a:r>
              <a:rPr lang="en-US" altLang="en-US" dirty="0" smtClean="0"/>
              <a:t>May require exception handling mechanisms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sebesta">
  <a:themeElements>
    <a:clrScheme name="1_sebest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sebesta">
      <a:majorFont>
        <a:latin typeface="Lucida Sans Unicode"/>
        <a:ea typeface=""/>
        <a:cs typeface="Lucida Sans Unicode"/>
      </a:majorFont>
      <a:minorFont>
        <a:latin typeface="Lucida Sans Unicode"/>
        <a:ea typeface=""/>
        <a:cs typeface="Lucida Sans Unicod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1_sebest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ebesta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ebesta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ebesta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ebesta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ebesta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ebesta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ebesta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ebesta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ebesta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ebesta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ebesta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sebesta2</Template>
  <TotalTime>6671</TotalTime>
  <Words>1971</Words>
  <Application>Microsoft Office PowerPoint</Application>
  <PresentationFormat>On-screen Show (4:3)</PresentationFormat>
  <Paragraphs>294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Courier</vt:lpstr>
      <vt:lpstr>Courier New</vt:lpstr>
      <vt:lpstr>Lucida Sans Unicode</vt:lpstr>
      <vt:lpstr>Times</vt:lpstr>
      <vt:lpstr>1_sebesta</vt:lpstr>
      <vt:lpstr>Chapter 7 Part 1</vt:lpstr>
      <vt:lpstr>Chapter 7 Topics</vt:lpstr>
      <vt:lpstr>Introduction</vt:lpstr>
      <vt:lpstr>Arithmetic Expressions</vt:lpstr>
      <vt:lpstr>Arithmetic Expressions: Design Issues</vt:lpstr>
      <vt:lpstr>Arithmetic Expressions: Operators</vt:lpstr>
      <vt:lpstr>Arithmetic Expressions: Operator Precedence Rules</vt:lpstr>
      <vt:lpstr>Arithmetic Expressions: Operator Associativity Rules</vt:lpstr>
      <vt:lpstr>Arithmetic Expressions: Ruby Expressions</vt:lpstr>
      <vt:lpstr>Arithmetic Expressions: Scheme and Common LISP Expressions</vt:lpstr>
      <vt:lpstr>Arithmetic Expressions: Conditional Expressions</vt:lpstr>
      <vt:lpstr>Arithmetic Expressions: Operand Evaluation Order</vt:lpstr>
      <vt:lpstr>Overloaded Operators</vt:lpstr>
      <vt:lpstr>Overloaded Operators</vt:lpstr>
      <vt:lpstr>Overloaded Operators</vt:lpstr>
      <vt:lpstr>Type Conversions</vt:lpstr>
      <vt:lpstr>Type Conversions: Mixed Mode</vt:lpstr>
      <vt:lpstr>Type Conversions: Mixed Mode</vt:lpstr>
      <vt:lpstr>Type Conversions: Explicit Conversions</vt:lpstr>
      <vt:lpstr>Type Conversions: Errors in Expressions</vt:lpstr>
    </vt:vector>
  </TitlesOfParts>
  <Company>Pearson Education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David Garrett</dc:creator>
  <cp:lastModifiedBy>Willem S. van Heerden</cp:lastModifiedBy>
  <cp:revision>337</cp:revision>
  <dcterms:created xsi:type="dcterms:W3CDTF">2003-08-01T12:29:19Z</dcterms:created>
  <dcterms:modified xsi:type="dcterms:W3CDTF">2026-04-23T20:51:34Z</dcterms:modified>
</cp:coreProperties>
</file>