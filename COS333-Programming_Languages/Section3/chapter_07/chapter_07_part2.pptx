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2" r:id="rId1"/>
  </p:sldMasterIdLst>
  <p:notesMasterIdLst>
    <p:notesMasterId r:id="rId20"/>
  </p:notesMasterIdLst>
  <p:sldIdLst>
    <p:sldId id="295" r:id="rId2"/>
    <p:sldId id="258" r:id="rId3"/>
    <p:sldId id="326" r:id="rId4"/>
    <p:sldId id="314" r:id="rId5"/>
    <p:sldId id="315" r:id="rId6"/>
    <p:sldId id="316" r:id="rId7"/>
    <p:sldId id="327" r:id="rId8"/>
    <p:sldId id="317" r:id="rId9"/>
    <p:sldId id="328" r:id="rId10"/>
    <p:sldId id="318" r:id="rId11"/>
    <p:sldId id="319" r:id="rId12"/>
    <p:sldId id="320" r:id="rId13"/>
    <p:sldId id="321" r:id="rId14"/>
    <p:sldId id="329" r:id="rId15"/>
    <p:sldId id="322" r:id="rId16"/>
    <p:sldId id="294" r:id="rId17"/>
    <p:sldId id="323" r:id="rId18"/>
    <p:sldId id="330" r:id="rId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99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743" autoAdjust="0"/>
    <p:restoredTop sz="86424" autoAdjust="0"/>
  </p:normalViewPr>
  <p:slideViewPr>
    <p:cSldViewPr>
      <p:cViewPr varScale="1">
        <p:scale>
          <a:sx n="73" d="100"/>
          <a:sy n="73" d="100"/>
        </p:scale>
        <p:origin x="110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6423D5CC-5C54-4B7A-8720-977599102A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9014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F93A1600-FEB9-4C03-AA8B-5E4A57A836CA}" type="slidenum">
              <a:rPr lang="en-US" altLang="en-US" sz="1200" b="0" smtClean="0"/>
              <a:pPr/>
              <a:t>1</a:t>
            </a:fld>
            <a:endParaRPr lang="en-US" altLang="en-US" sz="1200" b="0" smtClean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2449075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0BE58E0F-6BC2-493F-9DC7-B2D9DB352770}" type="slidenum">
              <a:rPr lang="en-US" altLang="en-US" sz="1200" b="0" smtClean="0"/>
              <a:pPr/>
              <a:t>2</a:t>
            </a:fld>
            <a:endParaRPr lang="en-US" altLang="en-US" sz="1200" b="0" smtClean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004" tIns="45002" rIns="90004" bIns="45002"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3705969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EB2107B6-0A03-432D-B689-3D8BAA352F8E}" type="slidenum">
              <a:rPr lang="en-US" altLang="en-US" sz="1300" b="0" smtClean="0"/>
              <a:pPr/>
              <a:t>3</a:t>
            </a:fld>
            <a:endParaRPr lang="en-US" altLang="en-US" sz="1300" b="0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ZA" altLang="en-US" dirty="0" smtClean="0"/>
              <a:t>In the case of "7"==7, the string is coerced into an integer in both JavaScript and PHP.</a:t>
            </a:r>
          </a:p>
          <a:p>
            <a:pPr eaLnBrk="1" hangingPunct="1"/>
            <a:endParaRPr lang="en-ZA" altLang="en-US" dirty="0" smtClean="0"/>
          </a:p>
          <a:p>
            <a:pPr eaLnBrk="1" hangingPunct="1"/>
            <a:r>
              <a:rPr lang="en-ZA" altLang="en-US" dirty="0" smtClean="0"/>
              <a:t>In Ruby,</a:t>
            </a:r>
            <a:r>
              <a:rPr lang="en-ZA" altLang="en-US" baseline="0" dirty="0" smtClean="0"/>
              <a:t> equality with coercions does not allow comparison of strings and numbers (in terms of the example, "7" == 7 will be false), but it does allow the comparison of numeric values of different types (so 7 == 7.0 would be true</a:t>
            </a:r>
            <a:r>
              <a:rPr lang="en-ZA" altLang="en-US" baseline="0" dirty="0" smtClean="0"/>
              <a:t>). Therefore, in Ruby:</a:t>
            </a:r>
          </a:p>
          <a:p>
            <a:pPr eaLnBrk="1" hangingPunct="1"/>
            <a:endParaRPr lang="en-ZA" altLang="en-US" baseline="0" dirty="0" smtClean="0"/>
          </a:p>
          <a:p>
            <a:pPr eaLnBrk="1" hangingPunct="1"/>
            <a:r>
              <a:rPr lang="da-DK" altLang="en-US" baseline="0" dirty="0" smtClean="0"/>
              <a:t>1 == 1.0     # returns true</a:t>
            </a:r>
          </a:p>
          <a:p>
            <a:pPr eaLnBrk="1" hangingPunct="1"/>
            <a:r>
              <a:rPr lang="da-DK" altLang="en-US" baseline="0" dirty="0" smtClean="0"/>
              <a:t>1.eql? 1.0   # returns false</a:t>
            </a:r>
            <a:endParaRPr lang="en-ZA" altLang="en-US" baseline="0" dirty="0" smtClean="0"/>
          </a:p>
        </p:txBody>
      </p:sp>
    </p:spTree>
    <p:extLst>
      <p:ext uri="{BB962C8B-B14F-4D97-AF65-F5344CB8AC3E}">
        <p14:creationId xmlns:p14="http://schemas.microsoft.com/office/powerpoint/2010/main" val="3707869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5E3551EF-FFD6-41C8-AD1C-F42D52F48240}" type="slidenum">
              <a:rPr lang="en-US" altLang="en-US" sz="1300" b="0" smtClean="0"/>
              <a:pPr/>
              <a:t>4</a:t>
            </a:fld>
            <a:endParaRPr lang="en-US" altLang="en-US" sz="1300" b="0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ZA" altLang="en-US" noProof="0" dirty="0" smtClean="0"/>
              <a:t>What is the result of the last point, in terms of the programming language evaluation criteria?</a:t>
            </a:r>
            <a:endParaRPr lang="en-ZA" altLang="en-US" noProof="0" dirty="0" smtClean="0"/>
          </a:p>
        </p:txBody>
      </p:sp>
    </p:spTree>
    <p:extLst>
      <p:ext uri="{BB962C8B-B14F-4D97-AF65-F5344CB8AC3E}">
        <p14:creationId xmlns:p14="http://schemas.microsoft.com/office/powerpoint/2010/main" val="2628676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84A0BB62-278D-4D88-9A76-87C7568513A9}" type="slidenum">
              <a:rPr lang="en-US" altLang="en-US" sz="1300" b="0" smtClean="0"/>
              <a:pPr/>
              <a:t>5</a:t>
            </a:fld>
            <a:endParaRPr lang="en-US" altLang="en-US" sz="1300" b="0" smtClean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1092637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4F5BA6E4-EE52-483F-92F8-DBA510B17C88}" type="slidenum">
              <a:rPr lang="en-US" altLang="en-US" sz="1300" b="0" smtClean="0"/>
              <a:pPr/>
              <a:t>6</a:t>
            </a:fld>
            <a:endParaRPr lang="en-US" altLang="en-US" sz="1300" b="0" smtClean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ZA" altLang="en-US" smtClean="0"/>
          </a:p>
        </p:txBody>
      </p:sp>
    </p:spTree>
    <p:extLst>
      <p:ext uri="{BB962C8B-B14F-4D97-AF65-F5344CB8AC3E}">
        <p14:creationId xmlns:p14="http://schemas.microsoft.com/office/powerpoint/2010/main" val="3194055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4A29D226-88F6-4FD9-BB09-03EA2DEBF8B7}" type="slidenum">
              <a:rPr lang="en-US" altLang="en-US" sz="1300" b="0" smtClean="0"/>
              <a:pPr/>
              <a:t>7</a:t>
            </a:fld>
            <a:endParaRPr lang="en-US" altLang="en-US" sz="1300" b="0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ZA" altLang="en-US" smtClean="0"/>
          </a:p>
        </p:txBody>
      </p:sp>
    </p:spTree>
    <p:extLst>
      <p:ext uri="{BB962C8B-B14F-4D97-AF65-F5344CB8AC3E}">
        <p14:creationId xmlns:p14="http://schemas.microsoft.com/office/powerpoint/2010/main" val="3819380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33120FD0-B0A9-4425-A133-44E86FF270D5}" type="slidenum">
              <a:rPr lang="en-US" altLang="en-US" sz="1300" b="0" smtClean="0"/>
              <a:pPr/>
              <a:t>8</a:t>
            </a:fld>
            <a:endParaRPr lang="en-US" altLang="en-US" sz="1300" b="0" smtClean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21347615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AF6F9D1A-A417-474F-ABF8-25545A12455C}" type="slidenum">
              <a:rPr lang="en-US" altLang="en-US" sz="1300" b="0" smtClean="0"/>
              <a:pPr/>
              <a:t>9</a:t>
            </a:fld>
            <a:endParaRPr lang="en-US" altLang="en-US" sz="1300" b="0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1859461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241EC55A-ABB4-4333-A8EB-7C6002685625}" type="slidenum">
              <a:rPr lang="en-US" altLang="en-US" sz="1300" b="0" smtClean="0"/>
              <a:pPr/>
              <a:t>10</a:t>
            </a:fld>
            <a:endParaRPr lang="en-US" altLang="en-US" sz="1300" b="0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1329233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E8F9A7AC-B328-4D9A-84DE-E60C93E9CE3A}" type="slidenum">
              <a:rPr lang="en-US" altLang="en-US" sz="1300" b="0" smtClean="0"/>
              <a:pPr/>
              <a:t>11</a:t>
            </a:fld>
            <a:endParaRPr lang="en-US" altLang="en-US" sz="1300" b="0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3128385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FB610B6E-2171-44C2-A6F2-F60138E44EA7}" type="slidenum">
              <a:rPr lang="en-US" altLang="en-US" sz="1300" b="0" smtClean="0"/>
              <a:pPr/>
              <a:t>12</a:t>
            </a:fld>
            <a:endParaRPr lang="en-US" altLang="en-US" sz="1300" b="0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ZA" altLang="en-US" dirty="0" smtClean="0"/>
              <a:t>Also </a:t>
            </a:r>
            <a:r>
              <a:rPr lang="en-ZA" altLang="en-US" dirty="0" smtClean="0"/>
              <a:t>note that the postfix increment/decrement operators have a higher precedence than prefix increment/decrement and unary plus/minus. Prefix increment/decrement and unary plus/minus are on the same precedence level.</a:t>
            </a:r>
          </a:p>
        </p:txBody>
      </p:sp>
    </p:spTree>
    <p:extLst>
      <p:ext uri="{BB962C8B-B14F-4D97-AF65-F5344CB8AC3E}">
        <p14:creationId xmlns:p14="http://schemas.microsoft.com/office/powerpoint/2010/main" val="29512309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5FAD5453-3B68-423C-8064-C38B68E85CF7}" type="slidenum">
              <a:rPr lang="en-US" altLang="en-US" sz="1300" b="0" smtClean="0"/>
              <a:pPr/>
              <a:t>13</a:t>
            </a:fld>
            <a:endParaRPr lang="en-US" altLang="en-US" sz="1300" b="0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ZA" altLang="en-US" smtClean="0"/>
          </a:p>
        </p:txBody>
      </p:sp>
    </p:spTree>
    <p:extLst>
      <p:ext uri="{BB962C8B-B14F-4D97-AF65-F5344CB8AC3E}">
        <p14:creationId xmlns:p14="http://schemas.microsoft.com/office/powerpoint/2010/main" val="25746187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970FDADD-88AA-44F4-97BE-1CD795BDBBD3}" type="slidenum">
              <a:rPr lang="en-US" altLang="en-US" sz="1300" b="0" smtClean="0"/>
              <a:pPr/>
              <a:t>14</a:t>
            </a:fld>
            <a:endParaRPr lang="en-US" altLang="en-US" sz="1300" b="0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ZA" altLang="en-US" dirty="0" smtClean="0"/>
              <a:t>EOF is the end-of-file</a:t>
            </a:r>
            <a:r>
              <a:rPr lang="en-ZA" altLang="en-US" baseline="0" dirty="0" smtClean="0"/>
              <a:t> condition. If the program is reading from a file, this is simply the end of the file. If the program is reading from the keyboard, end-of-file is triggered by pressing Ctrl-z followed by the Enter key in Windows. In Unix/Linux, the end-of-file is usually triggered by pressing Ctrl-d.</a:t>
            </a:r>
            <a:endParaRPr lang="en-Z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837032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1D3B036D-0C54-49FB-9F13-8E460A370383}" type="slidenum">
              <a:rPr lang="en-US" altLang="en-US" sz="1300" b="0" smtClean="0"/>
              <a:pPr/>
              <a:t>15</a:t>
            </a:fld>
            <a:endParaRPr lang="en-US" altLang="en-US" sz="1300" b="0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ZA" altLang="en-US" noProof="0" dirty="0" smtClean="0"/>
              <a:t>In Perl, Ruby,</a:t>
            </a:r>
            <a:r>
              <a:rPr lang="en-ZA" altLang="en-US" baseline="0" noProof="0" dirty="0" smtClean="0"/>
              <a:t> and </a:t>
            </a:r>
            <a:r>
              <a:rPr lang="en-ZA" altLang="en-US" baseline="0" noProof="0" dirty="0" err="1" smtClean="0"/>
              <a:t>Lua</a:t>
            </a:r>
            <a:r>
              <a:rPr lang="en-ZA" altLang="en-US" baseline="0" noProof="0" dirty="0" smtClean="0"/>
              <a:t>,</a:t>
            </a:r>
            <a:r>
              <a:rPr lang="en-ZA" altLang="en-US" noProof="0" dirty="0" smtClean="0"/>
              <a:t> additional variables on the left hand side of the assignment are simply not assigned to. Similarly,</a:t>
            </a:r>
            <a:r>
              <a:rPr lang="en-ZA" altLang="en-US" baseline="0" noProof="0" dirty="0" smtClean="0"/>
              <a:t> a</a:t>
            </a:r>
            <a:r>
              <a:rPr lang="en-ZA" altLang="en-US" noProof="0" dirty="0" smtClean="0"/>
              <a:t>dditional values on the right hand side of the assignment are not assigned.</a:t>
            </a:r>
          </a:p>
          <a:p>
            <a:pPr eaLnBrk="1" hangingPunct="1"/>
            <a:endParaRPr lang="en-ZA" altLang="en-US" noProof="0" dirty="0" smtClean="0"/>
          </a:p>
          <a:p>
            <a:pPr eaLnBrk="1" hangingPunct="1"/>
            <a:r>
              <a:rPr lang="en-ZA" altLang="en-US" noProof="0" dirty="0" smtClean="0"/>
              <a:t>In Ruby and </a:t>
            </a:r>
            <a:r>
              <a:rPr lang="en-ZA" altLang="en-US" noProof="0" dirty="0" err="1" smtClean="0"/>
              <a:t>Lua</a:t>
            </a:r>
            <a:r>
              <a:rPr lang="en-ZA" altLang="en-US" noProof="0" dirty="0" smtClean="0"/>
              <a:t>, the syntax for a multiple-target multiple-source assignment is as follows:</a:t>
            </a:r>
          </a:p>
          <a:p>
            <a:pPr eaLnBrk="1" hangingPunct="1"/>
            <a:endParaRPr lang="en-ZA" altLang="en-US" noProof="0" dirty="0" smtClean="0"/>
          </a:p>
          <a:p>
            <a:pPr eaLnBrk="1" hangingPunct="1"/>
            <a:r>
              <a:rPr lang="en-ZA" altLang="en-US" noProof="0" dirty="0" smtClean="0"/>
              <a:t>first, second, third = 20, 30, 40</a:t>
            </a:r>
          </a:p>
        </p:txBody>
      </p:sp>
    </p:spTree>
    <p:extLst>
      <p:ext uri="{BB962C8B-B14F-4D97-AF65-F5344CB8AC3E}">
        <p14:creationId xmlns:p14="http://schemas.microsoft.com/office/powerpoint/2010/main" val="29983741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A027A2DA-4E5A-4F74-BAF6-F25AAE5731BC}" type="slidenum">
              <a:rPr lang="en-US" altLang="en-US" sz="1300" b="0" smtClean="0"/>
              <a:pPr/>
              <a:t>17</a:t>
            </a:fld>
            <a:endParaRPr lang="en-US" altLang="en-US" sz="1300" b="0" smtClean="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30309373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46FA7293-3BB5-45C4-8967-F1020A89AF9C}" type="slidenum">
              <a:rPr lang="en-US" altLang="en-US" sz="1300" b="0" smtClean="0"/>
              <a:pPr/>
              <a:t>18</a:t>
            </a:fld>
            <a:endParaRPr lang="en-US" altLang="en-US" sz="1300" b="0" smtClean="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1717184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448550" y="6564313"/>
            <a:ext cx="184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defRPr/>
            </a:pPr>
            <a:endParaRPr lang="en-US" altLang="en-US" sz="1200" b="0" smtClean="0"/>
          </a:p>
        </p:txBody>
      </p:sp>
      <p:sp>
        <p:nvSpPr>
          <p:cNvPr id="5" name="Text Box 6"/>
          <p:cNvSpPr txBox="1">
            <a:spLocks noChangeArrowheads="1"/>
          </p:cNvSpPr>
          <p:nvPr userDrawn="1"/>
        </p:nvSpPr>
        <p:spPr bwMode="auto">
          <a:xfrm>
            <a:off x="8385175" y="6172200"/>
            <a:ext cx="184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r">
              <a:defRPr/>
            </a:pPr>
            <a:endParaRPr lang="es-MX" altLang="en-US" sz="1200" b="0" smtClean="0">
              <a:latin typeface="Courier" pitchFamily="49" charset="0"/>
            </a:endParaRPr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371600"/>
            <a:ext cx="3657600" cy="1143000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3276600"/>
            <a:ext cx="3657600" cy="17526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8" descr="Front Cover: Concepts of Programming Languages, Global Edition, by Robert W Sebesta&#10;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0"/>
            <a:ext cx="4800600" cy="6076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007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5EA70BEC-32E0-4984-9BED-3C3F17BFC2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7596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280180AC-660F-4CD1-BD2A-51C15E929C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304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A0BA0A40-8CAF-459D-8C86-D1906483A0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3547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BA91FBD5-D996-4AFD-926C-923BB8D27F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9116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23326F8C-0E4E-433F-B738-56DB011296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880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D0D0CA76-C7EE-482A-BA40-1019B41F6D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3411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E097B667-484F-4524-A175-D318508126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5089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5A97B311-A8D0-4FF1-BCEA-C4D983584D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5305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6ABD8F16-9D7A-4357-9A15-311AAE1001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4540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381000"/>
            <a:ext cx="2038350" cy="5791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5962650" cy="5791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24FE5A2E-09B3-41B6-9E95-B7F56E52FA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7033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8153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419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 b="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1-</a:t>
            </a:r>
            <a:fld id="{BB7A8A3C-580A-4D1E-9D75-ACCBD4E8E5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609600" y="1524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219200"/>
            <a:ext cx="8153400" cy="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+mj-lt"/>
          <a:ea typeface="Lucida Sans Unicode" pitchFamily="34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cs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cs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cs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cs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accent2"/>
          </a:solidFill>
          <a:latin typeface="+mn-lt"/>
          <a:ea typeface="Lucida Sans Unicode" pitchFamily="34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accent2"/>
          </a:solidFill>
          <a:latin typeface="+mn-lt"/>
          <a:ea typeface="Lucida Sans Unicode" pitchFamily="34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100">
          <a:solidFill>
            <a:srgbClr val="666699"/>
          </a:solidFill>
          <a:latin typeface="+mn-lt"/>
          <a:ea typeface="Lucida Sans Unicode" pitchFamily="34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2"/>
          </a:solidFill>
          <a:latin typeface="+mn-lt"/>
          <a:ea typeface="Lucida Sans Unicode" pitchFamily="34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6699"/>
          </a:solidFill>
          <a:latin typeface="+mn-lt"/>
          <a:ea typeface="Lucida Sans Unicode" pitchFamily="34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Chapter 7</a:t>
            </a:r>
            <a:br>
              <a:rPr lang="en-US" altLang="en-US" dirty="0" smtClean="0"/>
            </a:br>
            <a:r>
              <a:rPr lang="en-US" altLang="en-US" sz="2800" dirty="0" smtClean="0"/>
              <a:t>Part 2</a:t>
            </a:r>
            <a:endParaRPr lang="en-US" altLang="en-US" dirty="0" smtClean="0"/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Expressions and </a:t>
            </a:r>
            <a:br>
              <a:rPr lang="en-US" altLang="en-US" smtClean="0"/>
            </a:br>
            <a:r>
              <a:rPr lang="en-US" altLang="en-US" smtClean="0"/>
              <a:t>Assignment Statements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BA766B2E-5528-40A9-A7C8-92C9F92F84BF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7 Topics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Relational and Boolean Expressions</a:t>
            </a:r>
          </a:p>
          <a:p>
            <a:pPr eaLnBrk="1" hangingPunct="1"/>
            <a:r>
              <a:rPr lang="en-US" altLang="en-US" dirty="0" smtClean="0"/>
              <a:t>Short-Circuit Evaluation</a:t>
            </a:r>
          </a:p>
          <a:p>
            <a:pPr eaLnBrk="1" hangingPunct="1"/>
            <a:r>
              <a:rPr lang="en-US" altLang="en-US" dirty="0" smtClean="0"/>
              <a:t>Assignment Statements</a:t>
            </a:r>
          </a:p>
          <a:p>
            <a:pPr eaLnBrk="1" hangingPunct="1"/>
            <a:r>
              <a:rPr lang="en-US" altLang="en-US" dirty="0" smtClean="0"/>
              <a:t>Mixed-Mode Assignment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609ADC76-9B74-4C1D-ACBE-6D1BD2A325D0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Relational and Boolean Expressions:</a:t>
            </a:r>
            <a:br>
              <a:rPr lang="en-US" altLang="en-US" sz="3200" smtClean="0"/>
            </a:br>
            <a:r>
              <a:rPr lang="en-US" altLang="en-US" sz="3200" smtClean="0"/>
              <a:t>Relational Expressions</a:t>
            </a:r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382000" cy="46482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Relational expressions evaluate to Booleans</a:t>
            </a:r>
          </a:p>
          <a:p>
            <a:pPr eaLnBrk="1" hangingPunct="1"/>
            <a:r>
              <a:rPr lang="en-US" altLang="en-US" dirty="0" smtClean="0"/>
              <a:t>JavaScript and PHP</a:t>
            </a:r>
          </a:p>
          <a:p>
            <a:pPr lvl="1" eaLnBrk="1" hangingPunct="1"/>
            <a:r>
              <a:rPr lang="en-US" altLang="en-US" dirty="0" smtClean="0"/>
              <a:t>The relational operators </a:t>
            </a:r>
            <a:r>
              <a:rPr lang="en-US" altLang="en-US" dirty="0" smtClean="0">
                <a:latin typeface="Courier New" panose="02070309020205020404" pitchFamily="49" charset="0"/>
              </a:rPr>
              <a:t>==</a:t>
            </a:r>
            <a:r>
              <a:rPr lang="en-US" altLang="en-US" dirty="0" smtClean="0"/>
              <a:t> and </a:t>
            </a:r>
            <a:r>
              <a:rPr lang="en-US" altLang="en-US" dirty="0" smtClean="0">
                <a:latin typeface="Courier New" panose="02070309020205020404" pitchFamily="49" charset="0"/>
              </a:rPr>
              <a:t>!=</a:t>
            </a:r>
            <a:endParaRPr lang="en-US" altLang="en-US" dirty="0" smtClean="0"/>
          </a:p>
          <a:p>
            <a:pPr lvl="2" eaLnBrk="1" hangingPunct="1"/>
            <a:r>
              <a:rPr lang="en-US" altLang="en-US" dirty="0" smtClean="0"/>
              <a:t>Equality and inequality check with operand coercion</a:t>
            </a:r>
          </a:p>
          <a:p>
            <a:pPr lvl="2" eaLnBrk="1" hangingPunct="1"/>
            <a:r>
              <a:rPr lang="en-US" altLang="en-US" dirty="0" smtClean="0"/>
              <a:t>Therefore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"7" == 7</a:t>
            </a:r>
            <a:r>
              <a:rPr lang="en-US" altLang="en-US" dirty="0" smtClean="0"/>
              <a:t> is true</a:t>
            </a:r>
          </a:p>
          <a:p>
            <a:pPr lvl="1" eaLnBrk="1" hangingPunct="1"/>
            <a:r>
              <a:rPr lang="en-US" altLang="en-US" dirty="0" smtClean="0"/>
              <a:t>The relational operators </a:t>
            </a:r>
            <a:r>
              <a:rPr lang="en-US" altLang="en-US" dirty="0" smtClean="0">
                <a:latin typeface="Courier New" panose="02070309020205020404" pitchFamily="49" charset="0"/>
              </a:rPr>
              <a:t>===</a:t>
            </a:r>
            <a:r>
              <a:rPr lang="en-US" altLang="en-US" dirty="0" smtClean="0"/>
              <a:t> and </a:t>
            </a:r>
            <a:r>
              <a:rPr lang="en-US" altLang="en-US" dirty="0" smtClean="0">
                <a:latin typeface="Courier New" panose="02070309020205020404" pitchFamily="49" charset="0"/>
              </a:rPr>
              <a:t>!==</a:t>
            </a:r>
          </a:p>
          <a:p>
            <a:pPr lvl="2" eaLnBrk="1" hangingPunct="1"/>
            <a:r>
              <a:rPr lang="en-US" altLang="en-US" dirty="0" smtClean="0"/>
              <a:t>Similar to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altLang="en-US" dirty="0" smtClean="0"/>
              <a:t> and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US" altLang="en-US" dirty="0" smtClean="0"/>
              <a:t> with </a:t>
            </a:r>
            <a:r>
              <a:rPr lang="en-US" altLang="en-US" u="sng" dirty="0" smtClean="0"/>
              <a:t>no</a:t>
            </a:r>
            <a:r>
              <a:rPr lang="en-US" altLang="en-US" dirty="0" smtClean="0"/>
              <a:t> operand coercion</a:t>
            </a:r>
          </a:p>
          <a:p>
            <a:pPr lvl="2" eaLnBrk="1" hangingPunct="1"/>
            <a:r>
              <a:rPr lang="en-US" altLang="en-US" dirty="0" smtClean="0"/>
              <a:t>Therefore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"7" === 7</a:t>
            </a:r>
            <a:r>
              <a:rPr lang="en-US" altLang="en-US" dirty="0" smtClean="0"/>
              <a:t> is false</a:t>
            </a:r>
          </a:p>
          <a:p>
            <a:pPr eaLnBrk="1" hangingPunct="1"/>
            <a:r>
              <a:rPr lang="en-US" altLang="en-US" dirty="0" smtClean="0"/>
              <a:t>Ruby</a:t>
            </a:r>
          </a:p>
          <a:p>
            <a:pPr lvl="1" eaLnBrk="1" hangingPunct="1"/>
            <a:r>
              <a:rPr lang="en-US" altLang="en-US" dirty="0" smtClean="0"/>
              <a:t>Uses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altLang="en-US" dirty="0" smtClean="0"/>
              <a:t> for </a:t>
            </a:r>
            <a:r>
              <a:rPr lang="en-US" altLang="en-US" dirty="0" smtClean="0"/>
              <a:t>numeric equality </a:t>
            </a:r>
            <a:r>
              <a:rPr lang="en-US" altLang="en-US" dirty="0" smtClean="0"/>
              <a:t>with coercions</a:t>
            </a:r>
          </a:p>
          <a:p>
            <a:pPr lvl="1" eaLnBrk="1" hangingPunct="1"/>
            <a:r>
              <a:rPr lang="en-US" altLang="en-US" dirty="0" smtClean="0"/>
              <a:t>Uses </a:t>
            </a:r>
            <a:r>
              <a:rPr lang="en-US" alt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eql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en-US" altLang="en-US" dirty="0" smtClean="0"/>
              <a:t> </a:t>
            </a:r>
            <a:r>
              <a:rPr lang="en-US" altLang="en-US" dirty="0" smtClean="0"/>
              <a:t>for numeric </a:t>
            </a:r>
            <a:r>
              <a:rPr lang="en-US" altLang="en-US" dirty="0" smtClean="0"/>
              <a:t>equality without coercions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663B90CE-74A9-46A2-8102-910CF31AA9D7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Relational and Boolean Expressions:</a:t>
            </a:r>
            <a:br>
              <a:rPr lang="en-US" altLang="en-US" sz="3200" smtClean="0"/>
            </a:br>
            <a:r>
              <a:rPr lang="en-US" altLang="en-US" sz="3200" smtClean="0"/>
              <a:t>No Boolean Type in C</a:t>
            </a:r>
          </a:p>
        </p:txBody>
      </p:sp>
      <p:sp>
        <p:nvSpPr>
          <p:cNvPr id="430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98613"/>
            <a:ext cx="8229600" cy="4572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Boolean Expressions</a:t>
            </a:r>
          </a:p>
          <a:p>
            <a:pPr lvl="1" eaLnBrk="1" hangingPunct="1"/>
            <a:r>
              <a:rPr lang="en-US" altLang="en-US" dirty="0" smtClean="0"/>
              <a:t>Operands and result of expression are Boolean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C89 has no Boolean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Uses </a:t>
            </a:r>
            <a:r>
              <a:rPr lang="en-US" alt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dirty="0" smtClean="0"/>
              <a:t> type for operands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Nonzero interpreted as true, </a:t>
            </a:r>
            <a:r>
              <a:rPr lang="en-US" altLang="en-US" dirty="0" smtClean="0">
                <a:latin typeface="Courier New" panose="02070309020205020404" pitchFamily="49" charset="0"/>
              </a:rPr>
              <a:t>0</a:t>
            </a:r>
            <a:r>
              <a:rPr lang="en-US" altLang="en-US" dirty="0" smtClean="0"/>
              <a:t> interpreted as false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Boolean expressions evaluate to </a:t>
            </a:r>
            <a:r>
              <a:rPr lang="en-US" alt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dirty="0" smtClean="0"/>
              <a:t> values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True expression evaluates to </a:t>
            </a:r>
            <a:r>
              <a:rPr lang="en-US" altLang="en-US" dirty="0" smtClean="0">
                <a:latin typeface="Courier New" panose="02070309020205020404" pitchFamily="49" charset="0"/>
              </a:rPr>
              <a:t>1</a:t>
            </a:r>
            <a:endParaRPr lang="en-US" altLang="en-US" dirty="0" smtClean="0"/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False expression evaluates to </a:t>
            </a:r>
            <a:r>
              <a:rPr lang="en-US" altLang="en-US" dirty="0" smtClean="0">
                <a:latin typeface="Courier New" panose="02070309020205020404" pitchFamily="49" charset="0"/>
              </a:rPr>
              <a:t>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One odd result of this design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​</a:t>
            </a:r>
            <a:r>
              <a:rPr lang="en-US" altLang="en-US" dirty="0" smtClean="0">
                <a:latin typeface="Courier New" panose="02070309020205020404" pitchFamily="49" charset="0"/>
              </a:rPr>
              <a:t>a &lt; b &lt; c</a:t>
            </a:r>
            <a:r>
              <a:rPr lang="en-US" altLang="en-US" dirty="0" smtClean="0"/>
              <a:t>  is legal but works unexpectedly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Left operator (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 &lt; b</a:t>
            </a:r>
            <a:r>
              <a:rPr lang="en-US" altLang="en-US" dirty="0" smtClean="0"/>
              <a:t>) is evaluated, producing </a:t>
            </a:r>
            <a:r>
              <a:rPr lang="en-US" altLang="en-US" dirty="0" smtClean="0"/>
              <a:t>1 </a:t>
            </a:r>
            <a:r>
              <a:rPr lang="en-US" altLang="en-US" dirty="0" smtClean="0"/>
              <a:t>or </a:t>
            </a:r>
            <a:r>
              <a:rPr lang="en-US" altLang="en-US" dirty="0" smtClean="0"/>
              <a:t>0</a:t>
            </a:r>
            <a:endParaRPr lang="en-US" altLang="en-US" dirty="0" smtClean="0"/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Tests if </a:t>
            </a:r>
            <a:r>
              <a:rPr lang="en-US" altLang="en-US" dirty="0" smtClean="0"/>
              <a:t>1 </a:t>
            </a:r>
            <a:r>
              <a:rPr lang="en-US" altLang="en-US" dirty="0" smtClean="0"/>
              <a:t>or </a:t>
            </a:r>
            <a:r>
              <a:rPr lang="en-US" altLang="en-US" dirty="0" smtClean="0"/>
              <a:t>0 </a:t>
            </a:r>
            <a:r>
              <a:rPr lang="en-US" altLang="en-US" dirty="0" smtClean="0"/>
              <a:t>result is less than third operand (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en-US" dirty="0" smtClean="0"/>
              <a:t>)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67FABF9D-EFE0-4562-9E35-E542537D7006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Short Circuit Evaluation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382000" cy="457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/>
              <a:t>Short circuit evaluation computes result</a:t>
            </a:r>
          </a:p>
          <a:p>
            <a:pPr lvl="1" eaLnBrk="1" hangingPunct="1">
              <a:defRPr/>
            </a:pPr>
            <a:r>
              <a:rPr lang="en-US" altLang="en-US" dirty="0" smtClean="0"/>
              <a:t>Doesn’t evaluate all operands and/or operators</a:t>
            </a:r>
          </a:p>
          <a:p>
            <a:pPr lvl="1" eaLnBrk="1" hangingPunct="1">
              <a:defRPr/>
            </a:pPr>
            <a:r>
              <a:rPr lang="en-US" altLang="en-US" dirty="0" smtClean="0">
                <a:latin typeface="+mj-lt"/>
                <a:cs typeface="Courier New" panose="02070309020205020404" pitchFamily="49" charset="0"/>
              </a:rPr>
              <a:t>For example,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(13 * a) * (b / 13 – 1)</a:t>
            </a:r>
          </a:p>
          <a:p>
            <a:pPr lvl="1" eaLnBrk="1" hangingPunct="1">
              <a:defRPr/>
            </a:pPr>
            <a:r>
              <a:rPr lang="en-US" altLang="en-US" dirty="0" smtClean="0"/>
              <a:t>If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dirty="0" smtClean="0"/>
              <a:t> is zero, no need to evaluate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(b / 13 - 1) </a:t>
            </a:r>
            <a:endParaRPr lang="en-US" alt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defRPr/>
            </a:pPr>
            <a:r>
              <a:rPr lang="en-US" altLang="en-US" dirty="0" smtClean="0"/>
              <a:t>Problem with non-short-circuit evaluation</a:t>
            </a:r>
          </a:p>
          <a:p>
            <a:pPr lvl="1" eaLnBrk="1" hangingPunct="1">
              <a:defRPr/>
            </a:pPr>
            <a:r>
              <a:rPr lang="en-US" altLang="en-US" dirty="0" smtClean="0"/>
              <a:t>Assume that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altLang="en-US" dirty="0" smtClean="0"/>
              <a:t> has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US" altLang="en-US" dirty="0" smtClean="0"/>
              <a:t> elements</a:t>
            </a:r>
          </a:p>
          <a:p>
            <a:pPr lvl="1" eaLnBrk="1" hangingPunct="1">
              <a:buFontTx/>
              <a:buNone/>
              <a:defRPr/>
            </a:pPr>
            <a:r>
              <a:rPr lang="en-US" altLang="en-US" sz="400" b="1" dirty="0" smtClean="0">
                <a:latin typeface="Courier New" panose="02070309020205020404" pitchFamily="49" charset="0"/>
              </a:rPr>
              <a:t>	</a:t>
            </a:r>
            <a:endParaRPr lang="en-US" altLang="en-US" sz="100" b="1" dirty="0" smtClean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  <a:defRPr/>
            </a:pPr>
            <a:r>
              <a:rPr lang="en-US" altLang="en-US" sz="1800" dirty="0" smtClean="0">
                <a:latin typeface="Courier New" panose="02070309020205020404" pitchFamily="49" charset="0"/>
              </a:rPr>
              <a:t>	  index = 0;</a:t>
            </a:r>
          </a:p>
          <a:p>
            <a:pPr lvl="1" eaLnBrk="1" hangingPunct="1">
              <a:buFontTx/>
              <a:buNone/>
              <a:defRPr/>
            </a:pPr>
            <a:r>
              <a:rPr lang="en-US" altLang="en-US" sz="1800" dirty="0" smtClean="0">
                <a:latin typeface="Courier New" panose="02070309020205020404" pitchFamily="49" charset="0"/>
              </a:rPr>
              <a:t>	  </a:t>
            </a:r>
            <a:r>
              <a:rPr lang="en-US" altLang="en-US" sz="1800" b="1" dirty="0" smtClean="0">
                <a:latin typeface="Courier New" panose="02070309020205020404" pitchFamily="49" charset="0"/>
              </a:rPr>
              <a:t>while</a:t>
            </a:r>
            <a:r>
              <a:rPr lang="en-US" altLang="en-US" sz="1800" dirty="0" smtClean="0">
                <a:latin typeface="Courier New" panose="02070309020205020404" pitchFamily="49" charset="0"/>
              </a:rPr>
              <a:t> ((index &lt; length) &amp;&amp; (list[index] != value)) {</a:t>
            </a:r>
          </a:p>
          <a:p>
            <a:pPr lvl="1" eaLnBrk="1" hangingPunct="1">
              <a:buFontTx/>
              <a:buNone/>
              <a:defRPr/>
            </a:pPr>
            <a:r>
              <a:rPr lang="en-US" altLang="en-US" sz="1800" dirty="0" smtClean="0">
                <a:latin typeface="Courier New" panose="02070309020205020404" pitchFamily="49" charset="0"/>
              </a:rPr>
              <a:t>		    index++;</a:t>
            </a:r>
          </a:p>
          <a:p>
            <a:pPr lvl="1" eaLnBrk="1" hangingPunct="1">
              <a:buFontTx/>
              <a:buNone/>
              <a:defRPr/>
            </a:pPr>
            <a:r>
              <a:rPr lang="en-US" altLang="en-US" sz="1800" dirty="0">
                <a:latin typeface="Courier New" panose="02070309020205020404" pitchFamily="49" charset="0"/>
              </a:rPr>
              <a:t>	</a:t>
            </a:r>
            <a:r>
              <a:rPr lang="en-US" altLang="en-US" sz="1800" dirty="0" smtClean="0">
                <a:latin typeface="Courier New" panose="02070309020205020404" pitchFamily="49" charset="0"/>
              </a:rPr>
              <a:t>	 }</a:t>
            </a:r>
          </a:p>
          <a:p>
            <a:pPr lvl="1" eaLnBrk="1" hangingPunct="1">
              <a:defRPr/>
            </a:pPr>
            <a:endParaRPr lang="en-US" altLang="en-US" sz="400" dirty="0" smtClean="0"/>
          </a:p>
          <a:p>
            <a:pPr lvl="1" eaLnBrk="1" hangingPunct="1">
              <a:defRPr/>
            </a:pPr>
            <a:r>
              <a:rPr lang="en-US" altLang="en-US" dirty="0" smtClean="0"/>
              <a:t>What if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altLang="en-US" dirty="0" smtClean="0"/>
              <a:t> is not short-circuit evaluated?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1B7CB87C-3F80-42C2-8661-7995A18E9E79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Short Circuit Evaluation</a:t>
            </a:r>
          </a:p>
        </p:txBody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305800" cy="4572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Examples</a:t>
            </a:r>
          </a:p>
          <a:p>
            <a:pPr lvl="1" eaLnBrk="1" hangingPunct="1"/>
            <a:r>
              <a:rPr lang="en-US" altLang="en-US" dirty="0" smtClean="0"/>
              <a:t>C, C++, and Java</a:t>
            </a:r>
          </a:p>
          <a:p>
            <a:pPr lvl="2" eaLnBrk="1" hangingPunct="1"/>
            <a:r>
              <a:rPr lang="en-US" altLang="en-US" sz="2000" dirty="0" smtClean="0"/>
              <a:t>Standard Boolean operators are short-circuit (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&amp;&amp;</a:t>
            </a:r>
            <a:r>
              <a:rPr lang="en-US" altLang="en-US" sz="2000" dirty="0" smtClean="0"/>
              <a:t> and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||</a:t>
            </a:r>
            <a:r>
              <a:rPr lang="en-US" altLang="en-US" sz="2000" dirty="0" smtClean="0"/>
              <a:t>)</a:t>
            </a:r>
          </a:p>
          <a:p>
            <a:pPr lvl="2" eaLnBrk="1" hangingPunct="1"/>
            <a:r>
              <a:rPr lang="en-US" altLang="en-US" sz="2000" dirty="0" smtClean="0"/>
              <a:t>Bitwise Boolean operators are not short circuit (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&amp;</a:t>
            </a:r>
            <a:r>
              <a:rPr lang="en-US" altLang="en-US" sz="2000" dirty="0" smtClean="0"/>
              <a:t> and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|</a:t>
            </a:r>
            <a:r>
              <a:rPr lang="en-US" altLang="en-US" sz="2000" dirty="0" smtClean="0"/>
              <a:t>)</a:t>
            </a:r>
          </a:p>
          <a:p>
            <a:pPr lvl="1" eaLnBrk="1" hangingPunct="1"/>
            <a:r>
              <a:rPr lang="en-US" altLang="en-US" dirty="0" smtClean="0"/>
              <a:t>Ruby, Perl, ML, F#, and Python </a:t>
            </a:r>
          </a:p>
          <a:p>
            <a:pPr lvl="2" eaLnBrk="1" hangingPunct="1"/>
            <a:r>
              <a:rPr lang="en-US" altLang="en-US" sz="2000" dirty="0" smtClean="0"/>
              <a:t>All logic operators are short-circuit evaluated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738D313D-BCA4-4C4C-ACF5-E758720869F4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Short Circuit Evaluation</a:t>
            </a:r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 smtClean="0"/>
              <a:t>Short-circuit evaluation can be a problem</a:t>
            </a:r>
          </a:p>
          <a:p>
            <a:pPr lvl="1" eaLnBrk="1" hangingPunct="1">
              <a:defRPr/>
            </a:pPr>
            <a:r>
              <a:rPr lang="en-US" altLang="en-US" dirty="0" smtClean="0"/>
              <a:t>If side effects are </a:t>
            </a:r>
            <a:r>
              <a:rPr lang="en-US" altLang="en-US" u="sng" dirty="0" smtClean="0"/>
              <a:t>expected</a:t>
            </a:r>
            <a:r>
              <a:rPr lang="en-US" altLang="en-US" dirty="0" smtClean="0"/>
              <a:t> in expressions</a:t>
            </a:r>
          </a:p>
          <a:p>
            <a:pPr lvl="1" eaLnBrk="1" hangingPunct="1">
              <a:defRPr/>
            </a:pPr>
            <a:r>
              <a:rPr lang="en-US" altLang="en-US" dirty="0" smtClean="0"/>
              <a:t>For example</a:t>
            </a:r>
          </a:p>
          <a:p>
            <a:pPr lvl="2" eaLnBrk="1" hangingPunct="1">
              <a:defRPr/>
            </a:pPr>
            <a:r>
              <a:rPr lang="en-US" altLang="en-US" dirty="0" smtClean="0"/>
              <a:t>Assume that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en-US" altLang="en-US" dirty="0" smtClean="0"/>
              <a:t> is a short-circuit logical OR</a:t>
            </a:r>
          </a:p>
          <a:p>
            <a:pPr marL="914400" lvl="2" indent="0" eaLnBrk="1" hangingPunct="1">
              <a:buFontTx/>
              <a:buNone/>
              <a:defRPr/>
            </a:pP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dirty="0" smtClean="0">
                <a:latin typeface="Courier New" panose="02070309020205020404" pitchFamily="49" charset="0"/>
              </a:rPr>
              <a:t>  (</a:t>
            </a:r>
            <a:r>
              <a:rPr lang="en-US" altLang="en-US" dirty="0">
                <a:latin typeface="Courier New" panose="02070309020205020404" pitchFamily="49" charset="0"/>
              </a:rPr>
              <a:t>a &gt; b) || (b++ / 3</a:t>
            </a:r>
            <a:r>
              <a:rPr lang="en-US" altLang="en-US" dirty="0" smtClean="0">
                <a:latin typeface="Courier New" panose="02070309020205020404" pitchFamily="49" charset="0"/>
              </a:rPr>
              <a:t>)</a:t>
            </a:r>
            <a:endParaRPr lang="en-US" altLang="en-US" dirty="0" smtClean="0"/>
          </a:p>
          <a:p>
            <a:pPr lvl="2" eaLnBrk="1" hangingPunct="1">
              <a:defRPr/>
            </a:pPr>
            <a:r>
              <a:rPr lang="en-US" altLang="en-US" dirty="0" smtClean="0"/>
              <a:t>Recall that a functional side effect occurs when a function modifies a parameter or a global variable</a:t>
            </a:r>
          </a:p>
          <a:p>
            <a:pPr lvl="2" eaLnBrk="1" hangingPunct="1">
              <a:defRPr/>
            </a:pPr>
            <a:r>
              <a:rPr lang="en-US" altLang="en-US" u="sng" dirty="0" smtClean="0"/>
              <a:t>Operators</a:t>
            </a:r>
            <a:r>
              <a:rPr lang="en-US" altLang="en-US" dirty="0" smtClean="0"/>
              <a:t> cause side effects by changing operands</a:t>
            </a:r>
          </a:p>
          <a:p>
            <a:pPr lvl="3" eaLnBrk="1" hangingPunct="1">
              <a:defRPr/>
            </a:pPr>
            <a:r>
              <a:rPr lang="en-US" altLang="en-US" dirty="0" smtClean="0"/>
              <a:t>Which operator causes a side effect?</a:t>
            </a:r>
          </a:p>
          <a:p>
            <a:pPr lvl="2" eaLnBrk="1" hangingPunct="1">
              <a:defRPr/>
            </a:pPr>
            <a:r>
              <a:rPr lang="en-US" altLang="en-US" dirty="0" smtClean="0"/>
              <a:t>If we rely on the fact that this side effect occurs </a:t>
            </a:r>
            <a:r>
              <a:rPr lang="en-US" altLang="en-US" u="sng" dirty="0" smtClean="0"/>
              <a:t>every time</a:t>
            </a:r>
            <a:r>
              <a:rPr lang="en-US" altLang="en-US" dirty="0" smtClean="0"/>
              <a:t> the expression is evaluated</a:t>
            </a:r>
            <a:endParaRPr lang="en-US" altLang="en-US" sz="2200" dirty="0">
              <a:latin typeface="Courier New" panose="02070309020205020404" pitchFamily="49" charset="0"/>
            </a:endParaRPr>
          </a:p>
          <a:p>
            <a:pPr lvl="3" eaLnBrk="1" hangingPunct="1">
              <a:defRPr/>
            </a:pPr>
            <a:r>
              <a:rPr lang="en-US" altLang="en-US" dirty="0" smtClean="0"/>
              <a:t>When will the side effect not occur?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6305B196-99E0-4176-B162-58BAE18B5CE2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Assignment Statements</a:t>
            </a:r>
          </a:p>
        </p:txBody>
      </p:sp>
      <p:sp>
        <p:nvSpPr>
          <p:cNvPr id="573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general syntax</a:t>
            </a:r>
          </a:p>
          <a:p>
            <a:pPr lvl="1" eaLnBrk="1" hangingPunct="1">
              <a:buFontTx/>
              <a:buNone/>
            </a:pPr>
            <a:r>
              <a:rPr lang="en-US" altLang="en-US" sz="20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&lt;target_var&gt; &lt;assign_operator&gt; &lt;expression&gt;</a:t>
            </a:r>
          </a:p>
          <a:p>
            <a:pPr eaLnBrk="1" hangingPunct="1"/>
            <a:r>
              <a:rPr lang="en-US" altLang="en-US" smtClean="0"/>
              <a:t>The assignment operator</a:t>
            </a:r>
          </a:p>
          <a:p>
            <a:pPr lvl="1" eaLnBrk="1" hangingPunct="1"/>
            <a:r>
              <a:rPr lang="en-US" altLang="en-US" smtClean="0"/>
              <a:t>FORTRAN, BASIC, and the C-based languages</a:t>
            </a:r>
          </a:p>
          <a:p>
            <a:pPr lvl="2" eaLnBrk="1" hangingPunct="1"/>
            <a:r>
              <a:rPr lang="en-US" altLang="en-US" smtClean="0"/>
              <a:t>Use 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mtClean="0"/>
              <a:t> operator</a:t>
            </a:r>
          </a:p>
          <a:p>
            <a:pPr lvl="1" eaLnBrk="1" hangingPunct="1"/>
            <a:r>
              <a:rPr lang="en-US" altLang="en-US" smtClean="0"/>
              <a:t>The ALGOLs, Pascal, and Ada</a:t>
            </a:r>
          </a:p>
          <a:p>
            <a:pPr lvl="2" eaLnBrk="1" hangingPunct="1"/>
            <a:r>
              <a:rPr lang="en-US" altLang="en-US" smtClean="0"/>
              <a:t>Use 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:=</a:t>
            </a:r>
            <a:r>
              <a:rPr lang="en-US" altLang="en-US" smtClean="0"/>
              <a:t> operator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72A873BD-E13A-4DD3-B7D0-21820822A5B1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Assignment Statements</a:t>
            </a:r>
          </a:p>
        </p:txBody>
      </p:sp>
      <p:sp>
        <p:nvSpPr>
          <p:cNvPr id="593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Possible problem</a:t>
            </a:r>
          </a:p>
          <a:p>
            <a:pPr lvl="1" eaLnBrk="1" hangingPunct="1"/>
            <a:r>
              <a:rPr lang="en-US" altLang="en-US" dirty="0" smtClean="0"/>
              <a:t>If </a:t>
            </a:r>
            <a:r>
              <a:rPr lang="en-US" altLang="en-US" dirty="0" smtClean="0">
                <a:latin typeface="Courier New" panose="02070309020205020404" pitchFamily="49" charset="0"/>
              </a:rPr>
              <a:t>=</a:t>
            </a:r>
            <a:r>
              <a:rPr lang="en-US" altLang="en-US" dirty="0" smtClean="0"/>
              <a:t> is overloaded for relational equality operator</a:t>
            </a:r>
          </a:p>
          <a:p>
            <a:pPr lvl="2" eaLnBrk="1" hangingPunct="1"/>
            <a:r>
              <a:rPr lang="en-US" altLang="en-US" dirty="0" smtClean="0"/>
              <a:t>Ambiguity between assignment and equality test</a:t>
            </a:r>
          </a:p>
          <a:p>
            <a:pPr lvl="1" eaLnBrk="1" hangingPunct="1"/>
            <a:r>
              <a:rPr lang="en-US" altLang="en-US" dirty="0" smtClean="0"/>
              <a:t>Solutions to this problem</a:t>
            </a:r>
          </a:p>
          <a:p>
            <a:pPr lvl="2" eaLnBrk="1" hangingPunct="1"/>
            <a:r>
              <a:rPr lang="en-US" altLang="en-US" dirty="0" smtClean="0"/>
              <a:t>C-based languages use </a:t>
            </a:r>
            <a:r>
              <a:rPr lang="en-US" altLang="en-US" sz="1700" dirty="0" smtClean="0">
                <a:latin typeface="Courier New" panose="02070309020205020404" pitchFamily="49" charset="0"/>
              </a:rPr>
              <a:t>==</a:t>
            </a:r>
            <a:r>
              <a:rPr lang="en-US" altLang="en-US" dirty="0" smtClean="0"/>
              <a:t> as relational operator</a:t>
            </a:r>
          </a:p>
          <a:p>
            <a:pPr lvl="2" eaLnBrk="1" hangingPunct="1"/>
            <a:r>
              <a:rPr lang="en-US" altLang="en-US" dirty="0" smtClean="0"/>
              <a:t>ALGOL 58’s </a:t>
            </a:r>
            <a:r>
              <a:rPr lang="en-US" altLang="en-US" dirty="0" smtClean="0">
                <a:latin typeface="Courier New" panose="02070309020205020404" pitchFamily="49" charset="0"/>
              </a:rPr>
              <a:t>:=</a:t>
            </a:r>
            <a:r>
              <a:rPr lang="en-US" altLang="en-US" dirty="0" smtClean="0"/>
              <a:t> operator is unambiguous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A0A91CDE-9E17-4ACE-80DB-A7E80F054C7C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Assignment Statements:</a:t>
            </a:r>
            <a:br>
              <a:rPr lang="en-US" altLang="en-US" sz="3200" smtClean="0"/>
            </a:br>
            <a:r>
              <a:rPr lang="en-US" altLang="en-US" sz="3200" smtClean="0"/>
              <a:t>Conditional Targets</a:t>
            </a:r>
          </a:p>
        </p:txBody>
      </p:sp>
      <p:sp>
        <p:nvSpPr>
          <p:cNvPr id="614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543800" cy="4572000"/>
          </a:xfrm>
        </p:spPr>
        <p:txBody>
          <a:bodyPr/>
          <a:lstStyle/>
          <a:p>
            <a:pPr eaLnBrk="1" hangingPunct="1"/>
            <a:r>
              <a:rPr lang="en-US" altLang="en-US" smtClean="0"/>
              <a:t>Conditional targets</a:t>
            </a:r>
          </a:p>
          <a:p>
            <a:pPr lvl="1" eaLnBrk="1" hangingPunct="1"/>
            <a:r>
              <a:rPr lang="en-US" altLang="en-US" smtClean="0"/>
              <a:t>Provided by Perl</a:t>
            </a:r>
          </a:p>
          <a:p>
            <a:pPr lvl="1" eaLnBrk="1" hangingPunct="1"/>
            <a:r>
              <a:rPr lang="en-US" altLang="en-US" smtClean="0"/>
              <a:t>Similar to conditional expressions</a:t>
            </a:r>
          </a:p>
          <a:p>
            <a:pPr lvl="2" eaLnBrk="1" hangingPunct="1"/>
            <a:r>
              <a:rPr lang="en-US" altLang="en-US" smtClean="0"/>
              <a:t>But are used as the target of an assignment</a:t>
            </a:r>
          </a:p>
          <a:p>
            <a:pPr lvl="2" eaLnBrk="1" hangingPunct="1"/>
            <a:r>
              <a:rPr lang="en-US" altLang="en-US" smtClean="0"/>
              <a:t>Conditional targets have the form</a:t>
            </a:r>
          </a:p>
          <a:p>
            <a:pPr lvl="1" eaLnBrk="1" hangingPunct="1">
              <a:buFontTx/>
              <a:buNone/>
            </a:pPr>
            <a:r>
              <a:rPr lang="en-US" altLang="en-US" sz="2000" b="1" smtClean="0">
                <a:latin typeface="Courier New" panose="02070309020205020404" pitchFamily="49" charset="0"/>
              </a:rPr>
              <a:t>	     </a:t>
            </a:r>
            <a:r>
              <a:rPr lang="en-US" altLang="en-US" sz="2000" smtClean="0">
                <a:latin typeface="Courier New" panose="02070309020205020404" pitchFamily="49" charset="0"/>
              </a:rPr>
              <a:t>($flag ? $total : $subtotal) = 0</a:t>
            </a:r>
            <a:endParaRPr lang="en-US" altLang="en-US" smtClean="0"/>
          </a:p>
          <a:p>
            <a:pPr lvl="1" eaLnBrk="1" hangingPunct="1"/>
            <a:endParaRPr lang="en-US" altLang="en-US" sz="500" smtClean="0"/>
          </a:p>
          <a:p>
            <a:pPr lvl="2" eaLnBrk="1" hangingPunct="1"/>
            <a:r>
              <a:rPr lang="en-US" altLang="en-US" smtClean="0"/>
              <a:t>Which is equivalent to</a:t>
            </a:r>
          </a:p>
          <a:p>
            <a:pPr lvl="1" eaLnBrk="1" hangingPunct="1">
              <a:buFontTx/>
              <a:buNone/>
            </a:pPr>
            <a:r>
              <a:rPr lang="en-US" altLang="en-US" sz="2000" b="1" smtClean="0">
                <a:latin typeface="Courier New" panose="02070309020205020404" pitchFamily="49" charset="0"/>
                <a:cs typeface="Courier New" panose="02070309020205020404" pitchFamily="49" charset="0"/>
              </a:rPr>
              <a:t>	     </a:t>
            </a:r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if ($flag){</a:t>
            </a:r>
          </a:p>
          <a:p>
            <a:pPr lvl="1" eaLnBrk="1" hangingPunct="1"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		      $total = 0</a:t>
            </a:r>
          </a:p>
          <a:p>
            <a:pPr lvl="1" eaLnBrk="1" hangingPunct="1"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	     } else {</a:t>
            </a:r>
          </a:p>
          <a:p>
            <a:pPr lvl="1" eaLnBrk="1" hangingPunct="1"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		      $subtotal = 0</a:t>
            </a:r>
          </a:p>
          <a:p>
            <a:pPr lvl="1" eaLnBrk="1" hangingPunct="1">
              <a:buFontTx/>
              <a:buNone/>
            </a:pPr>
            <a:r>
              <a:rPr lang="en-US" altLang="en-US" sz="2000" smtClean="0">
                <a:latin typeface="Courier New" panose="02070309020205020404" pitchFamily="49" charset="0"/>
                <a:cs typeface="Courier New" panose="02070309020205020404" pitchFamily="49" charset="0"/>
              </a:rPr>
              <a:t>	     }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8B9D3A8D-FAD5-4420-AB00-D9A51EE6C0E9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Assignment Statements:</a:t>
            </a:r>
            <a:br>
              <a:rPr lang="en-US" altLang="en-US" sz="3200" smtClean="0"/>
            </a:br>
            <a:r>
              <a:rPr lang="en-US" altLang="en-US" sz="3200" smtClean="0"/>
              <a:t>Compound Assignment Operators</a:t>
            </a:r>
          </a:p>
        </p:txBody>
      </p:sp>
      <p:sp>
        <p:nvSpPr>
          <p:cNvPr id="634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Compound assignment operators</a:t>
            </a:r>
          </a:p>
          <a:p>
            <a:pPr lvl="1" eaLnBrk="1" hangingPunct="1"/>
            <a:r>
              <a:rPr lang="en-US" altLang="en-US" dirty="0" smtClean="0"/>
              <a:t>A shorthand method of specifying a commonly needed form of assignment</a:t>
            </a:r>
          </a:p>
          <a:p>
            <a:pPr lvl="1" eaLnBrk="1" hangingPunct="1"/>
            <a:r>
              <a:rPr lang="en-US" altLang="en-US" dirty="0" smtClean="0"/>
              <a:t>Introduced in ALGOL 68, later adopted by C</a:t>
            </a:r>
          </a:p>
          <a:p>
            <a:pPr lvl="1" eaLnBrk="1" hangingPunct="1"/>
            <a:r>
              <a:rPr lang="en-US" altLang="en-US" dirty="0" smtClean="0"/>
              <a:t>For example</a:t>
            </a:r>
          </a:p>
          <a:p>
            <a:pPr lvl="2" eaLnBrk="1" hangingPunct="1"/>
            <a:r>
              <a:rPr lang="en-US" altLang="en-US" dirty="0" smtClean="0"/>
              <a:t>The compound assignment</a:t>
            </a:r>
          </a:p>
          <a:p>
            <a:pPr lvl="1" eaLnBrk="1" hangingPunct="1">
              <a:buFontTx/>
              <a:buNone/>
            </a:pPr>
            <a:r>
              <a:rPr lang="en-US" altLang="en-US" sz="21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altLang="en-US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 += b</a:t>
            </a:r>
          </a:p>
          <a:p>
            <a:pPr lvl="2" eaLnBrk="1" hangingPunct="1"/>
            <a:r>
              <a:rPr lang="en-US" altLang="en-US" dirty="0" smtClean="0"/>
              <a:t>Is equivalent to the normal assignment</a:t>
            </a:r>
          </a:p>
          <a:p>
            <a:pPr lvl="1" eaLnBrk="1" hangingPunct="1">
              <a:buFontTx/>
              <a:buNone/>
            </a:pPr>
            <a:r>
              <a:rPr lang="en-US" altLang="en-US" sz="21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altLang="en-US" sz="2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 = a + b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8677F844-D7B6-40A9-BE98-7631C2F0D68C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554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Assignment Statements:</a:t>
            </a:r>
            <a:br>
              <a:rPr lang="en-US" altLang="en-US" sz="3200" smtClean="0"/>
            </a:br>
            <a:r>
              <a:rPr lang="en-US" altLang="en-US" sz="3200" smtClean="0"/>
              <a:t>Unary Assignment Operators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25600"/>
            <a:ext cx="8229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 smtClean="0"/>
              <a:t>Unary assignments in C-based languages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 smtClean="0"/>
              <a:t>Combine increment/decrement with assignment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u="sng" dirty="0" smtClean="0"/>
              <a:t>Prefix </a:t>
            </a:r>
            <a:r>
              <a:rPr lang="en-US" altLang="en-US" u="sng" dirty="0" smtClean="0"/>
              <a:t>increment</a:t>
            </a:r>
            <a:r>
              <a:rPr lang="en-US" altLang="en-US" dirty="0" smtClean="0"/>
              <a:t>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altLang="en-US" dirty="0" smtClean="0"/>
              <a:t>, then assign to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</a:p>
          <a:p>
            <a:pPr marL="457200" lvl="1" indent="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2000" dirty="0" smtClean="0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sum = ++count</a:t>
            </a:r>
          </a:p>
          <a:p>
            <a:pPr marL="457200" lvl="1" indent="0" eaLnBrk="1" hangingPunct="1">
              <a:lnSpc>
                <a:spcPct val="90000"/>
              </a:lnSpc>
              <a:buFontTx/>
              <a:buNone/>
              <a:defRPr/>
            </a:pPr>
            <a:endParaRPr lang="en-US" alt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2000" dirty="0" smtClean="0">
                <a:latin typeface="+mj-lt"/>
                <a:cs typeface="Courier New" panose="02070309020205020404" pitchFamily="49" charset="0"/>
              </a:rPr>
              <a:t>Assign 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altLang="en-US" sz="2000" dirty="0" smtClean="0">
                <a:latin typeface="+mj-lt"/>
                <a:cs typeface="Courier New" panose="02070309020205020404" pitchFamily="49" charset="0"/>
              </a:rPr>
              <a:t> to 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altLang="en-US" sz="2000" dirty="0" smtClean="0">
                <a:latin typeface="+mj-lt"/>
                <a:cs typeface="Courier New" panose="02070309020205020404" pitchFamily="49" charset="0"/>
              </a:rPr>
              <a:t>, then </a:t>
            </a:r>
            <a:r>
              <a:rPr lang="en-US" altLang="en-US" sz="2000" u="sng" dirty="0" smtClean="0">
                <a:latin typeface="+mj-lt"/>
                <a:cs typeface="Courier New" panose="02070309020205020404" pitchFamily="49" charset="0"/>
              </a:rPr>
              <a:t>postfix increment</a:t>
            </a:r>
            <a:r>
              <a:rPr lang="en-US" altLang="en-US" sz="2000" dirty="0" smtClean="0">
                <a:latin typeface="+mj-lt"/>
                <a:cs typeface="Courier New" panose="02070309020205020404" pitchFamily="49" charset="0"/>
              </a:rPr>
              <a:t> 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</a:p>
          <a:p>
            <a:pPr marL="457200" lvl="1" indent="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2000" dirty="0" smtClean="0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sum = count++</a:t>
            </a:r>
          </a:p>
          <a:p>
            <a:pPr marL="457200" lvl="1" indent="0" eaLnBrk="1" hangingPunct="1">
              <a:lnSpc>
                <a:spcPct val="90000"/>
              </a:lnSpc>
              <a:buFontTx/>
              <a:buNone/>
              <a:defRPr/>
            </a:pPr>
            <a:endParaRPr lang="en-US" altLang="en-US" sz="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>
                <a:cs typeface="Courier New" panose="02070309020205020404" pitchFamily="49" charset="0"/>
              </a:rPr>
              <a:t>Postfix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en-US" altLang="en-US" dirty="0">
                <a:cs typeface="Courier New" panose="02070309020205020404" pitchFamily="49" charset="0"/>
              </a:rPr>
              <a:t> and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2000" dirty="0">
                <a:cs typeface="Courier New" panose="02070309020205020404" pitchFamily="49" charset="0"/>
              </a:rPr>
              <a:t>Are left to right associative</a:t>
            </a:r>
          </a:p>
          <a:p>
            <a:pPr marL="914400" lvl="2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count++-- </a:t>
            </a:r>
            <a:r>
              <a:rPr lang="en-US" altLang="en-US" sz="2000" dirty="0">
                <a:cs typeface="Courier New" panose="02070309020205020404" pitchFamily="49" charset="0"/>
              </a:rPr>
              <a:t>is equivalent to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(count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++)—</a:t>
            </a:r>
          </a:p>
          <a:p>
            <a:pPr marL="914400" lvl="2" indent="0" eaLnBrk="1" hangingPunct="1">
              <a:lnSpc>
                <a:spcPct val="90000"/>
              </a:lnSpc>
              <a:buNone/>
              <a:defRPr/>
            </a:pPr>
            <a:endParaRPr lang="en-US" altLang="en-US" sz="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 smtClean="0">
                <a:cs typeface="Courier New" panose="02070309020205020404" pitchFamily="49" charset="0"/>
              </a:rPr>
              <a:t>Prefix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en-US" altLang="en-US" dirty="0" smtClean="0">
                <a:cs typeface="Courier New" panose="02070309020205020404" pitchFamily="49" charset="0"/>
              </a:rPr>
              <a:t> and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altLang="en-US" dirty="0" smtClean="0">
                <a:cs typeface="Courier New" panose="02070309020205020404" pitchFamily="49" charset="0"/>
              </a:rPr>
              <a:t>, and unary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dirty="0" smtClean="0">
                <a:cs typeface="Courier New" panose="02070309020205020404" pitchFamily="49" charset="0"/>
              </a:rPr>
              <a:t> and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2000" dirty="0" smtClean="0">
                <a:cs typeface="Courier New" panose="02070309020205020404" pitchFamily="49" charset="0"/>
              </a:rPr>
              <a:t> </a:t>
            </a:r>
            <a:r>
              <a:rPr lang="en-US" altLang="en-US" sz="2000" dirty="0">
                <a:cs typeface="Courier New" panose="02070309020205020404" pitchFamily="49" charset="0"/>
              </a:rPr>
              <a:t>A</a:t>
            </a:r>
            <a:r>
              <a:rPr lang="en-US" altLang="en-US" sz="2000" dirty="0" smtClean="0">
                <a:cs typeface="Courier New" panose="02070309020205020404" pitchFamily="49" charset="0"/>
              </a:rPr>
              <a:t>re right to left associative</a:t>
            </a:r>
          </a:p>
          <a:p>
            <a:pPr marL="457200" lvl="1" indent="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2000" dirty="0" smtClean="0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-++count </a:t>
            </a:r>
            <a:r>
              <a:rPr lang="en-US" altLang="en-US" sz="2000" dirty="0" smtClean="0">
                <a:solidFill>
                  <a:srgbClr val="666699"/>
                </a:solidFill>
                <a:latin typeface="+mj-lt"/>
                <a:cs typeface="Courier New" panose="02070309020205020404" pitchFamily="49" charset="0"/>
              </a:rPr>
              <a:t>is equivalent to</a:t>
            </a:r>
            <a:r>
              <a:rPr lang="en-US" altLang="en-US" sz="2000" dirty="0" smtClean="0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-(++count)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A9BDDB32-F415-481C-B80D-0F95F71EEADF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Assignment Statements:</a:t>
            </a:r>
            <a:br>
              <a:rPr lang="en-US" altLang="en-US" sz="3200" smtClean="0"/>
            </a:br>
            <a:r>
              <a:rPr lang="en-US" altLang="en-US" sz="3200" smtClean="0"/>
              <a:t>Assignment as an Expression</a:t>
            </a:r>
          </a:p>
        </p:txBody>
      </p:sp>
      <p:sp>
        <p:nvSpPr>
          <p:cNvPr id="655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229600" cy="457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/>
              <a:t>In C-based languages, Perl, and JavaScript</a:t>
            </a:r>
          </a:p>
          <a:p>
            <a:pPr lvl="1" eaLnBrk="1" hangingPunct="1">
              <a:defRPr/>
            </a:pPr>
            <a:r>
              <a:rPr lang="en-US" altLang="en-US" dirty="0" smtClean="0"/>
              <a:t>An assignment statement produces a result</a:t>
            </a:r>
          </a:p>
          <a:p>
            <a:pPr lvl="1" eaLnBrk="1" hangingPunct="1">
              <a:defRPr/>
            </a:pPr>
            <a:r>
              <a:rPr lang="en-US" altLang="en-US" dirty="0" smtClean="0"/>
              <a:t>The result is the value that has been assigned</a:t>
            </a:r>
          </a:p>
          <a:p>
            <a:pPr lvl="1" eaLnBrk="1" hangingPunct="1">
              <a:defRPr/>
            </a:pPr>
            <a:r>
              <a:rPr lang="en-US" altLang="en-US" dirty="0" smtClean="0"/>
              <a:t>For example, the value of this assignment is 4</a:t>
            </a:r>
          </a:p>
          <a:p>
            <a:pPr marL="914400" lvl="2" indent="0" eaLnBrk="1" hangingPunct="1">
              <a:buFontTx/>
              <a:buNone/>
              <a:defRPr/>
            </a:pP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number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pPr marL="914400" lvl="2" indent="0" eaLnBrk="1" hangingPunct="1">
              <a:buFontTx/>
              <a:buNone/>
              <a:defRPr/>
            </a:pPr>
            <a:endParaRPr lang="en-US" altLang="en-US" sz="600" dirty="0" smtClean="0"/>
          </a:p>
          <a:p>
            <a:pPr lvl="1" eaLnBrk="1" hangingPunct="1">
              <a:defRPr/>
            </a:pPr>
            <a:r>
              <a:rPr lang="en-US" altLang="en-US" dirty="0" smtClean="0"/>
              <a:t>This means that</a:t>
            </a:r>
          </a:p>
          <a:p>
            <a:pPr lvl="2" eaLnBrk="1" hangingPunct="1">
              <a:defRPr/>
            </a:pPr>
            <a:r>
              <a:rPr lang="en-ZA" altLang="en-US" dirty="0"/>
              <a:t>An assignment can be used as an </a:t>
            </a:r>
            <a:r>
              <a:rPr lang="en-ZA" altLang="en-US" dirty="0" smtClean="0"/>
              <a:t>expression</a:t>
            </a:r>
          </a:p>
          <a:p>
            <a:pPr lvl="2" eaLnBrk="1" hangingPunct="1">
              <a:defRPr/>
            </a:pPr>
            <a:r>
              <a:rPr lang="en-ZA" altLang="en-US" dirty="0" smtClean="0"/>
              <a:t>An </a:t>
            </a:r>
            <a:r>
              <a:rPr lang="en-ZA" altLang="en-US" dirty="0"/>
              <a:t>assignment can be used as an </a:t>
            </a:r>
            <a:r>
              <a:rPr lang="en-ZA" altLang="en-US" dirty="0" smtClean="0"/>
              <a:t>operand</a:t>
            </a:r>
          </a:p>
          <a:p>
            <a:pPr lvl="3" eaLnBrk="1" hangingPunct="1">
              <a:defRPr/>
            </a:pPr>
            <a:r>
              <a:rPr lang="en-ZA" altLang="en-US" dirty="0" smtClean="0"/>
              <a:t>For example</a:t>
            </a:r>
          </a:p>
          <a:p>
            <a:pPr marL="1371600" lvl="3" indent="0" eaLnBrk="1" hangingPunct="1">
              <a:buNone/>
              <a:defRPr/>
            </a:pPr>
            <a:r>
              <a:rPr lang="en-ZA" altLang="en-US" dirty="0">
                <a:solidFill>
                  <a:srgbClr val="666699"/>
                </a:solidFill>
              </a:rPr>
              <a:t>	</a:t>
            </a:r>
            <a:r>
              <a:rPr lang="en-ZA" altLang="en-US" b="1" dirty="0" smtClean="0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ZA" altLang="en-US" dirty="0" smtClean="0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(a == (b = c)) { ... }</a:t>
            </a:r>
            <a:endParaRPr lang="en-US" altLang="en-US" dirty="0" smtClean="0">
              <a:solidFill>
                <a:srgbClr val="666699"/>
              </a:solidFill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CA896A76-C542-4310-B894-BD7A4022EBF3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Assignment Statements:</a:t>
            </a:r>
            <a:br>
              <a:rPr lang="en-US" altLang="en-US" sz="3200" smtClean="0"/>
            </a:br>
            <a:r>
              <a:rPr lang="en-US" altLang="en-US" sz="3200" smtClean="0"/>
              <a:t>Assignment as an Expression</a:t>
            </a:r>
          </a:p>
        </p:txBody>
      </p:sp>
      <p:sp>
        <p:nvSpPr>
          <p:cNvPr id="655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229600" cy="457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/>
              <a:t>In C-based languages, Perl, and JavaScript</a:t>
            </a:r>
          </a:p>
          <a:p>
            <a:pPr lvl="1" eaLnBrk="1" hangingPunct="1">
              <a:defRPr/>
            </a:pPr>
            <a:r>
              <a:rPr lang="en-US" altLang="en-US" dirty="0" smtClean="0"/>
              <a:t>Common example </a:t>
            </a:r>
            <a:r>
              <a:rPr lang="en-US" altLang="en-US" dirty="0"/>
              <a:t>of </a:t>
            </a:r>
            <a:r>
              <a:rPr lang="en-US" altLang="en-US" dirty="0" smtClean="0"/>
              <a:t>assignment </a:t>
            </a:r>
            <a:r>
              <a:rPr lang="en-US" altLang="en-US" dirty="0"/>
              <a:t>as an operand</a:t>
            </a:r>
            <a:endParaRPr lang="en-US" altLang="en-US" dirty="0" smtClean="0"/>
          </a:p>
          <a:p>
            <a:pPr marL="914400" lvl="2" indent="0" eaLnBrk="1" hangingPunct="1">
              <a:buFontTx/>
              <a:buNone/>
              <a:defRPr/>
            </a:pPr>
            <a:endParaRPr lang="en-US" altLang="en-US" sz="600" b="1" dirty="0" smtClean="0">
              <a:latin typeface="Courier New" panose="02070309020205020404" pitchFamily="49" charset="0"/>
            </a:endParaRPr>
          </a:p>
          <a:p>
            <a:pPr marL="914400" lvl="2" indent="0" eaLnBrk="1" hangingPunct="1">
              <a:buFontTx/>
              <a:buNone/>
              <a:defRPr/>
            </a:pPr>
            <a:r>
              <a:rPr lang="en-US" altLang="en-US" b="1" dirty="0" smtClean="0">
                <a:latin typeface="Courier New" panose="02070309020205020404" pitchFamily="49" charset="0"/>
              </a:rPr>
              <a:t>   while</a:t>
            </a:r>
            <a:r>
              <a:rPr lang="en-US" altLang="en-US" dirty="0" smtClean="0">
                <a:latin typeface="Courier New" panose="02070309020205020404" pitchFamily="49" charset="0"/>
              </a:rPr>
              <a:t> </a:t>
            </a:r>
            <a:r>
              <a:rPr lang="en-US" altLang="en-US" dirty="0" smtClean="0">
                <a:latin typeface="Courier New" panose="02070309020205020404" pitchFamily="49" charset="0"/>
              </a:rPr>
              <a:t>((</a:t>
            </a:r>
            <a:r>
              <a:rPr lang="en-US" altLang="en-US" dirty="0" err="1" smtClean="0">
                <a:latin typeface="Courier New" panose="02070309020205020404" pitchFamily="49" charset="0"/>
              </a:rPr>
              <a:t>ch</a:t>
            </a:r>
            <a:r>
              <a:rPr lang="en-US" altLang="en-US" dirty="0" smtClean="0">
                <a:latin typeface="Courier New" panose="02070309020205020404" pitchFamily="49" charset="0"/>
              </a:rPr>
              <a:t> = </a:t>
            </a:r>
            <a:r>
              <a:rPr lang="en-US" altLang="en-US" dirty="0" err="1" smtClean="0">
                <a:latin typeface="Courier New" panose="02070309020205020404" pitchFamily="49" charset="0"/>
              </a:rPr>
              <a:t>getchar</a:t>
            </a:r>
            <a:r>
              <a:rPr lang="en-US" altLang="en-US" dirty="0" smtClean="0">
                <a:latin typeface="Courier New" panose="02070309020205020404" pitchFamily="49" charset="0"/>
              </a:rPr>
              <a:t>())!= EOF){</a:t>
            </a:r>
            <a:r>
              <a:rPr lang="en-US" altLang="en-US" dirty="0">
                <a:cs typeface="Courier New" panose="02070309020205020404" pitchFamily="49" charset="0"/>
              </a:rPr>
              <a:t> </a:t>
            </a:r>
            <a:r>
              <a:rPr lang="en-US" altLang="en-US" dirty="0" smtClean="0">
                <a:cs typeface="Courier New" panose="02070309020205020404" pitchFamily="49" charset="0"/>
              </a:rPr>
              <a:t>... </a:t>
            </a:r>
            <a:r>
              <a:rPr lang="en-US" altLang="en-US" dirty="0" smtClean="0">
                <a:latin typeface="Courier New" panose="02070309020205020404" pitchFamily="49" charset="0"/>
              </a:rPr>
              <a:t>}</a:t>
            </a:r>
          </a:p>
          <a:p>
            <a:pPr marL="914400" lvl="2" indent="0" eaLnBrk="1" hangingPunct="1">
              <a:buFontTx/>
              <a:buNone/>
              <a:defRPr/>
            </a:pPr>
            <a:endParaRPr lang="en-US" altLang="en-US" sz="600" dirty="0" smtClean="0"/>
          </a:p>
          <a:p>
            <a:pPr lvl="2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dirty="0" err="1" smtClean="0">
                <a:latin typeface="Courier New" panose="02070309020205020404" pitchFamily="49" charset="0"/>
              </a:rPr>
              <a:t>ch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= 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getchar</a:t>
            </a:r>
            <a:r>
              <a:rPr lang="en-US" altLang="en-US" sz="2000" dirty="0" smtClean="0">
                <a:latin typeface="Courier New" panose="02070309020205020404" pitchFamily="49" charset="0"/>
              </a:rPr>
              <a:t>()</a:t>
            </a:r>
            <a:r>
              <a:rPr lang="en-US" altLang="en-US" sz="2000" b="1" dirty="0" smtClean="0"/>
              <a:t> </a:t>
            </a:r>
            <a:r>
              <a:rPr lang="en-US" altLang="en-US" sz="2000" dirty="0" smtClean="0"/>
              <a:t>reads input character, assigns it to </a:t>
            </a:r>
            <a:r>
              <a:rPr lang="en-US" alt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endParaRPr lang="en-US" alt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dirty="0" smtClean="0"/>
              <a:t>The value assigned to </a:t>
            </a:r>
            <a:r>
              <a:rPr lang="en-US" alt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lang="en-US" altLang="en-US" sz="2000" dirty="0" smtClean="0">
                <a:latin typeface="+mj-lt"/>
                <a:cs typeface="Courier New" panose="02070309020205020404" pitchFamily="49" charset="0"/>
              </a:rPr>
              <a:t> is the assignment’s result</a:t>
            </a:r>
            <a:endParaRPr lang="en-US" altLang="en-US" sz="2000" dirty="0" smtClean="0">
              <a:latin typeface="+mj-lt"/>
            </a:endParaRPr>
          </a:p>
          <a:p>
            <a:pPr lvl="2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dirty="0" smtClean="0"/>
              <a:t>Assignment’s result is compared to the EOF character</a:t>
            </a:r>
          </a:p>
          <a:p>
            <a:pPr lvl="1" eaLnBrk="1" hangingPunct="1">
              <a:defRPr/>
            </a:pPr>
            <a:r>
              <a:rPr lang="en-US" altLang="en-US" dirty="0" smtClean="0"/>
              <a:t>Problems</a:t>
            </a:r>
            <a:endParaRPr lang="en-US" altLang="en-US" dirty="0"/>
          </a:p>
          <a:p>
            <a:pPr lvl="2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dirty="0" smtClean="0"/>
              <a:t>Reduces error detection if  </a:t>
            </a:r>
            <a:r>
              <a:rPr lang="en-US" altLang="en-US" sz="2000" dirty="0" smtClean="0">
                <a:latin typeface="Courier New" panose="02070309020205020404" pitchFamily="49" charset="0"/>
              </a:rPr>
              <a:t>==</a:t>
            </a:r>
            <a:r>
              <a:rPr lang="en-US" altLang="en-US" sz="2000" dirty="0" smtClean="0"/>
              <a:t>  is mistyped as  </a:t>
            </a:r>
            <a:r>
              <a:rPr lang="en-US" altLang="en-US" sz="2000" dirty="0" smtClean="0">
                <a:latin typeface="Courier New" panose="02070309020205020404" pitchFamily="49" charset="0"/>
              </a:rPr>
              <a:t>=</a:t>
            </a:r>
          </a:p>
          <a:p>
            <a:pPr lvl="3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1900" dirty="0" smtClean="0"/>
              <a:t>For example,</a:t>
            </a:r>
            <a:r>
              <a:rPr lang="en-US" altLang="en-US" sz="1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900" b="1" dirty="0" smtClean="0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en-US" sz="1900" dirty="0" smtClean="0">
                <a:solidFill>
                  <a:srgbClr val="6666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(x = y) { ... }</a:t>
            </a:r>
            <a:r>
              <a:rPr lang="en-US" altLang="en-US" sz="1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900" dirty="0" smtClean="0">
                <a:latin typeface="+mj-lt"/>
                <a:cs typeface="Courier New" panose="02070309020205020404" pitchFamily="49" charset="0"/>
              </a:rPr>
              <a:t>is valid</a:t>
            </a:r>
            <a:endParaRPr lang="en-US" altLang="en-US" sz="1900" dirty="0" smtClean="0"/>
          </a:p>
          <a:p>
            <a:pPr lvl="2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dirty="0" smtClean="0"/>
              <a:t>Assignment can cause a </a:t>
            </a:r>
            <a:r>
              <a:rPr lang="en-US" altLang="en-US" sz="2000" dirty="0"/>
              <a:t>side </a:t>
            </a:r>
            <a:r>
              <a:rPr lang="en-US" altLang="en-US" sz="2000" dirty="0" smtClean="0"/>
              <a:t>effect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 lvl="3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1800" dirty="0" smtClean="0"/>
              <a:t>Recall operators cause </a:t>
            </a:r>
            <a:r>
              <a:rPr lang="en-US" altLang="en-US" sz="1800" dirty="0"/>
              <a:t>side effects by changing </a:t>
            </a:r>
            <a:r>
              <a:rPr lang="en-US" altLang="en-US" sz="1800" dirty="0" smtClean="0"/>
              <a:t>operands</a:t>
            </a:r>
          </a:p>
          <a:p>
            <a:pPr lvl="3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1800" dirty="0" smtClean="0"/>
              <a:t>How is a side effect caused in the first example?</a:t>
            </a:r>
            <a:endParaRPr lang="en-US" altLang="en-US" sz="1800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8A51566E-80F2-4C8F-B1E8-D267C1C2073F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68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Assignment Statements:</a:t>
            </a:r>
            <a:br>
              <a:rPr lang="en-US" altLang="en-US" sz="3200" smtClean="0"/>
            </a:br>
            <a:r>
              <a:rPr lang="en-US" altLang="en-US" sz="3200" smtClean="0"/>
              <a:t>Multiple Assignments</a:t>
            </a:r>
          </a:p>
        </p:txBody>
      </p:sp>
      <p:sp>
        <p:nvSpPr>
          <p:cNvPr id="716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97025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Perl, Ruby, and </a:t>
            </a:r>
            <a:r>
              <a:rPr lang="en-US" altLang="en-US" dirty="0" err="1" smtClean="0"/>
              <a:t>Lua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Multiple-target multiple-source assignments</a:t>
            </a:r>
          </a:p>
          <a:p>
            <a:pPr eaLnBrk="1" hangingPunct="1"/>
            <a:r>
              <a:rPr lang="en-US" altLang="en-US" dirty="0" smtClean="0"/>
              <a:t>For </a:t>
            </a:r>
            <a:r>
              <a:rPr lang="en-US" altLang="en-US" dirty="0" smtClean="0"/>
              <a:t>example, in Perl</a:t>
            </a:r>
            <a:endParaRPr lang="en-US" altLang="en-US" dirty="0" smtClean="0"/>
          </a:p>
          <a:p>
            <a:pPr eaLnBrk="1" hangingPunct="1">
              <a:buFontTx/>
              <a:buNone/>
            </a:pPr>
            <a:r>
              <a:rPr lang="en-US" altLang="en-US" sz="2000" b="1" dirty="0" smtClean="0">
                <a:latin typeface="Courier New" panose="02070309020205020404" pitchFamily="49" charset="0"/>
              </a:rPr>
              <a:t>	  </a:t>
            </a:r>
            <a:r>
              <a:rPr lang="en-US" altLang="en-US" sz="2000" dirty="0" smtClean="0">
                <a:latin typeface="Courier New" panose="02070309020205020404" pitchFamily="49" charset="0"/>
              </a:rPr>
              <a:t>($first, $second, $third) = (20, 30, 40);</a:t>
            </a:r>
            <a:endParaRPr lang="en-US" altLang="en-US" dirty="0" smtClean="0"/>
          </a:p>
          <a:p>
            <a:pPr eaLnBrk="1" hangingPunct="1"/>
            <a:r>
              <a:rPr lang="en-US" altLang="en-US" dirty="0" smtClean="0"/>
              <a:t>Even allows an easy swap of variable values!</a:t>
            </a:r>
          </a:p>
          <a:p>
            <a:pPr eaLnBrk="1" hangingPunct="1"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	  ($first, $second) = ($second, $first);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As we’ve seen, in functional languages</a:t>
            </a:r>
          </a:p>
          <a:p>
            <a:pPr lvl="1"/>
            <a:r>
              <a:rPr lang="en-US" altLang="en-US" dirty="0" smtClean="0"/>
              <a:t>Identifiers are only names for values</a:t>
            </a:r>
          </a:p>
          <a:p>
            <a:r>
              <a:rPr lang="en-US" altLang="en-US" dirty="0" smtClean="0"/>
              <a:t>In ML</a:t>
            </a:r>
          </a:p>
          <a:p>
            <a:pPr lvl="1"/>
            <a:r>
              <a:rPr lang="en-US" altLang="en-US" dirty="0" smtClean="0"/>
              <a:t>Names are bound to values with </a:t>
            </a:r>
            <a:r>
              <a:rPr lang="en-US" alt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endParaRPr lang="en-US" altLang="en-US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Tx/>
              <a:buNone/>
            </a:pPr>
            <a:r>
              <a:rPr lang="en-US" alt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alt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fruit = apples + oranges;</a:t>
            </a:r>
          </a:p>
          <a:p>
            <a:pPr lvl="1">
              <a:buFontTx/>
              <a:buChar char="-"/>
            </a:pPr>
            <a:r>
              <a:rPr lang="en-US" altLang="en-US" dirty="0" smtClean="0"/>
              <a:t>If another </a:t>
            </a:r>
            <a:r>
              <a:rPr lang="en-US" alt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en-US" dirty="0" smtClean="0"/>
              <a:t> for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fruit</a:t>
            </a:r>
            <a:r>
              <a:rPr lang="en-US" altLang="en-US" dirty="0" smtClean="0"/>
              <a:t> follows</a:t>
            </a:r>
          </a:p>
          <a:p>
            <a:pPr lvl="2"/>
            <a:r>
              <a:rPr lang="en-US" altLang="en-US" dirty="0" smtClean="0"/>
              <a:t>It is a new name, and the previous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fruit</a:t>
            </a:r>
            <a:r>
              <a:rPr lang="en-US" altLang="en-US" dirty="0" smtClean="0"/>
              <a:t> is hidden</a:t>
            </a:r>
          </a:p>
          <a:p>
            <a:r>
              <a:rPr lang="en-US" altLang="en-US" dirty="0" smtClean="0"/>
              <a:t>In F#</a:t>
            </a:r>
          </a:p>
          <a:p>
            <a:pPr lvl="1"/>
            <a:r>
              <a:rPr lang="en-US" altLang="en-US" dirty="0" smtClean="0"/>
              <a:t>The F# </a:t>
            </a:r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altLang="en-US" dirty="0" smtClean="0"/>
              <a:t> is like </a:t>
            </a:r>
            <a:r>
              <a:rPr lang="en-US" alt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altLang="en-US" dirty="0" smtClean="0"/>
              <a:t> in ML</a:t>
            </a:r>
          </a:p>
          <a:p>
            <a:pPr lvl="1"/>
            <a:r>
              <a:rPr lang="en-US" altLang="en-US" dirty="0" smtClean="0"/>
              <a:t>However, </a:t>
            </a:r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altLang="en-US" dirty="0" smtClean="0"/>
              <a:t> also creates a new scope</a:t>
            </a:r>
          </a:p>
          <a:p>
            <a:pPr lvl="1">
              <a:buFontTx/>
              <a:buChar char="-"/>
            </a:pPr>
            <a:endParaRPr lang="en-US" altLang="en-US" dirty="0" smtClean="0"/>
          </a:p>
        </p:txBody>
      </p:sp>
      <p:sp>
        <p:nvSpPr>
          <p:cNvPr id="73731" name="Title 2"/>
          <p:cNvSpPr>
            <a:spLocks noGrp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r>
              <a:rPr lang="en-US" altLang="en-US" sz="3200" smtClean="0"/>
              <a:t>Assignment Statements:</a:t>
            </a:r>
            <a:br>
              <a:rPr lang="en-US" altLang="en-US" sz="3200" smtClean="0"/>
            </a:br>
            <a:r>
              <a:rPr lang="en-US" altLang="en-US" sz="3200" smtClean="0"/>
              <a:t>Assignment in Functional Languages</a:t>
            </a:r>
          </a:p>
        </p:txBody>
      </p:sp>
      <p:sp>
        <p:nvSpPr>
          <p:cNvPr id="7373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814579AF-FD0D-4725-9177-DA97F2521624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3CC4DAEA-768A-4A8F-8B36-D380849ABD29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475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Assignment Statements:</a:t>
            </a:r>
            <a:br>
              <a:rPr lang="en-US" altLang="en-US" sz="3200" smtClean="0"/>
            </a:br>
            <a:r>
              <a:rPr lang="en-US" altLang="en-US" sz="3200" smtClean="0"/>
              <a:t>Mixed-Mode Assignment</a:t>
            </a:r>
          </a:p>
        </p:txBody>
      </p:sp>
      <p:sp>
        <p:nvSpPr>
          <p:cNvPr id="624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71625"/>
            <a:ext cx="8153400" cy="4800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latin typeface="+mj-lt"/>
              </a:rPr>
              <a:t>Assignments can also be mixed-mode</a:t>
            </a:r>
          </a:p>
          <a:p>
            <a:pPr lvl="1" eaLnBrk="1" hangingPunct="1">
              <a:defRPr/>
            </a:pPr>
            <a:r>
              <a:rPr lang="en-US" altLang="en-US" dirty="0" smtClean="0">
                <a:latin typeface="+mj-lt"/>
                <a:cs typeface="Courier New" panose="02070309020205020404" pitchFamily="49" charset="0"/>
              </a:rPr>
              <a:t>Right and left operands have different types</a:t>
            </a:r>
          </a:p>
          <a:p>
            <a:pPr lvl="1" eaLnBrk="1" hangingPunct="1">
              <a:defRPr/>
            </a:pPr>
            <a:r>
              <a:rPr lang="en-US" altLang="en-US" dirty="0" smtClean="0">
                <a:latin typeface="+mj-lt"/>
                <a:cs typeface="Courier New" panose="02070309020205020404" pitchFamily="49" charset="0"/>
              </a:rPr>
              <a:t>Can assign value of different type than variable</a:t>
            </a:r>
          </a:p>
          <a:p>
            <a:pPr eaLnBrk="1" hangingPunct="1">
              <a:defRPr/>
            </a:pPr>
            <a:r>
              <a:rPr lang="en-US" altLang="en-US" dirty="0" smtClean="0">
                <a:latin typeface="+mj-lt"/>
              </a:rPr>
              <a:t>In</a:t>
            </a:r>
            <a:r>
              <a:rPr lang="en-US" altLang="en-US" dirty="0" smtClean="0"/>
              <a:t> Fortran, C, C++, and Perl</a:t>
            </a:r>
          </a:p>
          <a:p>
            <a:pPr lvl="1" eaLnBrk="1" hangingPunct="1">
              <a:defRPr/>
            </a:pPr>
            <a:r>
              <a:rPr lang="en-US" altLang="en-US" dirty="0" smtClean="0"/>
              <a:t>Coercion rules allow assignments</a:t>
            </a:r>
          </a:p>
          <a:p>
            <a:pPr lvl="2" eaLnBrk="1" hangingPunct="1">
              <a:defRPr/>
            </a:pPr>
            <a:r>
              <a:rPr lang="en-US" altLang="en-US" dirty="0" smtClean="0"/>
              <a:t>From any numeric type value</a:t>
            </a:r>
          </a:p>
          <a:p>
            <a:pPr lvl="2" eaLnBrk="1" hangingPunct="1">
              <a:defRPr/>
            </a:pPr>
            <a:r>
              <a:rPr lang="en-US" altLang="en-US" dirty="0" smtClean="0"/>
              <a:t>To any numeric type variable</a:t>
            </a:r>
          </a:p>
          <a:p>
            <a:pPr lvl="1" eaLnBrk="1" hangingPunct="1">
              <a:defRPr/>
            </a:pPr>
            <a:r>
              <a:rPr lang="en-US" altLang="en-US" dirty="0" smtClean="0"/>
              <a:t>What problem can this cause?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C62C65AB-3F2F-4B65-A354-436550232139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680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Assignment Statements:</a:t>
            </a:r>
            <a:br>
              <a:rPr lang="en-US" altLang="en-US" sz="3200" smtClean="0"/>
            </a:br>
            <a:r>
              <a:rPr lang="en-US" altLang="en-US" sz="3200" smtClean="0"/>
              <a:t>Mixed-Mode Assignment</a:t>
            </a:r>
          </a:p>
        </p:txBody>
      </p:sp>
      <p:sp>
        <p:nvSpPr>
          <p:cNvPr id="768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71625"/>
            <a:ext cx="8458200" cy="48006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In Java and C#</a:t>
            </a:r>
          </a:p>
          <a:p>
            <a:pPr lvl="1" eaLnBrk="1" hangingPunct="1"/>
            <a:r>
              <a:rPr lang="en-US" altLang="en-US" dirty="0" smtClean="0"/>
              <a:t>Only widening assignment coercions are done</a:t>
            </a:r>
          </a:p>
          <a:p>
            <a:pPr lvl="1" eaLnBrk="1" hangingPunct="1"/>
            <a:r>
              <a:rPr lang="en-US" altLang="en-US" dirty="0" smtClean="0"/>
              <a:t>Why is this safer than Fortran, C, C++, and Perl?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248400"/>
            <a:ext cx="4191000" cy="457200"/>
          </a:xfrm>
        </p:spPr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2023 </a:t>
            </a:r>
            <a:r>
              <a:rPr lang="en-US" dirty="0"/>
              <a:t>Addison-Wesley.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sebesta">
  <a:themeElements>
    <a:clrScheme name="1_sebes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sebesta">
      <a:majorFont>
        <a:latin typeface="Lucida Sans Unicode"/>
        <a:ea typeface=""/>
        <a:cs typeface="Lucida Sans Unicode"/>
      </a:majorFont>
      <a:minorFont>
        <a:latin typeface="Lucida Sans Unicode"/>
        <a:ea typeface="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1_sebes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sebesta2</Template>
  <TotalTime>4391</TotalTime>
  <Words>1273</Words>
  <Application>Microsoft Office PowerPoint</Application>
  <PresentationFormat>On-screen Show (4:3)</PresentationFormat>
  <Paragraphs>241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Courier</vt:lpstr>
      <vt:lpstr>Courier New</vt:lpstr>
      <vt:lpstr>Lucida Sans Unicode</vt:lpstr>
      <vt:lpstr>Times</vt:lpstr>
      <vt:lpstr>1_sebesta</vt:lpstr>
      <vt:lpstr>Chapter 7 Part 2</vt:lpstr>
      <vt:lpstr>Chapter 7 Topics</vt:lpstr>
      <vt:lpstr>Relational and Boolean Expressions: Relational Expressions</vt:lpstr>
      <vt:lpstr>Relational and Boolean Expressions: No Boolean Type in C</vt:lpstr>
      <vt:lpstr>Short Circuit Evaluation</vt:lpstr>
      <vt:lpstr>Short Circuit Evaluation</vt:lpstr>
      <vt:lpstr>Short Circuit Evaluation</vt:lpstr>
      <vt:lpstr>Assignment Statements</vt:lpstr>
      <vt:lpstr>Assignment Statements</vt:lpstr>
      <vt:lpstr>Assignment Statements: Conditional Targets</vt:lpstr>
      <vt:lpstr>Assignment Statements: Compound Assignment Operators</vt:lpstr>
      <vt:lpstr>Assignment Statements: Unary Assignment Operators</vt:lpstr>
      <vt:lpstr>Assignment Statements: Assignment as an Expression</vt:lpstr>
      <vt:lpstr>Assignment Statements: Assignment as an Expression</vt:lpstr>
      <vt:lpstr>Assignment Statements: Multiple Assignments</vt:lpstr>
      <vt:lpstr>Assignment Statements: Assignment in Functional Languages</vt:lpstr>
      <vt:lpstr>Assignment Statements: Mixed-Mode Assignment</vt:lpstr>
      <vt:lpstr>Assignment Statements: Mixed-Mode Assignment</vt:lpstr>
    </vt:vector>
  </TitlesOfParts>
  <Company>Pearson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David Garrett</dc:creator>
  <cp:lastModifiedBy>Willem S. van Heerden</cp:lastModifiedBy>
  <cp:revision>362</cp:revision>
  <dcterms:created xsi:type="dcterms:W3CDTF">2003-08-01T12:29:19Z</dcterms:created>
  <dcterms:modified xsi:type="dcterms:W3CDTF">2026-04-27T21:36:27Z</dcterms:modified>
</cp:coreProperties>
</file>