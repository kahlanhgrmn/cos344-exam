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22"/>
  </p:notesMasterIdLst>
  <p:handoutMasterIdLst>
    <p:handoutMasterId r:id="rId23"/>
  </p:handoutMasterIdLst>
  <p:sldIdLst>
    <p:sldId id="331" r:id="rId2"/>
    <p:sldId id="258" r:id="rId3"/>
    <p:sldId id="332" r:id="rId4"/>
    <p:sldId id="333" r:id="rId5"/>
    <p:sldId id="334" r:id="rId6"/>
    <p:sldId id="335" r:id="rId7"/>
    <p:sldId id="336" r:id="rId8"/>
    <p:sldId id="338" r:id="rId9"/>
    <p:sldId id="339" r:id="rId10"/>
    <p:sldId id="372" r:id="rId11"/>
    <p:sldId id="340" r:id="rId12"/>
    <p:sldId id="341" r:id="rId13"/>
    <p:sldId id="326" r:id="rId14"/>
    <p:sldId id="342" r:id="rId15"/>
    <p:sldId id="343" r:id="rId16"/>
    <p:sldId id="344" r:id="rId17"/>
    <p:sldId id="345" r:id="rId18"/>
    <p:sldId id="346" r:id="rId19"/>
    <p:sldId id="374" r:id="rId20"/>
    <p:sldId id="347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91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EFF0E-E4D9-4756-83FD-DC88D9DE75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892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D1A5603-CFB2-494A-964E-95B4127475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175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F317006-9252-4F01-9F7E-62078E751D5F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160624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2226CF7-001B-4F15-85EC-C0DBB46FD30E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004" tIns="45002" rIns="90004" bIns="45002"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8506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AA067C4-F195-4500-8A40-AAA279A5CC35}" type="slidenum">
              <a:rPr lang="en-US" altLang="en-US" sz="1300" smtClean="0"/>
              <a:pPr/>
              <a:t>3</a:t>
            </a:fld>
            <a:endParaRPr lang="en-US" altLang="en-US" sz="1300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To</a:t>
            </a:r>
            <a:r>
              <a:rPr lang="en-GB" altLang="en-US" baseline="0" dirty="0" smtClean="0"/>
              <a:t> use a </a:t>
            </a:r>
            <a:r>
              <a:rPr lang="en-GB" altLang="en-US" baseline="0" dirty="0" err="1" smtClean="0"/>
              <a:t>goto</a:t>
            </a:r>
            <a:r>
              <a:rPr lang="en-GB" altLang="en-US" baseline="0" dirty="0" smtClean="0"/>
              <a:t> statement, you have to provide a statement label where you want control to jump to. The</a:t>
            </a:r>
            <a:r>
              <a:rPr lang="en-GB" altLang="en-US" dirty="0" smtClean="0"/>
              <a:t> </a:t>
            </a:r>
            <a:r>
              <a:rPr lang="en-GB" altLang="en-US" dirty="0" err="1" smtClean="0"/>
              <a:t>goto</a:t>
            </a:r>
            <a:r>
              <a:rPr lang="en-GB" altLang="en-US" dirty="0" smtClean="0"/>
              <a:t> statement then includes this statement label. When execution reaches the </a:t>
            </a:r>
            <a:r>
              <a:rPr lang="en-GB" altLang="en-US" dirty="0" err="1" smtClean="0"/>
              <a:t>goto</a:t>
            </a:r>
            <a:r>
              <a:rPr lang="en-GB" altLang="en-US" dirty="0" smtClean="0"/>
              <a:t> statement, control immediately</a:t>
            </a:r>
            <a:r>
              <a:rPr lang="en-GB" altLang="en-US" baseline="0" dirty="0" smtClean="0"/>
              <a:t> jumps to statement label.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9450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CBB69B0-ECFA-402C-ADE3-5BF4C264B83E}" type="slidenum">
              <a:rPr lang="en-US" altLang="en-US" sz="1300" smtClean="0"/>
              <a:pPr/>
              <a:t>4</a:t>
            </a:fld>
            <a:endParaRPr lang="en-US" altLang="en-US" sz="1300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856759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00F36BA-F0E8-4AAB-8307-B58DB1D01ED3}" type="slidenum">
              <a:rPr lang="en-US" altLang="en-US" sz="1300" smtClean="0"/>
              <a:pPr/>
              <a:t>5</a:t>
            </a:fld>
            <a:endParaRPr lang="en-US" altLang="en-US" sz="130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473129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1FB4F0B-AEB3-4BFF-AB66-B71A9CC3516B}" type="slidenum">
              <a:rPr lang="en-US" altLang="en-US" sz="1300" smtClean="0"/>
              <a:pPr/>
              <a:t>6</a:t>
            </a:fld>
            <a:endParaRPr lang="en-US" altLang="en-US" sz="1300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654674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0B719737-1F1B-4FE0-853A-6B5ECFA72124}" type="slidenum">
              <a:rPr lang="en-US" altLang="en-US" sz="1300" smtClean="0"/>
              <a:pPr/>
              <a:t>7</a:t>
            </a:fld>
            <a:endParaRPr lang="en-US" altLang="en-US" sz="1300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Note that parentheses are not required if</a:t>
            </a:r>
            <a:r>
              <a:rPr lang="en-GB" altLang="en-US" baseline="0" dirty="0" smtClean="0"/>
              <a:t> a then special word is used to introduce the then clause. Why is this?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7146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B03BA93-2420-4858-840B-0262E98FE453}" type="slidenum">
              <a:rPr lang="en-US" altLang="en-US" sz="1300" smtClean="0"/>
              <a:pPr/>
              <a:t>8</a:t>
            </a:fld>
            <a:endParaRPr lang="en-US" altLang="en-US" sz="130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Which effects does this approach have on the programming language evaluation criteria?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86800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10590DD-BF8B-45F6-8108-8FB9E005F173}" type="slidenum">
              <a:rPr lang="en-US" altLang="en-US" sz="1300" smtClean="0"/>
              <a:pPr/>
              <a:t>9</a:t>
            </a:fld>
            <a:endParaRPr lang="en-US" altLang="en-US" sz="130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925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10590DD-BF8B-45F6-8108-8FB9E005F173}" type="slidenum">
              <a:rPr lang="en-US" altLang="en-US" sz="1300" smtClean="0"/>
              <a:pPr/>
              <a:t>10</a:t>
            </a:fld>
            <a:endParaRPr lang="en-US" altLang="en-US" sz="130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/>
              <a:t>Which effects does this approach have on the programming language evaluation criteria?</a:t>
            </a:r>
          </a:p>
        </p:txBody>
      </p:sp>
    </p:spTree>
    <p:extLst>
      <p:ext uri="{BB962C8B-B14F-4D97-AF65-F5344CB8AC3E}">
        <p14:creationId xmlns:p14="http://schemas.microsoft.com/office/powerpoint/2010/main" val="2939139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A6D85B8-4523-4AF2-9BD5-F1264385ABF3}" type="slidenum">
              <a:rPr lang="en-US" altLang="en-US" sz="1300" smtClean="0"/>
              <a:pPr/>
              <a:t>11</a:t>
            </a:fld>
            <a:endParaRPr lang="en-US" altLang="en-US" sz="130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/>
              <a:t>Which effects does this approach have on the programming language evaluation criteria?</a:t>
            </a:r>
          </a:p>
        </p:txBody>
      </p:sp>
    </p:spTree>
    <p:extLst>
      <p:ext uri="{BB962C8B-B14F-4D97-AF65-F5344CB8AC3E}">
        <p14:creationId xmlns:p14="http://schemas.microsoft.com/office/powerpoint/2010/main" val="2849670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E21F7F3-7D54-446F-AFAD-CCBD0D0499BA}" type="slidenum">
              <a:rPr lang="en-US" altLang="en-US" sz="1300" smtClean="0"/>
              <a:pPr/>
              <a:t>12</a:t>
            </a:fld>
            <a:endParaRPr lang="en-US" altLang="en-US" sz="130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/>
              <a:t>Which effects does this approach have on the programming language evaluation criteria?</a:t>
            </a:r>
          </a:p>
        </p:txBody>
      </p:sp>
    </p:spTree>
    <p:extLst>
      <p:ext uri="{BB962C8B-B14F-4D97-AF65-F5344CB8AC3E}">
        <p14:creationId xmlns:p14="http://schemas.microsoft.com/office/powerpoint/2010/main" val="813754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ZA" altLang="en-US" dirty="0" smtClean="0"/>
              <a:t>More specifically, if there is no else clause, the if yields a unit value (this is similar to a null value). The then and else clauses must have matching types, which means the then clause</a:t>
            </a:r>
            <a:r>
              <a:rPr lang="en-ZA" altLang="en-US" baseline="0" dirty="0" smtClean="0"/>
              <a:t> must also yield a unit value. This is typically not useful in a practical setting.</a:t>
            </a:r>
          </a:p>
          <a:p>
            <a:endParaRPr lang="en-ZA" altLang="en-US" baseline="0" dirty="0" smtClean="0"/>
          </a:p>
          <a:p>
            <a:r>
              <a:rPr lang="en-ZA" altLang="en-US" baseline="0" dirty="0" smtClean="0"/>
              <a:t>Lisp has similar behaviour. A missing else causes the if to yield a nil value.</a:t>
            </a:r>
            <a:endParaRPr lang="en-ZA" altLang="en-US" dirty="0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865BEBB-EB08-402D-97F6-2F5BB754A629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37525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4172951-F888-41FE-8B1B-388481D65545}" type="slidenum">
              <a:rPr lang="en-US" altLang="en-US" sz="1300" smtClean="0"/>
              <a:pPr/>
              <a:t>15</a:t>
            </a:fld>
            <a:endParaRPr lang="en-US" altLang="en-US" sz="13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445314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5C4B671-A835-49C8-967C-A8F689CB0DF9}" type="slidenum">
              <a:rPr lang="en-US" altLang="en-US" sz="1300" smtClean="0"/>
              <a:pPr/>
              <a:t>17</a:t>
            </a:fld>
            <a:endParaRPr lang="en-US" altLang="en-US" sz="130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A break has the same syntax and semantics as a break in a C++ or Java switch statement.</a:t>
            </a:r>
          </a:p>
          <a:p>
            <a:pPr eaLnBrk="1" hangingPunct="1"/>
            <a:endParaRPr lang="en-GB" altLang="en-US" dirty="0" smtClean="0"/>
          </a:p>
          <a:p>
            <a:pPr eaLnBrk="1" hangingPunct="1"/>
            <a:r>
              <a:rPr lang="en-GB" altLang="en-US" dirty="0" smtClean="0"/>
              <a:t>A </a:t>
            </a:r>
            <a:r>
              <a:rPr lang="en-GB" altLang="en-US" dirty="0" err="1" smtClean="0"/>
              <a:t>goto</a:t>
            </a:r>
            <a:r>
              <a:rPr lang="en-GB" altLang="en-US" dirty="0" smtClean="0"/>
              <a:t> needs a case label to which control is passed. For example:</a:t>
            </a:r>
          </a:p>
          <a:p>
            <a:pPr eaLnBrk="1" hangingPunct="1"/>
            <a:endParaRPr lang="en-GB" altLang="en-US" dirty="0" smtClean="0"/>
          </a:p>
          <a:p>
            <a:pPr eaLnBrk="1" hangingPunct="1"/>
            <a:r>
              <a:rPr lang="en-ZA" altLang="en-US" dirty="0" smtClean="0"/>
              <a:t>switch (n)</a:t>
            </a:r>
          </a:p>
          <a:p>
            <a:pPr eaLnBrk="1" hangingPunct="1"/>
            <a:r>
              <a:rPr lang="en-ZA" altLang="en-US" dirty="0" smtClean="0"/>
              <a:t>{</a:t>
            </a:r>
          </a:p>
          <a:p>
            <a:pPr eaLnBrk="1" hangingPunct="1"/>
            <a:r>
              <a:rPr lang="en-ZA" altLang="en-US" dirty="0" smtClean="0"/>
              <a:t>   case 0:</a:t>
            </a:r>
          </a:p>
          <a:p>
            <a:pPr eaLnBrk="1" hangingPunct="1"/>
            <a:r>
              <a:rPr lang="en-ZA" altLang="en-US" dirty="0" smtClean="0"/>
              <a:t>   case 1:</a:t>
            </a:r>
          </a:p>
          <a:p>
            <a:pPr eaLnBrk="1" hangingPunct="1"/>
            <a:r>
              <a:rPr lang="en-ZA" altLang="en-US" dirty="0" smtClean="0"/>
              <a:t>      cost += 25;</a:t>
            </a:r>
          </a:p>
          <a:p>
            <a:pPr eaLnBrk="1" hangingPunct="1"/>
            <a:r>
              <a:rPr lang="en-ZA" altLang="en-US" dirty="0" smtClean="0"/>
              <a:t>      break;</a:t>
            </a:r>
          </a:p>
          <a:p>
            <a:pPr eaLnBrk="1" hangingPunct="1"/>
            <a:r>
              <a:rPr lang="en-ZA" altLang="en-US" dirty="0" smtClean="0"/>
              <a:t>   case 2:</a:t>
            </a:r>
          </a:p>
          <a:p>
            <a:pPr eaLnBrk="1" hangingPunct="1"/>
            <a:r>
              <a:rPr lang="en-ZA" altLang="en-US" dirty="0" smtClean="0"/>
              <a:t>      cost += 25;</a:t>
            </a:r>
          </a:p>
          <a:p>
            <a:pPr eaLnBrk="1" hangingPunct="1"/>
            <a:r>
              <a:rPr lang="en-ZA" altLang="en-US" dirty="0" smtClean="0"/>
              <a:t>      </a:t>
            </a:r>
            <a:r>
              <a:rPr lang="en-ZA" altLang="en-US" dirty="0" err="1" smtClean="0"/>
              <a:t>goto</a:t>
            </a:r>
            <a:r>
              <a:rPr lang="en-ZA" altLang="en-US" dirty="0" smtClean="0"/>
              <a:t> case 1;</a:t>
            </a:r>
          </a:p>
          <a:p>
            <a:pPr eaLnBrk="1" hangingPunct="1"/>
            <a:r>
              <a:rPr lang="en-ZA" altLang="en-US" dirty="0" smtClean="0"/>
              <a:t>   case 3:</a:t>
            </a:r>
          </a:p>
          <a:p>
            <a:pPr eaLnBrk="1" hangingPunct="1"/>
            <a:r>
              <a:rPr lang="en-ZA" altLang="en-US" dirty="0" smtClean="0"/>
              <a:t>      cost += 50;</a:t>
            </a:r>
          </a:p>
          <a:p>
            <a:pPr eaLnBrk="1" hangingPunct="1"/>
            <a:r>
              <a:rPr lang="en-ZA" altLang="en-US" dirty="0" smtClean="0"/>
              <a:t>      </a:t>
            </a:r>
            <a:r>
              <a:rPr lang="en-ZA" altLang="en-US" dirty="0" err="1" smtClean="0"/>
              <a:t>goto</a:t>
            </a:r>
            <a:r>
              <a:rPr lang="en-ZA" altLang="en-US" dirty="0" smtClean="0"/>
              <a:t> case 1;</a:t>
            </a:r>
          </a:p>
          <a:p>
            <a:pPr eaLnBrk="1" hangingPunct="1"/>
            <a:r>
              <a:rPr lang="en-ZA" altLang="en-US" dirty="0" smtClean="0"/>
              <a:t>   default:</a:t>
            </a:r>
          </a:p>
          <a:p>
            <a:pPr eaLnBrk="1" hangingPunct="1"/>
            <a:r>
              <a:rPr lang="en-ZA" altLang="en-US" dirty="0" smtClean="0"/>
              <a:t>      </a:t>
            </a:r>
            <a:r>
              <a:rPr lang="en-ZA" altLang="en-US" dirty="0" err="1" smtClean="0"/>
              <a:t>Console.WriteLine</a:t>
            </a:r>
            <a:r>
              <a:rPr lang="en-ZA" altLang="en-US" dirty="0" smtClean="0"/>
              <a:t>("Invalid selection.");</a:t>
            </a:r>
          </a:p>
          <a:p>
            <a:pPr eaLnBrk="1" hangingPunct="1"/>
            <a:r>
              <a:rPr lang="en-ZA" altLang="en-US" dirty="0" smtClean="0"/>
              <a:t>      break;</a:t>
            </a:r>
          </a:p>
          <a:p>
            <a:pPr eaLnBrk="1" hangingPunct="1"/>
            <a:r>
              <a:rPr lang="en-ZA" altLang="en-US" dirty="0" smtClean="0"/>
              <a:t>}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Note that a continue can be left out only if there is no selectable code segment (look at case 0). If there is selectable code, there must be either a break or continue at the end of the selectable segment.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8362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ZA" altLang="en-US" dirty="0" smtClean="0"/>
              <a:t>Both forms of the case expression produce a result, which can be used directly (e.g. in this example, where the appropriate Boolean value will be assigned to leap).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6A63476-6445-45AE-891A-5C1FEF0DB437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690113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ZA" altLang="en-US" dirty="0" smtClean="0"/>
              <a:t>Both forms of the case expression produce a result, which can be used directly (e.g. in this example, where the appropriate integer value will be assigned to </a:t>
            </a:r>
            <a:r>
              <a:rPr lang="en-ZA" altLang="en-US" dirty="0" err="1" smtClean="0"/>
              <a:t>val</a:t>
            </a:r>
            <a:r>
              <a:rPr lang="en-ZA" altLang="en-US" dirty="0" smtClean="0"/>
              <a:t>).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6A63476-6445-45AE-891A-5C1FEF0DB437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1387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085B455E-AEEE-4A9C-A10D-E26CE47BD18D}" type="slidenum">
              <a:rPr lang="en-US" altLang="en-US" sz="1300" smtClean="0"/>
              <a:pPr/>
              <a:t>20</a:t>
            </a:fld>
            <a:endParaRPr lang="en-US" altLang="en-US" sz="130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This is similar to the first form of Ruby’s case expression, except that Python’s multiple selectors </a:t>
            </a:r>
            <a:r>
              <a:rPr lang="en-GB" altLang="en-US" smtClean="0"/>
              <a:t>don’t produce values</a:t>
            </a:r>
            <a:r>
              <a:rPr lang="en-GB" alt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06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48550" y="656431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n-US" altLang="en-US" sz="1200" smtClean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8" descr="Front Cover: Concepts of Programming Languages, Global Edition, by Robert W Sebesta&#10;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607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80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928880B3-EE13-4D10-978D-D3C4DBCE9E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23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A220C0BE-83AA-400F-B372-0226739F22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5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874D7485-19A1-462F-8F7D-225DD22ADF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8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427DE0B5-DF90-4608-BE42-15A4665B57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752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D50758C-4CC0-41F4-A21C-DCF930DC64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41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9B2EF9B1-5895-4284-903E-895E8696A6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92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B67D3CA-F825-4D28-8058-C9E0E219D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13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883DF0B-9C49-43A6-8F85-7DC6DE60FD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94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59F51F4-39E8-48A7-9F13-50F544E17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59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82EA84F-FF8B-4148-BCAE-6A884E5E4A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98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CC2CC827-A134-47C8-BD14-663A9D497E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Lucida Sans Unicode" pitchFamily="34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Lucida Sans Unicode" pitchFamily="34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Lucida Sans Unicode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8</a:t>
            </a:r>
            <a:br>
              <a:rPr lang="en-US" altLang="en-US" dirty="0" smtClean="0"/>
            </a:br>
            <a:r>
              <a:rPr lang="en-US" altLang="en-US" sz="2800" dirty="0" smtClean="0"/>
              <a:t>Part 1</a:t>
            </a:r>
            <a:endParaRPr lang="en-US" altLang="en-US" dirty="0" smtClean="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Statement-Level </a:t>
            </a:r>
            <a:br>
              <a:rPr lang="en-US" altLang="en-US" smtClean="0"/>
            </a:br>
            <a:r>
              <a:rPr lang="en-US" altLang="en-US" smtClean="0"/>
              <a:t>Control Structures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D3D09AB-A1B9-49B9-B5F2-DBCF88BB4E1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8 Topics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Introduction</a:t>
            </a:r>
          </a:p>
          <a:p>
            <a:pPr eaLnBrk="1" hangingPunct="1"/>
            <a:r>
              <a:rPr lang="en-US" altLang="en-US" dirty="0" smtClean="0"/>
              <a:t>Selection Statements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C8B467E-9460-477A-BEB6-59982FD6E8B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Control Statements: Evolution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Fortran I control </a:t>
            </a:r>
            <a:r>
              <a:rPr lang="en-US" altLang="en-US" dirty="0" smtClean="0"/>
              <a:t>statements</a:t>
            </a:r>
          </a:p>
          <a:p>
            <a:pPr lvl="1" eaLnBrk="1" hangingPunct="1"/>
            <a:r>
              <a:rPr lang="en-US" altLang="en-US" dirty="0"/>
              <a:t>B</a:t>
            </a:r>
            <a:r>
              <a:rPr lang="en-US" altLang="en-US" dirty="0" smtClean="0"/>
              <a:t>ased </a:t>
            </a:r>
            <a:r>
              <a:rPr lang="en-US" altLang="en-US" dirty="0" smtClean="0"/>
              <a:t>directly on IBM 704 </a:t>
            </a:r>
            <a:r>
              <a:rPr lang="en-US" altLang="en-US" dirty="0" smtClean="0"/>
              <a:t>hardware</a:t>
            </a:r>
          </a:p>
          <a:p>
            <a:pPr lvl="1" eaLnBrk="1" hangingPunct="1"/>
            <a:r>
              <a:rPr lang="en-US" altLang="en-US" dirty="0" smtClean="0"/>
              <a:t>Recall three-way selection statement (Chapter 2)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Much research and argument in the 1960s</a:t>
            </a:r>
          </a:p>
          <a:p>
            <a:pPr lvl="1" eaLnBrk="1" hangingPunct="1"/>
            <a:r>
              <a:rPr lang="en-US" altLang="en-US" dirty="0" smtClean="0"/>
              <a:t>One important result</a:t>
            </a:r>
          </a:p>
          <a:p>
            <a:pPr lvl="2" eaLnBrk="1" hangingPunct="1"/>
            <a:r>
              <a:rPr lang="en-US" altLang="en-US" dirty="0" smtClean="0"/>
              <a:t>All flowchart-represented algorithms can be coded with only two-way selection &amp; pretest logical loops</a:t>
            </a:r>
          </a:p>
          <a:p>
            <a:pPr lvl="2" eaLnBrk="1" hangingPunct="1"/>
            <a:r>
              <a:rPr lang="en-US" altLang="en-US" dirty="0" smtClean="0"/>
              <a:t>Thus, </a:t>
            </a:r>
            <a:r>
              <a:rPr lang="en-US" altLang="en-US" dirty="0" smtClean="0"/>
              <a:t>an unconditional </a:t>
            </a:r>
            <a:r>
              <a:rPr lang="en-US" altLang="en-US" dirty="0" smtClean="0"/>
              <a:t>branch statement (i.e. the </a:t>
            </a:r>
            <a:r>
              <a:rPr lang="en-US" altLang="en-US" dirty="0" err="1" smtClean="0">
                <a:latin typeface="Courier New" panose="02070309020205020404" pitchFamily="49" charset="0"/>
              </a:rPr>
              <a:t>goto</a:t>
            </a:r>
            <a:r>
              <a:rPr lang="en-US" altLang="en-US" dirty="0" smtClean="0"/>
              <a:t> statement) is unnecessary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4C44FAC-BE9B-4C4F-B500-1E4FD878F29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Control Structure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4582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u="sng" dirty="0" smtClean="0"/>
              <a:t>control structure</a:t>
            </a:r>
            <a:r>
              <a:rPr lang="en-US" altLang="en-US" dirty="0" smtClean="0"/>
              <a:t> is</a:t>
            </a:r>
          </a:p>
          <a:p>
            <a:pPr lvl="1" eaLnBrk="1" hangingPunct="1"/>
            <a:r>
              <a:rPr lang="en-US" altLang="en-US" dirty="0" smtClean="0"/>
              <a:t>A control statement, and</a:t>
            </a:r>
          </a:p>
          <a:p>
            <a:pPr lvl="1" eaLnBrk="1" hangingPunct="1"/>
            <a:r>
              <a:rPr lang="en-US" altLang="en-US" dirty="0" smtClean="0"/>
              <a:t>The statements whose execution are controlled</a:t>
            </a:r>
          </a:p>
          <a:p>
            <a:pPr eaLnBrk="1" hangingPunct="1"/>
            <a:r>
              <a:rPr lang="en-US" altLang="en-US" dirty="0" smtClean="0"/>
              <a:t>One design question for all control structures</a:t>
            </a:r>
          </a:p>
          <a:p>
            <a:pPr lvl="1" eaLnBrk="1" hangingPunct="1"/>
            <a:r>
              <a:rPr lang="en-US" altLang="en-US" dirty="0" smtClean="0"/>
              <a:t>Should a control structure have multiple entries?</a:t>
            </a:r>
          </a:p>
          <a:p>
            <a:pPr lvl="2" eaLnBrk="1" hangingPunct="1"/>
            <a:r>
              <a:rPr lang="en-US" altLang="en-US" dirty="0" smtClean="0"/>
              <a:t>Only possible with </a:t>
            </a:r>
            <a:r>
              <a:rPr lang="en-US" altLang="en-US" dirty="0" err="1" smtClean="0">
                <a:latin typeface="Courier New" panose="02070309020205020404" pitchFamily="49" charset="0"/>
              </a:rPr>
              <a:t>goto</a:t>
            </a:r>
            <a:r>
              <a:rPr lang="en-US" altLang="en-US" dirty="0" smtClean="0"/>
              <a:t> and statement labels</a:t>
            </a:r>
          </a:p>
          <a:p>
            <a:pPr lvl="2" eaLnBrk="1" hangingPunct="1"/>
            <a:r>
              <a:rPr lang="en-US" altLang="en-US" dirty="0" smtClean="0"/>
              <a:t>Generally considered to add little flexibility relative to the decreased readability they introduce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626FFFA-F31F-4856-9A01-E0B0A907CEC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Selection Statements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</a:t>
            </a:r>
            <a:r>
              <a:rPr lang="en-US" altLang="en-US" u="sng" dirty="0" smtClean="0"/>
              <a:t>selection statement</a:t>
            </a:r>
            <a:r>
              <a:rPr lang="en-US" altLang="en-US" dirty="0" smtClean="0"/>
              <a:t> provides </a:t>
            </a:r>
          </a:p>
          <a:p>
            <a:pPr lvl="1" eaLnBrk="1" hangingPunct="1"/>
            <a:r>
              <a:rPr lang="en-US" altLang="en-US" dirty="0" smtClean="0"/>
              <a:t>Choice between two or more execution paths</a:t>
            </a:r>
          </a:p>
          <a:p>
            <a:pPr eaLnBrk="1" hangingPunct="1"/>
            <a:r>
              <a:rPr lang="en-US" altLang="en-US" dirty="0" smtClean="0"/>
              <a:t>Two general categories</a:t>
            </a:r>
          </a:p>
          <a:p>
            <a:pPr lvl="1" eaLnBrk="1" hangingPunct="1"/>
            <a:r>
              <a:rPr lang="en-US" altLang="en-US" dirty="0" smtClean="0"/>
              <a:t>Two-way selectors</a:t>
            </a:r>
          </a:p>
          <a:p>
            <a:pPr lvl="1" eaLnBrk="1" hangingPunct="1"/>
            <a:r>
              <a:rPr lang="en-US" altLang="en-US" dirty="0" smtClean="0"/>
              <a:t>Multiple-way selectors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5D4AD81-A684-4537-8DE7-0A3F9D036EE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Two-Way Selection Statements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General form</a:t>
            </a:r>
          </a:p>
          <a:p>
            <a:pPr marL="533400" indent="-533400" eaLnBrk="1" hangingPunct="1">
              <a:buFontTx/>
              <a:buNone/>
            </a:pPr>
            <a:endParaRPr lang="en-US" altLang="en-US" sz="600" dirty="0" smtClean="0"/>
          </a:p>
          <a:p>
            <a:pPr marL="533400" indent="-533400" eaLnBrk="1" hangingPunct="1">
              <a:buFontTx/>
              <a:buNone/>
            </a:pPr>
            <a:r>
              <a:rPr lang="en-US" altLang="en-US" sz="2400" dirty="0" smtClean="0"/>
              <a:t>	</a:t>
            </a:r>
            <a:r>
              <a:rPr lang="en-US" alt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control_expression</a:t>
            </a:r>
            <a:endParaRPr lang="en-US" alt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3400" indent="-533400"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clause</a:t>
            </a:r>
          </a:p>
          <a:p>
            <a:pPr marL="533400" indent="-533400"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clause</a:t>
            </a:r>
          </a:p>
          <a:p>
            <a:pPr marL="533400" indent="-533400" eaLnBrk="1" hangingPunct="1">
              <a:buFontTx/>
              <a:buNone/>
            </a:pPr>
            <a:endParaRPr lang="en-US" alt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dirty="0" smtClean="0"/>
              <a:t>Design </a:t>
            </a:r>
            <a:r>
              <a:rPr lang="en-US" altLang="en-US" dirty="0"/>
              <a:t>i</a:t>
            </a:r>
            <a:r>
              <a:rPr lang="en-US" altLang="en-US" dirty="0" smtClean="0"/>
              <a:t>ssues</a:t>
            </a:r>
          </a:p>
          <a:p>
            <a:pPr lvl="1" eaLnBrk="1" hangingPunct="1"/>
            <a:r>
              <a:rPr lang="en-US" altLang="en-US" dirty="0" smtClean="0"/>
              <a:t>What is the control expression’s form &amp; type?</a:t>
            </a:r>
          </a:p>
          <a:p>
            <a:pPr lvl="1" eaLnBrk="1" hangingPunct="1"/>
            <a:r>
              <a:rPr lang="en-US" altLang="en-US" dirty="0" smtClean="0"/>
              <a:t>How are the </a:t>
            </a:r>
            <a:r>
              <a:rPr lang="en-US" altLang="en-US" b="1" dirty="0" smtClean="0">
                <a:latin typeface="Courier New" panose="02070309020205020404" pitchFamily="49" charset="0"/>
              </a:rPr>
              <a:t>then</a:t>
            </a:r>
            <a:r>
              <a:rPr lang="en-US" altLang="en-US" dirty="0" smtClean="0"/>
              <a:t> and </a:t>
            </a:r>
            <a:r>
              <a:rPr lang="en-US" altLang="en-US" b="1" dirty="0" smtClean="0">
                <a:latin typeface="Courier New" panose="02070309020205020404" pitchFamily="49" charset="0"/>
              </a:rPr>
              <a:t>else</a:t>
            </a:r>
            <a:r>
              <a:rPr lang="en-US" altLang="en-US" dirty="0" smtClean="0"/>
              <a:t> clauses specified?</a:t>
            </a:r>
          </a:p>
          <a:p>
            <a:pPr lvl="1" eaLnBrk="1" hangingPunct="1"/>
            <a:r>
              <a:rPr lang="en-US" altLang="en-US" dirty="0" smtClean="0"/>
              <a:t>How should nested selectors be disambiguated?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5DC25BE-99D6-44FA-A33C-DF8F12148BD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Control Expression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815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altLang="en-US" dirty="0" smtClean="0"/>
              <a:t> clause</a:t>
            </a:r>
          </a:p>
          <a:p>
            <a:pPr lvl="1" eaLnBrk="1" hangingPunct="1"/>
            <a:r>
              <a:rPr lang="en-US" altLang="en-US" dirty="0" smtClean="0"/>
              <a:t>Can be introduced by a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altLang="en-US" dirty="0" smtClean="0"/>
              <a:t> special word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condition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then_clause</a:t>
            </a: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dirty="0" smtClean="0"/>
              <a:t>The control expression can be in parentheses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(condition)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then_clause</a:t>
            </a: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eaLnBrk="1" hangingPunct="1">
              <a:buNone/>
            </a:pPr>
            <a:endParaRPr lang="en-US" altLang="en-US" sz="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dirty="0" smtClean="0"/>
              <a:t>In C89, C99, Python, and C++</a:t>
            </a:r>
          </a:p>
          <a:p>
            <a:pPr lvl="1" eaLnBrk="1" hangingPunct="1"/>
            <a:r>
              <a:rPr lang="en-US" altLang="en-US" dirty="0" smtClean="0"/>
              <a:t>Control expression can be arithmetic</a:t>
            </a:r>
          </a:p>
          <a:p>
            <a:pPr lvl="1" eaLnBrk="1" hangingPunct="1"/>
            <a:r>
              <a:rPr lang="en-US" altLang="en-US" dirty="0" smtClean="0"/>
              <a:t>Integer condition is interpreted as Boolean value</a:t>
            </a:r>
          </a:p>
          <a:p>
            <a:pPr eaLnBrk="1" hangingPunct="1"/>
            <a:r>
              <a:rPr lang="en-US" altLang="en-US" dirty="0" smtClean="0"/>
              <a:t>In most other languages</a:t>
            </a:r>
          </a:p>
          <a:p>
            <a:pPr lvl="1" eaLnBrk="1" hangingPunct="1"/>
            <a:r>
              <a:rPr lang="en-US" altLang="en-US" dirty="0" smtClean="0"/>
              <a:t>Control expression must be Boolean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8FEA532-8854-4328-BB6E-2A720DE6C96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Clause Form &amp; Disambiguating Nested Selectors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8157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Java example</a:t>
            </a:r>
            <a:endParaRPr lang="en-US" altLang="en-US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(sum == 0)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(count == 0)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  result = 0;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else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result = 1;</a:t>
            </a:r>
          </a:p>
          <a:p>
            <a:pPr eaLnBrk="1" hangingPunct="1"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 smtClean="0"/>
              <a:t>Which </a:t>
            </a:r>
            <a:r>
              <a:rPr lang="en-US" altLang="en-US" dirty="0" smtClean="0">
                <a:latin typeface="Courier New" panose="02070309020205020404" pitchFamily="49" charset="0"/>
              </a:rPr>
              <a:t>if</a:t>
            </a:r>
            <a:r>
              <a:rPr lang="en-US" altLang="en-US" dirty="0" smtClean="0"/>
              <a:t> gets the </a:t>
            </a:r>
            <a:r>
              <a:rPr lang="en-US" altLang="en-US" dirty="0" smtClean="0">
                <a:latin typeface="Courier New" panose="02070309020205020404" pitchFamily="49" charset="0"/>
              </a:rPr>
              <a:t>else</a:t>
            </a:r>
            <a:r>
              <a:rPr lang="en-US" altLang="en-US" dirty="0" smtClean="0"/>
              <a:t>?  </a:t>
            </a:r>
          </a:p>
          <a:p>
            <a:pPr eaLnBrk="1" hangingPunct="1"/>
            <a:r>
              <a:rPr lang="en-US" altLang="en-US" dirty="0" smtClean="0"/>
              <a:t>Java</a:t>
            </a:r>
            <a:r>
              <a:rPr lang="en-US" altLang="en-US" dirty="0"/>
              <a:t> </a:t>
            </a:r>
            <a:r>
              <a:rPr lang="en-US" altLang="en-US" dirty="0" smtClean="0"/>
              <a:t>uses a semantic rule</a:t>
            </a:r>
          </a:p>
          <a:p>
            <a:pPr lvl="1" eaLnBrk="1" hangingPunct="1"/>
            <a:r>
              <a:rPr lang="en-US" altLang="en-US" dirty="0" smtClean="0"/>
              <a:t>Each </a:t>
            </a:r>
            <a:r>
              <a:rPr lang="en-US" altLang="en-US" b="1" dirty="0" smtClean="0">
                <a:latin typeface="Courier New" panose="02070309020205020404" pitchFamily="49" charset="0"/>
              </a:rPr>
              <a:t>else</a:t>
            </a:r>
            <a:r>
              <a:rPr lang="en-US" altLang="en-US" dirty="0" smtClean="0"/>
              <a:t> matches with the nearest </a:t>
            </a:r>
            <a:r>
              <a:rPr lang="en-US" altLang="en-US" b="1" dirty="0" smtClean="0">
                <a:latin typeface="Courier New" panose="02070309020205020404" pitchFamily="49" charset="0"/>
              </a:rPr>
              <a:t>if</a:t>
            </a:r>
          </a:p>
          <a:p>
            <a:pPr lvl="1" eaLnBrk="1" hangingPunct="1"/>
            <a:r>
              <a:rPr lang="en-US" altLang="en-US" dirty="0" smtClean="0">
                <a:latin typeface="+mj-lt"/>
              </a:rPr>
              <a:t>So the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 smtClean="0">
                <a:latin typeface="+mj-lt"/>
              </a:rPr>
              <a:t> actually matches with the inner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Even though the indentation suggests otherwise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C451B54-329D-494A-B0C6-036F7771BD7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836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To force alternative semantics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Must use </a:t>
            </a:r>
            <a:r>
              <a:rPr lang="en-US" altLang="en-US" u="sng" dirty="0" smtClean="0"/>
              <a:t>compound statements</a:t>
            </a:r>
            <a:r>
              <a:rPr lang="en-US" altLang="en-US" dirty="0" smtClean="0"/>
              <a:t> (block)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 example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(sum == 0)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(count == 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       result =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else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result =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900" dirty="0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Now the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 smtClean="0"/>
              <a:t> matches with the outer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This solution is used in C, C++, and C#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Clause Form &amp; Disambiguating Nested Selectors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C451B54-329D-494A-B0C6-036F7771BD7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836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Perl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Forces all then and else clauses to be compound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Even if a clause contains only a single statement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This eliminates any ambiguity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The previous example written in Perl</a:t>
            </a:r>
          </a:p>
          <a:p>
            <a:pPr marL="0" indent="0" eaLnBrk="1" hangingPunct="1">
              <a:buNone/>
            </a:pPr>
            <a:endParaRPr lang="en-ZA" alt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en-ZA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</a:t>
            </a: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($sum == 0) {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en-ZA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($count == 0) {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   $result = 0;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}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 </a:t>
            </a:r>
            <a:r>
              <a:rPr lang="en-ZA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$result = 1;</a:t>
            </a:r>
          </a:p>
          <a:p>
            <a:pPr marL="0" indent="0" eaLnBrk="1" hangingPunct="1">
              <a:buNone/>
            </a:pPr>
            <a:r>
              <a:rPr lang="en-ZA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Clause Form &amp; Disambiguating Nested Selectors</a:t>
            </a:r>
          </a:p>
        </p:txBody>
      </p:sp>
    </p:spTree>
    <p:extLst>
      <p:ext uri="{BB962C8B-B14F-4D97-AF65-F5344CB8AC3E}">
        <p14:creationId xmlns:p14="http://schemas.microsoft.com/office/powerpoint/2010/main" val="191413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549F77C-67F2-4283-BE01-722B4062310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36836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Ruby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Clauses are statement sequences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Special word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dirty="0" smtClean="0"/>
              <a:t> marks selection statement end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This also eliminates any </a:t>
            </a:r>
            <a:r>
              <a:rPr lang="en-US" altLang="en-US" dirty="0" smtClean="0"/>
              <a:t>ambiguity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Is this really different to Perl’s approach?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The previous example written in Ruby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smtClean="0">
                <a:latin typeface="Courier New" panose="02070309020205020404" pitchFamily="49" charset="0"/>
              </a:rPr>
              <a:t>	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sum == 0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then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count == 0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then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   result =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result =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end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Clause Form &amp; Disambiguating Nested Selectors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30797BB-B534-4DDD-A956-D2934660AAD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Python</a:t>
            </a:r>
          </a:p>
          <a:p>
            <a:pPr lvl="1" eaLnBrk="1" hangingPunct="1"/>
            <a:r>
              <a:rPr lang="en-US" altLang="en-US" dirty="0" smtClean="0"/>
              <a:t>Clauses are statement sequences</a:t>
            </a:r>
          </a:p>
          <a:p>
            <a:pPr lvl="2" eaLnBrk="1" hangingPunct="1"/>
            <a:r>
              <a:rPr lang="en-US" altLang="en-US" dirty="0" smtClean="0"/>
              <a:t>Indentation eliminates ambiguity</a:t>
            </a:r>
          </a:p>
          <a:p>
            <a:pPr lvl="2" eaLnBrk="1" hangingPunct="1"/>
            <a:r>
              <a:rPr lang="en-ZA" altLang="en-US" dirty="0"/>
              <a:t>Can use either spaces or tabs (but not both</a:t>
            </a:r>
            <a:r>
              <a:rPr lang="en-ZA" altLang="en-US" dirty="0" smtClean="0"/>
              <a:t>)</a:t>
            </a:r>
          </a:p>
          <a:p>
            <a:pPr lvl="2" eaLnBrk="1" hangingPunct="1"/>
            <a:r>
              <a:rPr lang="en-ZA" altLang="en-US" dirty="0" smtClean="0"/>
              <a:t>What problem could this result in?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The previous example written in Python</a:t>
            </a:r>
          </a:p>
          <a:p>
            <a:pPr eaLnBrk="1" hangingPunct="1">
              <a:buFontTx/>
              <a:buNone/>
            </a:pPr>
            <a:endParaRPr lang="en-US" altLang="en-US" sz="600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sum == 0 :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smtClean="0">
                <a:latin typeface="Courier New" panose="02070309020205020404" pitchFamily="49" charset="0"/>
              </a:rPr>
              <a:t>	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count == 0 :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 result = 0</a:t>
            </a:r>
          </a:p>
          <a:p>
            <a:pPr eaLnBrk="1" hangingPunct="1"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</a:rPr>
              <a:t>		else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: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result = 1</a:t>
            </a:r>
            <a:endParaRPr lang="es-MX" altLang="en-US" sz="2000" dirty="0" smtClean="0">
              <a:latin typeface="Courier New" panose="02070309020205020404" pitchFamily="49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Clause Form &amp; Disambiguating Nested Selectors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Selector Expressions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 ML, F#, and LISP</a:t>
            </a:r>
          </a:p>
          <a:p>
            <a:pPr lvl="1"/>
            <a:r>
              <a:rPr lang="en-US" altLang="en-US" dirty="0" smtClean="0"/>
              <a:t>The selection statement is an expression</a:t>
            </a:r>
          </a:p>
          <a:p>
            <a:pPr lvl="2"/>
            <a:r>
              <a:rPr lang="en-US" altLang="en-US" dirty="0" smtClean="0"/>
              <a:t>This means the statement evaluates to a value</a:t>
            </a:r>
          </a:p>
          <a:p>
            <a:pPr lvl="1"/>
            <a:r>
              <a:rPr lang="en-US" altLang="en-US" dirty="0" smtClean="0"/>
              <a:t>For example, in F#</a:t>
            </a:r>
          </a:p>
          <a:p>
            <a:pPr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y = </a:t>
            </a:r>
          </a:p>
          <a:p>
            <a:pPr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 &gt; 0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</a:p>
          <a:p>
            <a:pPr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 * x</a:t>
            </a:r>
          </a:p>
          <a:p>
            <a:pPr>
              <a:buFontTx/>
              <a:buNone/>
            </a:pPr>
            <a:endParaRPr lang="en-US" altLang="en-US" sz="500" dirty="0" smtClean="0"/>
          </a:p>
          <a:p>
            <a:pPr lvl="2"/>
            <a:r>
              <a:rPr lang="en-US" altLang="en-US" dirty="0" smtClean="0"/>
              <a:t>If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dirty="0" smtClean="0"/>
              <a:t> is greater than 0,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dirty="0" smtClean="0"/>
              <a:t> is assigned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  <a:p>
            <a:pPr lvl="2"/>
            <a:r>
              <a:rPr lang="en-US" altLang="en-US" dirty="0" smtClean="0"/>
              <a:t>If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en-US" dirty="0" smtClean="0"/>
              <a:t> is 0 or less,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 * x</a:t>
            </a:r>
            <a:r>
              <a:rPr lang="en-US" altLang="en-US" dirty="0" smtClean="0"/>
              <a:t> is assigned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  <a:p>
            <a:pPr lvl="1"/>
            <a:r>
              <a:rPr lang="en-US" altLang="en-US" dirty="0" smtClean="0"/>
              <a:t>If the </a:t>
            </a: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 smtClean="0"/>
              <a:t> expression </a:t>
            </a:r>
            <a:r>
              <a:rPr lang="en-US" altLang="en-US" u="sng" dirty="0" smtClean="0"/>
              <a:t>returns a value</a:t>
            </a:r>
          </a:p>
          <a:p>
            <a:pPr lvl="2"/>
            <a:r>
              <a:rPr lang="en-US" altLang="en-US" dirty="0" smtClean="0"/>
              <a:t>There </a:t>
            </a:r>
            <a:r>
              <a:rPr lang="en-US" altLang="en-US" u="sng" dirty="0" smtClean="0"/>
              <a:t>must</a:t>
            </a:r>
            <a:r>
              <a:rPr lang="en-US" altLang="en-US" dirty="0" smtClean="0"/>
              <a:t> be an else clause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1E4B5F6-02ED-403B-A7F5-C95117E9240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Multiple-Way Selection Statements</a:t>
            </a:r>
            <a:endParaRPr lang="en-GB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altLang="en-US" dirty="0" smtClean="0"/>
              <a:t>Allow the selection of one of any number of statements or statement groups</a:t>
            </a:r>
          </a:p>
          <a:p>
            <a:pPr lvl="1"/>
            <a:r>
              <a:rPr lang="en-ZA" altLang="en-US" dirty="0" smtClean="0"/>
              <a:t>You’ll know these as switch or case statements</a:t>
            </a:r>
          </a:p>
          <a:p>
            <a:r>
              <a:rPr lang="en-ZA" altLang="en-US" dirty="0" smtClean="0"/>
              <a:t>Design issues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altLang="en-US" dirty="0" smtClean="0"/>
              <a:t>What is the control expression’s form &amp; type?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altLang="en-US" dirty="0" smtClean="0"/>
              <a:t>How are the selectable segments specified?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altLang="en-US" dirty="0" smtClean="0"/>
              <a:t>Is execution through the structure restricted to include just a single selectable segment?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altLang="en-US" dirty="0" smtClean="0"/>
              <a:t>How are the case values specified?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ZA" altLang="en-US" dirty="0" smtClean="0"/>
              <a:t>Are unrepresented expression values handled?</a:t>
            </a:r>
            <a:endParaRPr lang="en-GB" altLang="en-US" dirty="0" smtClean="0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CD15780-397A-422A-841C-ED71735FB46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EE43CEB-4C96-4392-B531-BF2E165AD32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Multiple-Way Selection: Examples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 C, C++, Java, and JavaScript</a:t>
            </a:r>
          </a:p>
          <a:p>
            <a:pPr eaLnBrk="1" hangingPunct="1">
              <a:buFontTx/>
              <a:buNone/>
            </a:pPr>
            <a:endParaRPr lang="en-US" altLang="en-US" sz="900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switch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(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control_expression</a:t>
            </a:r>
            <a:r>
              <a:rPr lang="en-US" altLang="en-US" sz="2400" dirty="0" smtClean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case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const_expr_1: segment_1;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  </a:t>
            </a:r>
            <a:r>
              <a:rPr lang="en-US" altLang="en-US" sz="2400" dirty="0" smtClean="0"/>
              <a:t>...</a:t>
            </a:r>
            <a:endParaRPr lang="en-US" altLang="en-US" sz="2400" dirty="0" smtClean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  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case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const_expr_n</a:t>
            </a:r>
            <a:r>
              <a:rPr lang="en-US" altLang="en-US" sz="2400" dirty="0" smtClean="0">
                <a:latin typeface="Courier New" panose="02070309020205020404" pitchFamily="49" charset="0"/>
              </a:rPr>
              <a:t>: </a:t>
            </a:r>
            <a:r>
              <a:rPr lang="en-US" altLang="en-US" sz="2400" dirty="0" err="1" smtClean="0">
                <a:latin typeface="Courier New" panose="02070309020205020404" pitchFamily="49" charset="0"/>
              </a:rPr>
              <a:t>segment_n</a:t>
            </a:r>
            <a:r>
              <a:rPr lang="en-US" altLang="en-US" sz="2400" dirty="0" smtClean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  [</a:t>
            </a:r>
            <a:r>
              <a:rPr lang="en-US" altLang="en-US" sz="2400" b="1" dirty="0" smtClean="0">
                <a:latin typeface="Courier New" panose="02070309020205020404" pitchFamily="49" charset="0"/>
              </a:rPr>
              <a:t>default:</a:t>
            </a:r>
            <a:r>
              <a:rPr lang="en-US" altLang="en-US" sz="2400" dirty="0" smtClean="0">
                <a:latin typeface="Courier New" panose="02070309020205020404" pitchFamily="49" charset="0"/>
              </a:rPr>
              <a:t> segment_n+1]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Courier New" panose="02070309020205020404" pitchFamily="49" charset="0"/>
              </a:rPr>
              <a:t>	    }</a:t>
            </a:r>
          </a:p>
          <a:p>
            <a:pPr eaLnBrk="1" hangingPunct="1">
              <a:buFontTx/>
              <a:buNone/>
            </a:pPr>
            <a:endParaRPr lang="en-US" altLang="en-US" sz="900" dirty="0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Control expression is compared to constants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Finds first matching constant expression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Corresponding selectable segment is executed 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Multiple-Way Selection: Examples</a:t>
            </a:r>
            <a:endParaRPr lang="en-GB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8157"/>
            <a:ext cx="8382000" cy="4572000"/>
          </a:xfrm>
        </p:spPr>
        <p:txBody>
          <a:bodyPr/>
          <a:lstStyle/>
          <a:p>
            <a:r>
              <a:rPr lang="en-ZA" altLang="en-US" dirty="0" smtClean="0"/>
              <a:t>Design choices for C’s </a:t>
            </a:r>
            <a:r>
              <a:rPr lang="en-ZA" altLang="en-US" b="1" dirty="0" smtClean="0">
                <a:latin typeface="Courier New" panose="02070309020205020404" pitchFamily="49" charset="0"/>
              </a:rPr>
              <a:t>switch</a:t>
            </a:r>
            <a:r>
              <a:rPr lang="en-ZA" altLang="en-US" dirty="0" smtClean="0"/>
              <a:t> statement</a:t>
            </a:r>
          </a:p>
          <a:p>
            <a:pPr marL="838200" lvl="1" indent="-381000">
              <a:buFontTx/>
              <a:buAutoNum type="arabicPeriod"/>
            </a:pPr>
            <a:r>
              <a:rPr lang="en-ZA" altLang="en-US" dirty="0" smtClean="0"/>
              <a:t>Control expression and constant expressions can be integers, characters or enumerations</a:t>
            </a:r>
          </a:p>
          <a:p>
            <a:pPr marL="838200" lvl="1" indent="-381000">
              <a:buFontTx/>
              <a:buAutoNum type="arabicPeriod"/>
            </a:pPr>
            <a:r>
              <a:rPr lang="en-ZA" altLang="en-US" dirty="0" smtClean="0"/>
              <a:t>Selectable segments can be statement sequences, or compound statements (blocks)</a:t>
            </a:r>
          </a:p>
          <a:p>
            <a:pPr marL="838200" lvl="1" indent="-381000">
              <a:buFontTx/>
              <a:buAutoNum type="arabicPeriod"/>
            </a:pPr>
            <a:r>
              <a:rPr lang="en-ZA" altLang="en-US" dirty="0" smtClean="0"/>
              <a:t>Control can flow through multiple segments</a:t>
            </a:r>
          </a:p>
          <a:p>
            <a:pPr lvl="2"/>
            <a:r>
              <a:rPr lang="en-ZA" altLang="en-US" dirty="0" smtClean="0"/>
              <a:t>Explicit unconditional branch (</a:t>
            </a:r>
            <a:r>
              <a:rPr lang="en-ZA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ZA" altLang="en-US" dirty="0" smtClean="0"/>
              <a:t>) at end of selectable segment, or control flows to next segment</a:t>
            </a:r>
          </a:p>
          <a:p>
            <a:pPr marL="838200" lvl="1" indent="-381000">
              <a:buFontTx/>
              <a:buAutoNum type="arabicPeriod"/>
            </a:pPr>
            <a:r>
              <a:rPr lang="en-ZA" altLang="en-US" dirty="0" smtClean="0"/>
              <a:t>Default clause is for unrepresented values</a:t>
            </a:r>
          </a:p>
          <a:p>
            <a:pPr lvl="2"/>
            <a:r>
              <a:rPr lang="en-ZA" altLang="en-US" dirty="0" smtClean="0"/>
              <a:t>If control expression matches no constant expressions and no default is present, the whole statement does nothing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D09B714-C557-40AF-B5D3-8B283044158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55112F25-D596-4706-B488-2002F5337CBD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Multiple-Way Selection: Examples</a:t>
            </a:r>
            <a:endParaRPr lang="es-MX" altLang="en-US" smtClean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C# differs from C</a:t>
            </a:r>
          </a:p>
          <a:p>
            <a:pPr lvl="1" eaLnBrk="1" hangingPunct="1"/>
            <a:r>
              <a:rPr lang="en-US" altLang="en-US" dirty="0" smtClean="0"/>
              <a:t>Has a semantic rule that disallows the implicit execution of more than one segment</a:t>
            </a:r>
          </a:p>
          <a:p>
            <a:pPr lvl="2" eaLnBrk="1" hangingPunct="1"/>
            <a:r>
              <a:rPr lang="en-US" altLang="en-US" dirty="0" smtClean="0"/>
              <a:t>Each selectable segment must end with an unconditional branch (i.e. </a:t>
            </a:r>
            <a:r>
              <a:rPr lang="en-US" altLang="en-US" b="1" dirty="0" err="1" smtClean="0">
                <a:latin typeface="Courier New" panose="02070309020205020404" pitchFamily="49" charset="0"/>
              </a:rPr>
              <a:t>goto</a:t>
            </a:r>
            <a:r>
              <a:rPr lang="en-US" altLang="en-US" dirty="0" smtClean="0"/>
              <a:t> or </a:t>
            </a:r>
            <a:r>
              <a:rPr lang="en-US" altLang="en-US" b="1" dirty="0" smtClean="0">
                <a:latin typeface="Courier New" panose="02070309020205020404" pitchFamily="49" charset="0"/>
              </a:rPr>
              <a:t>break</a:t>
            </a:r>
            <a:r>
              <a:rPr lang="en-US" altLang="en-US" dirty="0" smtClean="0"/>
              <a:t>)</a:t>
            </a:r>
          </a:p>
          <a:p>
            <a:pPr lvl="2" eaLnBrk="1" hangingPunct="1"/>
            <a:r>
              <a:rPr lang="en-US" altLang="en-US" dirty="0"/>
              <a:t>O</a:t>
            </a:r>
            <a:r>
              <a:rPr lang="en-US" altLang="en-US" dirty="0" smtClean="0"/>
              <a:t>nly situation where an unconditional branch can be left out is when the selectable segment is empty</a:t>
            </a:r>
          </a:p>
          <a:p>
            <a:pPr lvl="2" eaLnBrk="1" hangingPunct="1"/>
            <a:r>
              <a:rPr lang="en-US" altLang="en-US" dirty="0" smtClean="0"/>
              <a:t>What effect does this have on the reliability of C#?</a:t>
            </a:r>
          </a:p>
          <a:p>
            <a:pPr lvl="1" eaLnBrk="1" hangingPunct="1"/>
            <a:r>
              <a:rPr lang="en-US" altLang="en-US" dirty="0" smtClean="0"/>
              <a:t>Both the control expression and the case constants can be strings (not possible in C)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89D81C8-AC5C-47B2-B640-394A4109F55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59980"/>
            <a:ext cx="7653338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kern="0" dirty="0">
                <a:solidFill>
                  <a:srgbClr val="666699"/>
                </a:solidFill>
                <a:latin typeface="Lucida Sans Unicode"/>
                <a:ea typeface="+mj-ea"/>
                <a:cs typeface="+mn-cs"/>
              </a:rPr>
              <a:t>Multiple-Way Selection: Examples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39941" name="TextBox 6"/>
          <p:cNvSpPr txBox="1">
            <a:spLocks noChangeArrowheads="1"/>
          </p:cNvSpPr>
          <p:nvPr/>
        </p:nvSpPr>
        <p:spPr bwMode="auto">
          <a:xfrm>
            <a:off x="611778" y="1602378"/>
            <a:ext cx="7879080" cy="441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marL="365125" indent="-365125" eaLnBrk="1" hangingPunct="1"/>
            <a:r>
              <a:rPr lang="en-US" altLang="en-US" dirty="0">
                <a:solidFill>
                  <a:srgbClr val="333399"/>
                </a:solidFill>
              </a:rPr>
              <a:t>Ruby </a:t>
            </a:r>
            <a:r>
              <a:rPr lang="en-US" altLang="en-US" dirty="0" smtClean="0">
                <a:solidFill>
                  <a:srgbClr val="333399"/>
                </a:solidFill>
              </a:rPr>
              <a:t>has two forms of </a:t>
            </a:r>
            <a:r>
              <a:rPr lang="en-US" altLang="en-US" u="sng" dirty="0">
                <a:solidFill>
                  <a:srgbClr val="333399"/>
                </a:solidFill>
              </a:rPr>
              <a:t>case </a:t>
            </a:r>
            <a:r>
              <a:rPr lang="en-US" altLang="en-US" u="sng" dirty="0" smtClean="0">
                <a:solidFill>
                  <a:srgbClr val="333399"/>
                </a:solidFill>
              </a:rPr>
              <a:t>expressions</a:t>
            </a:r>
          </a:p>
          <a:p>
            <a:pPr marL="744538" lvl="1" indent="-287338" eaLnBrk="1" hangingPunct="1"/>
            <a:r>
              <a:rPr lang="en-US" altLang="en-US" dirty="0" smtClean="0">
                <a:solidFill>
                  <a:srgbClr val="333399"/>
                </a:solidFill>
              </a:rPr>
              <a:t>This means that the case produces a result</a:t>
            </a:r>
          </a:p>
          <a:p>
            <a:pPr marL="744538" lvl="1" indent="-287338" eaLnBrk="1" hangingPunct="1"/>
            <a:r>
              <a:rPr lang="en-US" altLang="en-US" dirty="0" smtClean="0">
                <a:solidFill>
                  <a:srgbClr val="333399"/>
                </a:solidFill>
              </a:rPr>
              <a:t>First form of case expression</a:t>
            </a:r>
          </a:p>
          <a:p>
            <a:pPr lvl="2" eaLnBrk="1" hangingPunct="1"/>
            <a:r>
              <a:rPr lang="en-US" altLang="en-US" dirty="0" smtClean="0">
                <a:solidFill>
                  <a:srgbClr val="333399"/>
                </a:solidFill>
              </a:rPr>
              <a:t>Uses only </a:t>
            </a:r>
            <a:r>
              <a:rPr lang="en-US" altLang="en-US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n-US" altLang="en-US" dirty="0" smtClean="0">
                <a:solidFill>
                  <a:srgbClr val="333399"/>
                </a:solidFill>
              </a:rPr>
              <a:t> conditions (no case value)</a:t>
            </a:r>
          </a:p>
          <a:p>
            <a:pPr lvl="2" eaLnBrk="1" hangingPunct="1"/>
            <a:r>
              <a:rPr lang="en-US" altLang="en-US" dirty="0" smtClean="0">
                <a:solidFill>
                  <a:srgbClr val="333399"/>
                </a:solidFill>
              </a:rPr>
              <a:t>Works like a sequence of if-then-else statements</a:t>
            </a:r>
          </a:p>
          <a:p>
            <a:pPr lvl="2" eaLnBrk="1" hangingPunct="1"/>
            <a:r>
              <a:rPr lang="en-US" altLang="en-US" dirty="0" smtClean="0">
                <a:solidFill>
                  <a:srgbClr val="333399"/>
                </a:solidFill>
              </a:rPr>
              <a:t>For example</a:t>
            </a:r>
            <a:endParaRPr lang="en-US" altLang="en-US" dirty="0">
              <a:solidFill>
                <a:srgbClr val="333399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	   </a:t>
            </a:r>
            <a:r>
              <a:rPr lang="en-US" altLang="en-US" sz="2000" dirty="0">
                <a:latin typeface="Courier New" panose="02070309020205020404" pitchFamily="49" charset="0"/>
              </a:rPr>
              <a:t>leap = </a:t>
            </a:r>
            <a:r>
              <a:rPr lang="en-US" altLang="en-US" sz="2000" b="1" dirty="0">
                <a:latin typeface="Courier New" panose="02070309020205020404" pitchFamily="49" charset="0"/>
              </a:rPr>
              <a:t>case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    </a:t>
            </a:r>
            <a:r>
              <a:rPr lang="en-US" altLang="en-US" sz="2000" b="1" dirty="0">
                <a:latin typeface="Courier New" panose="02070309020205020404" pitchFamily="49" charset="0"/>
              </a:rPr>
              <a:t>when</a:t>
            </a:r>
            <a:r>
              <a:rPr lang="en-US" altLang="en-US" sz="2000" dirty="0">
                <a:latin typeface="Courier New" panose="02070309020205020404" pitchFamily="49" charset="0"/>
              </a:rPr>
              <a:t> year % 400 == 0 </a:t>
            </a:r>
            <a:r>
              <a:rPr lang="en-US" altLang="en-US" sz="2000" b="1" dirty="0">
                <a:latin typeface="Courier New" panose="02070309020205020404" pitchFamily="49" charset="0"/>
              </a:rPr>
              <a:t>then true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    </a:t>
            </a:r>
            <a:r>
              <a:rPr lang="en-US" altLang="en-US" sz="2000" b="1" dirty="0">
                <a:latin typeface="Courier New" panose="02070309020205020404" pitchFamily="49" charset="0"/>
              </a:rPr>
              <a:t>when</a:t>
            </a:r>
            <a:r>
              <a:rPr lang="en-US" altLang="en-US" sz="2000" dirty="0">
                <a:latin typeface="Courier New" panose="02070309020205020404" pitchFamily="49" charset="0"/>
              </a:rPr>
              <a:t> year % 100 == 0 </a:t>
            </a:r>
            <a:r>
              <a:rPr lang="en-US" altLang="en-US" sz="2000" b="1" dirty="0">
                <a:latin typeface="Courier New" panose="02070309020205020404" pitchFamily="49" charset="0"/>
              </a:rPr>
              <a:t>then false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    </a:t>
            </a:r>
            <a:r>
              <a:rPr lang="en-US" altLang="en-US" sz="2000" b="1" dirty="0">
                <a:latin typeface="Courier New" panose="02070309020205020404" pitchFamily="49" charset="0"/>
              </a:rPr>
              <a:t>else</a:t>
            </a:r>
            <a:r>
              <a:rPr lang="en-US" altLang="en-US" sz="2000" dirty="0">
                <a:latin typeface="Courier New" panose="02070309020205020404" pitchFamily="49" charset="0"/>
              </a:rPr>
              <a:t> year % 4 == 0</a:t>
            </a: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end</a:t>
            </a: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89D81C8-AC5C-47B2-B640-394A4109F55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59980"/>
            <a:ext cx="7653338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kern="0" dirty="0">
                <a:solidFill>
                  <a:srgbClr val="666699"/>
                </a:solidFill>
                <a:latin typeface="Lucida Sans Unicode"/>
                <a:ea typeface="+mj-ea"/>
                <a:cs typeface="+mn-cs"/>
              </a:rPr>
              <a:t>Multiple-Way Selection: Examples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39941" name="TextBox 6"/>
          <p:cNvSpPr txBox="1">
            <a:spLocks noChangeArrowheads="1"/>
          </p:cNvSpPr>
          <p:nvPr/>
        </p:nvSpPr>
        <p:spPr bwMode="auto">
          <a:xfrm>
            <a:off x="611778" y="1602378"/>
            <a:ext cx="7564891" cy="434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marL="365125" indent="-365125" eaLnBrk="1" hangingPunct="1"/>
            <a:r>
              <a:rPr lang="en-US" altLang="en-US" dirty="0">
                <a:solidFill>
                  <a:srgbClr val="333399"/>
                </a:solidFill>
              </a:rPr>
              <a:t>Ruby </a:t>
            </a:r>
            <a:r>
              <a:rPr lang="en-US" altLang="en-US" dirty="0" smtClean="0">
                <a:solidFill>
                  <a:srgbClr val="333399"/>
                </a:solidFill>
              </a:rPr>
              <a:t>has two forms of </a:t>
            </a:r>
            <a:r>
              <a:rPr lang="en-US" altLang="en-US" u="sng" dirty="0">
                <a:solidFill>
                  <a:srgbClr val="333399"/>
                </a:solidFill>
              </a:rPr>
              <a:t>case </a:t>
            </a:r>
            <a:r>
              <a:rPr lang="en-US" altLang="en-US" u="sng" dirty="0" smtClean="0">
                <a:solidFill>
                  <a:srgbClr val="333399"/>
                </a:solidFill>
              </a:rPr>
              <a:t>expressions</a:t>
            </a:r>
          </a:p>
          <a:p>
            <a:pPr marL="744538" lvl="1" indent="-287338" eaLnBrk="1" hangingPunct="1"/>
            <a:r>
              <a:rPr lang="en-US" altLang="en-US" dirty="0" smtClean="0">
                <a:solidFill>
                  <a:srgbClr val="333399"/>
                </a:solidFill>
              </a:rPr>
              <a:t>Second form of case expression</a:t>
            </a:r>
          </a:p>
          <a:p>
            <a:pPr lvl="2" eaLnBrk="1" hangingPunct="1"/>
            <a:r>
              <a:rPr lang="en-US" altLang="en-US" dirty="0">
                <a:solidFill>
                  <a:srgbClr val="333399"/>
                </a:solidFill>
              </a:rPr>
              <a:t>U</a:t>
            </a:r>
            <a:r>
              <a:rPr lang="en-US" altLang="en-US" dirty="0" smtClean="0">
                <a:solidFill>
                  <a:srgbClr val="333399"/>
                </a:solidFill>
              </a:rPr>
              <a:t>ses a case value and </a:t>
            </a:r>
            <a:r>
              <a:rPr lang="en-US" altLang="en-US" dirty="0" smtClean="0">
                <a:solidFill>
                  <a:srgbClr val="3333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n-US" altLang="en-US" dirty="0" smtClean="0">
                <a:solidFill>
                  <a:srgbClr val="333399"/>
                </a:solidFill>
              </a:rPr>
              <a:t> values</a:t>
            </a:r>
          </a:p>
          <a:p>
            <a:pPr lvl="2" eaLnBrk="1" hangingPunct="1"/>
            <a:r>
              <a:rPr lang="en-US" altLang="en-US" smtClean="0">
                <a:solidFill>
                  <a:srgbClr val="333399"/>
                </a:solidFill>
              </a:rPr>
              <a:t>Works more </a:t>
            </a:r>
            <a:r>
              <a:rPr lang="en-US" altLang="en-US" dirty="0" smtClean="0">
                <a:solidFill>
                  <a:srgbClr val="333399"/>
                </a:solidFill>
              </a:rPr>
              <a:t>like a traditional switch</a:t>
            </a:r>
          </a:p>
          <a:p>
            <a:pPr lvl="2" eaLnBrk="1" hangingPunct="1"/>
            <a:r>
              <a:rPr lang="en-US" altLang="en-US" dirty="0" smtClean="0">
                <a:solidFill>
                  <a:srgbClr val="333399"/>
                </a:solidFill>
              </a:rPr>
              <a:t>For example</a:t>
            </a:r>
            <a:endParaRPr lang="en-US" altLang="en-US" dirty="0">
              <a:solidFill>
                <a:srgbClr val="333399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	  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val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=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case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in_val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urier New" panose="02070309020205020404" pitchFamily="49" charset="0"/>
              </a:rPr>
              <a:t>when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-1 </a:t>
            </a:r>
            <a:r>
              <a:rPr lang="en-US" altLang="en-US" sz="2000" b="1" dirty="0">
                <a:latin typeface="Courier New" panose="02070309020205020404" pitchFamily="49" charset="0"/>
              </a:rPr>
              <a:t>then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threshold </a:t>
            </a:r>
            <a:r>
              <a:rPr lang="en-US" altLang="en-US" sz="2000" dirty="0">
                <a:latin typeface="Courier New" panose="02070309020205020404" pitchFamily="49" charset="0"/>
              </a:rPr>
              <a:t>-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1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urier New" panose="02070309020205020404" pitchFamily="49" charset="0"/>
              </a:rPr>
              <a:t>when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0 </a:t>
            </a:r>
            <a:r>
              <a:rPr lang="en-US" altLang="en-US" sz="2000" b="1" dirty="0">
                <a:latin typeface="Courier New" panose="02070309020205020404" pitchFamily="49" charset="0"/>
              </a:rPr>
              <a:t>then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threshold</a:t>
            </a:r>
          </a:p>
          <a:p>
            <a:pPr eaLnBrk="1" hangingPunct="1"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       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when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1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then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threshold + 1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 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latin typeface="Courier New" panose="02070309020205020404" pitchFamily="49" charset="0"/>
              </a:rPr>
              <a:t>else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error_code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	    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 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end</a:t>
            </a: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323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49013DC-7B26-42DC-94C5-F7517BDBCCD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73043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Multiple-Way Selection Using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2378"/>
            <a:ext cx="8153400" cy="495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Multiple Selectors</a:t>
            </a:r>
          </a:p>
          <a:p>
            <a:pPr lvl="1" eaLnBrk="1" hangingPunct="1"/>
            <a:r>
              <a:rPr lang="en-US" altLang="en-US" dirty="0" smtClean="0"/>
              <a:t>Boolean multiple selection alternative to poorly readable nested two-way selection statements</a:t>
            </a:r>
          </a:p>
          <a:p>
            <a:pPr lvl="1" eaLnBrk="1" hangingPunct="1"/>
            <a:r>
              <a:rPr lang="en-US" altLang="en-US" dirty="0" smtClean="0"/>
              <a:t>For example, in Python:</a:t>
            </a:r>
          </a:p>
          <a:p>
            <a:pPr lvl="1" eaLnBrk="1" hangingPunct="1">
              <a:buFontTx/>
              <a:buNone/>
            </a:pPr>
            <a:endParaRPr lang="en-US" altLang="en-US" sz="700" dirty="0" smtClean="0"/>
          </a:p>
          <a:p>
            <a:pPr lvl="1" eaLnBrk="1" hangingPunct="1">
              <a:buFontTx/>
              <a:buNone/>
            </a:pP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count &lt; 10 :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bag1 = True</a:t>
            </a:r>
          </a:p>
          <a:p>
            <a:pPr lvl="1" eaLnBrk="1" hangingPunct="1">
              <a:buFontTx/>
              <a:buNone/>
            </a:pP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count &lt; 100 :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bag2 = True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count &lt; 1000 :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bag3 = True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8489</TotalTime>
  <Words>1356</Words>
  <Application>Microsoft Office PowerPoint</Application>
  <PresentationFormat>On-screen Show (4:3)</PresentationFormat>
  <Paragraphs>294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Courier New</vt:lpstr>
      <vt:lpstr>Lucida Sans Unicode</vt:lpstr>
      <vt:lpstr>Times</vt:lpstr>
      <vt:lpstr>1_sebesta</vt:lpstr>
      <vt:lpstr>Chapter 8 Part 1</vt:lpstr>
      <vt:lpstr>Chapter 8 Topics</vt:lpstr>
      <vt:lpstr>Control Statements: Evolution</vt:lpstr>
      <vt:lpstr>Control Structure</vt:lpstr>
      <vt:lpstr>Selection Statements</vt:lpstr>
      <vt:lpstr>Two-Way Selection Statements</vt:lpstr>
      <vt:lpstr>The Control Expression</vt:lpstr>
      <vt:lpstr>Clause Form &amp; Disambiguating Nested Selectors</vt:lpstr>
      <vt:lpstr>Clause Form &amp; Disambiguating Nested Selectors</vt:lpstr>
      <vt:lpstr>Clause Form &amp; Disambiguating Nested Selectors</vt:lpstr>
      <vt:lpstr>Clause Form &amp; Disambiguating Nested Selectors</vt:lpstr>
      <vt:lpstr>Clause Form &amp; Disambiguating Nested Selectors</vt:lpstr>
      <vt:lpstr>Selector Expressions</vt:lpstr>
      <vt:lpstr>Multiple-Way Selection Statements</vt:lpstr>
      <vt:lpstr>Multiple-Way Selection: Examples</vt:lpstr>
      <vt:lpstr>Multiple-Way Selection: Examples</vt:lpstr>
      <vt:lpstr>Multiple-Way Selection: Examples</vt:lpstr>
      <vt:lpstr>PowerPoint Presentation</vt:lpstr>
      <vt:lpstr>PowerPoint Presentation</vt:lpstr>
      <vt:lpstr>Multiple-Way Selection Using if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344</cp:revision>
  <dcterms:created xsi:type="dcterms:W3CDTF">2003-08-01T12:29:19Z</dcterms:created>
  <dcterms:modified xsi:type="dcterms:W3CDTF">2026-05-11T18:48:09Z</dcterms:modified>
</cp:coreProperties>
</file>