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26"/>
  </p:notesMasterIdLst>
  <p:handoutMasterIdLst>
    <p:handoutMasterId r:id="rId27"/>
  </p:handoutMasterIdLst>
  <p:sldIdLst>
    <p:sldId id="331" r:id="rId2"/>
    <p:sldId id="258" r:id="rId3"/>
    <p:sldId id="349" r:id="rId4"/>
    <p:sldId id="375" r:id="rId5"/>
    <p:sldId id="386" r:id="rId6"/>
    <p:sldId id="387" r:id="rId7"/>
    <p:sldId id="376" r:id="rId8"/>
    <p:sldId id="388" r:id="rId9"/>
    <p:sldId id="377" r:id="rId10"/>
    <p:sldId id="355" r:id="rId11"/>
    <p:sldId id="379" r:id="rId12"/>
    <p:sldId id="358" r:id="rId13"/>
    <p:sldId id="359" r:id="rId14"/>
    <p:sldId id="392" r:id="rId15"/>
    <p:sldId id="360" r:id="rId16"/>
    <p:sldId id="381" r:id="rId17"/>
    <p:sldId id="380" r:id="rId18"/>
    <p:sldId id="364" r:id="rId19"/>
    <p:sldId id="370" r:id="rId20"/>
    <p:sldId id="390" r:id="rId21"/>
    <p:sldId id="366" r:id="rId22"/>
    <p:sldId id="367" r:id="rId23"/>
    <p:sldId id="368" r:id="rId24"/>
    <p:sldId id="369" r:id="rId2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691" autoAdjust="0"/>
    <p:restoredTop sz="86424" autoAdjust="0"/>
  </p:normalViewPr>
  <p:slideViewPr>
    <p:cSldViewPr>
      <p:cViewPr varScale="1">
        <p:scale>
          <a:sx n="73" d="100"/>
          <a:sy n="73" d="100"/>
        </p:scale>
        <p:origin x="110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717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717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717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B2EFF0E-E4D9-4756-83FD-DC88D9DE75F8}" type="slidenum">
              <a:rPr lang="en-US" altLang="en-US"/>
              <a:pPr>
                <a:defRPr/>
              </a:pPr>
              <a:t>‹#›</a:t>
            </a:fld>
            <a:endParaRPr lang="en-US" altLang="en-US"/>
          </a:p>
        </p:txBody>
      </p:sp>
    </p:spTree>
    <p:extLst>
      <p:ext uri="{BB962C8B-B14F-4D97-AF65-F5344CB8AC3E}">
        <p14:creationId xmlns:p14="http://schemas.microsoft.com/office/powerpoint/2010/main" val="40078926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D1A5603-CFB2-494A-964E-95B412747547}" type="slidenum">
              <a:rPr lang="en-US" altLang="en-US"/>
              <a:pPr>
                <a:defRPr/>
              </a:pPr>
              <a:t>‹#›</a:t>
            </a:fld>
            <a:endParaRPr lang="en-US" altLang="en-US"/>
          </a:p>
        </p:txBody>
      </p:sp>
    </p:spTree>
    <p:extLst>
      <p:ext uri="{BB962C8B-B14F-4D97-AF65-F5344CB8AC3E}">
        <p14:creationId xmlns:p14="http://schemas.microsoft.com/office/powerpoint/2010/main" val="26621750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F317006-9252-4F01-9F7E-62078E751D5F}" type="slidenum">
              <a:rPr lang="en-US" altLang="en-US" sz="1200" smtClean="0"/>
              <a:pPr/>
              <a:t>1</a:t>
            </a:fld>
            <a:endParaRPr lang="en-US" altLang="en-US" sz="1200" smtClean="0"/>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160624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2226CF7-001B-4F15-85EC-C0DBB46FD30E}" type="slidenum">
              <a:rPr lang="en-US" altLang="en-US" sz="1200" smtClean="0"/>
              <a:pPr/>
              <a:t>2</a:t>
            </a:fld>
            <a:endParaRPr lang="en-US" altLang="en-US" sz="1200" smtClean="0"/>
          </a:p>
        </p:txBody>
      </p:sp>
      <p:sp>
        <p:nvSpPr>
          <p:cNvPr id="8195" name="Rectangle 2"/>
          <p:cNvSpPr>
            <a:spLocks noGrp="1" noRot="1" noChangeAspect="1" noChangeArrowheads="1" noTextEdit="1"/>
          </p:cNvSpPr>
          <p:nvPr>
            <p:ph type="sldImg"/>
          </p:nvPr>
        </p:nvSpPr>
        <p:spPr>
          <a:solidFill>
            <a:srgbClr val="FFFFFF"/>
          </a:solidFill>
          <a:ln/>
        </p:spPr>
      </p:sp>
      <p:sp>
        <p:nvSpPr>
          <p:cNvPr id="8196" name="Rectangle 3"/>
          <p:cNvSpPr>
            <a:spLocks noGrp="1" noChangeArrowheads="1"/>
          </p:cNvSpPr>
          <p:nvPr>
            <p:ph type="body" idx="1"/>
          </p:nvPr>
        </p:nvSpPr>
        <p:spPr>
          <a:solidFill>
            <a:srgbClr val="FFFFFF"/>
          </a:solidFill>
          <a:ln>
            <a:solidFill>
              <a:srgbClr val="000000"/>
            </a:solidFill>
          </a:ln>
        </p:spPr>
        <p:txBody>
          <a:bodyPr lIns="90004" tIns="45002" rIns="90004" bIns="45002"/>
          <a:lstStyle/>
          <a:p>
            <a:pPr eaLnBrk="1" hangingPunct="1"/>
            <a:endParaRPr lang="en-US" altLang="en-US" smtClean="0"/>
          </a:p>
        </p:txBody>
      </p:sp>
    </p:spTree>
    <p:extLst>
      <p:ext uri="{BB962C8B-B14F-4D97-AF65-F5344CB8AC3E}">
        <p14:creationId xmlns:p14="http://schemas.microsoft.com/office/powerpoint/2010/main" val="3908506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9B4ED6D-1773-48EA-98BA-4238DE42E958}" type="slidenum">
              <a:rPr lang="en-US" altLang="en-US" sz="1300" smtClean="0"/>
              <a:pPr/>
              <a:t>3</a:t>
            </a:fld>
            <a:endParaRPr lang="en-US" altLang="en-US" sz="1300" smtClean="0"/>
          </a:p>
        </p:txBody>
      </p:sp>
      <p:sp>
        <p:nvSpPr>
          <p:cNvPr id="48131" name="Rectangle 2"/>
          <p:cNvSpPr>
            <a:spLocks noGrp="1" noRot="1" noChangeAspect="1" noChangeArrowheads="1" noTextEdit="1"/>
          </p:cNvSpPr>
          <p:nvPr>
            <p:ph type="sldImg"/>
          </p:nvPr>
        </p:nvSpPr>
        <p:spPr>
          <a:xfrm>
            <a:off x="992188" y="768350"/>
            <a:ext cx="5114925" cy="3836988"/>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The second design decision relates to whether the control mechanism is at the top of the statement (like a while loop), the bottom of the statement (like a do-while loop), or somewhere else (like a for loop, which places it in the middle of three control statements at the top of the loop).</a:t>
            </a:r>
            <a:endParaRPr lang="en-GB" altLang="en-US" dirty="0" smtClean="0"/>
          </a:p>
        </p:txBody>
      </p:sp>
    </p:spTree>
    <p:extLst>
      <p:ext uri="{BB962C8B-B14F-4D97-AF65-F5344CB8AC3E}">
        <p14:creationId xmlns:p14="http://schemas.microsoft.com/office/powerpoint/2010/main" val="3435527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9B4ED6D-1773-48EA-98BA-4238DE42E958}" type="slidenum">
              <a:rPr lang="en-US" altLang="en-US" sz="1300" smtClean="0"/>
              <a:pPr/>
              <a:t>4</a:t>
            </a:fld>
            <a:endParaRPr lang="en-US" altLang="en-US" sz="1300" smtClean="0"/>
          </a:p>
        </p:txBody>
      </p:sp>
      <p:sp>
        <p:nvSpPr>
          <p:cNvPr id="48131" name="Rectangle 2"/>
          <p:cNvSpPr>
            <a:spLocks noGrp="1" noRot="1" noChangeAspect="1" noChangeArrowheads="1" noTextEdit="1"/>
          </p:cNvSpPr>
          <p:nvPr>
            <p:ph type="sldImg"/>
          </p:nvPr>
        </p:nvSpPr>
        <p:spPr>
          <a:xfrm>
            <a:off x="992188" y="768350"/>
            <a:ext cx="5114925" cy="3836988"/>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387016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9B4ED6D-1773-48EA-98BA-4238DE42E958}" type="slidenum">
              <a:rPr lang="en-US" altLang="en-US" sz="1300" smtClean="0"/>
              <a:pPr/>
              <a:t>5</a:t>
            </a:fld>
            <a:endParaRPr lang="en-US" altLang="en-US" sz="1300" smtClean="0"/>
          </a:p>
        </p:txBody>
      </p:sp>
      <p:sp>
        <p:nvSpPr>
          <p:cNvPr id="48131" name="Rectangle 2"/>
          <p:cNvSpPr>
            <a:spLocks noGrp="1" noRot="1" noChangeAspect="1" noChangeArrowheads="1" noTextEdit="1"/>
          </p:cNvSpPr>
          <p:nvPr>
            <p:ph type="sldImg"/>
          </p:nvPr>
        </p:nvSpPr>
        <p:spPr>
          <a:xfrm>
            <a:off x="992188" y="768350"/>
            <a:ext cx="5114925" cy="3836988"/>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As you should know, typically expr_1</a:t>
            </a:r>
            <a:r>
              <a:rPr lang="en-GB" altLang="en-US" baseline="0" dirty="0" smtClean="0"/>
              <a:t> is used to initialise the loop variable, expr_2 is the loop condition (evaluated at the start of each iteration), and expr_3 is the loop variable update (evaluated at the end of each iteration).</a:t>
            </a:r>
            <a:endParaRPr lang="en-GB" altLang="en-US" dirty="0" smtClean="0"/>
          </a:p>
        </p:txBody>
      </p:sp>
    </p:spTree>
    <p:extLst>
      <p:ext uri="{BB962C8B-B14F-4D97-AF65-F5344CB8AC3E}">
        <p14:creationId xmlns:p14="http://schemas.microsoft.com/office/powerpoint/2010/main" val="444151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9B4ED6D-1773-48EA-98BA-4238DE42E958}" type="slidenum">
              <a:rPr lang="en-US" altLang="en-US" sz="1300" smtClean="0"/>
              <a:pPr/>
              <a:t>6</a:t>
            </a:fld>
            <a:endParaRPr lang="en-US" altLang="en-US" sz="1300" smtClean="0"/>
          </a:p>
        </p:txBody>
      </p:sp>
      <p:sp>
        <p:nvSpPr>
          <p:cNvPr id="48131" name="Rectangle 2"/>
          <p:cNvSpPr>
            <a:spLocks noGrp="1" noRot="1" noChangeAspect="1" noChangeArrowheads="1" noTextEdit="1"/>
          </p:cNvSpPr>
          <p:nvPr>
            <p:ph type="sldImg"/>
          </p:nvPr>
        </p:nvSpPr>
        <p:spPr>
          <a:xfrm>
            <a:off x="992188" y="768350"/>
            <a:ext cx="5114925" cy="3836988"/>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How do these decisions</a:t>
            </a:r>
            <a:r>
              <a:rPr lang="en-GB" altLang="en-US" baseline="0" dirty="0" smtClean="0"/>
              <a:t> affect the programming language evaluation criteria?</a:t>
            </a:r>
            <a:endParaRPr lang="en-GB" altLang="en-US" dirty="0" smtClean="0"/>
          </a:p>
        </p:txBody>
      </p:sp>
    </p:spTree>
    <p:extLst>
      <p:ext uri="{BB962C8B-B14F-4D97-AF65-F5344CB8AC3E}">
        <p14:creationId xmlns:p14="http://schemas.microsoft.com/office/powerpoint/2010/main" val="1221431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9B4ED6D-1773-48EA-98BA-4238DE42E958}" type="slidenum">
              <a:rPr lang="en-US" altLang="en-US" sz="1300" smtClean="0"/>
              <a:pPr/>
              <a:t>7</a:t>
            </a:fld>
            <a:endParaRPr lang="en-US" altLang="en-US" sz="1300" smtClean="0"/>
          </a:p>
        </p:txBody>
      </p:sp>
      <p:sp>
        <p:nvSpPr>
          <p:cNvPr id="48131" name="Rectangle 2"/>
          <p:cNvSpPr>
            <a:spLocks noGrp="1" noRot="1" noChangeAspect="1" noChangeArrowheads="1" noTextEdit="1"/>
          </p:cNvSpPr>
          <p:nvPr>
            <p:ph type="sldImg"/>
          </p:nvPr>
        </p:nvSpPr>
        <p:spPr>
          <a:xfrm>
            <a:off x="992188" y="768350"/>
            <a:ext cx="5114925" cy="3836988"/>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107033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9B4ED6D-1773-48EA-98BA-4238DE42E958}" type="slidenum">
              <a:rPr lang="en-US" altLang="en-US" sz="1300" smtClean="0"/>
              <a:pPr/>
              <a:t>8</a:t>
            </a:fld>
            <a:endParaRPr lang="en-US" altLang="en-US" sz="1300" smtClean="0"/>
          </a:p>
        </p:txBody>
      </p:sp>
      <p:sp>
        <p:nvSpPr>
          <p:cNvPr id="48131" name="Rectangle 2"/>
          <p:cNvSpPr>
            <a:spLocks noGrp="1" noRot="1" noChangeAspect="1" noChangeArrowheads="1" noTextEdit="1"/>
          </p:cNvSpPr>
          <p:nvPr>
            <p:ph type="sldImg"/>
          </p:nvPr>
        </p:nvSpPr>
        <p:spPr>
          <a:xfrm>
            <a:off x="992188" y="768350"/>
            <a:ext cx="5114925" cy="3836988"/>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The else clause is not commonly seen in other programming languages. Can you think of a situation in which it might be useful?</a:t>
            </a:r>
          </a:p>
        </p:txBody>
      </p:sp>
    </p:spTree>
    <p:extLst>
      <p:ext uri="{BB962C8B-B14F-4D97-AF65-F5344CB8AC3E}">
        <p14:creationId xmlns:p14="http://schemas.microsoft.com/office/powerpoint/2010/main" val="20989059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B5D6A69-5330-4EB2-96FC-252347D740E0}" type="slidenum">
              <a:rPr lang="en-US" altLang="en-US" sz="1300" smtClean="0"/>
              <a:pPr/>
              <a:t>9</a:t>
            </a:fld>
            <a:endParaRPr lang="en-US" altLang="en-US" sz="1300" smtClean="0"/>
          </a:p>
        </p:txBody>
      </p:sp>
      <p:sp>
        <p:nvSpPr>
          <p:cNvPr id="62467" name="Rectangle 2"/>
          <p:cNvSpPr>
            <a:spLocks noGrp="1" noRot="1" noChangeAspect="1" noChangeArrowheads="1" noTextEdit="1"/>
          </p:cNvSpPr>
          <p:nvPr>
            <p:ph type="sldImg"/>
          </p:nvPr>
        </p:nvSpPr>
        <p:spPr>
          <a:xfrm>
            <a:off x="992188" y="768350"/>
            <a:ext cx="5114925" cy="3836988"/>
          </a:xfrm>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240822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575CCD7-EE6C-4838-8E22-752823C4AD40}" type="slidenum">
              <a:rPr lang="en-US" altLang="en-US" sz="1300" smtClean="0"/>
              <a:pPr/>
              <a:t>10</a:t>
            </a:fld>
            <a:endParaRPr lang="en-US" altLang="en-US" sz="1300" smtClean="0"/>
          </a:p>
        </p:txBody>
      </p:sp>
      <p:sp>
        <p:nvSpPr>
          <p:cNvPr id="64515" name="Rectangle 2"/>
          <p:cNvSpPr>
            <a:spLocks noGrp="1" noRot="1" noChangeAspect="1" noChangeArrowheads="1" noTextEdit="1"/>
          </p:cNvSpPr>
          <p:nvPr>
            <p:ph type="sldImg"/>
          </p:nvPr>
        </p:nvSpPr>
        <p:spPr>
          <a:xfrm>
            <a:off x="992188" y="768350"/>
            <a:ext cx="5114925" cy="3836988"/>
          </a:xfrm>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As you should know, a </a:t>
            </a:r>
            <a:r>
              <a:rPr lang="en-GB" altLang="en-US" dirty="0" err="1" smtClean="0"/>
              <a:t>pretest</a:t>
            </a:r>
            <a:r>
              <a:rPr lang="en-GB" altLang="en-US" dirty="0" smtClean="0"/>
              <a:t> while loop evaluates</a:t>
            </a:r>
            <a:r>
              <a:rPr lang="en-GB" altLang="en-US" baseline="0" dirty="0" smtClean="0"/>
              <a:t> the control expression before the first iteration (meaning the loop body may never execute), while the </a:t>
            </a:r>
            <a:r>
              <a:rPr lang="en-GB" altLang="en-US" baseline="0" dirty="0" err="1" smtClean="0"/>
              <a:t>posttest</a:t>
            </a:r>
            <a:r>
              <a:rPr lang="en-GB" altLang="en-US" baseline="0" dirty="0" smtClean="0"/>
              <a:t> while loop evaluates the control expression after the first iteration (meaning the loop body executes at least once).</a:t>
            </a:r>
          </a:p>
        </p:txBody>
      </p:sp>
    </p:spTree>
    <p:extLst>
      <p:ext uri="{BB962C8B-B14F-4D97-AF65-F5344CB8AC3E}">
        <p14:creationId xmlns:p14="http://schemas.microsoft.com/office/powerpoint/2010/main" val="596592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50836AD-108C-4B91-AD2D-287A09A51DC4}" type="slidenum">
              <a:rPr lang="en-US" altLang="en-US" sz="1300" smtClean="0"/>
              <a:pPr/>
              <a:t>11</a:t>
            </a:fld>
            <a:endParaRPr lang="en-US" altLang="en-US" sz="1300" smtClean="0"/>
          </a:p>
        </p:txBody>
      </p:sp>
      <p:sp>
        <p:nvSpPr>
          <p:cNvPr id="68611" name="Rectangle 2"/>
          <p:cNvSpPr>
            <a:spLocks noGrp="1" noRot="1" noChangeAspect="1" noChangeArrowheads="1" noTextEdit="1"/>
          </p:cNvSpPr>
          <p:nvPr>
            <p:ph type="sldImg"/>
          </p:nvPr>
        </p:nvSpPr>
        <p:spPr>
          <a:xfrm>
            <a:off x="992188" y="768350"/>
            <a:ext cx="5114925" cy="3836988"/>
          </a:xfrm>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Design issue 1 relates to whether a condition should be part of a break or continue statement, or whether a programmer is responsible for the condition themselves. C++ and Java require the programmer to include whichever condition they want using a selection statement. For example:</a:t>
            </a:r>
          </a:p>
          <a:p>
            <a:pPr eaLnBrk="1" hangingPunct="1"/>
            <a:endParaRPr lang="en-GB" altLang="en-US" dirty="0" smtClean="0"/>
          </a:p>
          <a:p>
            <a:pPr eaLnBrk="1" hangingPunct="1"/>
            <a:r>
              <a:rPr lang="en-GB" altLang="en-US" dirty="0" smtClean="0"/>
              <a:t>while (test)</a:t>
            </a:r>
          </a:p>
          <a:p>
            <a:pPr eaLnBrk="1" hangingPunct="1"/>
            <a:r>
              <a:rPr lang="en-GB" altLang="en-US" dirty="0" smtClean="0"/>
              <a:t>{</a:t>
            </a:r>
          </a:p>
          <a:p>
            <a:pPr eaLnBrk="1" hangingPunct="1"/>
            <a:r>
              <a:rPr lang="en-GB" altLang="en-US" dirty="0" smtClean="0"/>
              <a:t>   …</a:t>
            </a:r>
          </a:p>
          <a:p>
            <a:pPr eaLnBrk="1" hangingPunct="1"/>
            <a:r>
              <a:rPr lang="en-GB" altLang="en-US" dirty="0" smtClean="0"/>
              <a:t>   if (something == </a:t>
            </a:r>
            <a:r>
              <a:rPr lang="en-GB" altLang="en-US" dirty="0" err="1" smtClean="0"/>
              <a:t>somethingElse</a:t>
            </a:r>
            <a:r>
              <a:rPr lang="en-GB" altLang="en-US" dirty="0" smtClean="0"/>
              <a:t>)</a:t>
            </a:r>
          </a:p>
          <a:p>
            <a:pPr eaLnBrk="1" hangingPunct="1"/>
            <a:r>
              <a:rPr lang="en-GB" altLang="en-US" dirty="0" smtClean="0"/>
              <a:t>   {</a:t>
            </a:r>
          </a:p>
          <a:p>
            <a:pPr eaLnBrk="1" hangingPunct="1"/>
            <a:r>
              <a:rPr lang="en-GB" altLang="en-US" dirty="0" smtClean="0"/>
              <a:t>      break;</a:t>
            </a:r>
          </a:p>
          <a:p>
            <a:pPr eaLnBrk="1" hangingPunct="1"/>
            <a:r>
              <a:rPr lang="en-GB" altLang="en-US" dirty="0" smtClean="0"/>
              <a:t>   }</a:t>
            </a:r>
          </a:p>
          <a:p>
            <a:pPr eaLnBrk="1" hangingPunct="1"/>
            <a:r>
              <a:rPr lang="en-GB" altLang="en-US" dirty="0" smtClean="0"/>
              <a:t>}</a:t>
            </a:r>
          </a:p>
          <a:p>
            <a:pPr eaLnBrk="1" hangingPunct="1"/>
            <a:endParaRPr lang="en-GB" altLang="en-US" dirty="0" smtClean="0"/>
          </a:p>
          <a:p>
            <a:pPr eaLnBrk="1" hangingPunct="1"/>
            <a:r>
              <a:rPr lang="en-GB" altLang="en-US" dirty="0" smtClean="0"/>
              <a:t>It is possible for a break or continue to incorporate a condition (similar to the if statement’s condition in the example). Something like this:</a:t>
            </a:r>
          </a:p>
          <a:p>
            <a:pPr eaLnBrk="1" hangingPunct="1"/>
            <a:endParaRPr lang="en-GB" altLang="en-US" dirty="0" smtClean="0"/>
          </a:p>
          <a:p>
            <a:pPr eaLnBrk="1" hangingPunct="1"/>
            <a:r>
              <a:rPr lang="en-GB" altLang="en-US" dirty="0" smtClean="0"/>
              <a:t>break (something == </a:t>
            </a:r>
            <a:r>
              <a:rPr lang="en-GB" altLang="en-US" dirty="0" err="1" smtClean="0"/>
              <a:t>somethingElse</a:t>
            </a:r>
            <a:r>
              <a:rPr lang="en-GB" altLang="en-US" dirty="0" smtClean="0"/>
              <a:t>);</a:t>
            </a:r>
          </a:p>
          <a:p>
            <a:pPr eaLnBrk="1" hangingPunct="1"/>
            <a:endParaRPr lang="en-GB" altLang="en-US" dirty="0" smtClean="0"/>
          </a:p>
          <a:p>
            <a:pPr eaLnBrk="1" hangingPunct="1"/>
            <a:r>
              <a:rPr lang="en-GB" altLang="en-US" dirty="0" smtClean="0"/>
              <a:t>What would the effect of this be in terms of the language evaluation criteria?</a:t>
            </a:r>
          </a:p>
          <a:p>
            <a:pPr eaLnBrk="1" hangingPunct="1"/>
            <a:endParaRPr lang="en-GB" altLang="en-US" dirty="0" smtClean="0"/>
          </a:p>
          <a:p>
            <a:pPr eaLnBrk="1" hangingPunct="1"/>
            <a:r>
              <a:rPr lang="en-GB" altLang="en-US" dirty="0" smtClean="0"/>
              <a:t>The second design issue requires </a:t>
            </a:r>
            <a:r>
              <a:rPr lang="en-GB" altLang="en-US" dirty="0" err="1" smtClean="0"/>
              <a:t>labeled</a:t>
            </a:r>
            <a:r>
              <a:rPr lang="en-GB" altLang="en-US" dirty="0" smtClean="0"/>
              <a:t> break or continue statements (see the slide 35).</a:t>
            </a:r>
          </a:p>
        </p:txBody>
      </p:sp>
    </p:spTree>
    <p:extLst>
      <p:ext uri="{BB962C8B-B14F-4D97-AF65-F5344CB8AC3E}">
        <p14:creationId xmlns:p14="http://schemas.microsoft.com/office/powerpoint/2010/main" val="68699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88FF609-3768-470B-94A5-2BE0E559F530}" type="slidenum">
              <a:rPr lang="en-US" altLang="en-US" sz="1300" smtClean="0"/>
              <a:pPr/>
              <a:t>12</a:t>
            </a:fld>
            <a:endParaRPr lang="en-US" altLang="en-US" sz="1300" smtClean="0"/>
          </a:p>
        </p:txBody>
      </p:sp>
      <p:sp>
        <p:nvSpPr>
          <p:cNvPr id="70659" name="Rectangle 2"/>
          <p:cNvSpPr>
            <a:spLocks noGrp="1" noRot="1" noChangeAspect="1" noChangeArrowheads="1" noTextEdit="1"/>
          </p:cNvSpPr>
          <p:nvPr>
            <p:ph type="sldImg"/>
          </p:nvPr>
        </p:nvSpPr>
        <p:spPr>
          <a:xfrm>
            <a:off x="992188" y="768350"/>
            <a:ext cx="5114925" cy="3836988"/>
          </a:xfrm>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35295510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If xxx is second, the break behaves the same way as in C or C++ (i.e. the inner loop terminates, and control moves on to the next iteration of the outer loop). If xxx is first, the break terminates both loops, and execution</a:t>
            </a:r>
            <a:r>
              <a:rPr lang="en-ZA" altLang="en-US" baseline="0" dirty="0" smtClean="0"/>
              <a:t> continues</a:t>
            </a:r>
            <a:r>
              <a:rPr lang="en-ZA" altLang="en-US" dirty="0" smtClean="0"/>
              <a:t> after the outer loop.</a:t>
            </a:r>
          </a:p>
          <a:p>
            <a:endParaRPr lang="en-ZA" altLang="en-US" dirty="0" smtClean="0"/>
          </a:p>
          <a:p>
            <a:r>
              <a:rPr lang="en-ZA" altLang="en-US" dirty="0" smtClean="0"/>
              <a:t>The</a:t>
            </a:r>
            <a:r>
              <a:rPr lang="en-ZA" altLang="en-US" baseline="0" dirty="0" smtClean="0"/>
              <a:t> same is possible with the continue loop control mechanism, with the difference being that the loop in question doesn’t terminate, but rather skips the rest of the loop body and begins with its next iteration.</a:t>
            </a:r>
            <a:endParaRPr lang="en-ZA" altLang="en-US" dirty="0" smtClean="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FDD365C-47A2-4479-B427-D32C34AF69DF}" type="slidenum">
              <a:rPr lang="en-US" altLang="en-US" sz="1200" smtClean="0"/>
              <a:pPr/>
              <a:t>13</a:t>
            </a:fld>
            <a:endParaRPr lang="en-US" altLang="en-US" sz="1200" smtClean="0"/>
          </a:p>
        </p:txBody>
      </p:sp>
    </p:spTree>
    <p:extLst>
      <p:ext uri="{BB962C8B-B14F-4D97-AF65-F5344CB8AC3E}">
        <p14:creationId xmlns:p14="http://schemas.microsoft.com/office/powerpoint/2010/main" val="1648231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ZA" altLang="en-US" dirty="0" smtClean="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FDD365C-47A2-4479-B427-D32C34AF69DF}" type="slidenum">
              <a:rPr lang="en-US" altLang="en-US" sz="1200" smtClean="0"/>
              <a:pPr/>
              <a:t>14</a:t>
            </a:fld>
            <a:endParaRPr lang="en-US" altLang="en-US" sz="1200" smtClean="0"/>
          </a:p>
        </p:txBody>
      </p:sp>
    </p:spTree>
    <p:extLst>
      <p:ext uri="{BB962C8B-B14F-4D97-AF65-F5344CB8AC3E}">
        <p14:creationId xmlns:p14="http://schemas.microsoft.com/office/powerpoint/2010/main" val="1879409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66C7455-24FE-4CC9-A236-FD7C0E0116C6}" type="slidenum">
              <a:rPr lang="en-US" altLang="en-US" sz="1300" smtClean="0"/>
              <a:pPr/>
              <a:t>15</a:t>
            </a:fld>
            <a:endParaRPr lang="en-US" altLang="en-US" sz="1300" smtClean="0"/>
          </a:p>
        </p:txBody>
      </p:sp>
      <p:sp>
        <p:nvSpPr>
          <p:cNvPr id="74755" name="Rectangle 2"/>
          <p:cNvSpPr>
            <a:spLocks noGrp="1" noRot="1" noChangeAspect="1" noChangeArrowheads="1" noTextEdit="1"/>
          </p:cNvSpPr>
          <p:nvPr>
            <p:ph type="sldImg"/>
          </p:nvPr>
        </p:nvSpPr>
        <p:spPr>
          <a:xfrm>
            <a:off x="992188" y="768350"/>
            <a:ext cx="5114925" cy="3836988"/>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980608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66C7455-24FE-4CC9-A236-FD7C0E0116C6}" type="slidenum">
              <a:rPr lang="en-US" altLang="en-US" sz="1300" smtClean="0"/>
              <a:pPr/>
              <a:t>16</a:t>
            </a:fld>
            <a:endParaRPr lang="en-US" altLang="en-US" sz="1300" smtClean="0"/>
          </a:p>
        </p:txBody>
      </p:sp>
      <p:sp>
        <p:nvSpPr>
          <p:cNvPr id="74755" name="Rectangle 2"/>
          <p:cNvSpPr>
            <a:spLocks noGrp="1" noRot="1" noChangeAspect="1" noChangeArrowheads="1" noTextEdit="1"/>
          </p:cNvSpPr>
          <p:nvPr>
            <p:ph type="sldImg"/>
          </p:nvPr>
        </p:nvSpPr>
        <p:spPr>
          <a:xfrm>
            <a:off x="992188" y="768350"/>
            <a:ext cx="5114925" cy="3836988"/>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Here is an example of a loop that iterates through an array named transport:</a:t>
            </a:r>
          </a:p>
          <a:p>
            <a:pPr eaLnBrk="1" hangingPunct="1"/>
            <a:endParaRPr lang="en-GB" altLang="en-US" dirty="0" smtClean="0"/>
          </a:p>
          <a:p>
            <a:pPr eaLnBrk="1" hangingPunct="1"/>
            <a:r>
              <a:rPr lang="en-GB" altLang="en-US" dirty="0" smtClean="0"/>
              <a:t>$transport = array('foot', 'bike', 'car', 'plane');</a:t>
            </a:r>
          </a:p>
          <a:p>
            <a:pPr eaLnBrk="1" hangingPunct="1"/>
            <a:endParaRPr lang="en-GB" altLang="en-US" dirty="0" smtClean="0"/>
          </a:p>
          <a:p>
            <a:pPr eaLnBrk="1" hangingPunct="1"/>
            <a:r>
              <a:rPr lang="en-GB" altLang="en-US" dirty="0" smtClean="0"/>
              <a:t>while (current($transport) != 'car') {</a:t>
            </a:r>
          </a:p>
          <a:p>
            <a:pPr eaLnBrk="1" hangingPunct="1"/>
            <a:r>
              <a:rPr lang="en-GB" altLang="en-US" baseline="0" dirty="0" smtClean="0"/>
              <a:t>    </a:t>
            </a:r>
            <a:r>
              <a:rPr lang="en-GB" altLang="en-US" dirty="0" smtClean="0"/>
              <a:t>echo current($transport), " ";</a:t>
            </a:r>
          </a:p>
          <a:p>
            <a:pPr eaLnBrk="1" hangingPunct="1"/>
            <a:r>
              <a:rPr lang="en-GB" altLang="en-US" dirty="0" smtClean="0"/>
              <a:t>    next($transport);</a:t>
            </a:r>
          </a:p>
          <a:p>
            <a:pPr eaLnBrk="1" hangingPunct="1"/>
            <a:r>
              <a:rPr lang="en-GB" altLang="en-US" dirty="0" smtClean="0"/>
              <a:t>}</a:t>
            </a:r>
          </a:p>
          <a:p>
            <a:pPr eaLnBrk="1" hangingPunct="1"/>
            <a:endParaRPr lang="en-GB" altLang="en-US" dirty="0" smtClean="0"/>
          </a:p>
          <a:p>
            <a:pPr eaLnBrk="1" hangingPunct="1"/>
            <a:r>
              <a:rPr lang="en-GB" altLang="en-US" dirty="0" smtClean="0"/>
              <a:t>The output of this program code will be:</a:t>
            </a:r>
          </a:p>
          <a:p>
            <a:pPr eaLnBrk="1" hangingPunct="1"/>
            <a:endParaRPr lang="en-GB" altLang="en-US" dirty="0" smtClean="0"/>
          </a:p>
          <a:p>
            <a:pPr eaLnBrk="1" hangingPunct="1"/>
            <a:r>
              <a:rPr lang="en-GB" altLang="en-US" dirty="0" smtClean="0"/>
              <a:t>foot bike</a:t>
            </a:r>
          </a:p>
        </p:txBody>
      </p:sp>
    </p:spTree>
    <p:extLst>
      <p:ext uri="{BB962C8B-B14F-4D97-AF65-F5344CB8AC3E}">
        <p14:creationId xmlns:p14="http://schemas.microsoft.com/office/powerpoint/2010/main" val="28622135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D9A57E9-32C7-48ED-901C-896281A623EF}" type="slidenum">
              <a:rPr lang="en-US" altLang="en-US" sz="1300" smtClean="0"/>
              <a:pPr/>
              <a:t>17</a:t>
            </a:fld>
            <a:endParaRPr lang="en-US" altLang="en-US" sz="1300" smtClean="0"/>
          </a:p>
        </p:txBody>
      </p:sp>
      <p:sp>
        <p:nvSpPr>
          <p:cNvPr id="76803" name="Rectangle 2"/>
          <p:cNvSpPr>
            <a:spLocks noGrp="1" noRot="1" noChangeAspect="1" noChangeArrowheads="1" noTextEdit="1"/>
          </p:cNvSpPr>
          <p:nvPr>
            <p:ph type="sldImg"/>
          </p:nvPr>
        </p:nvSpPr>
        <p:spPr>
          <a:xfrm>
            <a:off x="992188" y="768350"/>
            <a:ext cx="5114925" cy="3836988"/>
          </a:xfrm>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GB" altLang="en-US" dirty="0" smtClean="0"/>
          </a:p>
        </p:txBody>
      </p:sp>
    </p:spTree>
    <p:extLst>
      <p:ext uri="{BB962C8B-B14F-4D97-AF65-F5344CB8AC3E}">
        <p14:creationId xmlns:p14="http://schemas.microsoft.com/office/powerpoint/2010/main" val="21208087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smtClean="0"/>
              <a:t>In the last example, x is also a formal parameter for the block.</a:t>
            </a: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18FF91C-5886-40BB-AF4D-6C44C1BA5AC5}" type="slidenum">
              <a:rPr lang="en-US" altLang="en-US" sz="1200" smtClean="0"/>
              <a:pPr/>
              <a:t>18</a:t>
            </a:fld>
            <a:endParaRPr lang="en-US" altLang="en-US" sz="1200" smtClean="0"/>
          </a:p>
        </p:txBody>
      </p:sp>
    </p:spTree>
    <p:extLst>
      <p:ext uri="{BB962C8B-B14F-4D97-AF65-F5344CB8AC3E}">
        <p14:creationId xmlns:p14="http://schemas.microsoft.com/office/powerpoint/2010/main" val="4051470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FABF0D5-81F5-4998-9ECB-1C2725B8AC2B}" type="slidenum">
              <a:rPr lang="en-US" altLang="en-US" sz="1300" smtClean="0"/>
              <a:pPr/>
              <a:t>19</a:t>
            </a:fld>
            <a:endParaRPr lang="en-US" altLang="en-US" sz="1300" smtClean="0"/>
          </a:p>
        </p:txBody>
      </p:sp>
      <p:sp>
        <p:nvSpPr>
          <p:cNvPr id="81923" name="Rectangle 2"/>
          <p:cNvSpPr>
            <a:spLocks noGrp="1" noRot="1" noChangeAspect="1" noChangeArrowheads="1" noTextEdit="1"/>
          </p:cNvSpPr>
          <p:nvPr>
            <p:ph type="sldImg"/>
          </p:nvPr>
        </p:nvSpPr>
        <p:spPr>
          <a:xfrm>
            <a:off x="992188" y="768350"/>
            <a:ext cx="5114925" cy="3836988"/>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Think of the yield as a return statement that doesn’t terminate the </a:t>
            </a:r>
            <a:r>
              <a:rPr lang="en-GB" altLang="en-US" dirty="0" err="1" smtClean="0"/>
              <a:t>fibonacci</a:t>
            </a:r>
            <a:r>
              <a:rPr lang="en-GB" altLang="en-US" dirty="0" smtClean="0"/>
              <a:t> method. Instead, it just makes the result available to a block associated with a call to the </a:t>
            </a:r>
            <a:r>
              <a:rPr lang="en-GB" altLang="en-US" dirty="0" err="1" smtClean="0"/>
              <a:t>fibonacci</a:t>
            </a:r>
            <a:r>
              <a:rPr lang="en-GB" altLang="en-US" dirty="0" smtClean="0"/>
              <a:t> method. Look at the last line of the code example. The </a:t>
            </a:r>
            <a:r>
              <a:rPr lang="en-GB" altLang="en-US" dirty="0" err="1" smtClean="0"/>
              <a:t>fibonacci</a:t>
            </a:r>
            <a:r>
              <a:rPr lang="en-GB" altLang="en-US" dirty="0" smtClean="0"/>
              <a:t> method generates each of the </a:t>
            </a:r>
            <a:r>
              <a:rPr lang="en-GB" altLang="en-US" dirty="0" err="1" smtClean="0"/>
              <a:t>fibonacci</a:t>
            </a:r>
            <a:r>
              <a:rPr lang="en-GB" altLang="en-US" dirty="0" smtClean="0"/>
              <a:t> numbers between 1 and 100. It doesn’t store these numbers, or print them out. Instead it simply executes a yield for each number, then lets the block handle what to do with those numbers. The block in this example simply prints each number as it is generated (</a:t>
            </a:r>
            <a:r>
              <a:rPr lang="en-GB" altLang="en-US" dirty="0" err="1" smtClean="0"/>
              <a:t>num</a:t>
            </a:r>
            <a:r>
              <a:rPr lang="en-GB" altLang="en-US" dirty="0" smtClean="0"/>
              <a:t> is the formal parameter of the block). You could just as easily have written a block to do something else with each of the generated numbers (e.g. double each one before printing, or adding them all together using a variable).</a:t>
            </a:r>
          </a:p>
        </p:txBody>
      </p:sp>
    </p:spTree>
    <p:extLst>
      <p:ext uri="{BB962C8B-B14F-4D97-AF65-F5344CB8AC3E}">
        <p14:creationId xmlns:p14="http://schemas.microsoft.com/office/powerpoint/2010/main" val="1087783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FABF0D5-81F5-4998-9ECB-1C2725B8AC2B}" type="slidenum">
              <a:rPr lang="en-US" altLang="en-US" sz="1300" smtClean="0"/>
              <a:pPr/>
              <a:t>20</a:t>
            </a:fld>
            <a:endParaRPr lang="en-US" altLang="en-US" sz="1300" smtClean="0"/>
          </a:p>
        </p:txBody>
      </p:sp>
      <p:sp>
        <p:nvSpPr>
          <p:cNvPr id="81923" name="Rectangle 2"/>
          <p:cNvSpPr>
            <a:spLocks noGrp="1" noRot="1" noChangeAspect="1" noChangeArrowheads="1" noTextEdit="1"/>
          </p:cNvSpPr>
          <p:nvPr>
            <p:ph type="sldImg"/>
          </p:nvPr>
        </p:nvSpPr>
        <p:spPr>
          <a:xfrm>
            <a:off x="992188" y="768350"/>
            <a:ext cx="5114925" cy="3836988"/>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A C# </a:t>
            </a:r>
            <a:r>
              <a:rPr lang="en-GB" altLang="en-US" dirty="0" err="1" smtClean="0"/>
              <a:t>goto</a:t>
            </a:r>
            <a:r>
              <a:rPr lang="en-GB" altLang="en-US" dirty="0" smtClean="0"/>
              <a:t> can also be used like a normal C or C++ </a:t>
            </a:r>
            <a:r>
              <a:rPr lang="en-GB" altLang="en-US" dirty="0" err="1" smtClean="0"/>
              <a:t>goto</a:t>
            </a:r>
            <a:r>
              <a:rPr lang="en-GB" altLang="en-US" dirty="0" smtClean="0"/>
              <a:t>.</a:t>
            </a:r>
          </a:p>
        </p:txBody>
      </p:sp>
    </p:spTree>
    <p:extLst>
      <p:ext uri="{BB962C8B-B14F-4D97-AF65-F5344CB8AC3E}">
        <p14:creationId xmlns:p14="http://schemas.microsoft.com/office/powerpoint/2010/main" val="42216882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12D4C4E-C610-4923-A2C7-FDDB477BAF75}" type="slidenum">
              <a:rPr lang="en-US" altLang="en-US" sz="1300" smtClean="0"/>
              <a:pPr/>
              <a:t>21</a:t>
            </a:fld>
            <a:endParaRPr lang="en-US" altLang="en-US" sz="1300" smtClean="0"/>
          </a:p>
        </p:txBody>
      </p:sp>
      <p:sp>
        <p:nvSpPr>
          <p:cNvPr id="86019" name="Rectangle 2"/>
          <p:cNvSpPr>
            <a:spLocks noGrp="1" noRot="1" noChangeAspect="1" noChangeArrowheads="1" noTextEdit="1"/>
          </p:cNvSpPr>
          <p:nvPr>
            <p:ph type="sldImg"/>
          </p:nvPr>
        </p:nvSpPr>
        <p:spPr>
          <a:xfrm>
            <a:off x="992188" y="768350"/>
            <a:ext cx="5114925" cy="3836988"/>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Pay attention to guarded commands. They are easy to understand, and there will probably be a question on them in the test or exam.</a:t>
            </a:r>
          </a:p>
          <a:p>
            <a:pPr eaLnBrk="1" hangingPunct="1"/>
            <a:endParaRPr lang="en-GB" altLang="en-US" dirty="0" smtClean="0"/>
          </a:p>
          <a:p>
            <a:pPr eaLnBrk="1" hangingPunct="1"/>
            <a:r>
              <a:rPr lang="en-GB" altLang="en-US" dirty="0" smtClean="0"/>
              <a:t>CSP stands</a:t>
            </a:r>
            <a:r>
              <a:rPr lang="en-GB" altLang="en-US" baseline="0" dirty="0" smtClean="0"/>
              <a:t> for “communicating sequential processes”, and is a formal language for describing patterns of interaction in </a:t>
            </a:r>
            <a:r>
              <a:rPr lang="en-GB" altLang="en-US" baseline="0" smtClean="0"/>
              <a:t>concurrent systems.</a:t>
            </a:r>
            <a:endParaRPr lang="en-GB" altLang="en-US" smtClean="0"/>
          </a:p>
        </p:txBody>
      </p:sp>
    </p:spTree>
    <p:extLst>
      <p:ext uri="{BB962C8B-B14F-4D97-AF65-F5344CB8AC3E}">
        <p14:creationId xmlns:p14="http://schemas.microsoft.com/office/powerpoint/2010/main" val="19054925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9C00DE6-5246-4FE0-AC01-A31D2477AC74}" type="slidenum">
              <a:rPr lang="en-US" altLang="en-US" sz="1300" smtClean="0"/>
              <a:pPr/>
              <a:t>22</a:t>
            </a:fld>
            <a:endParaRPr lang="en-US" altLang="en-US" sz="1300" smtClean="0"/>
          </a:p>
        </p:txBody>
      </p:sp>
      <p:sp>
        <p:nvSpPr>
          <p:cNvPr id="88067" name="Rectangle 2"/>
          <p:cNvSpPr>
            <a:spLocks noGrp="1" noRot="1" noChangeAspect="1" noChangeArrowheads="1" noTextEdit="1"/>
          </p:cNvSpPr>
          <p:nvPr>
            <p:ph type="sldImg"/>
          </p:nvPr>
        </p:nvSpPr>
        <p:spPr>
          <a:xfrm>
            <a:off x="992188" y="768350"/>
            <a:ext cx="5114925" cy="3836988"/>
          </a:xfrm>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Non-deterministically means that the order is not specified. From a practical perspective a compiler or interpreter will usually have a mechanism for deciding which statement is executed (often it will simply be the statement for the first matching Boolean expression). But from a theoretical perspective the decision could just as well be randomly made (it typically wouldn’t be random in a real compiler or interpreter, however).</a:t>
            </a:r>
          </a:p>
        </p:txBody>
      </p:sp>
    </p:spTree>
    <p:extLst>
      <p:ext uri="{BB962C8B-B14F-4D97-AF65-F5344CB8AC3E}">
        <p14:creationId xmlns:p14="http://schemas.microsoft.com/office/powerpoint/2010/main" val="17769366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CB5B87A-F378-4DFD-B888-9EF0E5552195}" type="slidenum">
              <a:rPr lang="en-US" altLang="en-US" sz="1300" smtClean="0"/>
              <a:pPr/>
              <a:t>23</a:t>
            </a:fld>
            <a:endParaRPr lang="en-US" altLang="en-US" sz="1300" smtClean="0"/>
          </a:p>
        </p:txBody>
      </p:sp>
      <p:sp>
        <p:nvSpPr>
          <p:cNvPr id="90115" name="Rectangle 2"/>
          <p:cNvSpPr>
            <a:spLocks noGrp="1" noRot="1" noChangeAspect="1" noChangeArrowheads="1" noTextEdit="1"/>
          </p:cNvSpPr>
          <p:nvPr>
            <p:ph type="sldImg"/>
          </p:nvPr>
        </p:nvSpPr>
        <p:spPr>
          <a:xfrm>
            <a:off x="992188" y="768350"/>
            <a:ext cx="5114925" cy="3836988"/>
          </a:xfrm>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See the previous slide for an explanation of “non-deterministic”.</a:t>
            </a:r>
          </a:p>
        </p:txBody>
      </p:sp>
    </p:spTree>
    <p:extLst>
      <p:ext uri="{BB962C8B-B14F-4D97-AF65-F5344CB8AC3E}">
        <p14:creationId xmlns:p14="http://schemas.microsoft.com/office/powerpoint/2010/main" val="8331685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A27718E-B226-4E3A-8F34-77274E184204}" type="slidenum">
              <a:rPr lang="en-US" altLang="en-US" sz="1300" smtClean="0"/>
              <a:pPr/>
              <a:t>24</a:t>
            </a:fld>
            <a:endParaRPr lang="en-US" altLang="en-US" sz="1300" smtClean="0"/>
          </a:p>
        </p:txBody>
      </p:sp>
      <p:sp>
        <p:nvSpPr>
          <p:cNvPr id="92163" name="Rectangle 2"/>
          <p:cNvSpPr>
            <a:spLocks noGrp="1" noRot="1" noChangeAspect="1" noChangeArrowheads="1" noTextEdit="1"/>
          </p:cNvSpPr>
          <p:nvPr>
            <p:ph type="sldImg"/>
          </p:nvPr>
        </p:nvSpPr>
        <p:spPr>
          <a:xfrm>
            <a:off x="992188" y="768350"/>
            <a:ext cx="5114925" cy="3836988"/>
          </a:xfrm>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9732434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7448550" y="6564313"/>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pPr algn="r">
              <a:defRPr/>
            </a:pPr>
            <a:endParaRPr lang="en-US" altLang="en-US" sz="1200" smtClean="0"/>
          </a:p>
        </p:txBody>
      </p:sp>
      <p:sp>
        <p:nvSpPr>
          <p:cNvPr id="75778"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75779"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a:t>Click to edit Master subtitle style</a:t>
            </a:r>
          </a:p>
        </p:txBody>
      </p:sp>
      <p:pic>
        <p:nvPicPr>
          <p:cNvPr id="6" name="Picture 8" descr="Front Cover: Concepts of Programming Languages, Global Edition, by Robert W Sebesta&#10;"/>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43400" y="0"/>
            <a:ext cx="4800600" cy="6076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6803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928880B3-EE13-4D10-978D-D3C4DBCE9E7A}" type="slidenum">
              <a:rPr lang="en-US" altLang="en-US"/>
              <a:pPr>
                <a:defRPr/>
              </a:pPr>
              <a:t>‹#›</a:t>
            </a:fld>
            <a:endParaRPr lang="en-US" altLang="en-US"/>
          </a:p>
        </p:txBody>
      </p:sp>
    </p:spTree>
    <p:extLst>
      <p:ext uri="{BB962C8B-B14F-4D97-AF65-F5344CB8AC3E}">
        <p14:creationId xmlns:p14="http://schemas.microsoft.com/office/powerpoint/2010/main" val="1261235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A220C0BE-83AA-400F-B372-0226739F222C}" type="slidenum">
              <a:rPr lang="en-US" altLang="en-US"/>
              <a:pPr>
                <a:defRPr/>
              </a:pPr>
              <a:t>‹#›</a:t>
            </a:fld>
            <a:endParaRPr lang="en-US" altLang="en-US"/>
          </a:p>
        </p:txBody>
      </p:sp>
    </p:spTree>
    <p:extLst>
      <p:ext uri="{BB962C8B-B14F-4D97-AF65-F5344CB8AC3E}">
        <p14:creationId xmlns:p14="http://schemas.microsoft.com/office/powerpoint/2010/main" val="1676522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874D7485-19A1-462F-8F7D-225DD22ADF53}" type="slidenum">
              <a:rPr lang="en-US" altLang="en-US"/>
              <a:pPr>
                <a:defRPr/>
              </a:pPr>
              <a:t>‹#›</a:t>
            </a:fld>
            <a:endParaRPr lang="en-US" altLang="en-US"/>
          </a:p>
        </p:txBody>
      </p:sp>
    </p:spTree>
    <p:extLst>
      <p:ext uri="{BB962C8B-B14F-4D97-AF65-F5344CB8AC3E}">
        <p14:creationId xmlns:p14="http://schemas.microsoft.com/office/powerpoint/2010/main" val="72987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427DE0B5-DF90-4608-BE42-15A4665B574D}" type="slidenum">
              <a:rPr lang="en-US" altLang="en-US"/>
              <a:pPr>
                <a:defRPr/>
              </a:pPr>
              <a:t>‹#›</a:t>
            </a:fld>
            <a:endParaRPr lang="en-US" altLang="en-US"/>
          </a:p>
        </p:txBody>
      </p:sp>
    </p:spTree>
    <p:extLst>
      <p:ext uri="{BB962C8B-B14F-4D97-AF65-F5344CB8AC3E}">
        <p14:creationId xmlns:p14="http://schemas.microsoft.com/office/powerpoint/2010/main" val="4203752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CD50758C-4CC0-41F4-A21C-DCF930DC644C}" type="slidenum">
              <a:rPr lang="en-US" altLang="en-US"/>
              <a:pPr>
                <a:defRPr/>
              </a:pPr>
              <a:t>‹#›</a:t>
            </a:fld>
            <a:endParaRPr lang="en-US" altLang="en-US"/>
          </a:p>
        </p:txBody>
      </p:sp>
    </p:spTree>
    <p:extLst>
      <p:ext uri="{BB962C8B-B14F-4D97-AF65-F5344CB8AC3E}">
        <p14:creationId xmlns:p14="http://schemas.microsoft.com/office/powerpoint/2010/main" val="1549410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9B2EF9B1-5895-4284-903E-895E8696A6D7}" type="slidenum">
              <a:rPr lang="en-US" altLang="en-US"/>
              <a:pPr>
                <a:defRPr/>
              </a:pPr>
              <a:t>‹#›</a:t>
            </a:fld>
            <a:endParaRPr lang="en-US" altLang="en-US"/>
          </a:p>
        </p:txBody>
      </p:sp>
    </p:spTree>
    <p:extLst>
      <p:ext uri="{BB962C8B-B14F-4D97-AF65-F5344CB8AC3E}">
        <p14:creationId xmlns:p14="http://schemas.microsoft.com/office/powerpoint/2010/main" val="2947928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5B67D3CA-F825-4D28-8058-C9E0E219D0DF}" type="slidenum">
              <a:rPr lang="en-US" altLang="en-US"/>
              <a:pPr>
                <a:defRPr/>
              </a:pPr>
              <a:t>‹#›</a:t>
            </a:fld>
            <a:endParaRPr lang="en-US" altLang="en-US"/>
          </a:p>
        </p:txBody>
      </p:sp>
    </p:spTree>
    <p:extLst>
      <p:ext uri="{BB962C8B-B14F-4D97-AF65-F5344CB8AC3E}">
        <p14:creationId xmlns:p14="http://schemas.microsoft.com/office/powerpoint/2010/main" val="1620138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D883DF0B-9C49-43A6-8F85-7DC6DE60FD86}" type="slidenum">
              <a:rPr lang="en-US" altLang="en-US"/>
              <a:pPr>
                <a:defRPr/>
              </a:pPr>
              <a:t>‹#›</a:t>
            </a:fld>
            <a:endParaRPr lang="en-US" altLang="en-US"/>
          </a:p>
        </p:txBody>
      </p:sp>
    </p:spTree>
    <p:extLst>
      <p:ext uri="{BB962C8B-B14F-4D97-AF65-F5344CB8AC3E}">
        <p14:creationId xmlns:p14="http://schemas.microsoft.com/office/powerpoint/2010/main" val="1357940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559F51F4-39E8-48A7-9F13-50F544E172B8}" type="slidenum">
              <a:rPr lang="en-US" altLang="en-US"/>
              <a:pPr>
                <a:defRPr/>
              </a:pPr>
              <a:t>‹#›</a:t>
            </a:fld>
            <a:endParaRPr lang="en-US" altLang="en-US"/>
          </a:p>
        </p:txBody>
      </p:sp>
    </p:spTree>
    <p:extLst>
      <p:ext uri="{BB962C8B-B14F-4D97-AF65-F5344CB8AC3E}">
        <p14:creationId xmlns:p14="http://schemas.microsoft.com/office/powerpoint/2010/main" val="1552591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C82EA84F-FF8B-4148-BCAE-6A884E5E4A91}" type="slidenum">
              <a:rPr lang="en-US" altLang="en-US"/>
              <a:pPr>
                <a:defRPr/>
              </a:pPr>
              <a:t>‹#›</a:t>
            </a:fld>
            <a:endParaRPr lang="en-US" altLang="en-US"/>
          </a:p>
        </p:txBody>
      </p:sp>
    </p:spTree>
    <p:extLst>
      <p:ext uri="{BB962C8B-B14F-4D97-AF65-F5344CB8AC3E}">
        <p14:creationId xmlns:p14="http://schemas.microsoft.com/office/powerpoint/2010/main" val="2995986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74756"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74757"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defRPr>
            </a:lvl1pPr>
          </a:lstStyle>
          <a:p>
            <a:pPr>
              <a:defRPr/>
            </a:pPr>
            <a:r>
              <a:rPr lang="en-US" altLang="en-US"/>
              <a:t>1-</a:t>
            </a:r>
            <a:fld id="{CC2CC827-A134-47C8-BD14-663A9D497E7F}"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867"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dt="0"/>
  <p:txStyles>
    <p:titleStyle>
      <a:lvl1pPr algn="l" rtl="0" eaLnBrk="0" fontAlgn="base" hangingPunct="0">
        <a:spcBef>
          <a:spcPct val="0"/>
        </a:spcBef>
        <a:spcAft>
          <a:spcPct val="0"/>
        </a:spcAft>
        <a:defRPr sz="3600">
          <a:solidFill>
            <a:srgbClr val="666699"/>
          </a:solidFill>
          <a:latin typeface="+mj-lt"/>
          <a:ea typeface="Lucida Sans Unicode" pitchFamily="34" charset="0"/>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Lucida Sans Unicode" pitchFamily="34" charset="0"/>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Lucida Sans Unicode" pitchFamily="34" charset="0"/>
          <a:cs typeface="+mn-cs"/>
        </a:defRPr>
      </a:lvl2pPr>
      <a:lvl3pPr marL="1143000" indent="-228600" algn="l" rtl="0" eaLnBrk="0" fontAlgn="base" hangingPunct="0">
        <a:spcBef>
          <a:spcPct val="20000"/>
        </a:spcBef>
        <a:spcAft>
          <a:spcPct val="0"/>
        </a:spcAft>
        <a:buChar char="•"/>
        <a:defRPr sz="2100">
          <a:solidFill>
            <a:srgbClr val="666699"/>
          </a:solidFill>
          <a:latin typeface="+mn-lt"/>
          <a:ea typeface="Lucida Sans Unicode" pitchFamily="34" charset="0"/>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Lucida Sans Unicode" pitchFamily="34" charset="0"/>
          <a:cs typeface="+mn-cs"/>
        </a:defRPr>
      </a:lvl4pPr>
      <a:lvl5pPr marL="2057400" indent="-228600" algn="l" rtl="0" eaLnBrk="0" fontAlgn="base" hangingPunct="0">
        <a:spcBef>
          <a:spcPct val="20000"/>
        </a:spcBef>
        <a:spcAft>
          <a:spcPct val="0"/>
        </a:spcAft>
        <a:buChar char="»"/>
        <a:defRPr sz="2000">
          <a:solidFill>
            <a:srgbClr val="666699"/>
          </a:solidFill>
          <a:latin typeface="+mn-lt"/>
          <a:ea typeface="Lucida Sans Unicode" pitchFamily="34" charset="0"/>
          <a:cs typeface="+mn-cs"/>
        </a:defRPr>
      </a:lvl5pPr>
      <a:lvl6pPr marL="2514600" indent="-228600" algn="l" rtl="0" fontAlgn="base">
        <a:spcBef>
          <a:spcPct val="20000"/>
        </a:spcBef>
        <a:spcAft>
          <a:spcPct val="0"/>
        </a:spcAft>
        <a:buChar char="»"/>
        <a:defRPr>
          <a:solidFill>
            <a:srgbClr val="666699"/>
          </a:solidFill>
          <a:latin typeface="+mn-lt"/>
          <a:cs typeface="+mn-cs"/>
        </a:defRPr>
      </a:lvl6pPr>
      <a:lvl7pPr marL="2971800" indent="-228600" algn="l" rtl="0" fontAlgn="base">
        <a:spcBef>
          <a:spcPct val="20000"/>
        </a:spcBef>
        <a:spcAft>
          <a:spcPct val="0"/>
        </a:spcAft>
        <a:buChar char="»"/>
        <a:defRPr>
          <a:solidFill>
            <a:srgbClr val="666699"/>
          </a:solidFill>
          <a:latin typeface="+mn-lt"/>
          <a:cs typeface="+mn-cs"/>
        </a:defRPr>
      </a:lvl7pPr>
      <a:lvl8pPr marL="3429000" indent="-228600" algn="l" rtl="0" fontAlgn="base">
        <a:spcBef>
          <a:spcPct val="20000"/>
        </a:spcBef>
        <a:spcAft>
          <a:spcPct val="0"/>
        </a:spcAft>
        <a:buChar char="»"/>
        <a:defRPr>
          <a:solidFill>
            <a:srgbClr val="666699"/>
          </a:solidFill>
          <a:latin typeface="+mn-lt"/>
          <a:cs typeface="+mn-cs"/>
        </a:defRPr>
      </a:lvl8pPr>
      <a:lvl9pPr marL="3886200" indent="-228600" algn="l" rtl="0" fontAlgn="base">
        <a:spcBef>
          <a:spcPct val="20000"/>
        </a:spcBef>
        <a:spcAft>
          <a:spcPct val="0"/>
        </a:spcAft>
        <a:buChar char="»"/>
        <a:defRPr>
          <a:solidFill>
            <a:srgbClr val="666699"/>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ctrTitle"/>
          </p:nvPr>
        </p:nvSpPr>
        <p:spPr/>
        <p:txBody>
          <a:bodyPr/>
          <a:lstStyle/>
          <a:p>
            <a:pPr eaLnBrk="1" hangingPunct="1"/>
            <a:r>
              <a:rPr lang="en-US" altLang="en-US" dirty="0" smtClean="0"/>
              <a:t>Chapter 8</a:t>
            </a:r>
            <a:br>
              <a:rPr lang="en-US" altLang="en-US" dirty="0" smtClean="0"/>
            </a:br>
            <a:r>
              <a:rPr lang="en-US" altLang="en-US" sz="2800" dirty="0" smtClean="0"/>
              <a:t>Part 2</a:t>
            </a:r>
            <a:endParaRPr lang="en-US" altLang="en-US" dirty="0" smtClean="0"/>
          </a:p>
        </p:txBody>
      </p:sp>
      <p:sp>
        <p:nvSpPr>
          <p:cNvPr id="5123" name="Rectangle 5"/>
          <p:cNvSpPr>
            <a:spLocks noGrp="1" noChangeArrowheads="1"/>
          </p:cNvSpPr>
          <p:nvPr>
            <p:ph type="subTitle" idx="1"/>
          </p:nvPr>
        </p:nvSpPr>
        <p:spPr/>
        <p:txBody>
          <a:bodyPr/>
          <a:lstStyle/>
          <a:p>
            <a:pPr eaLnBrk="1" hangingPunct="1"/>
            <a:r>
              <a:rPr lang="en-US" altLang="en-US" smtClean="0"/>
              <a:t>Statement-Level </a:t>
            </a:r>
            <a:br>
              <a:rPr lang="en-US" altLang="en-US" smtClean="0"/>
            </a:br>
            <a:r>
              <a:rPr lang="en-US" altLang="en-US" smtClean="0"/>
              <a:t>Control Structures</a:t>
            </a:r>
          </a:p>
          <a:p>
            <a:pPr eaLnBrk="1" hangingPunct="1"/>
            <a:endParaRPr lang="en-US" alt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D3D09AB-A1B9-49B9-B5F2-DBCF88BB4E15}"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7172" name="Rectangle 2"/>
          <p:cNvSpPr>
            <a:spLocks noGrp="1" noChangeArrowheads="1"/>
          </p:cNvSpPr>
          <p:nvPr>
            <p:ph type="title"/>
          </p:nvPr>
        </p:nvSpPr>
        <p:spPr/>
        <p:txBody>
          <a:bodyPr/>
          <a:lstStyle/>
          <a:p>
            <a:pPr eaLnBrk="1" hangingPunct="1"/>
            <a:r>
              <a:rPr lang="en-US" altLang="en-US" smtClean="0"/>
              <a:t>Chapter 8 Topics</a:t>
            </a:r>
          </a:p>
        </p:txBody>
      </p:sp>
      <p:sp>
        <p:nvSpPr>
          <p:cNvPr id="7173" name="Rectangle 3"/>
          <p:cNvSpPr>
            <a:spLocks noGrp="1" noChangeArrowheads="1"/>
          </p:cNvSpPr>
          <p:nvPr>
            <p:ph type="body" idx="1"/>
          </p:nvPr>
        </p:nvSpPr>
        <p:spPr/>
        <p:txBody>
          <a:bodyPr/>
          <a:lstStyle/>
          <a:p>
            <a:pPr eaLnBrk="1" hangingPunct="1"/>
            <a:r>
              <a:rPr lang="en-US" altLang="en-US" dirty="0" smtClean="0"/>
              <a:t>Iterative Statements</a:t>
            </a:r>
          </a:p>
          <a:p>
            <a:pPr eaLnBrk="1" hangingPunct="1"/>
            <a:r>
              <a:rPr lang="en-US" altLang="en-US" dirty="0" smtClean="0"/>
              <a:t>Unconditional Branching</a:t>
            </a:r>
          </a:p>
          <a:p>
            <a:pPr eaLnBrk="1" hangingPunct="1"/>
            <a:r>
              <a:rPr lang="en-US" altLang="en-US" smtClean="0"/>
              <a:t>Guarded Commands</a:t>
            </a:r>
            <a:endParaRPr lang="en-US" altLang="en-US"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9EE3E7F-620A-4808-A9E7-715AB35FC2CD}"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
        <p:nvSpPr>
          <p:cNvPr id="47108" name="Rectangle 2"/>
          <p:cNvSpPr>
            <a:spLocks noGrp="1" noChangeArrowheads="1"/>
          </p:cNvSpPr>
          <p:nvPr>
            <p:ph type="title"/>
          </p:nvPr>
        </p:nvSpPr>
        <p:spPr/>
        <p:txBody>
          <a:bodyPr/>
          <a:lstStyle/>
          <a:p>
            <a:pPr eaLnBrk="1" hangingPunct="1"/>
            <a:r>
              <a:rPr lang="en-US" altLang="en-US" smtClean="0"/>
              <a:t>Iterative Statements</a:t>
            </a:r>
          </a:p>
        </p:txBody>
      </p:sp>
      <p:sp>
        <p:nvSpPr>
          <p:cNvPr id="47109" name="Rectangle 3"/>
          <p:cNvSpPr>
            <a:spLocks noGrp="1" noChangeArrowheads="1"/>
          </p:cNvSpPr>
          <p:nvPr>
            <p:ph type="body" idx="1"/>
          </p:nvPr>
        </p:nvSpPr>
        <p:spPr/>
        <p:txBody>
          <a:bodyPr/>
          <a:lstStyle/>
          <a:p>
            <a:pPr eaLnBrk="1" hangingPunct="1"/>
            <a:r>
              <a:rPr lang="en-US" altLang="en-US" dirty="0" smtClean="0"/>
              <a:t>Either </a:t>
            </a:r>
            <a:r>
              <a:rPr lang="en-US" altLang="en-US" u="sng" dirty="0" smtClean="0"/>
              <a:t>iteration</a:t>
            </a:r>
            <a:r>
              <a:rPr lang="en-US" altLang="en-US" dirty="0" smtClean="0"/>
              <a:t> or </a:t>
            </a:r>
            <a:r>
              <a:rPr lang="en-US" altLang="en-US" u="sng" dirty="0" smtClean="0"/>
              <a:t>recursion</a:t>
            </a:r>
          </a:p>
          <a:p>
            <a:pPr lvl="1" eaLnBrk="1" hangingPunct="1"/>
            <a:r>
              <a:rPr lang="en-US" altLang="en-US" dirty="0" smtClean="0"/>
              <a:t>Achieve the repeated execution of a statement or compound statement</a:t>
            </a:r>
          </a:p>
          <a:p>
            <a:pPr lvl="1" eaLnBrk="1" hangingPunct="1"/>
            <a:r>
              <a:rPr lang="en-US" altLang="en-US" dirty="0" smtClean="0"/>
              <a:t>We’ll focus on </a:t>
            </a:r>
            <a:r>
              <a:rPr lang="en-US" altLang="en-US" dirty="0" smtClean="0"/>
              <a:t>iteration here</a:t>
            </a:r>
            <a:endParaRPr lang="en-US" altLang="en-US" dirty="0" smtClean="0"/>
          </a:p>
          <a:p>
            <a:pPr eaLnBrk="1" hangingPunct="1"/>
            <a:r>
              <a:rPr lang="en-US" altLang="en-US" dirty="0" smtClean="0"/>
              <a:t>General design issues for all iteration control statements</a:t>
            </a:r>
          </a:p>
          <a:p>
            <a:pPr lvl="1" eaLnBrk="1" hangingPunct="1">
              <a:buFontTx/>
              <a:buNone/>
            </a:pPr>
            <a:r>
              <a:rPr lang="en-US" altLang="en-US" dirty="0" smtClean="0"/>
              <a:t>1. How is iteration controlled?</a:t>
            </a:r>
          </a:p>
          <a:p>
            <a:pPr lvl="1" eaLnBrk="1" hangingPunct="1">
              <a:buFontTx/>
              <a:buNone/>
            </a:pPr>
            <a:r>
              <a:rPr lang="en-US" altLang="en-US" dirty="0" smtClean="0"/>
              <a:t>2. Where is the control mechanism in the loop?</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9EE3E7F-620A-4808-A9E7-715AB35FC2CD}"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47108" name="Rectangle 2"/>
          <p:cNvSpPr>
            <a:spLocks noGrp="1" noChangeArrowheads="1"/>
          </p:cNvSpPr>
          <p:nvPr>
            <p:ph type="title"/>
          </p:nvPr>
        </p:nvSpPr>
        <p:spPr/>
        <p:txBody>
          <a:bodyPr/>
          <a:lstStyle/>
          <a:p>
            <a:pPr eaLnBrk="1" hangingPunct="1"/>
            <a:r>
              <a:rPr lang="en-US" altLang="en-US" dirty="0" smtClean="0"/>
              <a:t>Counter-Controlled Loops</a:t>
            </a:r>
          </a:p>
        </p:txBody>
      </p:sp>
      <p:sp>
        <p:nvSpPr>
          <p:cNvPr id="47109" name="Rectangle 3"/>
          <p:cNvSpPr>
            <a:spLocks noGrp="1" noChangeArrowheads="1"/>
          </p:cNvSpPr>
          <p:nvPr>
            <p:ph type="body" idx="1"/>
          </p:nvPr>
        </p:nvSpPr>
        <p:spPr/>
        <p:txBody>
          <a:bodyPr/>
          <a:lstStyle/>
          <a:p>
            <a:pPr eaLnBrk="1" hangingPunct="1"/>
            <a:r>
              <a:rPr lang="en-US" altLang="en-US" dirty="0"/>
              <a:t>C</a:t>
            </a:r>
            <a:r>
              <a:rPr lang="en-US" altLang="en-US" dirty="0" smtClean="0"/>
              <a:t>ounting iterative statement has</a:t>
            </a:r>
            <a:endParaRPr lang="en-US" altLang="en-US" u="sng" dirty="0" smtClean="0"/>
          </a:p>
          <a:p>
            <a:pPr lvl="1" eaLnBrk="1" hangingPunct="1"/>
            <a:r>
              <a:rPr lang="en-US" altLang="en-US" dirty="0"/>
              <a:t>L</a:t>
            </a:r>
            <a:r>
              <a:rPr lang="en-US" altLang="en-US" dirty="0" smtClean="0"/>
              <a:t>oop variable</a:t>
            </a:r>
          </a:p>
          <a:p>
            <a:pPr lvl="1" eaLnBrk="1" hangingPunct="1"/>
            <a:r>
              <a:rPr lang="en-US" altLang="en-US" dirty="0" smtClean="0"/>
              <a:t>Variable’s </a:t>
            </a:r>
            <a:r>
              <a:rPr lang="en-US" altLang="en-US" u="sng" dirty="0" smtClean="0"/>
              <a:t>initial</a:t>
            </a:r>
            <a:r>
              <a:rPr lang="en-US" altLang="en-US" dirty="0" smtClean="0"/>
              <a:t>, </a:t>
            </a:r>
            <a:r>
              <a:rPr lang="en-US" altLang="en-US" u="sng" dirty="0" smtClean="0"/>
              <a:t>terminal</a:t>
            </a:r>
            <a:r>
              <a:rPr lang="en-US" altLang="en-US" dirty="0" smtClean="0"/>
              <a:t>, and </a:t>
            </a:r>
            <a:r>
              <a:rPr lang="en-US" altLang="en-US" u="sng" dirty="0" err="1" smtClean="0"/>
              <a:t>stepsize</a:t>
            </a:r>
            <a:r>
              <a:rPr lang="en-US" altLang="en-US" dirty="0" smtClean="0"/>
              <a:t> values</a:t>
            </a:r>
          </a:p>
          <a:p>
            <a:pPr eaLnBrk="1" hangingPunct="1"/>
            <a:r>
              <a:rPr lang="en-US" altLang="en-US" dirty="0" smtClean="0"/>
              <a:t>Design issues</a:t>
            </a:r>
          </a:p>
          <a:p>
            <a:pPr marL="914400" lvl="1" indent="-457200" eaLnBrk="1" hangingPunct="1">
              <a:buFontTx/>
              <a:buAutoNum type="arabicPeriod"/>
            </a:pPr>
            <a:r>
              <a:rPr lang="en-ZA" altLang="en-US" dirty="0" smtClean="0"/>
              <a:t>What are the type &amp; scope of the loop variable?</a:t>
            </a:r>
          </a:p>
          <a:p>
            <a:pPr marL="914400" lvl="1" indent="-457200" eaLnBrk="1" hangingPunct="1">
              <a:buFontTx/>
              <a:buAutoNum type="arabicPeriod"/>
            </a:pPr>
            <a:r>
              <a:rPr lang="en-ZA" altLang="en-US" dirty="0" smtClean="0"/>
              <a:t>Should it be legal for the loop variable or loop parameters to be changed in the loop body, and if so, does the change affect loop control?</a:t>
            </a:r>
          </a:p>
          <a:p>
            <a:pPr marL="914400" lvl="1" indent="-457200" eaLnBrk="1" hangingPunct="1">
              <a:buFontTx/>
              <a:buAutoNum type="arabicPeriod"/>
            </a:pPr>
            <a:r>
              <a:rPr lang="en-ZA" altLang="en-US" dirty="0" smtClean="0"/>
              <a:t>Should the loop parameters be evaluated only once, or once for every iteration?</a:t>
            </a:r>
          </a:p>
          <a:p>
            <a:pPr marL="914400" lvl="1" indent="-457200" eaLnBrk="1" hangingPunct="1">
              <a:buFontTx/>
              <a:buAutoNum type="arabicPeriod"/>
            </a:pPr>
            <a:r>
              <a:rPr lang="en-ZA" altLang="en-US" dirty="0" smtClean="0"/>
              <a:t>What is the loop variable’s value after the loop?</a:t>
            </a:r>
            <a:endParaRPr lang="en-US" altLang="en-US"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30549449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9EE3E7F-620A-4808-A9E7-715AB35FC2CD}"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47108" name="Rectangle 2"/>
          <p:cNvSpPr>
            <a:spLocks noGrp="1" noChangeArrowheads="1"/>
          </p:cNvSpPr>
          <p:nvPr>
            <p:ph type="title"/>
          </p:nvPr>
        </p:nvSpPr>
        <p:spPr/>
        <p:txBody>
          <a:bodyPr/>
          <a:lstStyle/>
          <a:p>
            <a:pPr eaLnBrk="1" hangingPunct="1"/>
            <a:r>
              <a:rPr lang="en-US" altLang="en-US" sz="3200" dirty="0" smtClean="0"/>
              <a:t>Counter-Controlled Loops: Examples</a:t>
            </a:r>
          </a:p>
        </p:txBody>
      </p:sp>
      <p:sp>
        <p:nvSpPr>
          <p:cNvPr id="47109" name="Rectangle 3"/>
          <p:cNvSpPr>
            <a:spLocks noGrp="1" noChangeArrowheads="1"/>
          </p:cNvSpPr>
          <p:nvPr>
            <p:ph type="body" idx="1"/>
          </p:nvPr>
        </p:nvSpPr>
        <p:spPr/>
        <p:txBody>
          <a:bodyPr/>
          <a:lstStyle/>
          <a:p>
            <a:pPr eaLnBrk="1" hangingPunct="1"/>
            <a:r>
              <a:rPr lang="en-US" altLang="en-US" dirty="0" smtClean="0"/>
              <a:t>The C-based languages</a:t>
            </a:r>
          </a:p>
          <a:p>
            <a:pPr eaLnBrk="1" hangingPunct="1">
              <a:lnSpc>
                <a:spcPct val="80000"/>
              </a:lnSpc>
              <a:buFontTx/>
              <a:buNone/>
            </a:pPr>
            <a:endParaRPr lang="en-US" altLang="en-US" sz="1400" b="1" dirty="0">
              <a:latin typeface="Courier New" panose="02070309020205020404" pitchFamily="49" charset="0"/>
              <a:cs typeface="Courier New" panose="02070309020205020404" pitchFamily="49" charset="0"/>
            </a:endParaRPr>
          </a:p>
          <a:p>
            <a:pPr eaLnBrk="1" hangingPunct="1">
              <a:lnSpc>
                <a:spcPct val="80000"/>
              </a:lnSpc>
              <a:buFontTx/>
              <a:buNone/>
            </a:pPr>
            <a:r>
              <a:rPr lang="en-US" altLang="en-US" sz="2000" b="1" dirty="0">
                <a:latin typeface="Courier New" panose="02070309020205020404" pitchFamily="49" charset="0"/>
                <a:cs typeface="Courier New" panose="02070309020205020404" pitchFamily="49" charset="0"/>
              </a:rPr>
              <a:t>	  for</a:t>
            </a:r>
            <a:r>
              <a:rPr lang="en-US" altLang="en-US" sz="2000" dirty="0">
                <a:latin typeface="Courier New" panose="02070309020205020404" pitchFamily="49" charset="0"/>
                <a:cs typeface="Courier New" panose="02070309020205020404" pitchFamily="49" charset="0"/>
              </a:rPr>
              <a:t> </a:t>
            </a:r>
            <a:r>
              <a:rPr lang="en-US" altLang="en-US" sz="2000" dirty="0" smtClean="0">
                <a:latin typeface="Courier New" panose="02070309020205020404" pitchFamily="49" charset="0"/>
                <a:cs typeface="Courier New" panose="02070309020205020404" pitchFamily="49" charset="0"/>
              </a:rPr>
              <a:t>([expr_1]; [expr_2]; [expr_3]) statement</a:t>
            </a:r>
            <a:endParaRPr lang="en-US" altLang="en-US" sz="2000" b="1" dirty="0">
              <a:latin typeface="Courier New" panose="02070309020205020404" pitchFamily="49" charset="0"/>
              <a:cs typeface="Courier New" panose="02070309020205020404" pitchFamily="49" charset="0"/>
            </a:endParaRPr>
          </a:p>
          <a:p>
            <a:pPr eaLnBrk="1" hangingPunct="1">
              <a:lnSpc>
                <a:spcPct val="80000"/>
              </a:lnSpc>
              <a:buFontTx/>
              <a:buNone/>
            </a:pPr>
            <a:endParaRPr lang="en-US" altLang="en-US" sz="1400" u="sng" dirty="0" smtClean="0">
              <a:latin typeface="Courier New" panose="02070309020205020404" pitchFamily="49" charset="0"/>
              <a:cs typeface="Courier New" panose="02070309020205020404" pitchFamily="49" charset="0"/>
            </a:endParaRPr>
          </a:p>
          <a:p>
            <a:pPr eaLnBrk="1" hangingPunct="1"/>
            <a:r>
              <a:rPr lang="en-US" altLang="en-US" dirty="0" smtClean="0"/>
              <a:t>The expressions</a:t>
            </a:r>
          </a:p>
          <a:p>
            <a:pPr lvl="1" eaLnBrk="1" hangingPunct="1"/>
            <a:r>
              <a:rPr lang="en-US" altLang="en-US" dirty="0"/>
              <a:t>1</a:t>
            </a:r>
            <a:r>
              <a:rPr lang="en-US" altLang="en-US" baseline="30000" dirty="0"/>
              <a:t>st</a:t>
            </a:r>
            <a:r>
              <a:rPr lang="en-US" altLang="en-US" dirty="0"/>
              <a:t> expression is evaluated once</a:t>
            </a:r>
          </a:p>
          <a:p>
            <a:pPr lvl="1" eaLnBrk="1" hangingPunct="1"/>
            <a:r>
              <a:rPr lang="en-US" altLang="en-US" dirty="0"/>
              <a:t>2</a:t>
            </a:r>
            <a:r>
              <a:rPr lang="en-US" altLang="en-US" baseline="30000" dirty="0"/>
              <a:t>nd</a:t>
            </a:r>
            <a:r>
              <a:rPr lang="en-US" altLang="en-US" dirty="0"/>
              <a:t> and 3</a:t>
            </a:r>
            <a:r>
              <a:rPr lang="en-US" altLang="en-US" baseline="30000" dirty="0"/>
              <a:t>rd</a:t>
            </a:r>
            <a:r>
              <a:rPr lang="en-US" altLang="en-US" dirty="0"/>
              <a:t> expressions evaluated each </a:t>
            </a:r>
            <a:r>
              <a:rPr lang="en-US" altLang="en-US" dirty="0" smtClean="0"/>
              <a:t>iteration</a:t>
            </a:r>
          </a:p>
          <a:p>
            <a:pPr lvl="1" eaLnBrk="1" hangingPunct="1"/>
            <a:r>
              <a:rPr lang="en-US" altLang="en-US" dirty="0"/>
              <a:t>If </a:t>
            </a:r>
            <a:r>
              <a:rPr lang="en-US" altLang="en-US" dirty="0" smtClean="0"/>
              <a:t>2</a:t>
            </a:r>
            <a:r>
              <a:rPr lang="en-US" altLang="en-US" baseline="30000" dirty="0" smtClean="0"/>
              <a:t>nd</a:t>
            </a:r>
            <a:r>
              <a:rPr lang="en-US" altLang="en-US" dirty="0" smtClean="0"/>
              <a:t> or 3</a:t>
            </a:r>
            <a:r>
              <a:rPr lang="en-US" altLang="en-US" baseline="30000" dirty="0" smtClean="0"/>
              <a:t>rd</a:t>
            </a:r>
            <a:r>
              <a:rPr lang="en-US" altLang="en-US" dirty="0" smtClean="0"/>
              <a:t> statement </a:t>
            </a:r>
            <a:r>
              <a:rPr lang="en-US" altLang="en-US" dirty="0"/>
              <a:t>is </a:t>
            </a:r>
            <a:r>
              <a:rPr lang="en-US" altLang="en-US" dirty="0" smtClean="0"/>
              <a:t>absent: </a:t>
            </a:r>
            <a:r>
              <a:rPr lang="en-US" altLang="en-US" dirty="0"/>
              <a:t>an infinite loop</a:t>
            </a:r>
          </a:p>
          <a:p>
            <a:pPr lvl="1" eaLnBrk="1" hangingPunct="1"/>
            <a:r>
              <a:rPr lang="en-US" altLang="en-US" dirty="0" smtClean="0"/>
              <a:t>Expressions may be</a:t>
            </a:r>
          </a:p>
          <a:p>
            <a:pPr lvl="2" eaLnBrk="1" hangingPunct="1"/>
            <a:r>
              <a:rPr lang="en-US" altLang="en-US" dirty="0" smtClean="0"/>
              <a:t>Whole statements</a:t>
            </a:r>
          </a:p>
          <a:p>
            <a:pPr lvl="2" eaLnBrk="1" hangingPunct="1"/>
            <a:r>
              <a:rPr lang="en-US" altLang="en-US" dirty="0" smtClean="0"/>
              <a:t>Statement sequences, separated by commas</a:t>
            </a:r>
          </a:p>
          <a:p>
            <a:pPr lvl="3" eaLnBrk="1" hangingPunct="1"/>
            <a:r>
              <a:rPr lang="en-US" altLang="en-US" dirty="0" smtClean="0"/>
              <a:t>Evaluates to value of last statement in expression</a:t>
            </a:r>
            <a:endParaRPr lang="en-US" altLang="en-US" dirty="0" smtClean="0">
              <a:latin typeface="Courier New" panose="02070309020205020404" pitchFamily="49" charset="0"/>
              <a:cs typeface="Courier New" panose="02070309020205020404" pitchFamily="49"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32256401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9EE3E7F-620A-4808-A9E7-715AB35FC2CD}"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47108" name="Rectangle 2"/>
          <p:cNvSpPr>
            <a:spLocks noGrp="1" noChangeArrowheads="1"/>
          </p:cNvSpPr>
          <p:nvPr>
            <p:ph type="title"/>
          </p:nvPr>
        </p:nvSpPr>
        <p:spPr/>
        <p:txBody>
          <a:bodyPr/>
          <a:lstStyle/>
          <a:p>
            <a:pPr eaLnBrk="1" hangingPunct="1"/>
            <a:r>
              <a:rPr lang="en-US" altLang="en-US" sz="3200" dirty="0" smtClean="0"/>
              <a:t>Counter-Controlled Loops: Examples</a:t>
            </a:r>
          </a:p>
        </p:txBody>
      </p:sp>
      <p:sp>
        <p:nvSpPr>
          <p:cNvPr id="47109" name="Rectangle 3"/>
          <p:cNvSpPr>
            <a:spLocks noGrp="1" noChangeArrowheads="1"/>
          </p:cNvSpPr>
          <p:nvPr>
            <p:ph type="body" idx="1"/>
          </p:nvPr>
        </p:nvSpPr>
        <p:spPr/>
        <p:txBody>
          <a:bodyPr/>
          <a:lstStyle/>
          <a:p>
            <a:pPr eaLnBrk="1" hangingPunct="1"/>
            <a:r>
              <a:rPr lang="en-US" altLang="en-US" dirty="0" smtClean="0"/>
              <a:t>C-based languages’ design choices</a:t>
            </a:r>
            <a:endParaRPr lang="en-US" altLang="en-US" u="sng" dirty="0" smtClean="0"/>
          </a:p>
          <a:p>
            <a:pPr lvl="1" eaLnBrk="1" hangingPunct="1"/>
            <a:r>
              <a:rPr lang="en-US" altLang="en-US" dirty="0" smtClean="0"/>
              <a:t>There is no explicit loop variable</a:t>
            </a:r>
          </a:p>
          <a:p>
            <a:pPr lvl="1" eaLnBrk="1" hangingPunct="1"/>
            <a:r>
              <a:rPr lang="en-US" altLang="en-US" dirty="0" smtClean="0"/>
              <a:t>Everything can be changed in the loop</a:t>
            </a:r>
          </a:p>
          <a:p>
            <a:pPr lvl="1" eaLnBrk="1" hangingPunct="1"/>
            <a:r>
              <a:rPr lang="en-US" altLang="en-US" dirty="0" smtClean="0"/>
              <a:t>Legal to branch into the body of the loop in C</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846216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9EE3E7F-620A-4808-A9E7-715AB35FC2CD}"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47108" name="Rectangle 2"/>
          <p:cNvSpPr>
            <a:spLocks noGrp="1" noChangeArrowheads="1"/>
          </p:cNvSpPr>
          <p:nvPr>
            <p:ph type="title"/>
          </p:nvPr>
        </p:nvSpPr>
        <p:spPr/>
        <p:txBody>
          <a:bodyPr/>
          <a:lstStyle/>
          <a:p>
            <a:pPr eaLnBrk="1" hangingPunct="1"/>
            <a:r>
              <a:rPr lang="en-US" altLang="en-US" sz="3200" dirty="0"/>
              <a:t>Counter-Controlled Loops: Examples</a:t>
            </a:r>
            <a:endParaRPr lang="en-US" altLang="en-US" sz="3200" dirty="0" smtClean="0"/>
          </a:p>
        </p:txBody>
      </p:sp>
      <p:sp>
        <p:nvSpPr>
          <p:cNvPr id="47109" name="Rectangle 3"/>
          <p:cNvSpPr>
            <a:spLocks noGrp="1" noChangeArrowheads="1"/>
          </p:cNvSpPr>
          <p:nvPr>
            <p:ph type="body" idx="1"/>
          </p:nvPr>
        </p:nvSpPr>
        <p:spPr>
          <a:xfrm>
            <a:off x="609600" y="1600200"/>
            <a:ext cx="8382000" cy="4572000"/>
          </a:xfrm>
        </p:spPr>
        <p:txBody>
          <a:bodyPr/>
          <a:lstStyle/>
          <a:p>
            <a:pPr eaLnBrk="1" hangingPunct="1"/>
            <a:r>
              <a:rPr lang="en-US" altLang="en-US" dirty="0"/>
              <a:t>C++ differs from C in two ways:</a:t>
            </a:r>
            <a:endParaRPr lang="en-US" altLang="en-US" u="sng" dirty="0" smtClean="0"/>
          </a:p>
          <a:p>
            <a:pPr marL="914400" lvl="1" indent="-457200" eaLnBrk="1" hangingPunct="1">
              <a:buFont typeface="+mj-lt"/>
              <a:buAutoNum type="arabicPeriod"/>
            </a:pPr>
            <a:r>
              <a:rPr lang="en-ZA" altLang="en-US" dirty="0"/>
              <a:t>The control expression can also be </a:t>
            </a:r>
            <a:r>
              <a:rPr lang="en-ZA" altLang="en-US" dirty="0" smtClean="0"/>
              <a:t>Boolean</a:t>
            </a:r>
          </a:p>
          <a:p>
            <a:pPr lvl="2" eaLnBrk="1" hangingPunct="1"/>
            <a:r>
              <a:rPr lang="en-US" altLang="en-US" dirty="0"/>
              <a:t>C only supports integer-represented Boolean</a:t>
            </a:r>
            <a:endParaRPr lang="en-US" altLang="en-US" dirty="0" smtClean="0"/>
          </a:p>
          <a:p>
            <a:pPr marL="914400" lvl="1" indent="-457200" eaLnBrk="1" hangingPunct="1">
              <a:buFont typeface="+mj-lt"/>
              <a:buAutoNum type="arabicPeriod"/>
            </a:pPr>
            <a:r>
              <a:rPr lang="en-ZA" altLang="en-US" dirty="0" smtClean="0"/>
              <a:t>Initial </a:t>
            </a:r>
            <a:r>
              <a:rPr lang="en-ZA" altLang="en-US" dirty="0"/>
              <a:t>expression can include variable </a:t>
            </a:r>
            <a:r>
              <a:rPr lang="en-ZA" altLang="en-US" dirty="0" smtClean="0"/>
              <a:t>definitions</a:t>
            </a:r>
          </a:p>
          <a:p>
            <a:pPr marL="914400" lvl="2" indent="0" eaLnBrk="1" hangingPunct="1">
              <a:buNone/>
            </a:pPr>
            <a:endParaRPr lang="en-US" altLang="en-US" sz="500" dirty="0" smtClean="0">
              <a:latin typeface="Courier New" panose="02070309020205020404" pitchFamily="49" charset="0"/>
              <a:cs typeface="Courier New" panose="02070309020205020404" pitchFamily="49" charset="0"/>
            </a:endParaRPr>
          </a:p>
          <a:p>
            <a:pPr marL="914400" lvl="2" indent="0" eaLnBrk="1" hangingPunct="1">
              <a:buNone/>
            </a:pPr>
            <a:r>
              <a:rPr lang="en-US" altLang="en-US" dirty="0" smtClean="0">
                <a:latin typeface="Courier New" panose="02070309020205020404" pitchFamily="49" charset="0"/>
                <a:cs typeface="Courier New" panose="02070309020205020404" pitchFamily="49" charset="0"/>
              </a:rPr>
              <a:t>   </a:t>
            </a:r>
            <a:r>
              <a:rPr lang="en-US" altLang="en-US" b="1" dirty="0" smtClean="0">
                <a:latin typeface="Courier New" panose="02070309020205020404" pitchFamily="49" charset="0"/>
                <a:cs typeface="Courier New" panose="02070309020205020404" pitchFamily="49" charset="0"/>
              </a:rPr>
              <a:t>for</a:t>
            </a:r>
            <a:r>
              <a:rPr lang="en-US" altLang="en-US" dirty="0" smtClean="0">
                <a:latin typeface="Courier New" panose="02070309020205020404" pitchFamily="49" charset="0"/>
                <a:cs typeface="Courier New" panose="02070309020205020404" pitchFamily="49" charset="0"/>
              </a:rPr>
              <a:t> (</a:t>
            </a:r>
            <a:r>
              <a:rPr lang="en-US" altLang="en-US" b="1" dirty="0" err="1" smtClean="0">
                <a:latin typeface="Courier New" panose="02070309020205020404" pitchFamily="49" charset="0"/>
                <a:cs typeface="Courier New" panose="02070309020205020404" pitchFamily="49" charset="0"/>
              </a:rPr>
              <a:t>int</a:t>
            </a:r>
            <a:r>
              <a:rPr lang="en-US" altLang="en-US" dirty="0" smtClean="0">
                <a:latin typeface="Courier New" panose="02070309020205020404" pitchFamily="49" charset="0"/>
                <a:cs typeface="Courier New" panose="02070309020205020404" pitchFamily="49" charset="0"/>
              </a:rPr>
              <a:t> </a:t>
            </a:r>
            <a:r>
              <a:rPr lang="en-US" altLang="en-US" dirty="0" err="1" smtClean="0">
                <a:latin typeface="Courier New" panose="02070309020205020404" pitchFamily="49" charset="0"/>
                <a:cs typeface="Courier New" panose="02070309020205020404" pitchFamily="49" charset="0"/>
              </a:rPr>
              <a:t>i</a:t>
            </a:r>
            <a:r>
              <a:rPr lang="en-US" altLang="en-US" dirty="0" smtClean="0">
                <a:latin typeface="Courier New" panose="02070309020205020404" pitchFamily="49" charset="0"/>
                <a:cs typeface="Courier New" panose="02070309020205020404" pitchFamily="49" charset="0"/>
              </a:rPr>
              <a:t> = 0; ...; ...) { ... }</a:t>
            </a:r>
          </a:p>
          <a:p>
            <a:pPr marL="914400" lvl="2" indent="0" eaLnBrk="1" hangingPunct="1">
              <a:buNone/>
            </a:pPr>
            <a:endParaRPr lang="en-US" altLang="en-US" sz="500" dirty="0" smtClean="0">
              <a:latin typeface="Courier New" panose="02070309020205020404" pitchFamily="49" charset="0"/>
              <a:cs typeface="Courier New" panose="02070309020205020404" pitchFamily="49" charset="0"/>
            </a:endParaRPr>
          </a:p>
          <a:p>
            <a:pPr lvl="2" eaLnBrk="1" hangingPunct="1"/>
            <a:r>
              <a:rPr lang="en-US" altLang="en-US" dirty="0" smtClean="0"/>
              <a:t>Scope </a:t>
            </a:r>
            <a:r>
              <a:rPr lang="en-US" altLang="en-US" dirty="0"/>
              <a:t>is from definition to end of the loop body</a:t>
            </a:r>
            <a:endParaRPr lang="en-US" altLang="en-US" dirty="0" smtClean="0"/>
          </a:p>
          <a:p>
            <a:pPr eaLnBrk="1" hangingPunct="1"/>
            <a:endParaRPr lang="en-US" altLang="en-US" sz="700" dirty="0" smtClean="0"/>
          </a:p>
          <a:p>
            <a:pPr eaLnBrk="1" hangingPunct="1"/>
            <a:r>
              <a:rPr lang="en-US" altLang="en-US" dirty="0" smtClean="0"/>
              <a:t>Java </a:t>
            </a:r>
            <a:r>
              <a:rPr lang="en-US" altLang="en-US" dirty="0"/>
              <a:t>and C# differ from C++</a:t>
            </a:r>
            <a:endParaRPr lang="en-US" altLang="en-US" dirty="0" smtClean="0"/>
          </a:p>
          <a:p>
            <a:pPr lvl="1" eaLnBrk="1" hangingPunct="1"/>
            <a:r>
              <a:rPr lang="en-ZA" altLang="en-US" dirty="0"/>
              <a:t>The control expression must be Boolean</a:t>
            </a:r>
            <a:endParaRPr lang="en-US" altLang="en-US"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098222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9EE3E7F-620A-4808-A9E7-715AB35FC2CD}"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47108" name="Rectangle 2"/>
          <p:cNvSpPr>
            <a:spLocks noGrp="1" noChangeArrowheads="1"/>
          </p:cNvSpPr>
          <p:nvPr>
            <p:ph type="title"/>
          </p:nvPr>
        </p:nvSpPr>
        <p:spPr/>
        <p:txBody>
          <a:bodyPr/>
          <a:lstStyle/>
          <a:p>
            <a:pPr eaLnBrk="1" hangingPunct="1"/>
            <a:r>
              <a:rPr lang="en-US" altLang="en-US" sz="3200" dirty="0" smtClean="0"/>
              <a:t>Counter-Controlled Loops: Examples</a:t>
            </a:r>
          </a:p>
        </p:txBody>
      </p:sp>
      <p:sp>
        <p:nvSpPr>
          <p:cNvPr id="47109" name="Rectangle 3"/>
          <p:cNvSpPr>
            <a:spLocks noGrp="1" noChangeArrowheads="1"/>
          </p:cNvSpPr>
          <p:nvPr>
            <p:ph type="body" idx="1"/>
          </p:nvPr>
        </p:nvSpPr>
        <p:spPr>
          <a:xfrm>
            <a:off x="609600" y="1600200"/>
            <a:ext cx="8382000" cy="4572000"/>
          </a:xfrm>
        </p:spPr>
        <p:txBody>
          <a:bodyPr/>
          <a:lstStyle/>
          <a:p>
            <a:pPr eaLnBrk="1" hangingPunct="1"/>
            <a:r>
              <a:rPr lang="en-US" altLang="en-US" dirty="0" smtClean="0"/>
              <a:t>Python</a:t>
            </a:r>
          </a:p>
          <a:p>
            <a:pPr eaLnBrk="1" hangingPunct="1">
              <a:lnSpc>
                <a:spcPct val="80000"/>
              </a:lnSpc>
              <a:buFontTx/>
              <a:buNone/>
            </a:pPr>
            <a:endParaRPr lang="en-US" altLang="en-US" sz="1400" b="1" dirty="0">
              <a:latin typeface="Courier New" panose="02070309020205020404" pitchFamily="49" charset="0"/>
              <a:cs typeface="Courier New" panose="02070309020205020404" pitchFamily="49" charset="0"/>
            </a:endParaRPr>
          </a:p>
          <a:p>
            <a:pPr eaLnBrk="1" hangingPunct="1">
              <a:lnSpc>
                <a:spcPct val="80000"/>
              </a:lnSpc>
              <a:buFontTx/>
              <a:buNone/>
            </a:pPr>
            <a:r>
              <a:rPr lang="en-US" altLang="en-US" sz="2000" b="1" dirty="0">
                <a:latin typeface="Courier New" panose="02070309020205020404" pitchFamily="49" charset="0"/>
                <a:cs typeface="Courier New" panose="02070309020205020404" pitchFamily="49" charset="0"/>
              </a:rPr>
              <a:t>	  for</a:t>
            </a:r>
            <a:r>
              <a:rPr lang="en-US" altLang="en-US" sz="2000" dirty="0">
                <a:latin typeface="Courier New" panose="02070309020205020404" pitchFamily="49" charset="0"/>
                <a:cs typeface="Courier New" panose="02070309020205020404" pitchFamily="49" charset="0"/>
              </a:rPr>
              <a:t> </a:t>
            </a:r>
            <a:r>
              <a:rPr lang="en-US" altLang="en-US" sz="2000" dirty="0" err="1" smtClean="0">
                <a:latin typeface="Courier New" panose="02070309020205020404" pitchFamily="49" charset="0"/>
                <a:cs typeface="Courier New" panose="02070309020205020404" pitchFamily="49" charset="0"/>
              </a:rPr>
              <a:t>loop_variable</a:t>
            </a:r>
            <a:r>
              <a:rPr lang="en-US" altLang="en-US" sz="2000" dirty="0" smtClean="0">
                <a:latin typeface="Courier New" panose="02070309020205020404" pitchFamily="49" charset="0"/>
                <a:cs typeface="Courier New" panose="02070309020205020404" pitchFamily="49" charset="0"/>
              </a:rPr>
              <a:t> </a:t>
            </a:r>
            <a:r>
              <a:rPr lang="en-US" altLang="en-US" sz="2000" b="1" dirty="0" smtClean="0">
                <a:latin typeface="Courier New" panose="02070309020205020404" pitchFamily="49" charset="0"/>
                <a:cs typeface="Courier New" panose="02070309020205020404" pitchFamily="49" charset="0"/>
              </a:rPr>
              <a:t>in</a:t>
            </a:r>
            <a:r>
              <a:rPr lang="en-US" altLang="en-US" sz="2000" dirty="0" smtClean="0">
                <a:latin typeface="Courier New" panose="02070309020205020404" pitchFamily="49" charset="0"/>
                <a:cs typeface="Courier New" panose="02070309020205020404" pitchFamily="49" charset="0"/>
              </a:rPr>
              <a:t> object:</a:t>
            </a:r>
          </a:p>
          <a:p>
            <a:pPr eaLnBrk="1" hangingPunct="1">
              <a:lnSpc>
                <a:spcPct val="80000"/>
              </a:lnSpc>
              <a:buFontTx/>
              <a:buNone/>
            </a:pPr>
            <a:r>
              <a:rPr lang="en-US" altLang="en-US" sz="2000" dirty="0" smtClean="0">
                <a:latin typeface="Courier New" panose="02070309020205020404" pitchFamily="49" charset="0"/>
                <a:cs typeface="Courier New" panose="02070309020205020404" pitchFamily="49" charset="0"/>
              </a:rPr>
              <a:t>	    loop body</a:t>
            </a:r>
          </a:p>
          <a:p>
            <a:pPr eaLnBrk="1" hangingPunct="1">
              <a:lnSpc>
                <a:spcPct val="80000"/>
              </a:lnSpc>
              <a:buFontTx/>
              <a:buNone/>
            </a:pPr>
            <a:r>
              <a:rPr lang="en-US" altLang="en-US" sz="2000" dirty="0">
                <a:latin typeface="Courier New" panose="02070309020205020404" pitchFamily="49" charset="0"/>
                <a:cs typeface="Courier New" panose="02070309020205020404" pitchFamily="49" charset="0"/>
              </a:rPr>
              <a:t>	</a:t>
            </a:r>
            <a:r>
              <a:rPr lang="en-US" altLang="en-US" sz="2000" dirty="0" smtClean="0">
                <a:latin typeface="Courier New" panose="02070309020205020404" pitchFamily="49" charset="0"/>
                <a:cs typeface="Courier New" panose="02070309020205020404" pitchFamily="49" charset="0"/>
              </a:rPr>
              <a:t>  [</a:t>
            </a:r>
            <a:r>
              <a:rPr lang="en-US" altLang="en-US" sz="2000" b="1" dirty="0" smtClean="0">
                <a:latin typeface="Courier New" panose="02070309020205020404" pitchFamily="49" charset="0"/>
                <a:cs typeface="Courier New" panose="02070309020205020404" pitchFamily="49" charset="0"/>
              </a:rPr>
              <a:t>else</a:t>
            </a:r>
            <a:r>
              <a:rPr lang="en-US" altLang="en-US" sz="2000" dirty="0" smtClean="0">
                <a:latin typeface="Courier New" panose="02070309020205020404" pitchFamily="49" charset="0"/>
                <a:cs typeface="Courier New" panose="02070309020205020404" pitchFamily="49" charset="0"/>
              </a:rPr>
              <a:t>:</a:t>
            </a:r>
          </a:p>
          <a:p>
            <a:pPr eaLnBrk="1" hangingPunct="1">
              <a:lnSpc>
                <a:spcPct val="80000"/>
              </a:lnSpc>
              <a:buFontTx/>
              <a:buNone/>
            </a:pPr>
            <a:r>
              <a:rPr lang="en-US" altLang="en-US" sz="2000" dirty="0">
                <a:latin typeface="Courier New" panose="02070309020205020404" pitchFamily="49" charset="0"/>
                <a:cs typeface="Courier New" panose="02070309020205020404" pitchFamily="49" charset="0"/>
              </a:rPr>
              <a:t>	</a:t>
            </a:r>
            <a:r>
              <a:rPr lang="en-US" altLang="en-US" sz="2000" dirty="0" smtClean="0">
                <a:latin typeface="Courier New" panose="02070309020205020404" pitchFamily="49" charset="0"/>
                <a:cs typeface="Courier New" panose="02070309020205020404" pitchFamily="49" charset="0"/>
              </a:rPr>
              <a:t>    else clause]</a:t>
            </a:r>
            <a:endParaRPr lang="en-US" altLang="en-US" sz="2000" dirty="0">
              <a:latin typeface="Courier New" panose="02070309020205020404" pitchFamily="49" charset="0"/>
              <a:cs typeface="Courier New" panose="02070309020205020404" pitchFamily="49" charset="0"/>
            </a:endParaRPr>
          </a:p>
          <a:p>
            <a:pPr eaLnBrk="1" hangingPunct="1">
              <a:lnSpc>
                <a:spcPct val="80000"/>
              </a:lnSpc>
              <a:buFontTx/>
              <a:buNone/>
            </a:pPr>
            <a:endParaRPr lang="en-US" altLang="en-US" sz="1400" u="sng" dirty="0" smtClean="0">
              <a:latin typeface="Courier New" panose="02070309020205020404" pitchFamily="49" charset="0"/>
              <a:cs typeface="Courier New" panose="02070309020205020404" pitchFamily="49" charset="0"/>
            </a:endParaRPr>
          </a:p>
          <a:p>
            <a:pPr lvl="1" eaLnBrk="1" hangingPunct="1"/>
            <a:r>
              <a:rPr lang="en-US" altLang="en-US" dirty="0"/>
              <a:t>O</a:t>
            </a:r>
            <a:r>
              <a:rPr lang="en-US" altLang="en-US" dirty="0" smtClean="0"/>
              <a:t>bject is often a range</a:t>
            </a:r>
          </a:p>
          <a:p>
            <a:pPr lvl="2" eaLnBrk="1" hangingPunct="1"/>
            <a:r>
              <a:rPr lang="en-US" altLang="en-US" dirty="0" smtClean="0"/>
              <a:t>A list of values in brackets, like </a:t>
            </a:r>
            <a:r>
              <a:rPr lang="en-US" altLang="en-US" dirty="0" smtClean="0">
                <a:latin typeface="Courier New" panose="02070309020205020404" pitchFamily="49" charset="0"/>
                <a:cs typeface="Courier New" panose="02070309020205020404" pitchFamily="49" charset="0"/>
              </a:rPr>
              <a:t>[2, 4, 6]</a:t>
            </a:r>
          </a:p>
          <a:p>
            <a:pPr lvl="2" eaLnBrk="1" hangingPunct="1"/>
            <a:r>
              <a:rPr lang="en-US" altLang="en-US" dirty="0" smtClean="0"/>
              <a:t>Range function call: </a:t>
            </a:r>
            <a:r>
              <a:rPr lang="en-US" altLang="en-US" dirty="0" smtClean="0">
                <a:latin typeface="Courier New" panose="02070309020205020404" pitchFamily="49" charset="0"/>
                <a:cs typeface="Courier New" panose="02070309020205020404" pitchFamily="49" charset="0"/>
              </a:rPr>
              <a:t>range(3)</a:t>
            </a:r>
            <a:r>
              <a:rPr lang="en-US" altLang="en-US" dirty="0" smtClean="0"/>
              <a:t> returns </a:t>
            </a:r>
            <a:r>
              <a:rPr lang="en-US" altLang="en-US" dirty="0" smtClean="0">
                <a:latin typeface="Courier New" panose="02070309020205020404" pitchFamily="49" charset="0"/>
                <a:cs typeface="Courier New" panose="02070309020205020404" pitchFamily="49" charset="0"/>
              </a:rPr>
              <a:t>[0, 1, 2]</a:t>
            </a:r>
          </a:p>
          <a:p>
            <a:pPr lvl="1" eaLnBrk="1" hangingPunct="1"/>
            <a:r>
              <a:rPr lang="en-US" altLang="en-US" dirty="0" smtClean="0"/>
              <a:t>Loop variable takes on range values each iteration</a:t>
            </a:r>
          </a:p>
          <a:p>
            <a:pPr lvl="1" eaLnBrk="1" hangingPunct="1"/>
            <a:r>
              <a:rPr lang="en-US" altLang="en-US" dirty="0" smtClean="0"/>
              <a:t>Optional </a:t>
            </a:r>
            <a:r>
              <a:rPr lang="en-US" altLang="en-US" b="1" dirty="0" smtClean="0">
                <a:latin typeface="Courier New" panose="02070309020205020404" pitchFamily="49" charset="0"/>
                <a:cs typeface="Courier New" panose="02070309020205020404" pitchFamily="49" charset="0"/>
              </a:rPr>
              <a:t>else</a:t>
            </a:r>
            <a:r>
              <a:rPr lang="en-US" altLang="en-US" dirty="0" smtClean="0"/>
              <a:t> clause</a:t>
            </a:r>
          </a:p>
          <a:p>
            <a:pPr lvl="2" eaLnBrk="1" hangingPunct="1"/>
            <a:r>
              <a:rPr lang="en-US" altLang="en-US" dirty="0" smtClean="0"/>
              <a:t>Executes if loop terminates normally (not via a </a:t>
            </a:r>
            <a:r>
              <a:rPr lang="en-US" altLang="en-US" b="1" dirty="0" smtClean="0">
                <a:latin typeface="Courier New" panose="02070309020205020404" pitchFamily="49" charset="0"/>
                <a:cs typeface="Courier New" panose="02070309020205020404" pitchFamily="49" charset="0"/>
              </a:rPr>
              <a:t>break</a:t>
            </a:r>
            <a:r>
              <a:rPr lang="en-US" altLang="en-US" dirty="0" smtClean="0"/>
              <a:t>)</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36809867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C4FAF9A-52AA-4277-B304-AEE326176DE7}"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61444" name="Rectangle 2"/>
          <p:cNvSpPr>
            <a:spLocks noGrp="1" noChangeArrowheads="1"/>
          </p:cNvSpPr>
          <p:nvPr>
            <p:ph type="title"/>
          </p:nvPr>
        </p:nvSpPr>
        <p:spPr/>
        <p:txBody>
          <a:bodyPr/>
          <a:lstStyle/>
          <a:p>
            <a:pPr eaLnBrk="1" hangingPunct="1"/>
            <a:r>
              <a:rPr lang="en-US" altLang="en-US" sz="3200" smtClean="0"/>
              <a:t>Logically-Controlled Loops</a:t>
            </a:r>
          </a:p>
        </p:txBody>
      </p:sp>
      <p:sp>
        <p:nvSpPr>
          <p:cNvPr id="61445" name="Rectangle 3"/>
          <p:cNvSpPr>
            <a:spLocks noGrp="1" noChangeArrowheads="1"/>
          </p:cNvSpPr>
          <p:nvPr>
            <p:ph type="body" idx="1"/>
          </p:nvPr>
        </p:nvSpPr>
        <p:spPr>
          <a:xfrm>
            <a:off x="609600" y="1600200"/>
            <a:ext cx="8458200" cy="4572000"/>
          </a:xfrm>
        </p:spPr>
        <p:txBody>
          <a:bodyPr/>
          <a:lstStyle/>
          <a:p>
            <a:pPr eaLnBrk="1" hangingPunct="1"/>
            <a:r>
              <a:rPr lang="en-US" altLang="en-US" dirty="0" smtClean="0"/>
              <a:t>Repetition control uses Boolean expression</a:t>
            </a:r>
          </a:p>
          <a:p>
            <a:pPr eaLnBrk="1" hangingPunct="1"/>
            <a:r>
              <a:rPr lang="en-US" altLang="en-US" dirty="0" smtClean="0"/>
              <a:t>More general than counter-controlled loops</a:t>
            </a:r>
            <a:endParaRPr lang="en-US" altLang="en-US" sz="2400" dirty="0" smtClean="0"/>
          </a:p>
          <a:p>
            <a:pPr lvl="1" eaLnBrk="1" hangingPunct="1"/>
            <a:r>
              <a:rPr lang="en-US" altLang="en-US" dirty="0" smtClean="0"/>
              <a:t>Every counter-controlled loop can be written as a logically-controlled loop</a:t>
            </a:r>
          </a:p>
          <a:p>
            <a:pPr lvl="1" eaLnBrk="1" hangingPunct="1"/>
            <a:r>
              <a:rPr lang="en-US" altLang="en-US" dirty="0" smtClean="0"/>
              <a:t>The o</a:t>
            </a:r>
            <a:r>
              <a:rPr lang="en-US" altLang="en-US" dirty="0" smtClean="0"/>
              <a:t>pposite is </a:t>
            </a:r>
            <a:r>
              <a:rPr lang="en-US" altLang="en-US" dirty="0" smtClean="0"/>
              <a:t>not always true</a:t>
            </a:r>
          </a:p>
          <a:p>
            <a:pPr eaLnBrk="1" hangingPunct="1"/>
            <a:r>
              <a:rPr lang="en-US" altLang="en-US" dirty="0" smtClean="0"/>
              <a:t>Design issues:</a:t>
            </a:r>
          </a:p>
          <a:p>
            <a:pPr lvl="1" eaLnBrk="1" hangingPunct="1"/>
            <a:r>
              <a:rPr lang="en-US" altLang="en-US" dirty="0" smtClean="0"/>
              <a:t>Should control be pretest or posttest?</a:t>
            </a:r>
          </a:p>
          <a:p>
            <a:pPr lvl="1" eaLnBrk="1" hangingPunct="1"/>
            <a:r>
              <a:rPr lang="en-US" altLang="en-US" dirty="0" smtClean="0"/>
              <a:t>Should logically controlled loop be special case of counting loop statement, or separate statement? </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24414290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9F8531A-F562-4968-84DA-3E9B2C426774}"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63492" name="Rectangle 2"/>
          <p:cNvSpPr>
            <a:spLocks noGrp="1" noChangeArrowheads="1"/>
          </p:cNvSpPr>
          <p:nvPr>
            <p:ph type="title"/>
          </p:nvPr>
        </p:nvSpPr>
        <p:spPr/>
        <p:txBody>
          <a:bodyPr/>
          <a:lstStyle/>
          <a:p>
            <a:pPr eaLnBrk="1" hangingPunct="1"/>
            <a:r>
              <a:rPr lang="en-US" altLang="en-US" sz="3200" smtClean="0"/>
              <a:t>Logically-Controlled Loops: Examples</a:t>
            </a:r>
          </a:p>
        </p:txBody>
      </p:sp>
      <p:sp>
        <p:nvSpPr>
          <p:cNvPr id="63493" name="Rectangle 3"/>
          <p:cNvSpPr>
            <a:spLocks noGrp="1" noChangeArrowheads="1"/>
          </p:cNvSpPr>
          <p:nvPr>
            <p:ph type="body" idx="1"/>
          </p:nvPr>
        </p:nvSpPr>
        <p:spPr>
          <a:xfrm>
            <a:off x="609600" y="1600200"/>
            <a:ext cx="8534400" cy="4572000"/>
          </a:xfrm>
        </p:spPr>
        <p:txBody>
          <a:bodyPr/>
          <a:lstStyle/>
          <a:p>
            <a:pPr eaLnBrk="1" hangingPunct="1"/>
            <a:r>
              <a:rPr lang="en-US" altLang="en-US" dirty="0" smtClean="0"/>
              <a:t>C and C++ have pretest and posttest forms</a:t>
            </a:r>
          </a:p>
          <a:p>
            <a:pPr marL="533400" indent="-533400" eaLnBrk="1" hangingPunct="1">
              <a:buFontTx/>
              <a:buNone/>
            </a:pPr>
            <a:endParaRPr lang="en-US" altLang="en-US" dirty="0" smtClean="0"/>
          </a:p>
          <a:p>
            <a:pPr marL="533400" indent="-533400" eaLnBrk="1" hangingPunct="1">
              <a:buFontTx/>
              <a:buNone/>
            </a:pPr>
            <a:endParaRPr lang="en-US" altLang="en-US" dirty="0" smtClean="0"/>
          </a:p>
          <a:p>
            <a:pPr marL="533400" indent="-533400" eaLnBrk="1" hangingPunct="1">
              <a:buFontTx/>
              <a:buNone/>
            </a:pPr>
            <a:endParaRPr lang="en-US" altLang="en-US" dirty="0" smtClean="0"/>
          </a:p>
          <a:p>
            <a:pPr eaLnBrk="1" hangingPunct="1"/>
            <a:r>
              <a:rPr lang="en-US" altLang="en-US" dirty="0" smtClean="0"/>
              <a:t>Java is like C and C++, except:</a:t>
            </a:r>
          </a:p>
          <a:p>
            <a:pPr lvl="1" eaLnBrk="1" hangingPunct="1"/>
            <a:r>
              <a:rPr lang="en-US" altLang="en-US" dirty="0" smtClean="0"/>
              <a:t>Body can only be entered at the beginning</a:t>
            </a:r>
          </a:p>
          <a:p>
            <a:pPr lvl="1" eaLnBrk="1" hangingPunct="1"/>
            <a:r>
              <a:rPr lang="en-US" altLang="en-US" dirty="0" smtClean="0"/>
              <a:t>This is because Java has no </a:t>
            </a:r>
            <a:r>
              <a:rPr lang="en-US" altLang="en-US" b="1" dirty="0" err="1" smtClean="0">
                <a:latin typeface="Courier New" panose="02070309020205020404" pitchFamily="49" charset="0"/>
              </a:rPr>
              <a:t>goto</a:t>
            </a:r>
            <a:r>
              <a:rPr lang="en-US" altLang="en-US" dirty="0" smtClean="0"/>
              <a:t> </a:t>
            </a:r>
            <a:r>
              <a:rPr lang="en-US" altLang="en-US" dirty="0" smtClean="0"/>
              <a:t>statement</a:t>
            </a:r>
          </a:p>
          <a:p>
            <a:pPr lvl="1" eaLnBrk="1" hangingPunct="1"/>
            <a:r>
              <a:rPr lang="en-US" altLang="en-US" dirty="0" smtClean="0"/>
              <a:t>Effect on language evaluation criteria?</a:t>
            </a:r>
            <a:endParaRPr lang="en-US" altLang="en-US" dirty="0" smtClean="0"/>
          </a:p>
        </p:txBody>
      </p:sp>
      <p:sp>
        <p:nvSpPr>
          <p:cNvPr id="63494" name="Text Box 7"/>
          <p:cNvSpPr txBox="1">
            <a:spLocks noChangeArrowheads="1"/>
          </p:cNvSpPr>
          <p:nvPr/>
        </p:nvSpPr>
        <p:spPr bwMode="auto">
          <a:xfrm>
            <a:off x="1143000" y="2454275"/>
            <a:ext cx="3297238" cy="831850"/>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2400" b="1" dirty="0">
                <a:latin typeface="Courier New" panose="02070309020205020404" pitchFamily="49" charset="0"/>
              </a:rPr>
              <a:t>while</a:t>
            </a:r>
            <a:r>
              <a:rPr lang="en-US" altLang="en-US" sz="2400" dirty="0">
                <a:latin typeface="Courier New" panose="02070309020205020404" pitchFamily="49" charset="0"/>
              </a:rPr>
              <a:t> (</a:t>
            </a:r>
            <a:r>
              <a:rPr lang="en-US" altLang="en-US" sz="2400" dirty="0" err="1">
                <a:latin typeface="Courier New" panose="02070309020205020404" pitchFamily="49" charset="0"/>
              </a:rPr>
              <a:t>ctrl_expr</a:t>
            </a:r>
            <a:r>
              <a:rPr lang="en-US" altLang="en-US" sz="2400" dirty="0">
                <a:latin typeface="Courier New" panose="02070309020205020404" pitchFamily="49" charset="0"/>
              </a:rPr>
              <a:t>)</a:t>
            </a:r>
          </a:p>
          <a:p>
            <a:pPr>
              <a:spcBef>
                <a:spcPct val="0"/>
              </a:spcBef>
              <a:buFontTx/>
              <a:buNone/>
            </a:pPr>
            <a:r>
              <a:rPr lang="en-US" altLang="en-US" sz="2400" dirty="0">
                <a:latin typeface="Courier New" panose="02070309020205020404" pitchFamily="49" charset="0"/>
              </a:rPr>
              <a:t>  loop body</a:t>
            </a:r>
            <a:endParaRPr lang="en-GB" altLang="en-US" sz="2400" dirty="0">
              <a:latin typeface="Courier New" panose="02070309020205020404" pitchFamily="49" charset="0"/>
            </a:endParaRPr>
          </a:p>
        </p:txBody>
      </p:sp>
      <p:sp>
        <p:nvSpPr>
          <p:cNvPr id="63495" name="Text Box 8"/>
          <p:cNvSpPr txBox="1">
            <a:spLocks noChangeArrowheads="1"/>
          </p:cNvSpPr>
          <p:nvPr/>
        </p:nvSpPr>
        <p:spPr bwMode="auto">
          <a:xfrm>
            <a:off x="5389563" y="2286000"/>
            <a:ext cx="3297237" cy="1196975"/>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2400" b="1">
                <a:latin typeface="Courier New" panose="02070309020205020404" pitchFamily="49" charset="0"/>
              </a:rPr>
              <a:t>do</a:t>
            </a:r>
          </a:p>
          <a:p>
            <a:pPr>
              <a:spcBef>
                <a:spcPct val="0"/>
              </a:spcBef>
              <a:buFontTx/>
              <a:buNone/>
            </a:pPr>
            <a:r>
              <a:rPr lang="en-US" altLang="en-US" sz="2400">
                <a:latin typeface="Courier New" panose="02070309020205020404" pitchFamily="49" charset="0"/>
              </a:rPr>
              <a:t>  loop body</a:t>
            </a:r>
          </a:p>
          <a:p>
            <a:pPr>
              <a:spcBef>
                <a:spcPct val="0"/>
              </a:spcBef>
              <a:buFontTx/>
              <a:buNone/>
            </a:pPr>
            <a:r>
              <a:rPr lang="en-US" altLang="en-US" sz="2400" b="1">
                <a:latin typeface="Courier New" panose="02070309020205020404" pitchFamily="49" charset="0"/>
              </a:rPr>
              <a:t>while</a:t>
            </a:r>
            <a:r>
              <a:rPr lang="en-US" altLang="en-US" sz="2400">
                <a:latin typeface="Courier New" panose="02070309020205020404" pitchFamily="49" charset="0"/>
              </a:rPr>
              <a:t> (ctrl_expr)</a:t>
            </a:r>
            <a:endParaRPr lang="en-GB" altLang="en-US" sz="2400">
              <a:latin typeface="Courier New" panose="02070309020205020404" pitchFamily="49" charset="0"/>
            </a:endParaRPr>
          </a:p>
        </p:txBody>
      </p:sp>
      <p:sp>
        <p:nvSpPr>
          <p:cNvPr id="63496" name="Text Box 9"/>
          <p:cNvSpPr txBox="1">
            <a:spLocks noChangeArrowheads="1"/>
          </p:cNvSpPr>
          <p:nvPr/>
        </p:nvSpPr>
        <p:spPr bwMode="auto">
          <a:xfrm>
            <a:off x="4549775" y="2697163"/>
            <a:ext cx="733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lgn="ctr">
              <a:spcBef>
                <a:spcPct val="0"/>
              </a:spcBef>
              <a:buFontTx/>
              <a:buNone/>
            </a:pPr>
            <a:r>
              <a:rPr lang="en-US" altLang="en-US" sz="2400" dirty="0"/>
              <a:t>and</a:t>
            </a:r>
            <a:endParaRPr lang="en-GB" altLang="en-US" sz="2400" dirty="0"/>
          </a:p>
        </p:txBody>
      </p:sp>
      <p:sp>
        <p:nvSpPr>
          <p:cNvPr id="9"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64EED7E-ABA8-4BE6-BB44-4A0DE2B50CD7}"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67588" name="Rectangle 2"/>
          <p:cNvSpPr>
            <a:spLocks noGrp="1" noChangeArrowheads="1"/>
          </p:cNvSpPr>
          <p:nvPr>
            <p:ph type="title"/>
          </p:nvPr>
        </p:nvSpPr>
        <p:spPr/>
        <p:txBody>
          <a:bodyPr/>
          <a:lstStyle/>
          <a:p>
            <a:pPr eaLnBrk="1" hangingPunct="1"/>
            <a:r>
              <a:rPr lang="en-US" altLang="en-US" sz="3200" smtClean="0"/>
              <a:t>User-Located Loop Control Mechanisms</a:t>
            </a:r>
          </a:p>
        </p:txBody>
      </p:sp>
      <p:sp>
        <p:nvSpPr>
          <p:cNvPr id="68613" name="Rectangle 3"/>
          <p:cNvSpPr>
            <a:spLocks noGrp="1" noChangeArrowheads="1"/>
          </p:cNvSpPr>
          <p:nvPr>
            <p:ph type="body" idx="1"/>
          </p:nvPr>
        </p:nvSpPr>
        <p:spPr/>
        <p:txBody>
          <a:bodyPr/>
          <a:lstStyle/>
          <a:p>
            <a:pPr eaLnBrk="1" hangingPunct="1">
              <a:defRPr/>
            </a:pPr>
            <a:r>
              <a:rPr lang="en-US" altLang="en-US" dirty="0" smtClean="0"/>
              <a:t>Sometimes convenient</a:t>
            </a:r>
          </a:p>
          <a:p>
            <a:pPr lvl="1" indent="-290513" eaLnBrk="1" hangingPunct="1">
              <a:defRPr/>
            </a:pPr>
            <a:r>
              <a:rPr lang="en-US" altLang="en-US" dirty="0" smtClean="0"/>
              <a:t>To choose location for loop control</a:t>
            </a:r>
          </a:p>
          <a:p>
            <a:pPr lvl="1" indent="-290513" eaLnBrk="1" hangingPunct="1">
              <a:defRPr/>
            </a:pPr>
            <a:r>
              <a:rPr lang="en-US" altLang="en-US" dirty="0" smtClean="0"/>
              <a:t>Where location is not top or bottom of the loop</a:t>
            </a:r>
          </a:p>
          <a:p>
            <a:pPr eaLnBrk="1" hangingPunct="1">
              <a:defRPr/>
            </a:pPr>
            <a:r>
              <a:rPr lang="en-US" altLang="en-US" dirty="0" smtClean="0"/>
              <a:t>Simple design for single loops</a:t>
            </a:r>
          </a:p>
          <a:p>
            <a:pPr lvl="1" eaLnBrk="1" hangingPunct="1">
              <a:defRPr/>
            </a:pPr>
            <a:r>
              <a:rPr lang="en-US" altLang="en-US" dirty="0" smtClean="0"/>
              <a:t>For example, using a </a:t>
            </a:r>
            <a:r>
              <a:rPr lang="en-US" altLang="en-US" b="1" dirty="0">
                <a:latin typeface="Courier New" panose="02070309020205020404" pitchFamily="49" charset="0"/>
                <a:cs typeface="Courier New" panose="02070309020205020404" pitchFamily="49" charset="0"/>
              </a:rPr>
              <a:t>break</a:t>
            </a:r>
            <a:r>
              <a:rPr lang="en-US" altLang="en-US" dirty="0" smtClean="0"/>
              <a:t> or </a:t>
            </a:r>
            <a:r>
              <a:rPr lang="en-US" altLang="en-US" b="1" dirty="0" smtClean="0">
                <a:latin typeface="Courier New" panose="02070309020205020404" pitchFamily="49" charset="0"/>
                <a:cs typeface="Courier New" panose="02070309020205020404" pitchFamily="49" charset="0"/>
              </a:rPr>
              <a:t>continue</a:t>
            </a:r>
            <a:endParaRPr lang="en-US" altLang="en-US" b="1" dirty="0" smtClean="0"/>
          </a:p>
          <a:p>
            <a:pPr eaLnBrk="1" hangingPunct="1">
              <a:defRPr/>
            </a:pPr>
            <a:r>
              <a:rPr lang="en-US" altLang="en-US" dirty="0" smtClean="0"/>
              <a:t>Design issues for nested loops</a:t>
            </a:r>
          </a:p>
          <a:p>
            <a:pPr marL="914400" lvl="1" indent="-457200" eaLnBrk="1" hangingPunct="1">
              <a:buFont typeface="+mj-lt"/>
              <a:buAutoNum type="arabicPeriod"/>
              <a:defRPr/>
            </a:pPr>
            <a:r>
              <a:rPr lang="en-US" altLang="en-US" dirty="0" smtClean="0"/>
              <a:t>Should a conditional be part of the exit?</a:t>
            </a:r>
          </a:p>
          <a:p>
            <a:pPr lvl="2" eaLnBrk="1" hangingPunct="1">
              <a:defRPr/>
            </a:pPr>
            <a:r>
              <a:rPr lang="en-US" altLang="en-US" dirty="0" smtClean="0"/>
              <a:t>Something like </a:t>
            </a:r>
            <a:r>
              <a:rPr lang="en-US" altLang="en-US" b="1" dirty="0" smtClean="0">
                <a:latin typeface="Courier New" panose="02070309020205020404" pitchFamily="49" charset="0"/>
                <a:cs typeface="Courier New" panose="02070309020205020404" pitchFamily="49" charset="0"/>
              </a:rPr>
              <a:t>break</a:t>
            </a:r>
            <a:r>
              <a:rPr lang="en-US" altLang="en-US" dirty="0" smtClean="0">
                <a:latin typeface="Courier New" panose="02070309020205020404" pitchFamily="49" charset="0"/>
                <a:cs typeface="Courier New" panose="02070309020205020404" pitchFamily="49" charset="0"/>
              </a:rPr>
              <a:t>(condition</a:t>
            </a:r>
            <a:r>
              <a:rPr lang="en-US" altLang="en-US" dirty="0" smtClean="0">
                <a:latin typeface="Courier New" panose="02070309020205020404" pitchFamily="49" charset="0"/>
                <a:cs typeface="Courier New" panose="02070309020205020404" pitchFamily="49" charset="0"/>
              </a:rPr>
              <a:t>)</a:t>
            </a:r>
          </a:p>
          <a:p>
            <a:pPr lvl="2" eaLnBrk="1" hangingPunct="1">
              <a:defRPr/>
            </a:pPr>
            <a:r>
              <a:rPr lang="en-US" altLang="en-US" dirty="0" smtClean="0">
                <a:latin typeface="+mj-lt"/>
                <a:cs typeface="Courier New" panose="02070309020205020404" pitchFamily="49" charset="0"/>
              </a:rPr>
              <a:t>Why? How often does a </a:t>
            </a:r>
            <a:r>
              <a:rPr lang="en-US" altLang="en-US" b="1" dirty="0" smtClean="0">
                <a:latin typeface="Courier New" panose="02070309020205020404" pitchFamily="49" charset="0"/>
                <a:cs typeface="Courier New" panose="02070309020205020404" pitchFamily="49" charset="0"/>
              </a:rPr>
              <a:t>break</a:t>
            </a:r>
            <a:r>
              <a:rPr lang="en-US" altLang="en-US" dirty="0" smtClean="0">
                <a:latin typeface="+mj-lt"/>
                <a:cs typeface="Courier New" panose="02070309020205020404" pitchFamily="49" charset="0"/>
              </a:rPr>
              <a:t> have no condition?</a:t>
            </a:r>
            <a:endParaRPr lang="en-US" altLang="en-US" dirty="0" smtClean="0">
              <a:latin typeface="+mj-lt"/>
              <a:cs typeface="Courier New" panose="02070309020205020404" pitchFamily="49" charset="0"/>
            </a:endParaRPr>
          </a:p>
          <a:p>
            <a:pPr marL="914400" lvl="1" indent="-457200" eaLnBrk="1" hangingPunct="1">
              <a:buFont typeface="+mj-lt"/>
              <a:buAutoNum type="arabicPeriod"/>
              <a:defRPr/>
            </a:pPr>
            <a:r>
              <a:rPr lang="en-US" altLang="en-US" dirty="0" smtClean="0"/>
              <a:t>Is control transferrable out of multiple loops?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24905182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EEF50E6-8D41-4388-9520-0830D0E8B36C}"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69636" name="Rectangle 3"/>
          <p:cNvSpPr>
            <a:spLocks noGrp="1" noChangeArrowheads="1"/>
          </p:cNvSpPr>
          <p:nvPr>
            <p:ph type="body" idx="1"/>
          </p:nvPr>
        </p:nvSpPr>
        <p:spPr/>
        <p:txBody>
          <a:bodyPr/>
          <a:lstStyle/>
          <a:p>
            <a:pPr eaLnBrk="1" hangingPunct="1"/>
            <a:r>
              <a:rPr lang="en-US" altLang="en-US" dirty="0" smtClean="0"/>
              <a:t>C , C++, Python, Ruby, and C#</a:t>
            </a:r>
          </a:p>
          <a:p>
            <a:pPr lvl="1" eaLnBrk="1" hangingPunct="1"/>
            <a:r>
              <a:rPr lang="en-US" altLang="en-US" dirty="0" smtClean="0"/>
              <a:t>Have unconditional unlabeled exits (</a:t>
            </a:r>
            <a:r>
              <a:rPr lang="en-US" altLang="en-US" sz="1000" dirty="0" smtClean="0"/>
              <a:t> </a:t>
            </a:r>
            <a:r>
              <a:rPr lang="en-US" altLang="en-US" b="1" dirty="0" smtClean="0">
                <a:latin typeface="Courier New" panose="02070309020205020404" pitchFamily="49" charset="0"/>
              </a:rPr>
              <a:t>break</a:t>
            </a:r>
            <a:r>
              <a:rPr lang="en-US" altLang="en-US" dirty="0" smtClean="0"/>
              <a:t>)</a:t>
            </a:r>
          </a:p>
          <a:p>
            <a:pPr lvl="2" eaLnBrk="1" hangingPunct="1"/>
            <a:r>
              <a:rPr lang="en-US" altLang="en-US" dirty="0" smtClean="0"/>
              <a:t>Skips </a:t>
            </a:r>
            <a:r>
              <a:rPr lang="en-US" altLang="en-US" dirty="0" smtClean="0"/>
              <a:t>rest of current </a:t>
            </a:r>
            <a:r>
              <a:rPr lang="en-US" altLang="en-US" dirty="0" smtClean="0"/>
              <a:t>iteration and exits the loop</a:t>
            </a:r>
          </a:p>
          <a:p>
            <a:pPr eaLnBrk="1" hangingPunct="1"/>
            <a:r>
              <a:rPr lang="en-US" altLang="en-US" dirty="0" smtClean="0"/>
              <a:t>C, C++, and Python</a:t>
            </a:r>
          </a:p>
          <a:p>
            <a:pPr lvl="1" eaLnBrk="1" hangingPunct="1"/>
            <a:r>
              <a:rPr lang="en-US" altLang="en-US" dirty="0" smtClean="0"/>
              <a:t>Have an unlabeled </a:t>
            </a:r>
            <a:r>
              <a:rPr lang="en-US" altLang="en-US" b="1" dirty="0" smtClean="0">
                <a:latin typeface="Courier New" panose="02070309020205020404" pitchFamily="49" charset="0"/>
              </a:rPr>
              <a:t>continue</a:t>
            </a:r>
            <a:r>
              <a:rPr lang="en-US" altLang="en-US" dirty="0" smtClean="0"/>
              <a:t> control statement</a:t>
            </a:r>
          </a:p>
          <a:p>
            <a:pPr lvl="2" eaLnBrk="1" hangingPunct="1"/>
            <a:r>
              <a:rPr lang="en-US" altLang="en-US" dirty="0" smtClean="0"/>
              <a:t>Skips rest of current iteration without exiting </a:t>
            </a:r>
            <a:r>
              <a:rPr lang="en-US" altLang="en-US" dirty="0" smtClean="0"/>
              <a:t>loop</a:t>
            </a:r>
          </a:p>
        </p:txBody>
      </p:sp>
      <p:sp>
        <p:nvSpPr>
          <p:cNvPr id="69637" name="Rectangle 2"/>
          <p:cNvSpPr>
            <a:spLocks noGrp="1" noChangeArrowheads="1"/>
          </p:cNvSpPr>
          <p:nvPr>
            <p:ph type="title"/>
          </p:nvPr>
        </p:nvSpPr>
        <p:spPr/>
        <p:txBody>
          <a:bodyPr/>
          <a:lstStyle/>
          <a:p>
            <a:pPr eaLnBrk="1" hangingPunct="1"/>
            <a:r>
              <a:rPr lang="en-US" altLang="en-US" sz="3200" smtClean="0"/>
              <a:t>User-Located Loop Control Mechanisms</a:t>
            </a:r>
            <a:endParaRPr lang="en-US" altLang="en-US" sz="2400" smtClean="0">
              <a:latin typeface="Courier New" panose="02070309020205020404" pitchFamily="49" charset="0"/>
              <a:cs typeface="Courier New" panose="02070309020205020404" pitchFamily="49"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altLang="en-US" sz="3200" smtClean="0"/>
              <a:t>User-Located Loop Control Mechanisms</a:t>
            </a:r>
            <a:endParaRPr lang="en-ZA" altLang="en-US" sz="3200" smtClean="0"/>
          </a:p>
        </p:txBody>
      </p:sp>
      <p:sp>
        <p:nvSpPr>
          <p:cNvPr id="71683" name="Content Placeholder 2"/>
          <p:cNvSpPr>
            <a:spLocks noGrp="1"/>
          </p:cNvSpPr>
          <p:nvPr>
            <p:ph idx="1"/>
          </p:nvPr>
        </p:nvSpPr>
        <p:spPr/>
        <p:txBody>
          <a:bodyPr/>
          <a:lstStyle/>
          <a:p>
            <a:pPr eaLnBrk="1" hangingPunct="1"/>
            <a:r>
              <a:rPr lang="en-US" altLang="en-US" dirty="0" smtClean="0"/>
              <a:t>Java and Perl</a:t>
            </a:r>
          </a:p>
          <a:p>
            <a:pPr lvl="1" eaLnBrk="1" hangingPunct="1"/>
            <a:r>
              <a:rPr lang="en-US" altLang="en-US" dirty="0"/>
              <a:t>H</a:t>
            </a:r>
            <a:r>
              <a:rPr lang="en-US" altLang="en-US" dirty="0" smtClean="0"/>
              <a:t>ave unconditional labeled exits</a:t>
            </a:r>
          </a:p>
          <a:p>
            <a:pPr lvl="2" eaLnBrk="1" hangingPunct="1"/>
            <a:r>
              <a:rPr lang="en-US" altLang="en-US" dirty="0" smtClean="0"/>
              <a:t>Called </a:t>
            </a:r>
            <a:r>
              <a:rPr lang="en-US" altLang="en-US" dirty="0" smtClean="0">
                <a:latin typeface="Courier New" panose="02070309020205020404" pitchFamily="49" charset="0"/>
                <a:cs typeface="Courier New" panose="02070309020205020404" pitchFamily="49" charset="0"/>
              </a:rPr>
              <a:t>break</a:t>
            </a:r>
            <a:r>
              <a:rPr lang="en-US" altLang="en-US" dirty="0" smtClean="0"/>
              <a:t> in Java, </a:t>
            </a:r>
            <a:r>
              <a:rPr lang="en-US" altLang="en-US" dirty="0" smtClean="0">
                <a:latin typeface="Courier New" panose="02070309020205020404" pitchFamily="49" charset="0"/>
                <a:cs typeface="Courier New" panose="02070309020205020404" pitchFamily="49" charset="0"/>
              </a:rPr>
              <a:t>last</a:t>
            </a:r>
            <a:r>
              <a:rPr lang="en-US" altLang="en-US" dirty="0" smtClean="0"/>
              <a:t> in Perl</a:t>
            </a:r>
          </a:p>
          <a:p>
            <a:pPr lvl="2" eaLnBrk="1" hangingPunct="1"/>
            <a:r>
              <a:rPr lang="en-US" altLang="en-US" dirty="0" smtClean="0"/>
              <a:t>Used to exit out of any loop</a:t>
            </a:r>
          </a:p>
          <a:p>
            <a:pPr lvl="2" eaLnBrk="1" hangingPunct="1"/>
            <a:r>
              <a:rPr lang="en-US" altLang="en-US" dirty="0" smtClean="0"/>
              <a:t>In Java</a:t>
            </a:r>
          </a:p>
          <a:p>
            <a:pPr marL="0" indent="0">
              <a:buFontTx/>
              <a:buNone/>
            </a:pPr>
            <a:endParaRPr lang="en-ZA" altLang="en-US" sz="400" dirty="0">
              <a:latin typeface="Courier New" panose="02070309020205020404" pitchFamily="49" charset="0"/>
              <a:cs typeface="Courier New" panose="02070309020205020404" pitchFamily="49" charset="0"/>
            </a:endParaRPr>
          </a:p>
          <a:p>
            <a:pPr marL="0" indent="0">
              <a:buFontTx/>
              <a:buNone/>
            </a:pPr>
            <a:r>
              <a:rPr lang="en-ZA" altLang="en-US" sz="2000" dirty="0" smtClean="0">
                <a:latin typeface="Courier New" panose="02070309020205020404" pitchFamily="49" charset="0"/>
                <a:cs typeface="Courier New" panose="02070309020205020404" pitchFamily="49" charset="0"/>
              </a:rPr>
              <a:t>	   first</a:t>
            </a:r>
            <a:r>
              <a:rPr lang="en-ZA" altLang="en-US" sz="2000" dirty="0">
                <a:latin typeface="Courier New" panose="02070309020205020404" pitchFamily="49" charset="0"/>
                <a:cs typeface="Courier New" panose="02070309020205020404" pitchFamily="49" charset="0"/>
              </a:rPr>
              <a:t>:</a:t>
            </a:r>
          </a:p>
          <a:p>
            <a:pPr marL="0" indent="0">
              <a:buFontTx/>
              <a:buNone/>
            </a:pPr>
            <a:r>
              <a:rPr lang="en-ZA" altLang="en-US" sz="2000" b="1" dirty="0" smtClean="0">
                <a:latin typeface="Courier New" panose="02070309020205020404" pitchFamily="49" charset="0"/>
                <a:cs typeface="Courier New" panose="02070309020205020404" pitchFamily="49" charset="0"/>
              </a:rPr>
              <a:t>	   for</a:t>
            </a:r>
            <a:r>
              <a:rPr lang="en-ZA" altLang="en-US" sz="2000" dirty="0" smtClean="0">
                <a:latin typeface="Courier New" panose="02070309020205020404" pitchFamily="49" charset="0"/>
                <a:cs typeface="Courier New" panose="02070309020205020404" pitchFamily="49" charset="0"/>
              </a:rPr>
              <a:t> </a:t>
            </a:r>
            <a:r>
              <a:rPr lang="en-ZA" altLang="en-US" sz="2000" dirty="0">
                <a:latin typeface="Courier New" panose="02070309020205020404" pitchFamily="49" charset="0"/>
                <a:cs typeface="Courier New" panose="02070309020205020404" pitchFamily="49" charset="0"/>
              </a:rPr>
              <a:t>(</a:t>
            </a:r>
            <a:r>
              <a:rPr lang="en-ZA" altLang="en-US" sz="2000" b="1" dirty="0" err="1">
                <a:latin typeface="Courier New" panose="02070309020205020404" pitchFamily="49" charset="0"/>
                <a:cs typeface="Courier New" panose="02070309020205020404" pitchFamily="49" charset="0"/>
              </a:rPr>
              <a:t>int</a:t>
            </a:r>
            <a:r>
              <a:rPr lang="en-ZA" altLang="en-US" sz="2000" dirty="0">
                <a:latin typeface="Courier New" panose="02070309020205020404" pitchFamily="49" charset="0"/>
                <a:cs typeface="Courier New" panose="02070309020205020404" pitchFamily="49" charset="0"/>
              </a:rPr>
              <a:t> </a:t>
            </a:r>
            <a:r>
              <a:rPr lang="en-ZA" altLang="en-US" sz="2000" dirty="0" err="1">
                <a:latin typeface="Courier New" panose="02070309020205020404" pitchFamily="49" charset="0"/>
                <a:cs typeface="Courier New" panose="02070309020205020404" pitchFamily="49" charset="0"/>
              </a:rPr>
              <a:t>i</a:t>
            </a:r>
            <a:r>
              <a:rPr lang="en-ZA" altLang="en-US" sz="2000" dirty="0">
                <a:latin typeface="Courier New" panose="02070309020205020404" pitchFamily="49" charset="0"/>
                <a:cs typeface="Courier New" panose="02070309020205020404" pitchFamily="49" charset="0"/>
              </a:rPr>
              <a:t> = 0; </a:t>
            </a:r>
            <a:r>
              <a:rPr lang="en-ZA" altLang="en-US" sz="2000" dirty="0" err="1">
                <a:latin typeface="Courier New" panose="02070309020205020404" pitchFamily="49" charset="0"/>
                <a:cs typeface="Courier New" panose="02070309020205020404" pitchFamily="49" charset="0"/>
              </a:rPr>
              <a:t>i</a:t>
            </a:r>
            <a:r>
              <a:rPr lang="en-ZA" altLang="en-US" sz="2000" dirty="0">
                <a:latin typeface="Courier New" panose="02070309020205020404" pitchFamily="49" charset="0"/>
                <a:cs typeface="Courier New" panose="02070309020205020404" pitchFamily="49" charset="0"/>
              </a:rPr>
              <a:t> &lt; 10; </a:t>
            </a:r>
            <a:r>
              <a:rPr lang="en-ZA" altLang="en-US" sz="2000" dirty="0" err="1">
                <a:latin typeface="Courier New" panose="02070309020205020404" pitchFamily="49" charset="0"/>
                <a:cs typeface="Courier New" panose="02070309020205020404" pitchFamily="49" charset="0"/>
              </a:rPr>
              <a:t>i</a:t>
            </a:r>
            <a:r>
              <a:rPr lang="en-ZA" altLang="en-US" sz="2000" dirty="0">
                <a:latin typeface="Courier New" panose="02070309020205020404" pitchFamily="49" charset="0"/>
                <a:cs typeface="Courier New" panose="02070309020205020404" pitchFamily="49" charset="0"/>
              </a:rPr>
              <a:t>++) {</a:t>
            </a:r>
          </a:p>
          <a:p>
            <a:pPr marL="0" indent="0">
              <a:buFontTx/>
              <a:buNone/>
            </a:pPr>
            <a:r>
              <a:rPr lang="en-ZA" altLang="en-US" sz="2000" dirty="0" smtClean="0">
                <a:latin typeface="Courier New" panose="02070309020205020404" pitchFamily="49" charset="0"/>
                <a:cs typeface="Courier New" panose="02070309020205020404" pitchFamily="49" charset="0"/>
              </a:rPr>
              <a:t>	      second</a:t>
            </a:r>
            <a:r>
              <a:rPr lang="en-ZA" altLang="en-US" sz="2000" dirty="0">
                <a:latin typeface="Courier New" panose="02070309020205020404" pitchFamily="49" charset="0"/>
                <a:cs typeface="Courier New" panose="02070309020205020404" pitchFamily="49" charset="0"/>
              </a:rPr>
              <a:t>:</a:t>
            </a:r>
          </a:p>
          <a:p>
            <a:pPr marL="0" indent="0">
              <a:buFontTx/>
              <a:buNone/>
            </a:pPr>
            <a:r>
              <a:rPr lang="en-ZA" altLang="en-US" sz="2000" b="1" dirty="0" smtClean="0">
                <a:latin typeface="Courier New" panose="02070309020205020404" pitchFamily="49" charset="0"/>
                <a:cs typeface="Courier New" panose="02070309020205020404" pitchFamily="49" charset="0"/>
              </a:rPr>
              <a:t>	      for</a:t>
            </a:r>
            <a:r>
              <a:rPr lang="en-ZA" altLang="en-US" sz="2000" dirty="0" smtClean="0">
                <a:latin typeface="Courier New" panose="02070309020205020404" pitchFamily="49" charset="0"/>
                <a:cs typeface="Courier New" panose="02070309020205020404" pitchFamily="49" charset="0"/>
              </a:rPr>
              <a:t> </a:t>
            </a:r>
            <a:r>
              <a:rPr lang="en-ZA" altLang="en-US" sz="2000" dirty="0">
                <a:latin typeface="Courier New" panose="02070309020205020404" pitchFamily="49" charset="0"/>
                <a:cs typeface="Courier New" panose="02070309020205020404" pitchFamily="49" charset="0"/>
              </a:rPr>
              <a:t>(</a:t>
            </a:r>
            <a:r>
              <a:rPr lang="en-ZA" altLang="en-US" sz="2000" b="1" dirty="0" err="1">
                <a:latin typeface="Courier New" panose="02070309020205020404" pitchFamily="49" charset="0"/>
                <a:cs typeface="Courier New" panose="02070309020205020404" pitchFamily="49" charset="0"/>
              </a:rPr>
              <a:t>int</a:t>
            </a:r>
            <a:r>
              <a:rPr lang="en-ZA" altLang="en-US" sz="2000" dirty="0">
                <a:latin typeface="Courier New" panose="02070309020205020404" pitchFamily="49" charset="0"/>
                <a:cs typeface="Courier New" panose="02070309020205020404" pitchFamily="49" charset="0"/>
              </a:rPr>
              <a:t> j = 0; j &lt; 5; </a:t>
            </a:r>
            <a:r>
              <a:rPr lang="en-ZA" altLang="en-US" sz="2000" dirty="0" err="1">
                <a:latin typeface="Courier New" panose="02070309020205020404" pitchFamily="49" charset="0"/>
                <a:cs typeface="Courier New" panose="02070309020205020404" pitchFamily="49" charset="0"/>
              </a:rPr>
              <a:t>j</a:t>
            </a:r>
            <a:r>
              <a:rPr lang="en-ZA" altLang="en-US" sz="2000" dirty="0" err="1" smtClean="0">
                <a:latin typeface="Courier New" panose="02070309020205020404" pitchFamily="49" charset="0"/>
                <a:cs typeface="Courier New" panose="02070309020205020404" pitchFamily="49" charset="0"/>
              </a:rPr>
              <a:t>++</a:t>
            </a:r>
            <a:r>
              <a:rPr lang="en-ZA" altLang="en-US" sz="2000" dirty="0" smtClean="0">
                <a:latin typeface="Courier New" panose="02070309020205020404" pitchFamily="49" charset="0"/>
                <a:cs typeface="Courier New" panose="02070309020205020404" pitchFamily="49" charset="0"/>
              </a:rPr>
              <a:t>) {</a:t>
            </a:r>
            <a:endParaRPr lang="en-ZA" altLang="en-US" sz="2000" dirty="0">
              <a:latin typeface="Courier New" panose="02070309020205020404" pitchFamily="49" charset="0"/>
              <a:cs typeface="Courier New" panose="02070309020205020404" pitchFamily="49" charset="0"/>
            </a:endParaRPr>
          </a:p>
          <a:p>
            <a:pPr marL="0" indent="0">
              <a:buFontTx/>
              <a:buNone/>
            </a:pPr>
            <a:r>
              <a:rPr lang="en-ZA" altLang="en-US" sz="2000" b="1" dirty="0" smtClean="0">
                <a:latin typeface="Courier New" panose="02070309020205020404" pitchFamily="49" charset="0"/>
                <a:cs typeface="Courier New" panose="02070309020205020404" pitchFamily="49" charset="0"/>
              </a:rPr>
              <a:t>	         break</a:t>
            </a:r>
            <a:r>
              <a:rPr lang="en-ZA" altLang="en-US" sz="2000" dirty="0" smtClean="0">
                <a:latin typeface="Courier New" panose="02070309020205020404" pitchFamily="49" charset="0"/>
                <a:cs typeface="Courier New" panose="02070309020205020404" pitchFamily="49" charset="0"/>
              </a:rPr>
              <a:t> </a:t>
            </a:r>
            <a:r>
              <a:rPr lang="en-ZA" altLang="en-US" sz="2000" dirty="0">
                <a:latin typeface="Courier New" panose="02070309020205020404" pitchFamily="49" charset="0"/>
                <a:cs typeface="Courier New" panose="02070309020205020404" pitchFamily="49" charset="0"/>
              </a:rPr>
              <a:t>xxx;</a:t>
            </a:r>
          </a:p>
          <a:p>
            <a:pPr marL="0" indent="0">
              <a:buFontTx/>
              <a:buNone/>
            </a:pPr>
            <a:r>
              <a:rPr lang="en-ZA" altLang="en-US" sz="2000" dirty="0" smtClean="0">
                <a:latin typeface="Courier New" panose="02070309020205020404" pitchFamily="49" charset="0"/>
                <a:cs typeface="Courier New" panose="02070309020205020404" pitchFamily="49" charset="0"/>
              </a:rPr>
              <a:t>	      }</a:t>
            </a:r>
            <a:endParaRPr lang="en-ZA" altLang="en-US" sz="2000" dirty="0">
              <a:latin typeface="Courier New" panose="02070309020205020404" pitchFamily="49" charset="0"/>
              <a:cs typeface="Courier New" panose="02070309020205020404" pitchFamily="49" charset="0"/>
            </a:endParaRPr>
          </a:p>
          <a:p>
            <a:pPr marL="0" indent="0">
              <a:buFontTx/>
              <a:buNone/>
            </a:pPr>
            <a:r>
              <a:rPr lang="en-ZA" altLang="en-US" sz="2000" dirty="0" smtClean="0">
                <a:latin typeface="Courier New" panose="02070309020205020404" pitchFamily="49" charset="0"/>
                <a:cs typeface="Courier New" panose="02070309020205020404" pitchFamily="49" charset="0"/>
              </a:rPr>
              <a:t>	   }</a:t>
            </a:r>
            <a:endParaRPr lang="en-ZA" altLang="en-US" sz="2000" dirty="0">
              <a:latin typeface="Courier New" panose="02070309020205020404" pitchFamily="49" charset="0"/>
              <a:cs typeface="Courier New" panose="02070309020205020404" pitchFamily="49" charset="0"/>
            </a:endParaRPr>
          </a:p>
        </p:txBody>
      </p:sp>
      <p:sp>
        <p:nvSpPr>
          <p:cNvPr id="7168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1F4E1C6-42FD-45A4-9C2B-7A28FB590FA4}"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cxnSp>
        <p:nvCxnSpPr>
          <p:cNvPr id="71686" name="Straight Arrow Connector 9"/>
          <p:cNvCxnSpPr>
            <a:cxnSpLocks noChangeShapeType="1"/>
          </p:cNvCxnSpPr>
          <p:nvPr/>
        </p:nvCxnSpPr>
        <p:spPr bwMode="auto">
          <a:xfrm flipH="1">
            <a:off x="4724400" y="5430154"/>
            <a:ext cx="457200" cy="0"/>
          </a:xfrm>
          <a:prstGeom prst="straightConnector1">
            <a:avLst/>
          </a:prstGeom>
          <a:noFill/>
          <a:ln w="9525" algn="ctr">
            <a:solidFill>
              <a:srgbClr val="7030A0"/>
            </a:solidFill>
            <a:round/>
            <a:headEnd/>
            <a:tailEnd type="triangle" w="med" len="med"/>
          </a:ln>
          <a:extLst>
            <a:ext uri="{909E8E84-426E-40DD-AFC4-6F175D3DCCD1}">
              <a14:hiddenFill xmlns:a14="http://schemas.microsoft.com/office/drawing/2010/main">
                <a:noFill/>
              </a14:hiddenFill>
            </a:ext>
          </a:extLst>
        </p:spPr>
      </p:cxnSp>
      <p:sp>
        <p:nvSpPr>
          <p:cNvPr id="71687" name="TextBox 10"/>
          <p:cNvSpPr txBox="1">
            <a:spLocks noChangeArrowheads="1"/>
          </p:cNvSpPr>
          <p:nvPr/>
        </p:nvSpPr>
        <p:spPr bwMode="auto">
          <a:xfrm>
            <a:off x="5172523" y="5201554"/>
            <a:ext cx="221887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ZA" altLang="en-US" sz="2000" dirty="0">
                <a:solidFill>
                  <a:srgbClr val="7030A0"/>
                </a:solidFill>
                <a:latin typeface="Courier New" panose="02070309020205020404" pitchFamily="49" charset="0"/>
                <a:cs typeface="Courier New" panose="02070309020205020404" pitchFamily="49" charset="0"/>
              </a:rPr>
              <a:t>xxx</a:t>
            </a:r>
            <a:r>
              <a:rPr lang="en-ZA" altLang="en-US" sz="2000" dirty="0">
                <a:solidFill>
                  <a:srgbClr val="7030A0"/>
                </a:solidFill>
                <a:latin typeface="Times" panose="02020603050405020304" pitchFamily="18" charset="0"/>
              </a:rPr>
              <a:t> can be </a:t>
            </a:r>
            <a:r>
              <a:rPr lang="en-ZA" altLang="en-US" sz="2000" dirty="0" smtClean="0">
                <a:solidFill>
                  <a:srgbClr val="7030A0"/>
                </a:solidFill>
                <a:latin typeface="Times" panose="02020603050405020304" pitchFamily="18" charset="0"/>
              </a:rPr>
              <a:t>either</a:t>
            </a:r>
          </a:p>
          <a:p>
            <a:pPr>
              <a:spcBef>
                <a:spcPct val="0"/>
              </a:spcBef>
              <a:buFontTx/>
              <a:buNone/>
            </a:pPr>
            <a:r>
              <a:rPr lang="en-ZA" altLang="en-US" sz="2000" dirty="0" smtClean="0">
                <a:solidFill>
                  <a:srgbClr val="7030A0"/>
                </a:solidFill>
                <a:latin typeface="Courier New" panose="02070309020205020404" pitchFamily="49" charset="0"/>
                <a:cs typeface="Courier New" panose="02070309020205020404" pitchFamily="49" charset="0"/>
              </a:rPr>
              <a:t>first</a:t>
            </a:r>
            <a:r>
              <a:rPr lang="en-ZA" altLang="en-US" sz="2000" dirty="0" smtClean="0">
                <a:solidFill>
                  <a:srgbClr val="7030A0"/>
                </a:solidFill>
                <a:latin typeface="Times" panose="02020603050405020304" pitchFamily="18" charset="0"/>
              </a:rPr>
              <a:t> </a:t>
            </a:r>
            <a:r>
              <a:rPr lang="en-ZA" altLang="en-US" sz="2000" dirty="0">
                <a:solidFill>
                  <a:srgbClr val="7030A0"/>
                </a:solidFill>
                <a:latin typeface="Times" panose="02020603050405020304" pitchFamily="18" charset="0"/>
              </a:rPr>
              <a:t>or </a:t>
            </a:r>
            <a:r>
              <a:rPr lang="en-ZA" altLang="en-US" sz="2000" dirty="0">
                <a:solidFill>
                  <a:srgbClr val="7030A0"/>
                </a:solidFill>
                <a:latin typeface="Courier New" panose="02070309020205020404" pitchFamily="49" charset="0"/>
                <a:cs typeface="Courier New" panose="02070309020205020404" pitchFamily="49" charset="0"/>
              </a:rPr>
              <a:t>second</a:t>
            </a:r>
          </a:p>
        </p:txBody>
      </p:sp>
      <p:sp>
        <p:nvSpPr>
          <p:cNvPr id="8"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altLang="en-US" sz="3200" smtClean="0"/>
              <a:t>User-Located Loop Control Mechanisms</a:t>
            </a:r>
            <a:endParaRPr lang="en-ZA" altLang="en-US" sz="3200" smtClean="0"/>
          </a:p>
        </p:txBody>
      </p:sp>
      <p:sp>
        <p:nvSpPr>
          <p:cNvPr id="71683" name="Content Placeholder 2"/>
          <p:cNvSpPr>
            <a:spLocks noGrp="1"/>
          </p:cNvSpPr>
          <p:nvPr>
            <p:ph idx="1"/>
          </p:nvPr>
        </p:nvSpPr>
        <p:spPr/>
        <p:txBody>
          <a:bodyPr/>
          <a:lstStyle/>
          <a:p>
            <a:pPr eaLnBrk="1" hangingPunct="1"/>
            <a:r>
              <a:rPr lang="en-US" altLang="en-US" dirty="0" smtClean="0"/>
              <a:t>Java and Perl</a:t>
            </a:r>
          </a:p>
          <a:p>
            <a:pPr lvl="1" eaLnBrk="1" hangingPunct="1"/>
            <a:r>
              <a:rPr lang="en-US" altLang="en-US" dirty="0" smtClean="0"/>
              <a:t>Also </a:t>
            </a:r>
            <a:r>
              <a:rPr lang="en-US" altLang="en-US" dirty="0"/>
              <a:t>have a labeled </a:t>
            </a:r>
            <a:r>
              <a:rPr lang="en-US" altLang="en-US" b="1" dirty="0">
                <a:latin typeface="Courier New" panose="02070309020205020404" pitchFamily="49" charset="0"/>
              </a:rPr>
              <a:t>continue</a:t>
            </a:r>
          </a:p>
          <a:p>
            <a:pPr lvl="2" eaLnBrk="1" hangingPunct="1"/>
            <a:r>
              <a:rPr lang="en-US" altLang="en-US" dirty="0"/>
              <a:t>Allow specification of which loop to </a:t>
            </a:r>
            <a:r>
              <a:rPr lang="en-US" altLang="en-US" dirty="0" smtClean="0"/>
              <a:t>continue</a:t>
            </a:r>
          </a:p>
        </p:txBody>
      </p:sp>
      <p:sp>
        <p:nvSpPr>
          <p:cNvPr id="7168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1F4E1C6-42FD-45A4-9C2B-7A28FB590FA4}"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38835075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0ED24F3-27DE-4213-ACAB-726EFA9BEF55}"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73732" name="Rectangle 2"/>
          <p:cNvSpPr>
            <a:spLocks noGrp="1" noChangeArrowheads="1"/>
          </p:cNvSpPr>
          <p:nvPr>
            <p:ph type="title"/>
          </p:nvPr>
        </p:nvSpPr>
        <p:spPr/>
        <p:txBody>
          <a:bodyPr/>
          <a:lstStyle/>
          <a:p>
            <a:pPr eaLnBrk="1" hangingPunct="1"/>
            <a:r>
              <a:rPr lang="en-US" altLang="en-US" sz="3200" smtClean="0"/>
              <a:t>Iteration Based on Data Structures</a:t>
            </a:r>
          </a:p>
        </p:txBody>
      </p:sp>
      <p:sp>
        <p:nvSpPr>
          <p:cNvPr id="73733" name="Rectangle 3"/>
          <p:cNvSpPr>
            <a:spLocks noGrp="1" noChangeArrowheads="1"/>
          </p:cNvSpPr>
          <p:nvPr>
            <p:ph type="body" idx="1"/>
          </p:nvPr>
        </p:nvSpPr>
        <p:spPr>
          <a:xfrm>
            <a:off x="609600" y="1600200"/>
            <a:ext cx="8229600" cy="4572000"/>
          </a:xfrm>
        </p:spPr>
        <p:txBody>
          <a:bodyPr/>
          <a:lstStyle/>
          <a:p>
            <a:pPr eaLnBrk="1" hangingPunct="1"/>
            <a:r>
              <a:rPr lang="en-US" altLang="en-US" dirty="0" smtClean="0"/>
              <a:t>Iteration controlled by</a:t>
            </a:r>
          </a:p>
          <a:p>
            <a:pPr lvl="1" eaLnBrk="1" hangingPunct="1"/>
            <a:r>
              <a:rPr lang="en-US" altLang="en-US" dirty="0" smtClean="0"/>
              <a:t>Number of elements in a data structure</a:t>
            </a:r>
          </a:p>
          <a:p>
            <a:pPr eaLnBrk="1" hangingPunct="1"/>
            <a:r>
              <a:rPr lang="en-US" altLang="en-US" dirty="0" smtClean="0"/>
              <a:t>Control by means of a call to an </a:t>
            </a:r>
            <a:r>
              <a:rPr lang="en-US" altLang="en-US" u="sng" dirty="0" smtClean="0"/>
              <a:t>iterator</a:t>
            </a:r>
          </a:p>
          <a:p>
            <a:pPr lvl="1" eaLnBrk="1" hangingPunct="1"/>
            <a:r>
              <a:rPr lang="en-US" altLang="en-US" dirty="0" smtClean="0"/>
              <a:t>Returns next element in chosen order</a:t>
            </a:r>
          </a:p>
          <a:p>
            <a:pPr lvl="1" eaLnBrk="1" hangingPunct="1"/>
            <a:r>
              <a:rPr lang="en-US" altLang="en-US" dirty="0" smtClean="0"/>
              <a:t>If no next element exists, loop is terminate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0ED24F3-27DE-4213-ACAB-726EFA9BEF55}" type="slidenum">
              <a:rPr lang="en-US" altLang="en-US" sz="1000" smtClean="0">
                <a:solidFill>
                  <a:schemeClr val="tx1"/>
                </a:solidFill>
                <a:latin typeface="Arial" panose="020B0604020202020204" pitchFamily="34" charset="0"/>
              </a:rPr>
              <a:pPr>
                <a:spcBef>
                  <a:spcPct val="0"/>
                </a:spcBef>
                <a:buFontTx/>
                <a:buNone/>
              </a:pPr>
              <a:t>16</a:t>
            </a:fld>
            <a:endParaRPr lang="en-US" altLang="en-US" sz="1000" smtClean="0">
              <a:solidFill>
                <a:schemeClr val="tx1"/>
              </a:solidFill>
              <a:latin typeface="Arial" panose="020B0604020202020204" pitchFamily="34" charset="0"/>
            </a:endParaRPr>
          </a:p>
        </p:txBody>
      </p:sp>
      <p:sp>
        <p:nvSpPr>
          <p:cNvPr id="73732" name="Rectangle 2"/>
          <p:cNvSpPr>
            <a:spLocks noGrp="1" noChangeArrowheads="1"/>
          </p:cNvSpPr>
          <p:nvPr>
            <p:ph type="title"/>
          </p:nvPr>
        </p:nvSpPr>
        <p:spPr/>
        <p:txBody>
          <a:bodyPr/>
          <a:lstStyle/>
          <a:p>
            <a:pPr eaLnBrk="1" hangingPunct="1"/>
            <a:r>
              <a:rPr lang="en-US" altLang="en-US" sz="3200" smtClean="0"/>
              <a:t>Iteration Based on Data Structures</a:t>
            </a:r>
          </a:p>
        </p:txBody>
      </p:sp>
      <p:sp>
        <p:nvSpPr>
          <p:cNvPr id="73733" name="Rectangle 3"/>
          <p:cNvSpPr>
            <a:spLocks noGrp="1" noChangeArrowheads="1"/>
          </p:cNvSpPr>
          <p:nvPr>
            <p:ph type="body" idx="1"/>
          </p:nvPr>
        </p:nvSpPr>
        <p:spPr>
          <a:xfrm>
            <a:off x="609600" y="1600200"/>
            <a:ext cx="8305800" cy="4572000"/>
          </a:xfrm>
        </p:spPr>
        <p:txBody>
          <a:bodyPr/>
          <a:lstStyle/>
          <a:p>
            <a:pPr eaLnBrk="1" hangingPunct="1"/>
            <a:r>
              <a:rPr lang="en-US" altLang="en-US" dirty="0" smtClean="0"/>
              <a:t>PHP</a:t>
            </a:r>
          </a:p>
          <a:p>
            <a:pPr lvl="1" eaLnBrk="1" hangingPunct="1"/>
            <a:r>
              <a:rPr lang="en-US" altLang="en-US" dirty="0" smtClean="0"/>
              <a:t>​</a:t>
            </a:r>
            <a:r>
              <a:rPr lang="en-US" altLang="en-US" b="1" dirty="0" smtClean="0">
                <a:latin typeface="Courier New" panose="02070309020205020404" pitchFamily="49" charset="0"/>
                <a:cs typeface="Courier New" panose="02070309020205020404" pitchFamily="49" charset="0"/>
              </a:rPr>
              <a:t>current</a:t>
            </a:r>
            <a:r>
              <a:rPr lang="en-US" altLang="en-US" dirty="0" smtClean="0">
                <a:latin typeface="Courier New" panose="02070309020205020404" pitchFamily="49" charset="0"/>
                <a:cs typeface="Courier New" panose="02070309020205020404" pitchFamily="49" charset="0"/>
              </a:rPr>
              <a:t>($</a:t>
            </a:r>
            <a:r>
              <a:rPr lang="en-US" altLang="en-US" dirty="0" err="1" smtClean="0">
                <a:latin typeface="Courier New" panose="02070309020205020404" pitchFamily="49" charset="0"/>
                <a:cs typeface="Courier New" panose="02070309020205020404" pitchFamily="49" charset="0"/>
              </a:rPr>
              <a:t>arr</a:t>
            </a:r>
            <a:r>
              <a:rPr lang="en-US" altLang="en-US" dirty="0" smtClean="0">
                <a:latin typeface="Courier New" panose="02070309020205020404" pitchFamily="49" charset="0"/>
                <a:cs typeface="Courier New" panose="02070309020205020404" pitchFamily="49" charset="0"/>
              </a:rPr>
              <a:t>)</a:t>
            </a:r>
            <a:r>
              <a:rPr lang="en-US" altLang="en-US" dirty="0" smtClean="0"/>
              <a:t> points to one array element</a:t>
            </a:r>
          </a:p>
          <a:p>
            <a:pPr lvl="1" eaLnBrk="1" hangingPunct="1"/>
            <a:r>
              <a:rPr lang="en-US" altLang="en-US" dirty="0" smtClean="0"/>
              <a:t>​</a:t>
            </a:r>
            <a:r>
              <a:rPr lang="en-US" altLang="en-US" b="1" dirty="0" smtClean="0">
                <a:latin typeface="Courier New" panose="02070309020205020404" pitchFamily="49" charset="0"/>
                <a:cs typeface="Courier New" panose="02070309020205020404" pitchFamily="49" charset="0"/>
              </a:rPr>
              <a:t>next</a:t>
            </a:r>
            <a:r>
              <a:rPr lang="en-US" altLang="en-US" dirty="0" smtClean="0">
                <a:latin typeface="Courier New" panose="02070309020205020404" pitchFamily="49" charset="0"/>
                <a:cs typeface="Courier New" panose="02070309020205020404" pitchFamily="49" charset="0"/>
              </a:rPr>
              <a:t>($</a:t>
            </a:r>
            <a:r>
              <a:rPr lang="en-US" altLang="en-US" dirty="0" err="1" smtClean="0">
                <a:latin typeface="Courier New" panose="02070309020205020404" pitchFamily="49" charset="0"/>
                <a:cs typeface="Courier New" panose="02070309020205020404" pitchFamily="49" charset="0"/>
              </a:rPr>
              <a:t>arr</a:t>
            </a:r>
            <a:r>
              <a:rPr lang="en-US" altLang="en-US" dirty="0" smtClean="0">
                <a:latin typeface="Courier New" panose="02070309020205020404" pitchFamily="49" charset="0"/>
                <a:cs typeface="Courier New" panose="02070309020205020404" pitchFamily="49" charset="0"/>
              </a:rPr>
              <a:t>)</a:t>
            </a:r>
            <a:r>
              <a:rPr lang="en-US" altLang="en-US" dirty="0" smtClean="0"/>
              <a:t> moves </a:t>
            </a:r>
            <a:r>
              <a:rPr lang="en-US" altLang="en-US" b="1" dirty="0" smtClean="0">
                <a:latin typeface="Courier New" panose="02070309020205020404" pitchFamily="49" charset="0"/>
                <a:cs typeface="Courier New" panose="02070309020205020404" pitchFamily="49" charset="0"/>
              </a:rPr>
              <a:t>current</a:t>
            </a:r>
            <a:r>
              <a:rPr lang="en-US" altLang="en-US" dirty="0" smtClean="0"/>
              <a:t> to the next element</a:t>
            </a:r>
          </a:p>
          <a:p>
            <a:pPr lvl="1" eaLnBrk="1" hangingPunct="1"/>
            <a:r>
              <a:rPr lang="en-US" altLang="en-US" dirty="0" smtClean="0"/>
              <a:t>​</a:t>
            </a:r>
            <a:r>
              <a:rPr lang="en-US" altLang="en-US" b="1" dirty="0" smtClean="0">
                <a:latin typeface="Courier New" panose="02070309020205020404" pitchFamily="49" charset="0"/>
                <a:cs typeface="Courier New" panose="02070309020205020404" pitchFamily="49" charset="0"/>
              </a:rPr>
              <a:t>reset</a:t>
            </a:r>
            <a:r>
              <a:rPr lang="en-US" altLang="en-US" dirty="0" smtClean="0">
                <a:latin typeface="Courier New" panose="02070309020205020404" pitchFamily="49" charset="0"/>
                <a:cs typeface="Courier New" panose="02070309020205020404" pitchFamily="49" charset="0"/>
              </a:rPr>
              <a:t> $</a:t>
            </a:r>
            <a:r>
              <a:rPr lang="en-US" altLang="en-US" dirty="0" err="1" smtClean="0">
                <a:latin typeface="Courier New" panose="02070309020205020404" pitchFamily="49" charset="0"/>
                <a:cs typeface="Courier New" panose="02070309020205020404" pitchFamily="49" charset="0"/>
              </a:rPr>
              <a:t>arr</a:t>
            </a:r>
            <a:r>
              <a:rPr lang="en-US" altLang="en-US" dirty="0" smtClean="0"/>
              <a:t> moves </a:t>
            </a:r>
            <a:r>
              <a:rPr lang="en-US" altLang="en-US" b="1" dirty="0" smtClean="0">
                <a:latin typeface="Courier New" panose="02070309020205020404" pitchFamily="49" charset="0"/>
                <a:cs typeface="Courier New" panose="02070309020205020404" pitchFamily="49" charset="0"/>
              </a:rPr>
              <a:t>current</a:t>
            </a:r>
            <a:r>
              <a:rPr lang="en-US" altLang="en-US" dirty="0" smtClean="0"/>
              <a:t> to the first element</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5951282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ACAB82B-CB87-4E7F-BF70-07A54C671AFB}" type="slidenum">
              <a:rPr lang="en-US" altLang="en-US" sz="1000" smtClean="0">
                <a:solidFill>
                  <a:schemeClr val="tx1"/>
                </a:solidFill>
                <a:latin typeface="Arial" panose="020B0604020202020204" pitchFamily="34" charset="0"/>
              </a:rPr>
              <a:pPr>
                <a:spcBef>
                  <a:spcPct val="0"/>
                </a:spcBef>
                <a:buFontTx/>
                <a:buNone/>
              </a:pPr>
              <a:t>17</a:t>
            </a:fld>
            <a:endParaRPr lang="en-US" altLang="en-US" sz="1000" smtClean="0">
              <a:solidFill>
                <a:schemeClr val="tx1"/>
              </a:solidFill>
              <a:latin typeface="Arial" panose="020B0604020202020204" pitchFamily="34" charset="0"/>
            </a:endParaRPr>
          </a:p>
        </p:txBody>
      </p:sp>
      <p:sp>
        <p:nvSpPr>
          <p:cNvPr id="75780" name="Rectangle 2"/>
          <p:cNvSpPr>
            <a:spLocks noGrp="1" noChangeArrowheads="1"/>
          </p:cNvSpPr>
          <p:nvPr>
            <p:ph type="title"/>
          </p:nvPr>
        </p:nvSpPr>
        <p:spPr/>
        <p:txBody>
          <a:bodyPr/>
          <a:lstStyle/>
          <a:p>
            <a:pPr eaLnBrk="1" hangingPunct="1"/>
            <a:r>
              <a:rPr lang="en-US" altLang="en-US" sz="3200" smtClean="0"/>
              <a:t>Iteration Based on Data Structures</a:t>
            </a:r>
          </a:p>
        </p:txBody>
      </p:sp>
      <p:sp>
        <p:nvSpPr>
          <p:cNvPr id="75781" name="Rectangle 3"/>
          <p:cNvSpPr>
            <a:spLocks noGrp="1" noChangeArrowheads="1"/>
          </p:cNvSpPr>
          <p:nvPr>
            <p:ph type="body" idx="1"/>
          </p:nvPr>
        </p:nvSpPr>
        <p:spPr>
          <a:xfrm>
            <a:off x="609600" y="1600200"/>
            <a:ext cx="8229600" cy="4953000"/>
          </a:xfrm>
        </p:spPr>
        <p:txBody>
          <a:bodyPr/>
          <a:lstStyle/>
          <a:p>
            <a:r>
              <a:rPr lang="en-US" altLang="en-US" dirty="0" smtClean="0">
                <a:solidFill>
                  <a:srgbClr val="333399"/>
                </a:solidFill>
              </a:rPr>
              <a:t>Java 5.0 uses </a:t>
            </a:r>
            <a:r>
              <a:rPr lang="en-US" altLang="en-US" b="1" dirty="0" smtClean="0">
                <a:solidFill>
                  <a:srgbClr val="333399"/>
                </a:solidFill>
                <a:latin typeface="Courier New" panose="02070309020205020404" pitchFamily="49" charset="0"/>
              </a:rPr>
              <a:t>for</a:t>
            </a:r>
            <a:endParaRPr lang="en-US" altLang="en-US" dirty="0" smtClean="0">
              <a:solidFill>
                <a:srgbClr val="333399"/>
              </a:solidFill>
            </a:endParaRPr>
          </a:p>
          <a:p>
            <a:pPr lvl="1"/>
            <a:r>
              <a:rPr lang="en-US" altLang="en-US" dirty="0" smtClean="0">
                <a:solidFill>
                  <a:srgbClr val="333399"/>
                </a:solidFill>
              </a:rPr>
              <a:t>It is usually called a </a:t>
            </a:r>
            <a:r>
              <a:rPr lang="en-US" altLang="en-US" dirty="0" err="1" smtClean="0">
                <a:solidFill>
                  <a:srgbClr val="333399"/>
                </a:solidFill>
              </a:rPr>
              <a:t>foreach</a:t>
            </a:r>
            <a:r>
              <a:rPr lang="en-US" altLang="en-US" dirty="0">
                <a:solidFill>
                  <a:srgbClr val="333399"/>
                </a:solidFill>
              </a:rPr>
              <a:t> </a:t>
            </a:r>
            <a:r>
              <a:rPr lang="en-US" altLang="en-US" dirty="0" smtClean="0">
                <a:solidFill>
                  <a:srgbClr val="333399"/>
                </a:solidFill>
              </a:rPr>
              <a:t>loop</a:t>
            </a:r>
            <a:endParaRPr lang="en-US" altLang="en-US" dirty="0" smtClean="0">
              <a:solidFill>
                <a:srgbClr val="333399"/>
              </a:solidFill>
            </a:endParaRPr>
          </a:p>
          <a:p>
            <a:pPr lvl="1"/>
            <a:r>
              <a:rPr lang="en-US" altLang="en-US" dirty="0" smtClean="0">
                <a:solidFill>
                  <a:srgbClr val="333399"/>
                </a:solidFill>
              </a:rPr>
              <a:t>Arrays/classes implementing </a:t>
            </a:r>
            <a:r>
              <a:rPr lang="en-US" altLang="en-US" dirty="0" err="1" smtClean="0">
                <a:solidFill>
                  <a:srgbClr val="333399"/>
                </a:solidFill>
                <a:latin typeface="Courier New" panose="02070309020205020404" pitchFamily="49" charset="0"/>
              </a:rPr>
              <a:t>Iterable</a:t>
            </a:r>
            <a:r>
              <a:rPr lang="en-US" altLang="en-US" dirty="0" smtClean="0">
                <a:solidFill>
                  <a:srgbClr val="333399"/>
                </a:solidFill>
              </a:rPr>
              <a:t> interface</a:t>
            </a:r>
          </a:p>
          <a:p>
            <a:pPr lvl="1"/>
            <a:r>
              <a:rPr lang="en-US" altLang="en-US" dirty="0" smtClean="0">
                <a:solidFill>
                  <a:srgbClr val="333399"/>
                </a:solidFill>
              </a:rPr>
              <a:t>For example, for an </a:t>
            </a:r>
            <a:r>
              <a:rPr lang="en-US" altLang="en-US" dirty="0" err="1" smtClean="0">
                <a:solidFill>
                  <a:srgbClr val="333399"/>
                </a:solidFill>
                <a:latin typeface="Courier New" panose="02070309020205020404" pitchFamily="49" charset="0"/>
              </a:rPr>
              <a:t>ArrayList</a:t>
            </a:r>
            <a:endParaRPr lang="en-US" altLang="en-US" dirty="0" smtClean="0">
              <a:solidFill>
                <a:srgbClr val="333399"/>
              </a:solidFill>
              <a:latin typeface="Courier New" panose="02070309020205020404" pitchFamily="49" charset="0"/>
            </a:endParaRPr>
          </a:p>
          <a:p>
            <a:pPr>
              <a:buFontTx/>
              <a:buNone/>
            </a:pPr>
            <a:endParaRPr lang="en-US" altLang="en-US" sz="500" dirty="0">
              <a:solidFill>
                <a:srgbClr val="333399"/>
              </a:solidFill>
              <a:latin typeface="Courier New" panose="02070309020205020404" pitchFamily="49" charset="0"/>
            </a:endParaRPr>
          </a:p>
          <a:p>
            <a:pPr>
              <a:buFontTx/>
              <a:buNone/>
            </a:pPr>
            <a:r>
              <a:rPr lang="en-US" altLang="en-US" sz="2100" b="1" dirty="0" smtClean="0">
                <a:solidFill>
                  <a:srgbClr val="666699"/>
                </a:solidFill>
                <a:latin typeface="Courier New" panose="02070309020205020404" pitchFamily="49" charset="0"/>
              </a:rPr>
              <a:t>	      for</a:t>
            </a:r>
            <a:r>
              <a:rPr lang="en-US" altLang="en-US" sz="2100" dirty="0" smtClean="0">
                <a:solidFill>
                  <a:srgbClr val="666699"/>
                </a:solidFill>
                <a:latin typeface="Courier New" panose="02070309020205020404" pitchFamily="49" charset="0"/>
              </a:rPr>
              <a:t> </a:t>
            </a:r>
            <a:r>
              <a:rPr lang="en-US" altLang="en-US" sz="2100" dirty="0">
                <a:solidFill>
                  <a:srgbClr val="666699"/>
                </a:solidFill>
                <a:latin typeface="Courier New" panose="02070309020205020404" pitchFamily="49" charset="0"/>
              </a:rPr>
              <a:t>(String </a:t>
            </a:r>
            <a:r>
              <a:rPr lang="en-US" altLang="en-US" sz="2100" dirty="0" err="1">
                <a:solidFill>
                  <a:srgbClr val="666699"/>
                </a:solidFill>
                <a:latin typeface="Courier New" panose="02070309020205020404" pitchFamily="49" charset="0"/>
              </a:rPr>
              <a:t>myElement</a:t>
            </a:r>
            <a:r>
              <a:rPr lang="en-US" altLang="en-US" sz="2100" dirty="0">
                <a:solidFill>
                  <a:srgbClr val="666699"/>
                </a:solidFill>
                <a:latin typeface="Courier New" panose="02070309020205020404" pitchFamily="49" charset="0"/>
              </a:rPr>
              <a:t> : </a:t>
            </a:r>
            <a:r>
              <a:rPr lang="en-US" altLang="en-US" sz="2100" dirty="0" err="1">
                <a:solidFill>
                  <a:srgbClr val="666699"/>
                </a:solidFill>
                <a:latin typeface="Courier New" panose="02070309020205020404" pitchFamily="49" charset="0"/>
              </a:rPr>
              <a:t>myList</a:t>
            </a:r>
            <a:r>
              <a:rPr lang="en-US" altLang="en-US" sz="2100" dirty="0">
                <a:solidFill>
                  <a:srgbClr val="666699"/>
                </a:solidFill>
                <a:latin typeface="Courier New" panose="02070309020205020404" pitchFamily="49" charset="0"/>
              </a:rPr>
              <a:t>) { ... </a:t>
            </a:r>
            <a:r>
              <a:rPr lang="en-US" altLang="en-US" sz="2100" dirty="0" smtClean="0">
                <a:solidFill>
                  <a:srgbClr val="666699"/>
                </a:solidFill>
                <a:latin typeface="Courier New" panose="02070309020205020404" pitchFamily="49" charset="0"/>
              </a:rPr>
              <a:t>}</a:t>
            </a:r>
          </a:p>
          <a:p>
            <a:pPr>
              <a:buFontTx/>
              <a:buNone/>
            </a:pPr>
            <a:endParaRPr lang="en-US" altLang="en-US" sz="800" dirty="0">
              <a:solidFill>
                <a:srgbClr val="333399"/>
              </a:solidFill>
              <a:latin typeface="Courier New" panose="02070309020205020404" pitchFamily="49" charset="0"/>
            </a:endParaRPr>
          </a:p>
          <a:p>
            <a:pPr lvl="2"/>
            <a:r>
              <a:rPr lang="en-US" altLang="en-US" dirty="0" smtClean="0">
                <a:latin typeface="+mj-lt"/>
                <a:cs typeface="Courier New" panose="02070309020205020404" pitchFamily="49" charset="0"/>
              </a:rPr>
              <a:t>The </a:t>
            </a:r>
            <a:r>
              <a:rPr lang="en-US" altLang="en-US" dirty="0" err="1" smtClean="0">
                <a:latin typeface="Courier New" panose="02070309020205020404" pitchFamily="49" charset="0"/>
                <a:cs typeface="Courier New" panose="02070309020205020404" pitchFamily="49" charset="0"/>
              </a:rPr>
              <a:t>myElement</a:t>
            </a:r>
            <a:r>
              <a:rPr lang="en-US" altLang="en-US" dirty="0" smtClean="0">
                <a:latin typeface="+mj-lt"/>
              </a:rPr>
              <a:t> variable is the loop variable</a:t>
            </a:r>
          </a:p>
          <a:p>
            <a:pPr lvl="2"/>
            <a:r>
              <a:rPr lang="en-US" altLang="en-US" dirty="0" smtClean="0">
                <a:latin typeface="+mj-lt"/>
              </a:rPr>
              <a:t>Each iteration, takes value of next </a:t>
            </a:r>
            <a:r>
              <a:rPr lang="en-US" altLang="en-US" dirty="0" err="1">
                <a:latin typeface="Courier New" panose="02070309020205020404" pitchFamily="49" charset="0"/>
                <a:cs typeface="Courier New" panose="02070309020205020404" pitchFamily="49" charset="0"/>
              </a:rPr>
              <a:t>myList</a:t>
            </a:r>
            <a:r>
              <a:rPr lang="en-US" altLang="en-US" dirty="0" smtClean="0">
                <a:latin typeface="+mj-lt"/>
              </a:rPr>
              <a:t> element</a:t>
            </a:r>
          </a:p>
          <a:p>
            <a:r>
              <a:rPr lang="en-US" altLang="en-US" dirty="0" smtClean="0">
                <a:solidFill>
                  <a:srgbClr val="333399"/>
                </a:solidFill>
              </a:rPr>
              <a:t>C# uses a similar approach to Java</a:t>
            </a:r>
            <a:endParaRPr lang="en-US" altLang="en-US" dirty="0">
              <a:solidFill>
                <a:srgbClr val="333399"/>
              </a:solidFill>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31085554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idx="1"/>
          </p:nvPr>
        </p:nvSpPr>
        <p:spPr>
          <a:xfrm>
            <a:off x="609600" y="1600200"/>
            <a:ext cx="8153400" cy="4572000"/>
          </a:xfrm>
        </p:spPr>
        <p:txBody>
          <a:bodyPr/>
          <a:lstStyle/>
          <a:p>
            <a:r>
              <a:rPr lang="en-US" altLang="en-US" dirty="0" smtClean="0"/>
              <a:t>Ruby </a:t>
            </a:r>
            <a:r>
              <a:rPr lang="en-US" altLang="en-US" u="sng" dirty="0" smtClean="0"/>
              <a:t>blocks</a:t>
            </a:r>
          </a:p>
          <a:p>
            <a:pPr lvl="1"/>
            <a:r>
              <a:rPr lang="en-US" altLang="en-US" dirty="0" smtClean="0"/>
              <a:t>Sequences of code</a:t>
            </a:r>
          </a:p>
          <a:p>
            <a:pPr lvl="2"/>
            <a:r>
              <a:rPr lang="en-US" altLang="en-US" dirty="0"/>
              <a:t>D</a:t>
            </a:r>
            <a:r>
              <a:rPr lang="en-US" altLang="en-US" dirty="0" smtClean="0"/>
              <a:t>elimited by braces, or </a:t>
            </a:r>
            <a:r>
              <a:rPr lang="en-US" altLang="en-US" b="1" dirty="0" smtClean="0">
                <a:latin typeface="Courier New" panose="02070309020205020404" pitchFamily="49" charset="0"/>
                <a:cs typeface="Courier New" panose="02070309020205020404" pitchFamily="49" charset="0"/>
              </a:rPr>
              <a:t>do</a:t>
            </a:r>
            <a:r>
              <a:rPr lang="en-US" altLang="en-US" dirty="0" smtClean="0"/>
              <a:t> and </a:t>
            </a:r>
            <a:r>
              <a:rPr lang="en-US" altLang="en-US" b="1" dirty="0" smtClean="0">
                <a:latin typeface="Courier New" panose="02070309020205020404" pitchFamily="49" charset="0"/>
                <a:cs typeface="Courier New" panose="02070309020205020404" pitchFamily="49" charset="0"/>
              </a:rPr>
              <a:t>end</a:t>
            </a:r>
          </a:p>
          <a:p>
            <a:pPr lvl="2"/>
            <a:r>
              <a:rPr lang="en-US" altLang="en-US" dirty="0" smtClean="0">
                <a:cs typeface="Courier New" panose="02070309020205020404" pitchFamily="49" charset="0"/>
              </a:rPr>
              <a:t>Can be used with methods to create iterators</a:t>
            </a:r>
          </a:p>
          <a:p>
            <a:pPr lvl="1"/>
            <a:r>
              <a:rPr lang="en-US" altLang="en-US" dirty="0" smtClean="0">
                <a:cs typeface="Courier New" panose="02070309020205020404" pitchFamily="49" charset="0"/>
              </a:rPr>
              <a:t>Predefined iterator methods </a:t>
            </a:r>
            <a:r>
              <a:rPr lang="en-US" altLang="en-US" dirty="0" smtClean="0">
                <a:latin typeface="Courier New" panose="02070309020205020404" pitchFamily="49" charset="0"/>
                <a:cs typeface="Courier New" panose="02070309020205020404" pitchFamily="49" charset="0"/>
              </a:rPr>
              <a:t>times</a:t>
            </a:r>
            <a:r>
              <a:rPr lang="en-US" altLang="en-US" dirty="0" smtClean="0">
                <a:cs typeface="Courier New" panose="02070309020205020404" pitchFamily="49" charset="0"/>
              </a:rPr>
              <a:t>, </a:t>
            </a:r>
            <a:r>
              <a:rPr lang="en-US" altLang="en-US" dirty="0" smtClean="0">
                <a:latin typeface="Courier New" panose="02070309020205020404" pitchFamily="49" charset="0"/>
                <a:cs typeface="Courier New" panose="02070309020205020404" pitchFamily="49" charset="0"/>
              </a:rPr>
              <a:t>each</a:t>
            </a:r>
            <a:r>
              <a:rPr lang="en-US" altLang="en-US" dirty="0" smtClean="0">
                <a:cs typeface="Courier New" panose="02070309020205020404" pitchFamily="49" charset="0"/>
              </a:rPr>
              <a:t>, </a:t>
            </a:r>
            <a:r>
              <a:rPr lang="en-US" altLang="en-US" dirty="0" err="1" smtClean="0">
                <a:latin typeface="Courier New" panose="02070309020205020404" pitchFamily="49" charset="0"/>
                <a:cs typeface="Courier New" panose="02070309020205020404" pitchFamily="49" charset="0"/>
              </a:rPr>
              <a:t>upto</a:t>
            </a:r>
            <a:endParaRPr lang="en-US" altLang="en-US" dirty="0" smtClean="0">
              <a:latin typeface="Courier New" panose="02070309020205020404" pitchFamily="49" charset="0"/>
              <a:cs typeface="Courier New" panose="02070309020205020404" pitchFamily="49" charset="0"/>
            </a:endParaRPr>
          </a:p>
          <a:p>
            <a:pPr lvl="2"/>
            <a:r>
              <a:rPr lang="en-US" altLang="en-US" dirty="0">
                <a:cs typeface="Courier New" panose="02070309020205020404" pitchFamily="49" charset="0"/>
              </a:rPr>
              <a:t>​</a:t>
            </a:r>
            <a:r>
              <a:rPr lang="en-US" altLang="en-US" dirty="0" smtClean="0">
                <a:latin typeface="Courier New" panose="02070309020205020404" pitchFamily="49" charset="0"/>
                <a:cs typeface="Courier New" panose="02070309020205020404" pitchFamily="49" charset="0"/>
              </a:rPr>
              <a:t>3.times {puts "Hey!"}</a:t>
            </a:r>
          </a:p>
          <a:p>
            <a:pPr lvl="3" defTabSz="1166813"/>
            <a:r>
              <a:rPr lang="en-US" altLang="en-US" dirty="0" smtClean="0">
                <a:cs typeface="Courier New" panose="02070309020205020404" pitchFamily="49" charset="0"/>
              </a:rPr>
              <a:t>the block containing the </a:t>
            </a:r>
            <a:r>
              <a:rPr lang="en-US" altLang="en-US" dirty="0" smtClean="0">
                <a:latin typeface="Courier New" panose="02070309020205020404" pitchFamily="49" charset="0"/>
                <a:cs typeface="Courier New" panose="02070309020205020404" pitchFamily="49" charset="0"/>
              </a:rPr>
              <a:t>puts</a:t>
            </a:r>
            <a:r>
              <a:rPr lang="en-US" altLang="en-US" dirty="0" smtClean="0">
                <a:cs typeface="Courier New" panose="02070309020205020404" pitchFamily="49" charset="0"/>
              </a:rPr>
              <a:t> is executed </a:t>
            </a:r>
            <a:r>
              <a:rPr lang="en-US" altLang="en-US" dirty="0">
                <a:cs typeface="Courier New" panose="02070309020205020404" pitchFamily="49" charset="0"/>
              </a:rPr>
              <a:t>3</a:t>
            </a:r>
            <a:r>
              <a:rPr lang="en-US" altLang="en-US" dirty="0" smtClean="0">
                <a:cs typeface="Courier New" panose="02070309020205020404" pitchFamily="49" charset="0"/>
              </a:rPr>
              <a:t> times</a:t>
            </a:r>
            <a:endParaRPr lang="en-US" altLang="en-US" dirty="0" smtClean="0">
              <a:latin typeface="Courier New" panose="02070309020205020404" pitchFamily="49" charset="0"/>
              <a:cs typeface="Courier New" panose="02070309020205020404" pitchFamily="49" charset="0"/>
            </a:endParaRPr>
          </a:p>
          <a:p>
            <a:pPr lvl="2"/>
            <a:r>
              <a:rPr lang="en-US" altLang="en-US" dirty="0">
                <a:cs typeface="Courier New" panose="02070309020205020404" pitchFamily="49" charset="0"/>
              </a:rPr>
              <a:t>​</a:t>
            </a:r>
            <a:r>
              <a:rPr lang="en-US" altLang="en-US" dirty="0" err="1" smtClean="0">
                <a:latin typeface="Courier New" panose="02070309020205020404" pitchFamily="49" charset="0"/>
                <a:cs typeface="Courier New" panose="02070309020205020404" pitchFamily="49" charset="0"/>
              </a:rPr>
              <a:t>list.each</a:t>
            </a:r>
            <a:r>
              <a:rPr lang="en-US" altLang="en-US" dirty="0" smtClean="0">
                <a:latin typeface="Courier New" panose="02070309020205020404" pitchFamily="49" charset="0"/>
                <a:cs typeface="Courier New" panose="02070309020205020404" pitchFamily="49" charset="0"/>
              </a:rPr>
              <a:t> {|value| puts value}</a:t>
            </a:r>
          </a:p>
          <a:p>
            <a:pPr lvl="3" defTabSz="1166813"/>
            <a:r>
              <a:rPr lang="en-US" altLang="en-US" dirty="0" smtClean="0">
                <a:latin typeface="Courier New" panose="02070309020205020404" pitchFamily="49" charset="0"/>
                <a:cs typeface="Courier New" panose="02070309020205020404" pitchFamily="49" charset="0"/>
              </a:rPr>
              <a:t>list</a:t>
            </a:r>
            <a:r>
              <a:rPr lang="en-US" altLang="en-US" dirty="0" smtClean="0">
                <a:cs typeface="Courier New" panose="02070309020205020404" pitchFamily="49" charset="0"/>
              </a:rPr>
              <a:t> is an array, </a:t>
            </a:r>
            <a:r>
              <a:rPr lang="en-US" altLang="en-US" dirty="0" smtClean="0">
                <a:latin typeface="Courier New" panose="02070309020205020404" pitchFamily="49" charset="0"/>
                <a:cs typeface="Courier New" panose="02070309020205020404" pitchFamily="49" charset="0"/>
              </a:rPr>
              <a:t>value</a:t>
            </a:r>
            <a:r>
              <a:rPr lang="en-US" altLang="en-US" dirty="0" smtClean="0">
                <a:cs typeface="Courier New" panose="02070309020205020404" pitchFamily="49" charset="0"/>
              </a:rPr>
              <a:t> is block’s formal parameter</a:t>
            </a:r>
          </a:p>
          <a:p>
            <a:pPr lvl="2"/>
            <a:r>
              <a:rPr lang="en-US" altLang="en-US" dirty="0">
                <a:cs typeface="Courier New" panose="02070309020205020404" pitchFamily="49" charset="0"/>
              </a:rPr>
              <a:t>​</a:t>
            </a:r>
            <a:r>
              <a:rPr lang="en-US" altLang="en-US" dirty="0" smtClean="0">
                <a:latin typeface="Courier New" panose="02070309020205020404" pitchFamily="49" charset="0"/>
                <a:cs typeface="Courier New" panose="02070309020205020404" pitchFamily="49" charset="0"/>
              </a:rPr>
              <a:t>1.upto(5) {|x| print x, " "}</a:t>
            </a:r>
          </a:p>
          <a:p>
            <a:pPr>
              <a:buFontTx/>
              <a:buNone/>
            </a:pPr>
            <a:endParaRPr lang="en-US" altLang="en-US" sz="400" dirty="0" smtClean="0">
              <a:latin typeface="Courier New" panose="02070309020205020404" pitchFamily="49" charset="0"/>
              <a:cs typeface="Courier New" panose="02070309020205020404" pitchFamily="49" charset="0"/>
            </a:endParaRPr>
          </a:p>
          <a:p>
            <a:pPr lvl="3"/>
            <a:r>
              <a:rPr lang="en-US" altLang="en-US" dirty="0" smtClean="0">
                <a:cs typeface="Courier New" panose="02070309020205020404" pitchFamily="49" charset="0"/>
              </a:rPr>
              <a:t>Ruby </a:t>
            </a:r>
            <a:r>
              <a:rPr lang="en-US" altLang="en-US" b="1" dirty="0" smtClean="0">
                <a:latin typeface="Courier New" panose="02070309020205020404" pitchFamily="49" charset="0"/>
                <a:cs typeface="Courier New" panose="02070309020205020404" pitchFamily="49" charset="0"/>
              </a:rPr>
              <a:t>for</a:t>
            </a:r>
            <a:r>
              <a:rPr lang="en-US" altLang="en-US" dirty="0" smtClean="0">
                <a:cs typeface="Courier New" panose="02070309020205020404" pitchFamily="49" charset="0"/>
              </a:rPr>
              <a:t> statement are converted into </a:t>
            </a:r>
            <a:r>
              <a:rPr lang="en-US" altLang="en-US" dirty="0" err="1" smtClean="0">
                <a:latin typeface="Courier New" panose="02070309020205020404" pitchFamily="49" charset="0"/>
                <a:cs typeface="Courier New" panose="02070309020205020404" pitchFamily="49" charset="0"/>
              </a:rPr>
              <a:t>upto</a:t>
            </a:r>
            <a:r>
              <a:rPr lang="en-US" altLang="en-US" dirty="0" smtClean="0">
                <a:cs typeface="Courier New" panose="02070309020205020404" pitchFamily="49" charset="0"/>
              </a:rPr>
              <a:t> calls</a:t>
            </a:r>
          </a:p>
        </p:txBody>
      </p:sp>
      <p:sp>
        <p:nvSpPr>
          <p:cNvPr id="7885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9B800D9-02BE-4A82-8FC3-B616F280303C}" type="slidenum">
              <a:rPr lang="en-US" altLang="en-US" sz="1000" smtClean="0">
                <a:solidFill>
                  <a:schemeClr val="tx1"/>
                </a:solidFill>
                <a:latin typeface="Arial" panose="020B0604020202020204" pitchFamily="34" charset="0"/>
              </a:rPr>
              <a:pPr>
                <a:spcBef>
                  <a:spcPct val="0"/>
                </a:spcBef>
                <a:buFontTx/>
                <a:buNone/>
              </a:pPr>
              <a:t>18</a:t>
            </a:fld>
            <a:endParaRPr lang="en-US" altLang="en-US" sz="1000" smtClean="0">
              <a:solidFill>
                <a:schemeClr val="tx1"/>
              </a:solidFill>
              <a:latin typeface="Arial" panose="020B0604020202020204" pitchFamily="34" charset="0"/>
            </a:endParaRPr>
          </a:p>
        </p:txBody>
      </p:sp>
      <p:sp>
        <p:nvSpPr>
          <p:cNvPr id="78853" name="Rectangle 2"/>
          <p:cNvSpPr>
            <a:spLocks noGrp="1" noChangeArrowheads="1"/>
          </p:cNvSpPr>
          <p:nvPr>
            <p:ph type="title"/>
          </p:nvPr>
        </p:nvSpPr>
        <p:spPr/>
        <p:txBody>
          <a:bodyPr/>
          <a:lstStyle/>
          <a:p>
            <a:pPr eaLnBrk="1" hangingPunct="1"/>
            <a:r>
              <a:rPr lang="en-US" altLang="en-US" sz="3200" smtClean="0"/>
              <a:t>Iteration Based on Data Structures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9D28B8B-7B18-415C-A5EF-DD739FFA80EB}" type="slidenum">
              <a:rPr lang="en-US" altLang="en-US" sz="1000" smtClean="0">
                <a:solidFill>
                  <a:schemeClr val="tx1"/>
                </a:solidFill>
                <a:latin typeface="Arial" panose="020B0604020202020204" pitchFamily="34" charset="0"/>
              </a:rPr>
              <a:pPr>
                <a:spcBef>
                  <a:spcPct val="0"/>
                </a:spcBef>
                <a:buFontTx/>
                <a:buNone/>
              </a:pPr>
              <a:t>19</a:t>
            </a:fld>
            <a:endParaRPr lang="en-US" altLang="en-US" sz="1000" smtClean="0">
              <a:solidFill>
                <a:schemeClr val="tx1"/>
              </a:solidFill>
              <a:latin typeface="Arial" panose="020B0604020202020204" pitchFamily="34" charset="0"/>
            </a:endParaRPr>
          </a:p>
        </p:txBody>
      </p:sp>
      <p:sp>
        <p:nvSpPr>
          <p:cNvPr id="80900" name="Rectangle 2"/>
          <p:cNvSpPr>
            <a:spLocks noGrp="1" noChangeArrowheads="1"/>
          </p:cNvSpPr>
          <p:nvPr>
            <p:ph type="title"/>
          </p:nvPr>
        </p:nvSpPr>
        <p:spPr/>
        <p:txBody>
          <a:bodyPr/>
          <a:lstStyle/>
          <a:p>
            <a:pPr eaLnBrk="1" hangingPunct="1"/>
            <a:r>
              <a:rPr lang="en-US" altLang="en-US" sz="3200" smtClean="0"/>
              <a:t>Iteration Based on Data Structures</a:t>
            </a:r>
          </a:p>
        </p:txBody>
      </p:sp>
      <p:sp>
        <p:nvSpPr>
          <p:cNvPr id="80901" name="Rectangle 3"/>
          <p:cNvSpPr>
            <a:spLocks noGrp="1" noChangeArrowheads="1"/>
          </p:cNvSpPr>
          <p:nvPr>
            <p:ph type="body" idx="1"/>
          </p:nvPr>
        </p:nvSpPr>
        <p:spPr>
          <a:xfrm>
            <a:off x="609600" y="1600200"/>
            <a:ext cx="8382000" cy="4876800"/>
          </a:xfrm>
        </p:spPr>
        <p:txBody>
          <a:bodyPr/>
          <a:lstStyle/>
          <a:p>
            <a:pPr eaLnBrk="1" hangingPunct="1"/>
            <a:r>
              <a:rPr lang="en-US" altLang="en-US" dirty="0" smtClean="0"/>
              <a:t>Ruby </a:t>
            </a:r>
            <a:r>
              <a:rPr lang="en-US" altLang="en-US" u="sng" dirty="0" smtClean="0"/>
              <a:t>blocks</a:t>
            </a:r>
          </a:p>
          <a:p>
            <a:pPr lvl="1" eaLnBrk="1" hangingPunct="1"/>
            <a:r>
              <a:rPr lang="en-US" altLang="en-US" dirty="0" smtClean="0"/>
              <a:t>Block formal parameters get values from methods </a:t>
            </a:r>
          </a:p>
          <a:p>
            <a:pPr lvl="2" eaLnBrk="1" hangingPunct="1"/>
            <a:r>
              <a:rPr lang="en-US" altLang="en-US" dirty="0" smtClean="0"/>
              <a:t>From method </a:t>
            </a:r>
            <a:r>
              <a:rPr lang="en-US" altLang="en-US" b="1" dirty="0" smtClean="0">
                <a:latin typeface="Courier New" panose="02070309020205020404" pitchFamily="49" charset="0"/>
              </a:rPr>
              <a:t>yield</a:t>
            </a:r>
            <a:r>
              <a:rPr lang="en-US" altLang="en-US" dirty="0" smtClean="0"/>
              <a:t> statement with </a:t>
            </a:r>
            <a:r>
              <a:rPr lang="en-US" altLang="en-US" u="sng" dirty="0" smtClean="0"/>
              <a:t>actual parameters</a:t>
            </a:r>
          </a:p>
          <a:p>
            <a:pPr lvl="1" eaLnBrk="1" hangingPunct="1"/>
            <a:r>
              <a:rPr lang="en-US" altLang="en-US" dirty="0" smtClean="0"/>
              <a:t>Here each iteration’s </a:t>
            </a:r>
            <a:r>
              <a:rPr lang="en-US" altLang="en-US" b="1" dirty="0" smtClean="0">
                <a:latin typeface="Courier New" panose="02070309020205020404" pitchFamily="49" charset="0"/>
                <a:cs typeface="Courier New" panose="02070309020205020404" pitchFamily="49" charset="0"/>
              </a:rPr>
              <a:t>yield</a:t>
            </a:r>
            <a:r>
              <a:rPr lang="en-US" altLang="en-US" dirty="0" smtClean="0"/>
              <a:t> is a result for </a:t>
            </a:r>
            <a:r>
              <a:rPr lang="en-US" altLang="en-US" dirty="0" err="1" smtClean="0">
                <a:latin typeface="Courier New" panose="02070309020205020404" pitchFamily="49" charset="0"/>
                <a:cs typeface="Courier New" panose="02070309020205020404" pitchFamily="49" charset="0"/>
              </a:rPr>
              <a:t>num</a:t>
            </a:r>
            <a:endParaRPr lang="en-US" altLang="en-US" dirty="0" smtClean="0">
              <a:latin typeface="Courier New" panose="02070309020205020404" pitchFamily="49" charset="0"/>
              <a:cs typeface="Courier New" panose="02070309020205020404" pitchFamily="49" charset="0"/>
            </a:endParaRPr>
          </a:p>
          <a:p>
            <a:pPr eaLnBrk="1" hangingPunct="1">
              <a:lnSpc>
                <a:spcPct val="80000"/>
              </a:lnSpc>
              <a:buFontTx/>
              <a:buNone/>
            </a:pPr>
            <a:endParaRPr lang="en-US" altLang="en-US" sz="900" dirty="0">
              <a:latin typeface="Courier New" panose="02070309020205020404" pitchFamily="49" charset="0"/>
              <a:cs typeface="Courier New" panose="02070309020205020404" pitchFamily="49" charset="0"/>
            </a:endParaRPr>
          </a:p>
          <a:p>
            <a:pPr lvl="1" eaLnBrk="1" hangingPunct="1">
              <a:lnSpc>
                <a:spcPct val="80000"/>
              </a:lnSpc>
              <a:buFontTx/>
              <a:buNone/>
            </a:pPr>
            <a:r>
              <a:rPr lang="en-US" altLang="en-US" sz="1800" dirty="0">
                <a:latin typeface="Courier New" panose="02070309020205020404" pitchFamily="49" charset="0"/>
                <a:cs typeface="Courier New" panose="02070309020205020404" pitchFamily="49" charset="0"/>
              </a:rPr>
              <a:t>	 </a:t>
            </a:r>
            <a:r>
              <a:rPr lang="en-US" altLang="en-US" sz="1800" dirty="0" smtClean="0">
                <a:latin typeface="Courier New" panose="02070309020205020404" pitchFamily="49" charset="0"/>
                <a:cs typeface="Courier New" panose="02070309020205020404" pitchFamily="49" charset="0"/>
              </a:rPr>
              <a:t>   </a:t>
            </a:r>
            <a:r>
              <a:rPr lang="en-US" altLang="en-US" sz="1800" b="1" dirty="0" err="1">
                <a:latin typeface="Courier New" panose="02070309020205020404" pitchFamily="49" charset="0"/>
              </a:rPr>
              <a:t>def</a:t>
            </a:r>
            <a:r>
              <a:rPr lang="en-US" altLang="en-US" sz="1800" dirty="0">
                <a:latin typeface="Courier New" panose="02070309020205020404" pitchFamily="49" charset="0"/>
              </a:rPr>
              <a:t> </a:t>
            </a:r>
            <a:r>
              <a:rPr lang="en-US" altLang="en-US" sz="1800" dirty="0" err="1">
                <a:latin typeface="Courier New" panose="02070309020205020404" pitchFamily="49" charset="0"/>
              </a:rPr>
              <a:t>fibonacci</a:t>
            </a:r>
            <a:r>
              <a:rPr lang="en-US" altLang="en-US" sz="1800" dirty="0">
                <a:latin typeface="Courier New" panose="02070309020205020404" pitchFamily="49" charset="0"/>
              </a:rPr>
              <a:t>(last)</a:t>
            </a:r>
          </a:p>
          <a:p>
            <a:pPr lvl="1" eaLnBrk="1" hangingPunct="1">
              <a:lnSpc>
                <a:spcPct val="80000"/>
              </a:lnSpc>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a:t>
            </a:r>
            <a:r>
              <a:rPr lang="en-US" altLang="en-US" sz="1800" dirty="0">
                <a:latin typeface="Courier New" panose="02070309020205020404" pitchFamily="49" charset="0"/>
              </a:rPr>
              <a:t>first, second = 1, 1</a:t>
            </a:r>
          </a:p>
          <a:p>
            <a:pPr lvl="1" eaLnBrk="1" hangingPunct="1">
              <a:lnSpc>
                <a:spcPct val="80000"/>
              </a:lnSpc>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a:t>
            </a:r>
            <a:r>
              <a:rPr lang="en-US" altLang="en-US" sz="1800" b="1" dirty="0">
                <a:latin typeface="Courier New" panose="02070309020205020404" pitchFamily="49" charset="0"/>
              </a:rPr>
              <a:t>while</a:t>
            </a:r>
            <a:r>
              <a:rPr lang="en-US" altLang="en-US" sz="1800" dirty="0">
                <a:latin typeface="Courier New" panose="02070309020205020404" pitchFamily="49" charset="0"/>
              </a:rPr>
              <a:t> first </a:t>
            </a:r>
            <a:r>
              <a:rPr lang="en-US" altLang="en-US" sz="1800" dirty="0" smtClean="0">
                <a:latin typeface="Courier New" panose="02070309020205020404" pitchFamily="49" charset="0"/>
              </a:rPr>
              <a:t>&lt; </a:t>
            </a:r>
            <a:r>
              <a:rPr lang="en-US" altLang="en-US" sz="1800" dirty="0">
                <a:latin typeface="Courier New" panose="02070309020205020404" pitchFamily="49" charset="0"/>
              </a:rPr>
              <a:t>last</a:t>
            </a:r>
          </a:p>
          <a:p>
            <a:pPr lvl="1" eaLnBrk="1" hangingPunct="1">
              <a:lnSpc>
                <a:spcPct val="80000"/>
              </a:lnSpc>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a:t>
            </a:r>
            <a:r>
              <a:rPr lang="en-US" altLang="en-US" sz="1800" b="1" dirty="0" smtClean="0">
                <a:latin typeface="Courier New" panose="02070309020205020404" pitchFamily="49" charset="0"/>
              </a:rPr>
              <a:t>yield</a:t>
            </a:r>
            <a:r>
              <a:rPr lang="en-US" altLang="en-US" sz="1800" dirty="0" smtClean="0">
                <a:latin typeface="Courier New" panose="02070309020205020404" pitchFamily="49" charset="0"/>
              </a:rPr>
              <a:t> </a:t>
            </a:r>
            <a:r>
              <a:rPr lang="en-US" altLang="en-US" sz="1800" dirty="0">
                <a:latin typeface="Courier New" panose="02070309020205020404" pitchFamily="49" charset="0"/>
              </a:rPr>
              <a:t>first</a:t>
            </a:r>
          </a:p>
          <a:p>
            <a:pPr lvl="1" eaLnBrk="1" hangingPunct="1">
              <a:lnSpc>
                <a:spcPct val="80000"/>
              </a:lnSpc>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first</a:t>
            </a:r>
            <a:r>
              <a:rPr lang="en-US" altLang="en-US" sz="1800" dirty="0">
                <a:latin typeface="Courier New" panose="02070309020205020404" pitchFamily="49" charset="0"/>
              </a:rPr>
              <a:t>, second = second, first + second</a:t>
            </a:r>
          </a:p>
          <a:p>
            <a:pPr lvl="1" eaLnBrk="1" hangingPunct="1">
              <a:lnSpc>
                <a:spcPct val="80000"/>
              </a:lnSpc>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a:t>
            </a:r>
            <a:r>
              <a:rPr lang="en-US" altLang="en-US" sz="1800" b="1" dirty="0">
                <a:latin typeface="Courier New" panose="02070309020205020404" pitchFamily="49" charset="0"/>
              </a:rPr>
              <a:t>end</a:t>
            </a:r>
          </a:p>
          <a:p>
            <a:pPr lvl="1" eaLnBrk="1" hangingPunct="1">
              <a:lnSpc>
                <a:spcPct val="80000"/>
              </a:lnSpc>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a:t>
            </a:r>
            <a:r>
              <a:rPr lang="en-US" altLang="en-US" sz="1800" b="1" dirty="0" smtClean="0">
                <a:latin typeface="Courier New" panose="02070309020205020404" pitchFamily="49" charset="0"/>
              </a:rPr>
              <a:t>end</a:t>
            </a:r>
            <a:endParaRPr lang="en-US" altLang="en-US" sz="1800" b="1" dirty="0">
              <a:latin typeface="Courier New" panose="02070309020205020404" pitchFamily="49" charset="0"/>
            </a:endParaRPr>
          </a:p>
          <a:p>
            <a:pPr lvl="1" eaLnBrk="1" hangingPunct="1">
              <a:lnSpc>
                <a:spcPct val="80000"/>
              </a:lnSpc>
              <a:buFontTx/>
              <a:buNone/>
            </a:pPr>
            <a:endParaRPr lang="en-US" altLang="en-US" sz="900" dirty="0">
              <a:latin typeface="Courier New" panose="02070309020205020404" pitchFamily="49" charset="0"/>
            </a:endParaRPr>
          </a:p>
          <a:p>
            <a:pPr lvl="1" eaLnBrk="1" hangingPunct="1">
              <a:lnSpc>
                <a:spcPct val="80000"/>
              </a:lnSpc>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puts </a:t>
            </a:r>
            <a:r>
              <a:rPr lang="en-US" altLang="en-US" sz="1800" dirty="0">
                <a:latin typeface="Courier New" panose="02070309020205020404" pitchFamily="49" charset="0"/>
                <a:cs typeface="Courier New" panose="02070309020205020404" pitchFamily="49" charset="0"/>
              </a:rPr>
              <a:t>"</a:t>
            </a:r>
            <a:r>
              <a:rPr lang="en-US" altLang="en-US" sz="1800" dirty="0">
                <a:latin typeface="Courier New" panose="02070309020205020404" pitchFamily="49" charset="0"/>
              </a:rPr>
              <a:t>Fibonacci numbers less than 100 are:</a:t>
            </a:r>
            <a:r>
              <a:rPr lang="en-US" altLang="en-US" sz="1800" dirty="0">
                <a:latin typeface="Courier New" panose="02070309020205020404" pitchFamily="49" charset="0"/>
                <a:cs typeface="Courier New" panose="02070309020205020404" pitchFamily="49" charset="0"/>
              </a:rPr>
              <a:t>"</a:t>
            </a:r>
            <a:endParaRPr lang="en-US" altLang="en-US" sz="1800" dirty="0">
              <a:latin typeface="Courier New" panose="02070309020205020404" pitchFamily="49" charset="0"/>
            </a:endParaRPr>
          </a:p>
          <a:p>
            <a:pPr lvl="1" eaLnBrk="1" hangingPunct="1">
              <a:lnSpc>
                <a:spcPct val="80000"/>
              </a:lnSpc>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a:t>
            </a:r>
            <a:r>
              <a:rPr lang="en-US" altLang="en-US" sz="1800" dirty="0" err="1" smtClean="0">
                <a:latin typeface="Courier New" panose="02070309020205020404" pitchFamily="49" charset="0"/>
              </a:rPr>
              <a:t>fibonacci</a:t>
            </a:r>
            <a:r>
              <a:rPr lang="en-US" altLang="en-US" sz="1800" dirty="0" smtClean="0">
                <a:latin typeface="Courier New" panose="02070309020205020404" pitchFamily="49" charset="0"/>
              </a:rPr>
              <a:t>(100</a:t>
            </a:r>
            <a:r>
              <a:rPr lang="en-US" altLang="en-US" sz="1800" dirty="0">
                <a:latin typeface="Courier New" panose="02070309020205020404" pitchFamily="49" charset="0"/>
              </a:rPr>
              <a:t>) {|</a:t>
            </a:r>
            <a:r>
              <a:rPr lang="en-US" altLang="en-US" sz="1800" dirty="0" err="1">
                <a:latin typeface="Courier New" panose="02070309020205020404" pitchFamily="49" charset="0"/>
              </a:rPr>
              <a:t>num</a:t>
            </a:r>
            <a:r>
              <a:rPr lang="en-US" altLang="en-US" sz="1800" dirty="0">
                <a:latin typeface="Courier New" panose="02070309020205020404" pitchFamily="49" charset="0"/>
              </a:rPr>
              <a:t>| print </a:t>
            </a:r>
            <a:r>
              <a:rPr lang="en-US" altLang="en-US" sz="1800" dirty="0" err="1">
                <a:latin typeface="Courier New" panose="02070309020205020404" pitchFamily="49" charset="0"/>
              </a:rPr>
              <a:t>num</a:t>
            </a:r>
            <a:r>
              <a:rPr lang="en-US" altLang="en-US" sz="1800" dirty="0">
                <a:latin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rPr>
              <a:t>"</a:t>
            </a:r>
            <a:r>
              <a:rPr lang="en-US" altLang="en-US" sz="1800" dirty="0">
                <a:latin typeface="Courier New" panose="02070309020205020404" pitchFamily="49" charset="0"/>
              </a:rPr>
              <a:t> </a:t>
            </a:r>
            <a:r>
              <a:rPr lang="en-US" altLang="en-US" sz="1800" dirty="0" smtClean="0">
                <a:latin typeface="Courier New" panose="02070309020205020404" pitchFamily="49" charset="0"/>
                <a:cs typeface="Courier New" panose="02070309020205020404" pitchFamily="49" charset="0"/>
              </a:rPr>
              <a:t>"</a:t>
            </a:r>
            <a:r>
              <a:rPr lang="en-US" altLang="en-US" sz="1800" dirty="0" smtClean="0">
                <a:latin typeface="Courier New" panose="02070309020205020404" pitchFamily="49" charset="0"/>
              </a:rPr>
              <a:t>}</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9D28B8B-7B18-415C-A5EF-DD739FFA80EB}" type="slidenum">
              <a:rPr lang="en-US" altLang="en-US" sz="1000" smtClean="0">
                <a:solidFill>
                  <a:schemeClr val="tx1"/>
                </a:solidFill>
                <a:latin typeface="Arial" panose="020B0604020202020204" pitchFamily="34" charset="0"/>
              </a:rPr>
              <a:pPr>
                <a:spcBef>
                  <a:spcPct val="0"/>
                </a:spcBef>
                <a:buFontTx/>
                <a:buNone/>
              </a:pPr>
              <a:t>20</a:t>
            </a:fld>
            <a:endParaRPr lang="en-US" altLang="en-US" sz="1000" smtClean="0">
              <a:solidFill>
                <a:schemeClr val="tx1"/>
              </a:solidFill>
              <a:latin typeface="Arial" panose="020B0604020202020204" pitchFamily="34" charset="0"/>
            </a:endParaRPr>
          </a:p>
        </p:txBody>
      </p:sp>
      <p:sp>
        <p:nvSpPr>
          <p:cNvPr id="80900" name="Rectangle 2"/>
          <p:cNvSpPr>
            <a:spLocks noGrp="1" noChangeArrowheads="1"/>
          </p:cNvSpPr>
          <p:nvPr>
            <p:ph type="title"/>
          </p:nvPr>
        </p:nvSpPr>
        <p:spPr/>
        <p:txBody>
          <a:bodyPr/>
          <a:lstStyle/>
          <a:p>
            <a:pPr eaLnBrk="1" hangingPunct="1"/>
            <a:r>
              <a:rPr lang="en-US" altLang="en-US" dirty="0" smtClean="0"/>
              <a:t>Unconditional Branching</a:t>
            </a:r>
          </a:p>
        </p:txBody>
      </p:sp>
      <p:sp>
        <p:nvSpPr>
          <p:cNvPr id="80901" name="Rectangle 3"/>
          <p:cNvSpPr>
            <a:spLocks noGrp="1" noChangeArrowheads="1"/>
          </p:cNvSpPr>
          <p:nvPr>
            <p:ph type="body" idx="1"/>
          </p:nvPr>
        </p:nvSpPr>
        <p:spPr>
          <a:xfrm>
            <a:off x="609600" y="1600200"/>
            <a:ext cx="8458200" cy="4876800"/>
          </a:xfrm>
        </p:spPr>
        <p:txBody>
          <a:bodyPr/>
          <a:lstStyle/>
          <a:p>
            <a:pPr eaLnBrk="1" hangingPunct="1"/>
            <a:r>
              <a:rPr lang="en-US" altLang="en-US" dirty="0" smtClean="0"/>
              <a:t>Transfers control to specific place in program</a:t>
            </a:r>
            <a:endParaRPr lang="en-US" altLang="en-US" u="sng" dirty="0" smtClean="0"/>
          </a:p>
          <a:p>
            <a:pPr lvl="1" eaLnBrk="1" hangingPunct="1"/>
            <a:r>
              <a:rPr lang="en-US" altLang="en-US" dirty="0" smtClean="0"/>
              <a:t>Implemented using a </a:t>
            </a:r>
            <a:r>
              <a:rPr lang="en-US" altLang="en-US" b="1" dirty="0" err="1" smtClean="0">
                <a:latin typeface="Courier New" panose="02070309020205020404" pitchFamily="49" charset="0"/>
                <a:cs typeface="Courier New" panose="02070309020205020404" pitchFamily="49" charset="0"/>
              </a:rPr>
              <a:t>goto</a:t>
            </a:r>
            <a:r>
              <a:rPr lang="en-US" altLang="en-US" dirty="0" smtClean="0"/>
              <a:t> statement</a:t>
            </a:r>
          </a:p>
          <a:p>
            <a:pPr lvl="1" eaLnBrk="1" hangingPunct="1"/>
            <a:r>
              <a:rPr lang="en-US" altLang="en-US" dirty="0" smtClean="0"/>
              <a:t>Very heated debate in the 1960s and 1970s</a:t>
            </a:r>
          </a:p>
          <a:p>
            <a:pPr lvl="2" eaLnBrk="1" hangingPunct="1"/>
            <a:r>
              <a:rPr lang="en-US" altLang="en-US" dirty="0" smtClean="0"/>
              <a:t>The major concern was readability</a:t>
            </a:r>
            <a:endParaRPr lang="en-US" altLang="en-US" u="sng" dirty="0" smtClean="0"/>
          </a:p>
          <a:p>
            <a:pPr lvl="1" eaLnBrk="1" hangingPunct="1"/>
            <a:r>
              <a:rPr lang="en-US" altLang="en-US" dirty="0" smtClean="0"/>
              <a:t>Some languages have no </a:t>
            </a:r>
            <a:r>
              <a:rPr lang="en-US" altLang="en-US" b="1" dirty="0" err="1" smtClean="0">
                <a:latin typeface="Courier New" panose="02070309020205020404" pitchFamily="49" charset="0"/>
                <a:cs typeface="Courier New" panose="02070309020205020404" pitchFamily="49" charset="0"/>
              </a:rPr>
              <a:t>goto</a:t>
            </a:r>
            <a:endParaRPr lang="en-US" altLang="en-US" b="1" dirty="0" smtClean="0">
              <a:latin typeface="Courier New" panose="02070309020205020404" pitchFamily="49" charset="0"/>
              <a:cs typeface="Courier New" panose="02070309020205020404" pitchFamily="49" charset="0"/>
            </a:endParaRPr>
          </a:p>
          <a:p>
            <a:pPr lvl="2" eaLnBrk="1" hangingPunct="1"/>
            <a:r>
              <a:rPr lang="en-US" altLang="en-US" dirty="0" smtClean="0">
                <a:latin typeface="+mj-lt"/>
                <a:cs typeface="Courier New" panose="02070309020205020404" pitchFamily="49" charset="0"/>
              </a:rPr>
              <a:t>For example, Java</a:t>
            </a:r>
          </a:p>
          <a:p>
            <a:pPr lvl="1" eaLnBrk="1" hangingPunct="1"/>
            <a:r>
              <a:rPr lang="en-US" altLang="en-US" dirty="0" smtClean="0">
                <a:latin typeface="+mj-lt"/>
                <a:cs typeface="Courier New" panose="02070309020205020404" pitchFamily="49" charset="0"/>
              </a:rPr>
              <a:t>C# offers a </a:t>
            </a:r>
            <a:r>
              <a:rPr lang="en-US" altLang="en-US" b="1" dirty="0" err="1" smtClean="0">
                <a:latin typeface="Courier New" panose="02070309020205020404" pitchFamily="49" charset="0"/>
                <a:cs typeface="Courier New" panose="02070309020205020404" pitchFamily="49" charset="0"/>
              </a:rPr>
              <a:t>goto</a:t>
            </a:r>
            <a:r>
              <a:rPr lang="en-US" altLang="en-US" dirty="0" smtClean="0">
                <a:latin typeface="+mj-lt"/>
                <a:cs typeface="Courier New" panose="02070309020205020404" pitchFamily="49" charset="0"/>
              </a:rPr>
              <a:t> statement</a:t>
            </a:r>
          </a:p>
          <a:p>
            <a:pPr lvl="2" eaLnBrk="1" hangingPunct="1"/>
            <a:r>
              <a:rPr lang="en-US" altLang="en-US" dirty="0" smtClean="0">
                <a:latin typeface="+mj-lt"/>
                <a:cs typeface="Courier New" panose="02070309020205020404" pitchFamily="49" charset="0"/>
              </a:rPr>
              <a:t>One well-designed use in a </a:t>
            </a:r>
            <a:r>
              <a:rPr lang="en-US" altLang="en-US" dirty="0" smtClean="0">
                <a:latin typeface="Courier New" panose="02070309020205020404" pitchFamily="49" charset="0"/>
                <a:cs typeface="Courier New" panose="02070309020205020404" pitchFamily="49" charset="0"/>
              </a:rPr>
              <a:t>switch</a:t>
            </a:r>
            <a:r>
              <a:rPr lang="en-US" altLang="en-US" dirty="0" smtClean="0">
                <a:latin typeface="+mj-lt"/>
                <a:cs typeface="Courier New" panose="02070309020205020404" pitchFamily="49" charset="0"/>
              </a:rPr>
              <a:t> (discussed earlier)</a:t>
            </a:r>
          </a:p>
          <a:p>
            <a:pPr lvl="1" eaLnBrk="1" hangingPunct="1"/>
            <a:r>
              <a:rPr lang="en-US" altLang="en-US" dirty="0" smtClean="0">
                <a:latin typeface="+mj-lt"/>
                <a:cs typeface="Courier New" panose="02070309020205020404" pitchFamily="49" charset="0"/>
              </a:rPr>
              <a:t>Drawback to loop exit statements</a:t>
            </a:r>
          </a:p>
          <a:p>
            <a:pPr lvl="2" eaLnBrk="1" hangingPunct="1"/>
            <a:r>
              <a:rPr lang="en-US" altLang="en-US" dirty="0" smtClean="0">
                <a:latin typeface="+mj-lt"/>
                <a:cs typeface="Courier New" panose="02070309020205020404" pitchFamily="49" charset="0"/>
              </a:rPr>
              <a:t>These are </a:t>
            </a:r>
            <a:r>
              <a:rPr lang="en-US" altLang="en-US" b="1" dirty="0" smtClean="0">
                <a:latin typeface="Courier New" panose="02070309020205020404" pitchFamily="49" charset="0"/>
                <a:cs typeface="Courier New" panose="02070309020205020404" pitchFamily="49" charset="0"/>
              </a:rPr>
              <a:t>break</a:t>
            </a:r>
            <a:r>
              <a:rPr lang="en-US" altLang="en-US" dirty="0" smtClean="0">
                <a:latin typeface="+mj-lt"/>
                <a:cs typeface="Courier New" panose="02070309020205020404" pitchFamily="49" charset="0"/>
              </a:rPr>
              <a:t> and </a:t>
            </a:r>
            <a:r>
              <a:rPr lang="en-US" altLang="en-US" b="1" dirty="0" smtClean="0">
                <a:latin typeface="Courier New" panose="02070309020205020404" pitchFamily="49" charset="0"/>
                <a:cs typeface="Courier New" panose="02070309020205020404" pitchFamily="49" charset="0"/>
              </a:rPr>
              <a:t>continue</a:t>
            </a:r>
            <a:r>
              <a:rPr lang="en-US" altLang="en-US" dirty="0" smtClean="0">
                <a:latin typeface="+mj-lt"/>
                <a:cs typeface="Courier New" panose="02070309020205020404" pitchFamily="49" charset="0"/>
              </a:rPr>
              <a:t> statements</a:t>
            </a:r>
          </a:p>
          <a:p>
            <a:pPr lvl="2" eaLnBrk="1" hangingPunct="1"/>
            <a:r>
              <a:rPr lang="en-US" altLang="en-US" dirty="0" smtClean="0">
                <a:latin typeface="+mj-lt"/>
                <a:cs typeface="Courier New" panose="02070309020205020404" pitchFamily="49" charset="0"/>
              </a:rPr>
              <a:t>Restricted and camouflaged </a:t>
            </a:r>
            <a:r>
              <a:rPr lang="en-US" altLang="en-US" b="1" dirty="0" err="1" smtClean="0">
                <a:latin typeface="Courier New" panose="02070309020205020404" pitchFamily="49" charset="0"/>
                <a:cs typeface="Courier New" panose="02070309020205020404" pitchFamily="49" charset="0"/>
              </a:rPr>
              <a:t>goto</a:t>
            </a:r>
            <a:r>
              <a:rPr lang="en-US" altLang="en-US" dirty="0" smtClean="0">
                <a:latin typeface="+mj-lt"/>
                <a:cs typeface="Courier New" panose="02070309020205020404" pitchFamily="49" charset="0"/>
              </a:rPr>
              <a:t> statements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36532635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EE0BA2D-8ED6-4605-84DF-92E1FBB2EFCD}" type="slidenum">
              <a:rPr lang="en-US" altLang="en-US" sz="1000" smtClean="0">
                <a:solidFill>
                  <a:schemeClr val="tx1"/>
                </a:solidFill>
                <a:latin typeface="Arial" panose="020B0604020202020204" pitchFamily="34" charset="0"/>
              </a:rPr>
              <a:pPr>
                <a:spcBef>
                  <a:spcPct val="0"/>
                </a:spcBef>
                <a:buFontTx/>
                <a:buNone/>
              </a:pPr>
              <a:t>21</a:t>
            </a:fld>
            <a:endParaRPr lang="en-US" altLang="en-US" sz="1000" smtClean="0">
              <a:solidFill>
                <a:schemeClr val="tx1"/>
              </a:solidFill>
              <a:latin typeface="Arial" panose="020B0604020202020204" pitchFamily="34" charset="0"/>
            </a:endParaRPr>
          </a:p>
        </p:txBody>
      </p:sp>
      <p:sp>
        <p:nvSpPr>
          <p:cNvPr id="84996" name="Rectangle 2"/>
          <p:cNvSpPr>
            <a:spLocks noGrp="1" noChangeArrowheads="1"/>
          </p:cNvSpPr>
          <p:nvPr>
            <p:ph type="title"/>
          </p:nvPr>
        </p:nvSpPr>
        <p:spPr/>
        <p:txBody>
          <a:bodyPr/>
          <a:lstStyle/>
          <a:p>
            <a:pPr eaLnBrk="1" hangingPunct="1"/>
            <a:r>
              <a:rPr lang="en-US" altLang="en-US" smtClean="0"/>
              <a:t>Guarded Commands</a:t>
            </a:r>
          </a:p>
        </p:txBody>
      </p:sp>
      <p:sp>
        <p:nvSpPr>
          <p:cNvPr id="84997" name="Rectangle 3"/>
          <p:cNvSpPr>
            <a:spLocks noGrp="1" noChangeArrowheads="1"/>
          </p:cNvSpPr>
          <p:nvPr>
            <p:ph type="body" idx="1"/>
          </p:nvPr>
        </p:nvSpPr>
        <p:spPr/>
        <p:txBody>
          <a:bodyPr/>
          <a:lstStyle/>
          <a:p>
            <a:pPr eaLnBrk="1" hangingPunct="1"/>
            <a:r>
              <a:rPr lang="en-US" altLang="en-US" dirty="0" smtClean="0"/>
              <a:t>Not very widely supported</a:t>
            </a:r>
          </a:p>
          <a:p>
            <a:pPr lvl="1" eaLnBrk="1" hangingPunct="1"/>
            <a:r>
              <a:rPr lang="en-US" altLang="en-US" dirty="0" smtClean="0"/>
              <a:t>Designed by Dijkstra</a:t>
            </a:r>
          </a:p>
          <a:p>
            <a:pPr lvl="1" eaLnBrk="1" hangingPunct="1"/>
            <a:r>
              <a:rPr lang="en-US" altLang="en-US" dirty="0" smtClean="0"/>
              <a:t>Supports new programming methodology</a:t>
            </a:r>
          </a:p>
          <a:p>
            <a:pPr lvl="2" eaLnBrk="1" hangingPunct="1"/>
            <a:r>
              <a:rPr lang="en-US" altLang="en-US" dirty="0" smtClean="0"/>
              <a:t>Allowing correctness verification in development</a:t>
            </a:r>
          </a:p>
          <a:p>
            <a:pPr lvl="1" eaLnBrk="1" hangingPunct="1"/>
            <a:r>
              <a:rPr lang="en-US" altLang="en-US" dirty="0" smtClean="0"/>
              <a:t>Basis of 2 methods for concurrent programming</a:t>
            </a:r>
          </a:p>
          <a:p>
            <a:pPr lvl="2" eaLnBrk="1" hangingPunct="1"/>
            <a:r>
              <a:rPr lang="en-US" altLang="en-US" dirty="0" smtClean="0"/>
              <a:t>In CSP and Ada</a:t>
            </a:r>
          </a:p>
          <a:p>
            <a:pPr lvl="1" eaLnBrk="1" hangingPunct="1"/>
            <a:r>
              <a:rPr lang="en-US" altLang="en-US" dirty="0" smtClean="0"/>
              <a:t>Basic Idea</a:t>
            </a:r>
          </a:p>
          <a:p>
            <a:pPr lvl="2" eaLnBrk="1" hangingPunct="1"/>
            <a:r>
              <a:rPr lang="en-US" altLang="en-US" dirty="0" smtClean="0"/>
              <a:t>If the order of evaluation is not important</a:t>
            </a:r>
          </a:p>
          <a:p>
            <a:pPr lvl="2" eaLnBrk="1" hangingPunct="1"/>
            <a:r>
              <a:rPr lang="en-US" altLang="en-US" dirty="0" smtClean="0"/>
              <a:t>The program should not specify an order</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1E88FAD-6816-48AC-A5AE-86B8D6584FF0}" type="slidenum">
              <a:rPr lang="en-US" altLang="en-US" sz="1000" smtClean="0">
                <a:solidFill>
                  <a:schemeClr val="tx1"/>
                </a:solidFill>
                <a:latin typeface="Arial" panose="020B0604020202020204" pitchFamily="34" charset="0"/>
              </a:rPr>
              <a:pPr>
                <a:spcBef>
                  <a:spcPct val="0"/>
                </a:spcBef>
                <a:buFontTx/>
                <a:buNone/>
              </a:pPr>
              <a:t>22</a:t>
            </a:fld>
            <a:endParaRPr lang="en-US" altLang="en-US" sz="1000" smtClean="0">
              <a:solidFill>
                <a:schemeClr val="tx1"/>
              </a:solidFill>
              <a:latin typeface="Arial" panose="020B0604020202020204" pitchFamily="34" charset="0"/>
            </a:endParaRPr>
          </a:p>
        </p:txBody>
      </p:sp>
      <p:sp>
        <p:nvSpPr>
          <p:cNvPr id="87044" name="Rectangle 2"/>
          <p:cNvSpPr>
            <a:spLocks noGrp="1" noChangeArrowheads="1"/>
          </p:cNvSpPr>
          <p:nvPr>
            <p:ph type="title"/>
          </p:nvPr>
        </p:nvSpPr>
        <p:spPr/>
        <p:txBody>
          <a:bodyPr/>
          <a:lstStyle/>
          <a:p>
            <a:pPr eaLnBrk="1" hangingPunct="1"/>
            <a:r>
              <a:rPr lang="en-US" altLang="en-US" smtClean="0"/>
              <a:t>Selection with Guarded Commands  </a:t>
            </a:r>
          </a:p>
        </p:txBody>
      </p:sp>
      <p:sp>
        <p:nvSpPr>
          <p:cNvPr id="87045" name="Rectangle 3"/>
          <p:cNvSpPr>
            <a:spLocks noGrp="1" noChangeArrowheads="1"/>
          </p:cNvSpPr>
          <p:nvPr>
            <p:ph type="body" idx="1"/>
          </p:nvPr>
        </p:nvSpPr>
        <p:spPr>
          <a:xfrm>
            <a:off x="609600" y="1631730"/>
            <a:ext cx="8153400" cy="4572000"/>
          </a:xfrm>
        </p:spPr>
        <p:txBody>
          <a:bodyPr/>
          <a:lstStyle/>
          <a:p>
            <a:pPr eaLnBrk="1" hangingPunct="1">
              <a:lnSpc>
                <a:spcPct val="90000"/>
              </a:lnSpc>
            </a:pPr>
            <a:r>
              <a:rPr lang="en-US" altLang="en-US" dirty="0" smtClean="0"/>
              <a:t>Form of a guarded selection</a:t>
            </a:r>
          </a:p>
          <a:p>
            <a:pPr lvl="1" eaLnBrk="1" hangingPunct="1">
              <a:lnSpc>
                <a:spcPct val="90000"/>
              </a:lnSpc>
              <a:buFontTx/>
              <a:buNone/>
            </a:pPr>
            <a:endParaRPr lang="en-US" altLang="en-US" sz="500" b="1" dirty="0" smtClean="0">
              <a:latin typeface="Courier New" panose="02070309020205020404" pitchFamily="49" charset="0"/>
              <a:cs typeface="Courier New" panose="02070309020205020404" pitchFamily="49" charset="0"/>
            </a:endParaRPr>
          </a:p>
          <a:p>
            <a:pPr lvl="1" eaLnBrk="1" hangingPunct="1">
              <a:lnSpc>
                <a:spcPct val="90000"/>
              </a:lnSpc>
              <a:buFontTx/>
              <a:buNone/>
            </a:pPr>
            <a:r>
              <a:rPr lang="en-US" altLang="en-US" sz="2000" b="1" dirty="0" smtClean="0">
                <a:latin typeface="Courier New" panose="02070309020205020404" pitchFamily="49" charset="0"/>
                <a:cs typeface="Courier New" panose="02070309020205020404" pitchFamily="49" charset="0"/>
              </a:rPr>
              <a:t>  if</a:t>
            </a:r>
            <a:r>
              <a:rPr lang="en-US" altLang="en-US" sz="2000" dirty="0" smtClean="0">
                <a:latin typeface="Courier New" panose="02070309020205020404" pitchFamily="49" charset="0"/>
                <a:cs typeface="Courier New" panose="02070309020205020404" pitchFamily="49" charset="0"/>
              </a:rPr>
              <a:t> Boolean_exp_1 -&gt; statement_1</a:t>
            </a:r>
          </a:p>
          <a:p>
            <a:pPr lvl="1" eaLnBrk="1" hangingPunct="1">
              <a:lnSpc>
                <a:spcPct val="90000"/>
              </a:lnSpc>
              <a:buFontTx/>
              <a:buNone/>
            </a:pPr>
            <a:r>
              <a:rPr lang="en-US" altLang="en-US" sz="2000" dirty="0" smtClean="0">
                <a:latin typeface="Courier New" panose="02070309020205020404" pitchFamily="49" charset="0"/>
                <a:cs typeface="Courier New" panose="02070309020205020404" pitchFamily="49" charset="0"/>
              </a:rPr>
              <a:t>  [] Boolean_exp_2 -&gt; statement_2</a:t>
            </a:r>
          </a:p>
          <a:p>
            <a:pPr lvl="1" eaLnBrk="1" hangingPunct="1">
              <a:lnSpc>
                <a:spcPct val="90000"/>
              </a:lnSpc>
              <a:buFontTx/>
              <a:buNone/>
            </a:pPr>
            <a:r>
              <a:rPr lang="en-US" altLang="en-US" sz="2000" dirty="0" smtClean="0">
                <a:latin typeface="Courier New" panose="02070309020205020404" pitchFamily="49" charset="0"/>
                <a:cs typeface="Courier New" panose="02070309020205020404" pitchFamily="49" charset="0"/>
              </a:rPr>
              <a:t>   ...</a:t>
            </a:r>
          </a:p>
          <a:p>
            <a:pPr lvl="1" eaLnBrk="1" hangingPunct="1">
              <a:lnSpc>
                <a:spcPct val="90000"/>
              </a:lnSpc>
              <a:buFontTx/>
              <a:buNone/>
            </a:pPr>
            <a:r>
              <a:rPr lang="en-US" altLang="en-US" sz="2000" dirty="0" smtClean="0">
                <a:latin typeface="Courier New" panose="02070309020205020404" pitchFamily="49" charset="0"/>
                <a:cs typeface="Courier New" panose="02070309020205020404" pitchFamily="49" charset="0"/>
              </a:rPr>
              <a:t>  [] </a:t>
            </a:r>
            <a:r>
              <a:rPr lang="en-US" altLang="en-US" sz="2000" dirty="0" err="1" smtClean="0">
                <a:latin typeface="Courier New" panose="02070309020205020404" pitchFamily="49" charset="0"/>
                <a:cs typeface="Courier New" panose="02070309020205020404" pitchFamily="49" charset="0"/>
              </a:rPr>
              <a:t>Boolean_exp_n</a:t>
            </a:r>
            <a:r>
              <a:rPr lang="en-US" altLang="en-US" sz="2000" dirty="0" smtClean="0">
                <a:latin typeface="Courier New" panose="02070309020205020404" pitchFamily="49" charset="0"/>
                <a:cs typeface="Courier New" panose="02070309020205020404" pitchFamily="49" charset="0"/>
              </a:rPr>
              <a:t> -&gt; </a:t>
            </a:r>
            <a:r>
              <a:rPr lang="en-US" altLang="en-US" sz="2000" dirty="0" err="1" smtClean="0">
                <a:latin typeface="Courier New" panose="02070309020205020404" pitchFamily="49" charset="0"/>
                <a:cs typeface="Courier New" panose="02070309020205020404" pitchFamily="49" charset="0"/>
              </a:rPr>
              <a:t>statement_n</a:t>
            </a:r>
            <a:endParaRPr lang="en-US" altLang="en-US" sz="2000" dirty="0" smtClean="0">
              <a:latin typeface="Courier New" panose="02070309020205020404" pitchFamily="49" charset="0"/>
              <a:cs typeface="Courier New" panose="02070309020205020404" pitchFamily="49" charset="0"/>
            </a:endParaRPr>
          </a:p>
          <a:p>
            <a:pPr lvl="1" eaLnBrk="1" hangingPunct="1">
              <a:lnSpc>
                <a:spcPct val="90000"/>
              </a:lnSpc>
              <a:buFontTx/>
              <a:buNone/>
            </a:pPr>
            <a:r>
              <a:rPr lang="en-US" altLang="en-US" sz="2000" b="1" dirty="0" smtClean="0">
                <a:latin typeface="Courier New" panose="02070309020205020404" pitchFamily="49" charset="0"/>
                <a:cs typeface="Courier New" panose="02070309020205020404" pitchFamily="49" charset="0"/>
              </a:rPr>
              <a:t>  fi</a:t>
            </a:r>
          </a:p>
          <a:p>
            <a:pPr lvl="1" eaLnBrk="1" hangingPunct="1">
              <a:lnSpc>
                <a:spcPct val="90000"/>
              </a:lnSpc>
              <a:buFontTx/>
              <a:buNone/>
            </a:pPr>
            <a:endParaRPr lang="en-US" altLang="en-US" sz="500" b="1" dirty="0" smtClean="0">
              <a:latin typeface="Courier New" panose="02070309020205020404" pitchFamily="49" charset="0"/>
              <a:cs typeface="Courier New" panose="02070309020205020404" pitchFamily="49" charset="0"/>
            </a:endParaRPr>
          </a:p>
          <a:p>
            <a:pPr eaLnBrk="1" hangingPunct="1">
              <a:lnSpc>
                <a:spcPct val="90000"/>
              </a:lnSpc>
            </a:pPr>
            <a:r>
              <a:rPr lang="en-US" altLang="en-US" dirty="0" smtClean="0"/>
              <a:t>Semantics: when construct is reached, </a:t>
            </a:r>
          </a:p>
          <a:p>
            <a:pPr lvl="1" eaLnBrk="1" hangingPunct="1">
              <a:lnSpc>
                <a:spcPct val="90000"/>
              </a:lnSpc>
            </a:pPr>
            <a:r>
              <a:rPr lang="en-US" altLang="en-US" dirty="0" smtClean="0"/>
              <a:t>Evaluate all Boolean expressions</a:t>
            </a:r>
          </a:p>
          <a:p>
            <a:pPr lvl="1" eaLnBrk="1" hangingPunct="1">
              <a:lnSpc>
                <a:spcPct val="90000"/>
              </a:lnSpc>
            </a:pPr>
            <a:r>
              <a:rPr lang="en-US" altLang="en-US" dirty="0" smtClean="0"/>
              <a:t>If more than one are true</a:t>
            </a:r>
            <a:endParaRPr lang="en-US" altLang="en-US" sz="2000" dirty="0" smtClean="0"/>
          </a:p>
          <a:p>
            <a:pPr lvl="2" eaLnBrk="1" hangingPunct="1">
              <a:lnSpc>
                <a:spcPct val="90000"/>
              </a:lnSpc>
            </a:pPr>
            <a:r>
              <a:rPr lang="en-US" altLang="en-US" dirty="0" smtClean="0"/>
              <a:t>Choose one non-deterministically</a:t>
            </a:r>
          </a:p>
          <a:p>
            <a:pPr lvl="1" eaLnBrk="1" hangingPunct="1">
              <a:lnSpc>
                <a:spcPct val="90000"/>
              </a:lnSpc>
            </a:pPr>
            <a:r>
              <a:rPr lang="en-US" altLang="en-US" dirty="0" smtClean="0"/>
              <a:t>If none are true</a:t>
            </a:r>
          </a:p>
          <a:p>
            <a:pPr lvl="2" eaLnBrk="1" hangingPunct="1">
              <a:lnSpc>
                <a:spcPct val="90000"/>
              </a:lnSpc>
            </a:pPr>
            <a:r>
              <a:rPr lang="en-US" altLang="en-US" dirty="0"/>
              <a:t>G</a:t>
            </a:r>
            <a:r>
              <a:rPr lang="en-US" altLang="en-US" dirty="0" smtClean="0"/>
              <a:t>enerate a </a:t>
            </a:r>
            <a:r>
              <a:rPr lang="en-US" altLang="en-US" u="sng" dirty="0" smtClean="0"/>
              <a:t>runtime error</a:t>
            </a:r>
            <a:endParaRPr lang="en-US" altLang="en-US" sz="1700" u="sng"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7284B30-5830-4D4A-AE8F-3364579573F9}" type="slidenum">
              <a:rPr lang="en-US" altLang="en-US" sz="1000" smtClean="0">
                <a:solidFill>
                  <a:schemeClr val="tx1"/>
                </a:solidFill>
                <a:latin typeface="Arial" panose="020B0604020202020204" pitchFamily="34" charset="0"/>
              </a:rPr>
              <a:pPr>
                <a:spcBef>
                  <a:spcPct val="0"/>
                </a:spcBef>
                <a:buFontTx/>
                <a:buNone/>
              </a:pPr>
              <a:t>23</a:t>
            </a:fld>
            <a:endParaRPr lang="en-US" altLang="en-US" sz="1000" smtClean="0">
              <a:solidFill>
                <a:schemeClr val="tx1"/>
              </a:solidFill>
              <a:latin typeface="Arial" panose="020B0604020202020204" pitchFamily="34" charset="0"/>
            </a:endParaRPr>
          </a:p>
        </p:txBody>
      </p:sp>
      <p:sp>
        <p:nvSpPr>
          <p:cNvPr id="89092" name="Rectangle 2"/>
          <p:cNvSpPr>
            <a:spLocks noGrp="1" noChangeArrowheads="1"/>
          </p:cNvSpPr>
          <p:nvPr>
            <p:ph type="title"/>
          </p:nvPr>
        </p:nvSpPr>
        <p:spPr/>
        <p:txBody>
          <a:bodyPr/>
          <a:lstStyle/>
          <a:p>
            <a:pPr eaLnBrk="1" hangingPunct="1"/>
            <a:r>
              <a:rPr lang="en-US" altLang="en-US" smtClean="0"/>
              <a:t>Loop with Guarded Commands</a:t>
            </a:r>
          </a:p>
        </p:txBody>
      </p:sp>
      <p:sp>
        <p:nvSpPr>
          <p:cNvPr id="89093" name="Rectangle 3"/>
          <p:cNvSpPr>
            <a:spLocks noGrp="1" noChangeArrowheads="1"/>
          </p:cNvSpPr>
          <p:nvPr>
            <p:ph type="body" idx="1"/>
          </p:nvPr>
        </p:nvSpPr>
        <p:spPr>
          <a:xfrm>
            <a:off x="609600" y="1631730"/>
            <a:ext cx="8153400" cy="4572000"/>
          </a:xfrm>
        </p:spPr>
        <p:txBody>
          <a:bodyPr/>
          <a:lstStyle/>
          <a:p>
            <a:pPr eaLnBrk="1" hangingPunct="1">
              <a:lnSpc>
                <a:spcPct val="90000"/>
              </a:lnSpc>
            </a:pPr>
            <a:r>
              <a:rPr lang="en-US" altLang="en-US" dirty="0" smtClean="0"/>
              <a:t>Form of a guarded loop</a:t>
            </a:r>
          </a:p>
          <a:p>
            <a:pPr lvl="1" eaLnBrk="1" hangingPunct="1">
              <a:lnSpc>
                <a:spcPct val="90000"/>
              </a:lnSpc>
              <a:buFontTx/>
              <a:buNone/>
            </a:pPr>
            <a:endParaRPr lang="en-US" altLang="en-US" sz="500" b="1" dirty="0" smtClean="0">
              <a:latin typeface="Courier New" panose="02070309020205020404" pitchFamily="49" charset="0"/>
            </a:endParaRPr>
          </a:p>
          <a:p>
            <a:pPr lvl="1" eaLnBrk="1" hangingPunct="1">
              <a:lnSpc>
                <a:spcPct val="90000"/>
              </a:lnSpc>
              <a:buFontTx/>
              <a:buNone/>
            </a:pPr>
            <a:r>
              <a:rPr lang="en-US" altLang="en-US" sz="2000" b="1" dirty="0" smtClean="0">
                <a:latin typeface="Courier New" panose="02070309020205020404" pitchFamily="49" charset="0"/>
              </a:rPr>
              <a:t>  do</a:t>
            </a:r>
            <a:r>
              <a:rPr lang="en-US" altLang="en-US" sz="2000" dirty="0" smtClean="0">
                <a:latin typeface="Courier New" panose="02070309020205020404" pitchFamily="49" charset="0"/>
              </a:rPr>
              <a:t> Boolean_exp_1 -&gt; statement_1</a:t>
            </a:r>
          </a:p>
          <a:p>
            <a:pPr lvl="1" eaLnBrk="1" hangingPunct="1">
              <a:lnSpc>
                <a:spcPct val="90000"/>
              </a:lnSpc>
              <a:buFontTx/>
              <a:buNone/>
            </a:pPr>
            <a:r>
              <a:rPr lang="en-US" altLang="en-US" sz="2000" dirty="0" smtClean="0">
                <a:latin typeface="Courier New" panose="02070309020205020404" pitchFamily="49" charset="0"/>
              </a:rPr>
              <a:t>  [] Boolean_exp_2 -&gt; statement_2</a:t>
            </a:r>
          </a:p>
          <a:p>
            <a:pPr lvl="1" eaLnBrk="1" hangingPunct="1">
              <a:lnSpc>
                <a:spcPct val="90000"/>
              </a:lnSpc>
              <a:buFontTx/>
              <a:buNone/>
            </a:pPr>
            <a:r>
              <a:rPr lang="en-US" altLang="en-US" sz="2000" dirty="0" smtClean="0">
                <a:latin typeface="Courier New" panose="02070309020205020404" pitchFamily="49" charset="0"/>
              </a:rPr>
              <a:t>   ...</a:t>
            </a:r>
          </a:p>
          <a:p>
            <a:pPr lvl="1" eaLnBrk="1" hangingPunct="1">
              <a:lnSpc>
                <a:spcPct val="90000"/>
              </a:lnSpc>
              <a:buFontTx/>
              <a:buNone/>
            </a:pPr>
            <a:r>
              <a:rPr lang="en-US" altLang="en-US" sz="2000" dirty="0" smtClean="0">
                <a:latin typeface="Courier New" panose="02070309020205020404" pitchFamily="49" charset="0"/>
              </a:rPr>
              <a:t>  [] </a:t>
            </a:r>
            <a:r>
              <a:rPr lang="en-US" altLang="en-US" sz="2000" dirty="0" err="1" smtClean="0">
                <a:latin typeface="Courier New" panose="02070309020205020404" pitchFamily="49" charset="0"/>
              </a:rPr>
              <a:t>Boolean_exp_n</a:t>
            </a:r>
            <a:r>
              <a:rPr lang="en-US" altLang="en-US" sz="2000" dirty="0" smtClean="0">
                <a:latin typeface="Courier New" panose="02070309020205020404" pitchFamily="49" charset="0"/>
              </a:rPr>
              <a:t> -&gt; </a:t>
            </a:r>
            <a:r>
              <a:rPr lang="en-US" altLang="en-US" sz="2000" dirty="0" err="1" smtClean="0">
                <a:latin typeface="Courier New" panose="02070309020205020404" pitchFamily="49" charset="0"/>
              </a:rPr>
              <a:t>statement_n</a:t>
            </a:r>
            <a:endParaRPr lang="en-US" altLang="en-US" sz="2000" dirty="0" smtClean="0">
              <a:latin typeface="Courier New" panose="02070309020205020404" pitchFamily="49" charset="0"/>
            </a:endParaRPr>
          </a:p>
          <a:p>
            <a:pPr lvl="1" eaLnBrk="1" hangingPunct="1">
              <a:lnSpc>
                <a:spcPct val="90000"/>
              </a:lnSpc>
              <a:buFontTx/>
              <a:buNone/>
            </a:pPr>
            <a:r>
              <a:rPr lang="en-US" altLang="en-US" sz="2000" b="1" dirty="0" smtClean="0">
                <a:latin typeface="Courier New" panose="02070309020205020404" pitchFamily="49" charset="0"/>
              </a:rPr>
              <a:t>  od</a:t>
            </a:r>
          </a:p>
          <a:p>
            <a:pPr lvl="1" eaLnBrk="1" hangingPunct="1">
              <a:lnSpc>
                <a:spcPct val="90000"/>
              </a:lnSpc>
              <a:buFontTx/>
              <a:buNone/>
            </a:pPr>
            <a:endParaRPr lang="en-US" altLang="en-US" sz="500" b="1" dirty="0" smtClean="0">
              <a:latin typeface="Courier New" panose="02070309020205020404" pitchFamily="49" charset="0"/>
            </a:endParaRPr>
          </a:p>
          <a:p>
            <a:pPr eaLnBrk="1" hangingPunct="1">
              <a:lnSpc>
                <a:spcPct val="90000"/>
              </a:lnSpc>
            </a:pPr>
            <a:r>
              <a:rPr lang="en-US" altLang="en-US" dirty="0" smtClean="0"/>
              <a:t>Semantics: for each iteration</a:t>
            </a:r>
          </a:p>
          <a:p>
            <a:pPr lvl="1" eaLnBrk="1" hangingPunct="1">
              <a:lnSpc>
                <a:spcPct val="90000"/>
              </a:lnSpc>
            </a:pPr>
            <a:r>
              <a:rPr lang="en-US" altLang="en-US" dirty="0" smtClean="0"/>
              <a:t>Evaluate all Boolean expressions</a:t>
            </a:r>
          </a:p>
          <a:p>
            <a:pPr lvl="1" eaLnBrk="1" hangingPunct="1">
              <a:lnSpc>
                <a:spcPct val="90000"/>
              </a:lnSpc>
            </a:pPr>
            <a:r>
              <a:rPr lang="en-US" altLang="en-US" dirty="0" smtClean="0"/>
              <a:t>If more than one are true</a:t>
            </a:r>
          </a:p>
          <a:p>
            <a:pPr lvl="2" eaLnBrk="1" hangingPunct="1">
              <a:lnSpc>
                <a:spcPct val="90000"/>
              </a:lnSpc>
            </a:pPr>
            <a:r>
              <a:rPr lang="en-US" altLang="en-US" dirty="0"/>
              <a:t>C</a:t>
            </a:r>
            <a:r>
              <a:rPr lang="en-US" altLang="en-US" dirty="0" smtClean="0"/>
              <a:t>hoose one non-deterministically, start loop again</a:t>
            </a:r>
          </a:p>
          <a:p>
            <a:pPr lvl="1" eaLnBrk="1" hangingPunct="1">
              <a:lnSpc>
                <a:spcPct val="90000"/>
              </a:lnSpc>
            </a:pPr>
            <a:r>
              <a:rPr lang="en-US" altLang="en-US" dirty="0" smtClean="0"/>
              <a:t>If none are true</a:t>
            </a:r>
          </a:p>
          <a:p>
            <a:pPr lvl="2" eaLnBrk="1" hangingPunct="1">
              <a:lnSpc>
                <a:spcPct val="90000"/>
              </a:lnSpc>
            </a:pPr>
            <a:r>
              <a:rPr lang="en-US" altLang="en-US" dirty="0"/>
              <a:t>E</a:t>
            </a:r>
            <a:r>
              <a:rPr lang="en-US" altLang="en-US" dirty="0" smtClean="0"/>
              <a:t>xit the loop</a:t>
            </a:r>
            <a:endParaRPr lang="en-US" altLang="en-US" sz="1400"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D87584C-3C59-4867-BD0B-FED11EB330A4}" type="slidenum">
              <a:rPr lang="en-US" altLang="en-US" sz="1000" smtClean="0">
                <a:solidFill>
                  <a:schemeClr val="tx1"/>
                </a:solidFill>
                <a:latin typeface="Arial" panose="020B0604020202020204" pitchFamily="34" charset="0"/>
              </a:rPr>
              <a:pPr>
                <a:spcBef>
                  <a:spcPct val="0"/>
                </a:spcBef>
                <a:buFontTx/>
                <a:buNone/>
              </a:pPr>
              <a:t>24</a:t>
            </a:fld>
            <a:endParaRPr lang="en-US" altLang="en-US" sz="1000" smtClean="0">
              <a:solidFill>
                <a:schemeClr val="tx1"/>
              </a:solidFill>
              <a:latin typeface="Arial" panose="020B0604020202020204" pitchFamily="34" charset="0"/>
            </a:endParaRPr>
          </a:p>
        </p:txBody>
      </p:sp>
      <p:sp>
        <p:nvSpPr>
          <p:cNvPr id="91140" name="Rectangle 2"/>
          <p:cNvSpPr>
            <a:spLocks noGrp="1" noChangeArrowheads="1"/>
          </p:cNvSpPr>
          <p:nvPr>
            <p:ph type="title"/>
          </p:nvPr>
        </p:nvSpPr>
        <p:spPr/>
        <p:txBody>
          <a:bodyPr/>
          <a:lstStyle/>
          <a:p>
            <a:pPr eaLnBrk="1" hangingPunct="1"/>
            <a:r>
              <a:rPr lang="en-US" altLang="en-US" smtClean="0"/>
              <a:t>Guarded Commands: Rationale</a:t>
            </a:r>
          </a:p>
        </p:txBody>
      </p:sp>
      <p:sp>
        <p:nvSpPr>
          <p:cNvPr id="91141" name="Rectangle 3"/>
          <p:cNvSpPr>
            <a:spLocks noGrp="1" noChangeArrowheads="1"/>
          </p:cNvSpPr>
          <p:nvPr>
            <p:ph type="body" idx="1"/>
          </p:nvPr>
        </p:nvSpPr>
        <p:spPr/>
        <p:txBody>
          <a:bodyPr/>
          <a:lstStyle/>
          <a:p>
            <a:pPr eaLnBrk="1" hangingPunct="1"/>
            <a:r>
              <a:rPr lang="en-US" altLang="en-US" dirty="0" smtClean="0"/>
              <a:t>Control statements</a:t>
            </a:r>
          </a:p>
          <a:p>
            <a:pPr lvl="1" eaLnBrk="1" hangingPunct="1"/>
            <a:r>
              <a:rPr lang="en-US" altLang="en-US" dirty="0" smtClean="0"/>
              <a:t>Have a strong impact on program verification</a:t>
            </a:r>
          </a:p>
          <a:p>
            <a:pPr lvl="1" eaLnBrk="1" hangingPunct="1"/>
            <a:r>
              <a:rPr lang="en-US" altLang="en-US" dirty="0" smtClean="0"/>
              <a:t>Verification is almost impossible</a:t>
            </a:r>
          </a:p>
          <a:p>
            <a:pPr lvl="2" eaLnBrk="1" hangingPunct="1"/>
            <a:r>
              <a:rPr lang="en-US" altLang="en-US" dirty="0" smtClean="0"/>
              <a:t>If </a:t>
            </a:r>
            <a:r>
              <a:rPr lang="en-US" altLang="en-US" dirty="0" err="1" smtClean="0">
                <a:latin typeface="Courier New" panose="02070309020205020404" pitchFamily="49" charset="0"/>
                <a:cs typeface="Courier New" panose="02070309020205020404" pitchFamily="49" charset="0"/>
              </a:rPr>
              <a:t>goto</a:t>
            </a:r>
            <a:r>
              <a:rPr lang="en-US" altLang="en-US" dirty="0" smtClean="0"/>
              <a:t> statements used</a:t>
            </a:r>
          </a:p>
          <a:p>
            <a:pPr lvl="1" eaLnBrk="1" hangingPunct="1"/>
            <a:r>
              <a:rPr lang="en-US" altLang="en-US" dirty="0" smtClean="0"/>
              <a:t>Verification is possible</a:t>
            </a:r>
          </a:p>
          <a:p>
            <a:pPr lvl="2" eaLnBrk="1" hangingPunct="1"/>
            <a:r>
              <a:rPr lang="en-US" altLang="en-US" dirty="0" smtClean="0"/>
              <a:t>If only selection and logical pretest loops used</a:t>
            </a:r>
          </a:p>
          <a:p>
            <a:pPr lvl="1" eaLnBrk="1" hangingPunct="1"/>
            <a:r>
              <a:rPr lang="en-US" altLang="en-US" dirty="0" smtClean="0"/>
              <a:t>Verification is relatively simple</a:t>
            </a:r>
          </a:p>
          <a:p>
            <a:pPr lvl="2" eaLnBrk="1" hangingPunct="1"/>
            <a:r>
              <a:rPr lang="en-US" altLang="en-US" dirty="0" smtClean="0"/>
              <a:t>If only guarded commands used</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
        <a:cs typeface="Lucida Sans Unicode"/>
      </a:majorFont>
      <a:minorFont>
        <a:latin typeface="Lucida Sans Unicode"/>
        <a:ea typefac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9732</TotalTime>
  <Words>2089</Words>
  <Application>Microsoft Office PowerPoint</Application>
  <PresentationFormat>On-screen Show (4:3)</PresentationFormat>
  <Paragraphs>355</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Courier New</vt:lpstr>
      <vt:lpstr>Lucida Sans Unicode</vt:lpstr>
      <vt:lpstr>Times</vt:lpstr>
      <vt:lpstr>1_sebesta</vt:lpstr>
      <vt:lpstr>Chapter 8 Part 2</vt:lpstr>
      <vt:lpstr>Chapter 8 Topics</vt:lpstr>
      <vt:lpstr>Iterative Statements</vt:lpstr>
      <vt:lpstr>Counter-Controlled Loops</vt:lpstr>
      <vt:lpstr>Counter-Controlled Loops: Examples</vt:lpstr>
      <vt:lpstr>Counter-Controlled Loops: Examples</vt:lpstr>
      <vt:lpstr>Counter-Controlled Loops: Examples</vt:lpstr>
      <vt:lpstr>Counter-Controlled Loops: Examples</vt:lpstr>
      <vt:lpstr>Logically-Controlled Loops</vt:lpstr>
      <vt:lpstr>Logically-Controlled Loops: Examples</vt:lpstr>
      <vt:lpstr>User-Located Loop Control Mechanisms</vt:lpstr>
      <vt:lpstr>User-Located Loop Control Mechanisms</vt:lpstr>
      <vt:lpstr>User-Located Loop Control Mechanisms</vt:lpstr>
      <vt:lpstr>User-Located Loop Control Mechanisms</vt:lpstr>
      <vt:lpstr>Iteration Based on Data Structures</vt:lpstr>
      <vt:lpstr>Iteration Based on Data Structures</vt:lpstr>
      <vt:lpstr>Iteration Based on Data Structures</vt:lpstr>
      <vt:lpstr>Iteration Based on Data Structures</vt:lpstr>
      <vt:lpstr>Iteration Based on Data Structures</vt:lpstr>
      <vt:lpstr>Unconditional Branching</vt:lpstr>
      <vt:lpstr>Guarded Commands</vt:lpstr>
      <vt:lpstr>Selection with Guarded Commands  </vt:lpstr>
      <vt:lpstr>Loop with Guarded Commands</vt:lpstr>
      <vt:lpstr>Guarded Commands: Rationale</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447</cp:revision>
  <dcterms:created xsi:type="dcterms:W3CDTF">2003-08-01T12:29:19Z</dcterms:created>
  <dcterms:modified xsi:type="dcterms:W3CDTF">2026-05-11T19:22:57Z</dcterms:modified>
</cp:coreProperties>
</file>