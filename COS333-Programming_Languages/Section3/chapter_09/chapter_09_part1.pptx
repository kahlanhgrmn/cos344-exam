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3"/>
  </p:notesMasterIdLst>
  <p:sldIdLst>
    <p:sldId id="345" r:id="rId2"/>
    <p:sldId id="393" r:id="rId3"/>
    <p:sldId id="321" r:id="rId4"/>
    <p:sldId id="259" r:id="rId5"/>
    <p:sldId id="346" r:id="rId6"/>
    <p:sldId id="390" r:id="rId7"/>
    <p:sldId id="391" r:id="rId8"/>
    <p:sldId id="347" r:id="rId9"/>
    <p:sldId id="395" r:id="rId10"/>
    <p:sldId id="348" r:id="rId11"/>
    <p:sldId id="396" r:id="rId12"/>
    <p:sldId id="349" r:id="rId13"/>
    <p:sldId id="350" r:id="rId14"/>
    <p:sldId id="351" r:id="rId15"/>
    <p:sldId id="352" r:id="rId16"/>
    <p:sldId id="392" r:id="rId17"/>
    <p:sldId id="397" r:id="rId18"/>
    <p:sldId id="353" r:id="rId19"/>
    <p:sldId id="356" r:id="rId20"/>
    <p:sldId id="357" r:id="rId21"/>
    <p:sldId id="334" r:id="rId22"/>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a:srgbClr val="66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91" autoAdjust="0"/>
    <p:restoredTop sz="86424"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D0214BAA-F996-4E66-846E-74E1335CBF9F}" type="slidenum">
              <a:rPr lang="en-US" altLang="en-US"/>
              <a:pPr>
                <a:defRPr/>
              </a:pPr>
              <a:t>‹#›</a:t>
            </a:fld>
            <a:endParaRPr lang="en-US" altLang="en-US"/>
          </a:p>
        </p:txBody>
      </p:sp>
    </p:spTree>
    <p:extLst>
      <p:ext uri="{BB962C8B-B14F-4D97-AF65-F5344CB8AC3E}">
        <p14:creationId xmlns:p14="http://schemas.microsoft.com/office/powerpoint/2010/main" val="15830790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EB19A44-522D-425B-9B29-8152FA1D96C9}" type="slidenum">
              <a:rPr lang="en-US" altLang="en-US" sz="1200" smtClean="0"/>
              <a:pPr/>
              <a:t>1</a:t>
            </a:fld>
            <a:endParaRPr lang="en-US" altLang="en-US" sz="1200"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932033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2226CF7-001B-4F15-85EC-C0DBB46FD30E}" type="slidenum">
              <a:rPr lang="en-US" altLang="en-US" sz="1200" smtClean="0"/>
              <a:pPr/>
              <a:t>2</a:t>
            </a:fld>
            <a:endParaRPr lang="en-US" altLang="en-US" sz="1200" smtClean="0"/>
          </a:p>
        </p:txBody>
      </p:sp>
      <p:sp>
        <p:nvSpPr>
          <p:cNvPr id="8195" name="Rectangle 2"/>
          <p:cNvSpPr>
            <a:spLocks noGrp="1" noRot="1" noChangeAspect="1" noChangeArrowheads="1" noTextEdit="1"/>
          </p:cNvSpPr>
          <p:nvPr>
            <p:ph type="sldImg"/>
          </p:nvPr>
        </p:nvSpPr>
        <p:spPr>
          <a:solidFill>
            <a:srgbClr val="FFFFFF"/>
          </a:solidFill>
          <a:ln/>
        </p:spPr>
      </p:sp>
      <p:sp>
        <p:nvSpPr>
          <p:cNvPr id="8196" name="Rectangle 3"/>
          <p:cNvSpPr>
            <a:spLocks noGrp="1" noChangeArrowheads="1"/>
          </p:cNvSpPr>
          <p:nvPr>
            <p:ph type="body" idx="1"/>
          </p:nvPr>
        </p:nvSpPr>
        <p:spPr>
          <a:solidFill>
            <a:srgbClr val="FFFFFF"/>
          </a:solidFill>
          <a:ln>
            <a:solidFill>
              <a:srgbClr val="000000"/>
            </a:solidFill>
          </a:ln>
        </p:spPr>
        <p:txBody>
          <a:bodyPr lIns="90004" tIns="45002" rIns="90004" bIns="45002"/>
          <a:lstStyle/>
          <a:p>
            <a:pPr eaLnBrk="1" hangingPunct="1"/>
            <a:endParaRPr lang="en-US" altLang="en-US" smtClean="0"/>
          </a:p>
        </p:txBody>
      </p:sp>
    </p:spTree>
    <p:extLst>
      <p:ext uri="{BB962C8B-B14F-4D97-AF65-F5344CB8AC3E}">
        <p14:creationId xmlns:p14="http://schemas.microsoft.com/office/powerpoint/2010/main" val="2956279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7D91AE84-A5A6-4F1A-A300-058A93147A97}" type="slidenum">
              <a:rPr lang="en-US" altLang="en-US" sz="1200" smtClean="0"/>
              <a:pPr/>
              <a:t>3</a:t>
            </a:fld>
            <a:endParaRPr lang="en-US" altLang="en-US" sz="1200" smtClean="0"/>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1905333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85CCBA4-3C5E-492C-99F5-321913FC558D}" type="slidenum">
              <a:rPr lang="en-US" altLang="en-US" sz="1200" smtClean="0"/>
              <a:pPr/>
              <a:t>4</a:t>
            </a:fld>
            <a:endParaRPr lang="en-US" altLang="en-US" sz="1200" smtClean="0"/>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473726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1ED6AD8-95F2-4FEA-8D63-14140E735ED3}" type="slidenum">
              <a:rPr lang="en-US" altLang="en-US" sz="1300" smtClean="0"/>
              <a:pPr/>
              <a:t>5</a:t>
            </a:fld>
            <a:endParaRPr lang="en-US" altLang="en-US" sz="1300" smtClean="0"/>
          </a:p>
        </p:txBody>
      </p:sp>
      <p:sp>
        <p:nvSpPr>
          <p:cNvPr id="13315" name="Rectangle 2"/>
          <p:cNvSpPr>
            <a:spLocks noGrp="1" noRot="1" noChangeAspect="1" noChangeArrowheads="1" noTextEdit="1"/>
          </p:cNvSpPr>
          <p:nvPr>
            <p:ph type="sldImg"/>
          </p:nvPr>
        </p:nvSpPr>
        <p:spPr>
          <a:xfrm>
            <a:off x="992188" y="768350"/>
            <a:ext cx="5114925" cy="3836988"/>
          </a:xfrm>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477228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32BFF42-56E1-42E4-9859-295016662758}" type="slidenum">
              <a:rPr lang="en-US" altLang="en-US" sz="1300" smtClean="0"/>
              <a:pPr/>
              <a:t>6</a:t>
            </a:fld>
            <a:endParaRPr lang="en-US" altLang="en-US" sz="1300" smtClean="0"/>
          </a:p>
        </p:txBody>
      </p:sp>
      <p:sp>
        <p:nvSpPr>
          <p:cNvPr id="15363" name="Rectangle 2"/>
          <p:cNvSpPr>
            <a:spLocks noGrp="1" noRot="1" noChangeAspect="1" noChangeArrowheads="1" noTextEdit="1"/>
          </p:cNvSpPr>
          <p:nvPr>
            <p:ph type="sldImg"/>
          </p:nvPr>
        </p:nvSpPr>
        <p:spPr>
          <a:xfrm>
            <a:off x="992188" y="768350"/>
            <a:ext cx="5114925" cy="3836988"/>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Python’s executable subprograms allow Boolean conditions to create different implementations for the same subprogram name. This is a kind of parameterization.</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GB" altLang="en-US"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It is even possible to define two functions with the same name directly after one another (i.e. not in an if statement). In this case, the last one defined will be the one used by a call. This is not</a:t>
            </a:r>
            <a:r>
              <a:rPr lang="en-GB" altLang="en-US" baseline="0" dirty="0" smtClean="0"/>
              <a:t> very useful, however, so you’ll typically see different definitions of the same subprogram in if statements.</a:t>
            </a:r>
            <a:endParaRPr lang="en-GB" altLang="en-US" dirty="0" smtClean="0"/>
          </a:p>
        </p:txBody>
      </p:sp>
    </p:spTree>
    <p:extLst>
      <p:ext uri="{BB962C8B-B14F-4D97-AF65-F5344CB8AC3E}">
        <p14:creationId xmlns:p14="http://schemas.microsoft.com/office/powerpoint/2010/main" val="690535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2A173DB-80C3-424F-93E1-925E7F1C7B5A}" type="slidenum">
              <a:rPr lang="en-US" altLang="en-US" sz="1300" smtClean="0"/>
              <a:pPr/>
              <a:t>7</a:t>
            </a:fld>
            <a:endParaRPr lang="en-US" altLang="en-US" sz="1300" smtClean="0"/>
          </a:p>
        </p:txBody>
      </p:sp>
      <p:sp>
        <p:nvSpPr>
          <p:cNvPr id="17411" name="Rectangle 2"/>
          <p:cNvSpPr>
            <a:spLocks noGrp="1" noRot="1" noChangeAspect="1" noChangeArrowheads="1" noTextEdit="1"/>
          </p:cNvSpPr>
          <p:nvPr>
            <p:ph type="sldImg"/>
          </p:nvPr>
        </p:nvSpPr>
        <p:spPr>
          <a:xfrm>
            <a:off x="992188" y="768350"/>
            <a:ext cx="5114925" cy="3836988"/>
          </a:xfrm>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423930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ZA" altLang="en-US" dirty="0" smtClean="0"/>
          </a:p>
        </p:txBody>
      </p:sp>
      <p:sp>
        <p:nvSpPr>
          <p:cNvPr id="194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672A719-1D9F-4A60-8687-2090121EE641}" type="slidenum">
              <a:rPr lang="en-US" altLang="en-US" sz="1200" smtClean="0"/>
              <a:pPr/>
              <a:t>8</a:t>
            </a:fld>
            <a:endParaRPr lang="en-US" altLang="en-US" sz="1200" smtClean="0"/>
          </a:p>
        </p:txBody>
      </p:sp>
    </p:spTree>
    <p:extLst>
      <p:ext uri="{BB962C8B-B14F-4D97-AF65-F5344CB8AC3E}">
        <p14:creationId xmlns:p14="http://schemas.microsoft.com/office/powerpoint/2010/main" val="2678261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Given the following code:</a:t>
            </a:r>
          </a:p>
          <a:p>
            <a:endParaRPr lang="en-ZA" altLang="en-US" dirty="0" smtClean="0"/>
          </a:p>
          <a:p>
            <a:r>
              <a:rPr lang="en-ZA" altLang="en-US" dirty="0" err="1" smtClean="0"/>
              <a:t>int</a:t>
            </a:r>
            <a:r>
              <a:rPr lang="en-ZA" altLang="en-US" dirty="0" smtClean="0"/>
              <a:t> foo(double a, </a:t>
            </a:r>
            <a:r>
              <a:rPr lang="en-ZA" altLang="en-US" dirty="0" err="1" smtClean="0"/>
              <a:t>int</a:t>
            </a:r>
            <a:r>
              <a:rPr lang="en-ZA" altLang="en-US" dirty="0" smtClean="0"/>
              <a:t> b) { … }</a:t>
            </a:r>
          </a:p>
          <a:p>
            <a:endParaRPr lang="en-ZA" altLang="en-US" dirty="0" smtClean="0"/>
          </a:p>
          <a:p>
            <a:r>
              <a:rPr lang="en-ZA" altLang="en-US" dirty="0" err="1" smtClean="0"/>
              <a:t>int</a:t>
            </a:r>
            <a:r>
              <a:rPr lang="en-ZA" altLang="en-US" dirty="0" smtClean="0"/>
              <a:t> main()</a:t>
            </a:r>
          </a:p>
          <a:p>
            <a:r>
              <a:rPr lang="en-ZA" altLang="en-US" dirty="0" smtClean="0"/>
              <a:t>{</a:t>
            </a:r>
          </a:p>
          <a:p>
            <a:r>
              <a:rPr lang="en-ZA" altLang="en-US" dirty="0" smtClean="0"/>
              <a:t>   foo(1.2, 4);</a:t>
            </a:r>
          </a:p>
          <a:p>
            <a:r>
              <a:rPr lang="en-ZA" altLang="en-US" dirty="0" smtClean="0"/>
              <a:t>}</a:t>
            </a:r>
          </a:p>
          <a:p>
            <a:endParaRPr lang="en-ZA" altLang="en-US" dirty="0" smtClean="0"/>
          </a:p>
          <a:p>
            <a:r>
              <a:rPr lang="en-ZA" altLang="en-US" dirty="0" smtClean="0"/>
              <a:t>The subprogram header is foo(double a, </a:t>
            </a:r>
            <a:r>
              <a:rPr lang="en-ZA" altLang="en-US" dirty="0" err="1" smtClean="0"/>
              <a:t>int</a:t>
            </a:r>
            <a:r>
              <a:rPr lang="en-ZA" altLang="en-US" dirty="0" smtClean="0"/>
              <a:t> b), and the type of subprogram, which is a function in this case (because there is a return value – see slide 14).</a:t>
            </a:r>
          </a:p>
          <a:p>
            <a:endParaRPr lang="en-ZA" altLang="en-US" dirty="0" smtClean="0"/>
          </a:p>
          <a:p>
            <a:r>
              <a:rPr lang="en-ZA" altLang="en-US" dirty="0" smtClean="0"/>
              <a:t>foo(1.2, 4); is the subprogram call.</a:t>
            </a:r>
          </a:p>
          <a:p>
            <a:endParaRPr lang="en-ZA" altLang="en-US" dirty="0" smtClean="0"/>
          </a:p>
          <a:p>
            <a:r>
              <a:rPr lang="en-ZA" altLang="en-US" dirty="0" smtClean="0"/>
              <a:t>The variables a and b are formal parameters, while 1.2 and 4 are actual parameters.</a:t>
            </a:r>
          </a:p>
        </p:txBody>
      </p:sp>
      <p:sp>
        <p:nvSpPr>
          <p:cNvPr id="194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672A719-1D9F-4A60-8687-2090121EE641}" type="slidenum">
              <a:rPr lang="en-US" altLang="en-US" sz="1200" smtClean="0"/>
              <a:pPr/>
              <a:t>9</a:t>
            </a:fld>
            <a:endParaRPr lang="en-US" altLang="en-US" sz="1200" smtClean="0"/>
          </a:p>
        </p:txBody>
      </p:sp>
    </p:spTree>
    <p:extLst>
      <p:ext uri="{BB962C8B-B14F-4D97-AF65-F5344CB8AC3E}">
        <p14:creationId xmlns:p14="http://schemas.microsoft.com/office/powerpoint/2010/main" val="2524914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ZA" altLang="en-US" dirty="0" smtClean="0"/>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D904420-7E2C-4176-948D-F39791D6F6D8}" type="slidenum">
              <a:rPr lang="en-US" altLang="en-US" sz="1200" smtClean="0"/>
              <a:pPr/>
              <a:t>10</a:t>
            </a:fld>
            <a:endParaRPr lang="en-US" altLang="en-US" sz="1200" smtClean="0"/>
          </a:p>
        </p:txBody>
      </p:sp>
    </p:spTree>
    <p:extLst>
      <p:ext uri="{BB962C8B-B14F-4D97-AF65-F5344CB8AC3E}">
        <p14:creationId xmlns:p14="http://schemas.microsoft.com/office/powerpoint/2010/main" val="1127085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Given the following code:</a:t>
            </a:r>
          </a:p>
          <a:p>
            <a:endParaRPr lang="en-ZA" altLang="en-US" dirty="0" smtClean="0"/>
          </a:p>
          <a:p>
            <a:r>
              <a:rPr lang="en-ZA" altLang="en-US" dirty="0" err="1" smtClean="0"/>
              <a:t>int</a:t>
            </a:r>
            <a:r>
              <a:rPr lang="en-ZA" altLang="en-US" dirty="0" smtClean="0"/>
              <a:t> foo(double a, </a:t>
            </a:r>
            <a:r>
              <a:rPr lang="en-ZA" altLang="en-US" dirty="0" err="1" smtClean="0"/>
              <a:t>int</a:t>
            </a:r>
            <a:r>
              <a:rPr lang="en-ZA" altLang="en-US" dirty="0" smtClean="0"/>
              <a:t> b) { … }</a:t>
            </a:r>
          </a:p>
          <a:p>
            <a:endParaRPr lang="en-ZA" altLang="en-US" dirty="0" smtClean="0"/>
          </a:p>
          <a:p>
            <a:r>
              <a:rPr lang="en-ZA" altLang="en-US" dirty="0" err="1" smtClean="0"/>
              <a:t>int</a:t>
            </a:r>
            <a:r>
              <a:rPr lang="en-ZA" altLang="en-US" dirty="0" smtClean="0"/>
              <a:t> main()</a:t>
            </a:r>
          </a:p>
          <a:p>
            <a:r>
              <a:rPr lang="en-ZA" altLang="en-US" dirty="0" smtClean="0"/>
              <a:t>{</a:t>
            </a:r>
          </a:p>
          <a:p>
            <a:r>
              <a:rPr lang="en-ZA" altLang="en-US" dirty="0" smtClean="0"/>
              <a:t>   foo(1.2, 4);</a:t>
            </a:r>
          </a:p>
          <a:p>
            <a:r>
              <a:rPr lang="en-ZA" altLang="en-US" dirty="0" smtClean="0"/>
              <a:t>}</a:t>
            </a:r>
          </a:p>
          <a:p>
            <a:endParaRPr lang="en-ZA" altLang="en-US" dirty="0" smtClean="0"/>
          </a:p>
          <a:p>
            <a:r>
              <a:rPr lang="en-ZA" altLang="en-US" dirty="0" smtClean="0"/>
              <a:t>The parameter profile consists of two parameters, a double followed by an int.</a:t>
            </a:r>
          </a:p>
          <a:p>
            <a:endParaRPr lang="en-ZA" altLang="en-US" dirty="0" smtClean="0"/>
          </a:p>
          <a:p>
            <a:r>
              <a:rPr lang="en-ZA" altLang="en-US" dirty="0" smtClean="0"/>
              <a:t>The protocol consists of an </a:t>
            </a:r>
            <a:r>
              <a:rPr lang="en-ZA" altLang="en-US" dirty="0" err="1" smtClean="0"/>
              <a:t>int</a:t>
            </a:r>
            <a:r>
              <a:rPr lang="en-ZA" altLang="en-US" dirty="0" smtClean="0"/>
              <a:t> return type, and two parameters, a double followed by an int.</a:t>
            </a:r>
          </a:p>
          <a:p>
            <a:endParaRPr lang="en-ZA" altLang="en-US" dirty="0" smtClean="0"/>
          </a:p>
          <a:p>
            <a:r>
              <a:rPr lang="en-ZA" altLang="en-US" dirty="0" smtClean="0"/>
              <a:t>In a language like C++, the subprogram declaration would appear somewhere above the example code (often in a header file), and would look as follows (note that there is no subprogram body):</a:t>
            </a:r>
          </a:p>
          <a:p>
            <a:endParaRPr lang="en-ZA" altLang="en-US" dirty="0" smtClean="0"/>
          </a:p>
          <a:p>
            <a:r>
              <a:rPr lang="en-ZA" altLang="en-US" dirty="0" err="1" smtClean="0"/>
              <a:t>int</a:t>
            </a:r>
            <a:r>
              <a:rPr lang="en-ZA" altLang="en-US" dirty="0" smtClean="0"/>
              <a:t> foo(double a, </a:t>
            </a:r>
            <a:r>
              <a:rPr lang="en-ZA" altLang="en-US" dirty="0" err="1" smtClean="0"/>
              <a:t>int</a:t>
            </a:r>
            <a:r>
              <a:rPr lang="en-ZA" altLang="en-US" dirty="0" smtClean="0"/>
              <a:t> b);</a:t>
            </a: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D904420-7E2C-4176-948D-F39791D6F6D8}" type="slidenum">
              <a:rPr lang="en-US" altLang="en-US" sz="1200" smtClean="0"/>
              <a:pPr/>
              <a:t>11</a:t>
            </a:fld>
            <a:endParaRPr lang="en-US" altLang="en-US" sz="1200" smtClean="0"/>
          </a:p>
        </p:txBody>
      </p:sp>
    </p:spTree>
    <p:extLst>
      <p:ext uri="{BB962C8B-B14F-4D97-AF65-F5344CB8AC3E}">
        <p14:creationId xmlns:p14="http://schemas.microsoft.com/office/powerpoint/2010/main" val="3004015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3B7256F-CA41-4E71-8043-E9ABE4E1488C}" type="slidenum">
              <a:rPr lang="en-US" altLang="en-US" sz="1300" smtClean="0"/>
              <a:pPr/>
              <a:t>12</a:t>
            </a:fld>
            <a:endParaRPr lang="en-US" altLang="en-US" sz="1300" smtClean="0"/>
          </a:p>
        </p:txBody>
      </p:sp>
      <p:sp>
        <p:nvSpPr>
          <p:cNvPr id="23555" name="Rectangle 2"/>
          <p:cNvSpPr>
            <a:spLocks noGrp="1" noRot="1" noChangeAspect="1" noChangeArrowheads="1" noTextEdit="1"/>
          </p:cNvSpPr>
          <p:nvPr>
            <p:ph type="sldImg"/>
          </p:nvPr>
        </p:nvSpPr>
        <p:spPr>
          <a:xfrm>
            <a:off x="992188" y="768350"/>
            <a:ext cx="5114925" cy="3836988"/>
          </a:xfrm>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Try to think of one drawback (look at the next slide if you’re not sure).</a:t>
            </a:r>
          </a:p>
        </p:txBody>
      </p:sp>
    </p:spTree>
    <p:extLst>
      <p:ext uri="{BB962C8B-B14F-4D97-AF65-F5344CB8AC3E}">
        <p14:creationId xmlns:p14="http://schemas.microsoft.com/office/powerpoint/2010/main" val="14752446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smtClean="0"/>
              <a:t>Ruby, for example, supports both positional parameters and keyword parameters.</a:t>
            </a:r>
            <a:endParaRPr lang="en-ZA" dirty="0"/>
          </a:p>
        </p:txBody>
      </p:sp>
      <p:sp>
        <p:nvSpPr>
          <p:cNvPr id="4" name="Slide Number Placeholder 3"/>
          <p:cNvSpPr>
            <a:spLocks noGrp="1"/>
          </p:cNvSpPr>
          <p:nvPr>
            <p:ph type="sldNum" sz="quarter" idx="10"/>
          </p:nvPr>
        </p:nvSpPr>
        <p:spPr/>
        <p:txBody>
          <a:bodyPr/>
          <a:lstStyle/>
          <a:p>
            <a:pPr>
              <a:defRPr/>
            </a:pPr>
            <a:fld id="{D0214BAA-F996-4E66-846E-74E1335CBF9F}" type="slidenum">
              <a:rPr lang="en-US" altLang="en-US" smtClean="0"/>
              <a:pPr>
                <a:defRPr/>
              </a:pPr>
              <a:t>13</a:t>
            </a:fld>
            <a:endParaRPr lang="en-US" altLang="en-US"/>
          </a:p>
        </p:txBody>
      </p:sp>
    </p:spTree>
    <p:extLst>
      <p:ext uri="{BB962C8B-B14F-4D97-AF65-F5344CB8AC3E}">
        <p14:creationId xmlns:p14="http://schemas.microsoft.com/office/powerpoint/2010/main" val="1612885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F6C4B13-2462-423F-BFA1-DE42CEEF06D8}" type="slidenum">
              <a:rPr lang="en-US" altLang="en-US" sz="1300" smtClean="0"/>
              <a:pPr/>
              <a:t>14</a:t>
            </a:fld>
            <a:endParaRPr lang="en-US" altLang="en-US" sz="1300" smtClean="0"/>
          </a:p>
        </p:txBody>
      </p:sp>
      <p:sp>
        <p:nvSpPr>
          <p:cNvPr id="26627" name="Rectangle 2"/>
          <p:cNvSpPr>
            <a:spLocks noGrp="1" noRot="1" noChangeAspect="1" noChangeArrowheads="1" noTextEdit="1"/>
          </p:cNvSpPr>
          <p:nvPr>
            <p:ph type="sldImg"/>
          </p:nvPr>
        </p:nvSpPr>
        <p:spPr>
          <a:xfrm>
            <a:off x="992188" y="768350"/>
            <a:ext cx="5114925" cy="3836988"/>
          </a:xfrm>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Try to answer the question (consider the previous slides).</a:t>
            </a:r>
          </a:p>
        </p:txBody>
      </p:sp>
    </p:spTree>
    <p:extLst>
      <p:ext uri="{BB962C8B-B14F-4D97-AF65-F5344CB8AC3E}">
        <p14:creationId xmlns:p14="http://schemas.microsoft.com/office/powerpoint/2010/main" val="1611895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ZA" altLang="en-US" dirty="0" smtClean="0"/>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05D04A3-A167-4FC4-9DBC-59FB0116CC6C}" type="slidenum">
              <a:rPr lang="en-US" altLang="en-US" sz="1200" smtClean="0"/>
              <a:pPr/>
              <a:t>16</a:t>
            </a:fld>
            <a:endParaRPr lang="en-US" altLang="en-US" sz="1200" smtClean="0"/>
          </a:p>
        </p:txBody>
      </p:sp>
    </p:spTree>
    <p:extLst>
      <p:ext uri="{BB962C8B-B14F-4D97-AF65-F5344CB8AC3E}">
        <p14:creationId xmlns:p14="http://schemas.microsoft.com/office/powerpoint/2010/main" val="23749720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In C#, a </a:t>
            </a:r>
            <a:r>
              <a:rPr lang="en-ZA" altLang="en-US" dirty="0" err="1" smtClean="0">
                <a:latin typeface="Courier New" panose="02070309020205020404" pitchFamily="49" charset="0"/>
                <a:cs typeface="Courier New" panose="02070309020205020404" pitchFamily="49" charset="0"/>
              </a:rPr>
              <a:t>params</a:t>
            </a:r>
            <a:r>
              <a:rPr lang="en-ZA" altLang="en-US" dirty="0" smtClean="0"/>
              <a:t> array can be mixed with normal parameters, but must appear last in the parameter list.</a:t>
            </a:r>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05D04A3-A167-4FC4-9DBC-59FB0116CC6C}" type="slidenum">
              <a:rPr lang="en-US" altLang="en-US" sz="1200" smtClean="0"/>
              <a:pPr/>
              <a:t>17</a:t>
            </a:fld>
            <a:endParaRPr lang="en-US" altLang="en-US" sz="1200" smtClean="0"/>
          </a:p>
        </p:txBody>
      </p:sp>
    </p:spTree>
    <p:extLst>
      <p:ext uri="{BB962C8B-B14F-4D97-AF65-F5344CB8AC3E}">
        <p14:creationId xmlns:p14="http://schemas.microsoft.com/office/powerpoint/2010/main" val="3525057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Why does the approach used by Ruby and Python allow for mixed types? (Hint: the reasons are different for the two languages)</a:t>
            </a:r>
          </a:p>
          <a:p>
            <a:endParaRPr lang="en-US" altLang="en-US" dirty="0" smtClean="0"/>
          </a:p>
          <a:p>
            <a:r>
              <a:rPr lang="en-ZA" altLang="en-US" dirty="0" smtClean="0"/>
              <a:t>In Ruby, a variable argument needs to be after all your required and optional parameters, and before any keyword parameters.</a:t>
            </a:r>
          </a:p>
          <a:p>
            <a:endParaRPr lang="en-ZA" altLang="en-US" dirty="0" smtClean="0"/>
          </a:p>
          <a:p>
            <a:r>
              <a:rPr lang="en-ZA" altLang="en-US" dirty="0" smtClean="0"/>
              <a:t>In Python,</a:t>
            </a:r>
            <a:r>
              <a:rPr lang="en-ZA" altLang="en-US" baseline="0" dirty="0" smtClean="0"/>
              <a:t> the variable number of parameters must appear last in the parameter list.</a:t>
            </a:r>
            <a:endParaRPr lang="en-US" altLang="en-US" dirty="0" smtClean="0"/>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A10E30A-0211-4912-9221-FA600E9BADF2}" type="slidenum">
              <a:rPr lang="en-US" altLang="en-US" sz="1200" smtClean="0"/>
              <a:pPr/>
              <a:t>18</a:t>
            </a:fld>
            <a:endParaRPr lang="en-US" altLang="en-US" sz="1200" smtClean="0"/>
          </a:p>
        </p:txBody>
      </p:sp>
    </p:spTree>
    <p:extLst>
      <p:ext uri="{BB962C8B-B14F-4D97-AF65-F5344CB8AC3E}">
        <p14:creationId xmlns:p14="http://schemas.microsoft.com/office/powerpoint/2010/main" val="22362638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E58FEE3-9FF6-458A-B819-8BD39D2FCEBB}" type="slidenum">
              <a:rPr lang="en-US" altLang="en-US" sz="1300" smtClean="0"/>
              <a:pPr/>
              <a:t>19</a:t>
            </a:fld>
            <a:endParaRPr lang="en-US" altLang="en-US" sz="1300" smtClean="0"/>
          </a:p>
        </p:txBody>
      </p:sp>
      <p:sp>
        <p:nvSpPr>
          <p:cNvPr id="35843" name="Rectangle 2"/>
          <p:cNvSpPr>
            <a:spLocks noGrp="1" noRot="1" noChangeAspect="1" noChangeArrowheads="1" noTextEdit="1"/>
          </p:cNvSpPr>
          <p:nvPr>
            <p:ph type="sldImg"/>
          </p:nvPr>
        </p:nvSpPr>
        <p:spPr>
          <a:xfrm>
            <a:off x="992188" y="768350"/>
            <a:ext cx="5114925" cy="3836988"/>
          </a:xfrm>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675653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6721080-BAD3-49AB-AFE5-97568EA9B0F7}" type="slidenum">
              <a:rPr lang="en-US" altLang="en-US" sz="1300" smtClean="0"/>
              <a:pPr/>
              <a:t>20</a:t>
            </a:fld>
            <a:endParaRPr lang="en-US" altLang="en-US" sz="1300" smtClean="0"/>
          </a:p>
        </p:txBody>
      </p:sp>
      <p:sp>
        <p:nvSpPr>
          <p:cNvPr id="37891" name="Rectangle 2"/>
          <p:cNvSpPr>
            <a:spLocks noGrp="1" noRot="1" noChangeAspect="1" noChangeArrowheads="1" noTextEdit="1"/>
          </p:cNvSpPr>
          <p:nvPr>
            <p:ph type="sldImg"/>
          </p:nvPr>
        </p:nvSpPr>
        <p:spPr>
          <a:xfrm>
            <a:off x="992188" y="768350"/>
            <a:ext cx="5114925" cy="3836988"/>
          </a:xfrm>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39299789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D9EF797-B86F-4569-8B90-207B7C28155E}" type="slidenum">
              <a:rPr lang="en-US" altLang="en-US" sz="1200" smtClean="0"/>
              <a:pPr/>
              <a:t>21</a:t>
            </a:fld>
            <a:endParaRPr lang="en-US" altLang="en-US" sz="1200" smtClean="0"/>
          </a:p>
        </p:txBody>
      </p:sp>
    </p:spTree>
    <p:extLst>
      <p:ext uri="{BB962C8B-B14F-4D97-AF65-F5344CB8AC3E}">
        <p14:creationId xmlns:p14="http://schemas.microsoft.com/office/powerpoint/2010/main" val="8640774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64313"/>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p>
        </p:txBody>
      </p:sp>
      <p:sp>
        <p:nvSpPr>
          <p:cNvPr id="83970"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83971"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pic>
        <p:nvPicPr>
          <p:cNvPr id="7" name="Picture 8" descr="Front Cover: Concepts of Programming Languages, Global Edition, by Robert W Sebesta&#1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43400" y="0"/>
            <a:ext cx="4800600" cy="6076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621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068C4D9B-DB09-48CF-815F-00FF9F53859C}" type="slidenum">
              <a:rPr lang="en-US" altLang="en-US"/>
              <a:pPr>
                <a:defRPr/>
              </a:pPr>
              <a:t>‹#›</a:t>
            </a:fld>
            <a:endParaRPr lang="en-US" altLang="en-US"/>
          </a:p>
        </p:txBody>
      </p:sp>
    </p:spTree>
    <p:extLst>
      <p:ext uri="{BB962C8B-B14F-4D97-AF65-F5344CB8AC3E}">
        <p14:creationId xmlns:p14="http://schemas.microsoft.com/office/powerpoint/2010/main" val="2312328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489262AE-3C96-4FFE-994C-452D80FA3E03}" type="slidenum">
              <a:rPr lang="en-US" altLang="en-US"/>
              <a:pPr>
                <a:defRPr/>
              </a:pPr>
              <a:t>‹#›</a:t>
            </a:fld>
            <a:endParaRPr lang="en-US" altLang="en-US"/>
          </a:p>
        </p:txBody>
      </p:sp>
    </p:spTree>
    <p:extLst>
      <p:ext uri="{BB962C8B-B14F-4D97-AF65-F5344CB8AC3E}">
        <p14:creationId xmlns:p14="http://schemas.microsoft.com/office/powerpoint/2010/main" val="244055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69A223ED-7D3C-4F0D-B765-C9BE7A86837A}" type="slidenum">
              <a:rPr lang="en-US" altLang="en-US"/>
              <a:pPr>
                <a:defRPr/>
              </a:pPr>
              <a:t>‹#›</a:t>
            </a:fld>
            <a:endParaRPr lang="en-US" altLang="en-US"/>
          </a:p>
        </p:txBody>
      </p:sp>
    </p:spTree>
    <p:extLst>
      <p:ext uri="{BB962C8B-B14F-4D97-AF65-F5344CB8AC3E}">
        <p14:creationId xmlns:p14="http://schemas.microsoft.com/office/powerpoint/2010/main" val="3659882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659ACCDB-D07C-4876-AC2C-0CB04706E068}" type="slidenum">
              <a:rPr lang="en-US" altLang="en-US"/>
              <a:pPr>
                <a:defRPr/>
              </a:pPr>
              <a:t>‹#›</a:t>
            </a:fld>
            <a:endParaRPr lang="en-US" altLang="en-US"/>
          </a:p>
        </p:txBody>
      </p:sp>
    </p:spTree>
    <p:extLst>
      <p:ext uri="{BB962C8B-B14F-4D97-AF65-F5344CB8AC3E}">
        <p14:creationId xmlns:p14="http://schemas.microsoft.com/office/powerpoint/2010/main" val="1306465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A752000E-1525-4E24-BDEE-767765A8E3D8}" type="slidenum">
              <a:rPr lang="en-US" altLang="en-US"/>
              <a:pPr>
                <a:defRPr/>
              </a:pPr>
              <a:t>‹#›</a:t>
            </a:fld>
            <a:endParaRPr lang="en-US" altLang="en-US"/>
          </a:p>
        </p:txBody>
      </p:sp>
    </p:spTree>
    <p:extLst>
      <p:ext uri="{BB962C8B-B14F-4D97-AF65-F5344CB8AC3E}">
        <p14:creationId xmlns:p14="http://schemas.microsoft.com/office/powerpoint/2010/main" val="124024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534002DE-FA59-4308-93C4-619F77775D6D}" type="slidenum">
              <a:rPr lang="en-US" altLang="en-US"/>
              <a:pPr>
                <a:defRPr/>
              </a:pPr>
              <a:t>‹#›</a:t>
            </a:fld>
            <a:endParaRPr lang="en-US" altLang="en-US"/>
          </a:p>
        </p:txBody>
      </p:sp>
    </p:spTree>
    <p:extLst>
      <p:ext uri="{BB962C8B-B14F-4D97-AF65-F5344CB8AC3E}">
        <p14:creationId xmlns:p14="http://schemas.microsoft.com/office/powerpoint/2010/main" val="2331165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4981DA1A-192D-4062-9CA2-CCAB6D3628BC}" type="slidenum">
              <a:rPr lang="en-US" altLang="en-US"/>
              <a:pPr>
                <a:defRPr/>
              </a:pPr>
              <a:t>‹#›</a:t>
            </a:fld>
            <a:endParaRPr lang="en-US" altLang="en-US"/>
          </a:p>
        </p:txBody>
      </p:sp>
    </p:spTree>
    <p:extLst>
      <p:ext uri="{BB962C8B-B14F-4D97-AF65-F5344CB8AC3E}">
        <p14:creationId xmlns:p14="http://schemas.microsoft.com/office/powerpoint/2010/main" val="221020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DE41EBA1-68BC-4645-AD98-44FCE51F4EA2}" type="slidenum">
              <a:rPr lang="en-US" altLang="en-US"/>
              <a:pPr>
                <a:defRPr/>
              </a:pPr>
              <a:t>‹#›</a:t>
            </a:fld>
            <a:endParaRPr lang="en-US" altLang="en-US"/>
          </a:p>
        </p:txBody>
      </p:sp>
    </p:spTree>
    <p:extLst>
      <p:ext uri="{BB962C8B-B14F-4D97-AF65-F5344CB8AC3E}">
        <p14:creationId xmlns:p14="http://schemas.microsoft.com/office/powerpoint/2010/main" val="2842482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DA8646B4-39F1-43BD-B18E-C983E4BEB336}" type="slidenum">
              <a:rPr lang="en-US" altLang="en-US"/>
              <a:pPr>
                <a:defRPr/>
              </a:pPr>
              <a:t>‹#›</a:t>
            </a:fld>
            <a:endParaRPr lang="en-US" altLang="en-US"/>
          </a:p>
        </p:txBody>
      </p:sp>
    </p:spTree>
    <p:extLst>
      <p:ext uri="{BB962C8B-B14F-4D97-AF65-F5344CB8AC3E}">
        <p14:creationId xmlns:p14="http://schemas.microsoft.com/office/powerpoint/2010/main" val="2189282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A24AF519-D3AD-4F4F-AA28-7F22C9FB7820}" type="slidenum">
              <a:rPr lang="en-US" altLang="en-US"/>
              <a:pPr>
                <a:defRPr/>
              </a:pPr>
              <a:t>‹#›</a:t>
            </a:fld>
            <a:endParaRPr lang="en-US" altLang="en-US"/>
          </a:p>
        </p:txBody>
      </p:sp>
    </p:spTree>
    <p:extLst>
      <p:ext uri="{BB962C8B-B14F-4D97-AF65-F5344CB8AC3E}">
        <p14:creationId xmlns:p14="http://schemas.microsoft.com/office/powerpoint/2010/main" val="1103872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82948"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82949"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A1705EE6-6E16-4451-A57D-3C93458E74C4}"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915"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ctrTitle"/>
          </p:nvPr>
        </p:nvSpPr>
        <p:spPr/>
        <p:txBody>
          <a:bodyPr/>
          <a:lstStyle/>
          <a:p>
            <a:pPr eaLnBrk="1" hangingPunct="1"/>
            <a:r>
              <a:rPr lang="en-US" altLang="en-US" dirty="0" smtClean="0"/>
              <a:t>Chapter 9</a:t>
            </a:r>
            <a:br>
              <a:rPr lang="en-US" altLang="en-US" dirty="0" smtClean="0"/>
            </a:br>
            <a:r>
              <a:rPr lang="en-US" altLang="en-US" sz="2800" dirty="0" smtClean="0"/>
              <a:t>Part 1</a:t>
            </a:r>
          </a:p>
        </p:txBody>
      </p:sp>
      <p:sp>
        <p:nvSpPr>
          <p:cNvPr id="4099" name="Rectangle 5"/>
          <p:cNvSpPr>
            <a:spLocks noGrp="1" noChangeArrowheads="1"/>
          </p:cNvSpPr>
          <p:nvPr>
            <p:ph type="subTitle" idx="1"/>
          </p:nvPr>
        </p:nvSpPr>
        <p:spPr/>
        <p:txBody>
          <a:bodyPr/>
          <a:lstStyle/>
          <a:p>
            <a:pPr eaLnBrk="1" hangingPunct="1"/>
            <a:r>
              <a:rPr lang="en-US" altLang="en-US" smtClean="0"/>
              <a:t>Subprograms</a:t>
            </a:r>
          </a:p>
          <a:p>
            <a:pPr eaLnBrk="1" hangingPunct="1"/>
            <a:endParaRPr lang="en-US" alt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D3D09AB-A1B9-49B9-B5F2-DBCF88BB4E15}"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7172" name="Rectangle 2"/>
          <p:cNvSpPr>
            <a:spLocks noGrp="1" noChangeArrowheads="1"/>
          </p:cNvSpPr>
          <p:nvPr>
            <p:ph type="title"/>
          </p:nvPr>
        </p:nvSpPr>
        <p:spPr/>
        <p:txBody>
          <a:bodyPr/>
          <a:lstStyle/>
          <a:p>
            <a:pPr eaLnBrk="1" hangingPunct="1"/>
            <a:r>
              <a:rPr lang="en-US" altLang="en-US" dirty="0" smtClean="0"/>
              <a:t>Chapter </a:t>
            </a:r>
            <a:r>
              <a:rPr lang="en-US" altLang="en-US" dirty="0"/>
              <a:t>9</a:t>
            </a:r>
            <a:r>
              <a:rPr lang="en-US" altLang="en-US" dirty="0" smtClean="0"/>
              <a:t> Topics</a:t>
            </a:r>
          </a:p>
        </p:txBody>
      </p:sp>
      <p:sp>
        <p:nvSpPr>
          <p:cNvPr id="7173" name="Rectangle 3"/>
          <p:cNvSpPr>
            <a:spLocks noGrp="1" noChangeArrowheads="1"/>
          </p:cNvSpPr>
          <p:nvPr>
            <p:ph type="body" idx="1"/>
          </p:nvPr>
        </p:nvSpPr>
        <p:spPr/>
        <p:txBody>
          <a:bodyPr/>
          <a:lstStyle/>
          <a:p>
            <a:pPr eaLnBrk="1" hangingPunct="1"/>
            <a:r>
              <a:rPr lang="en-US" altLang="en-US" dirty="0" smtClean="0"/>
              <a:t>Introduction</a:t>
            </a:r>
          </a:p>
          <a:p>
            <a:pPr eaLnBrk="1" hangingPunct="1"/>
            <a:r>
              <a:rPr lang="en-US" altLang="en-US" dirty="0" smtClean="0"/>
              <a:t>Fundamentals of Subprograms</a:t>
            </a:r>
          </a:p>
          <a:p>
            <a:pPr eaLnBrk="1" hangingPunct="1"/>
            <a:r>
              <a:rPr lang="en-US" altLang="en-US" dirty="0" smtClean="0"/>
              <a:t>Design Issues for Subprograms</a:t>
            </a:r>
          </a:p>
          <a:p>
            <a:pPr eaLnBrk="1" hangingPunct="1"/>
            <a:r>
              <a:rPr lang="en-US" altLang="en-US" dirty="0" smtClean="0"/>
              <a:t>Local Referencing Environments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24942816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0C7F854-97C5-42B6-97E9-CB3CF7AC08EB}"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8196" name="Rectangle 2"/>
          <p:cNvSpPr>
            <a:spLocks noGrp="1" noChangeArrowheads="1"/>
          </p:cNvSpPr>
          <p:nvPr>
            <p:ph type="title"/>
          </p:nvPr>
        </p:nvSpPr>
        <p:spPr/>
        <p:txBody>
          <a:bodyPr/>
          <a:lstStyle/>
          <a:p>
            <a:pPr eaLnBrk="1" hangingPunct="1"/>
            <a:r>
              <a:rPr lang="en-US" altLang="en-US" smtClean="0"/>
              <a:t>Introduction</a:t>
            </a:r>
          </a:p>
        </p:txBody>
      </p:sp>
      <p:sp>
        <p:nvSpPr>
          <p:cNvPr id="8197" name="Rectangle 3"/>
          <p:cNvSpPr>
            <a:spLocks noGrp="1" noChangeArrowheads="1"/>
          </p:cNvSpPr>
          <p:nvPr>
            <p:ph type="body" idx="1"/>
          </p:nvPr>
        </p:nvSpPr>
        <p:spPr/>
        <p:txBody>
          <a:bodyPr/>
          <a:lstStyle/>
          <a:p>
            <a:pPr eaLnBrk="1" hangingPunct="1"/>
            <a:r>
              <a:rPr lang="en-US" altLang="en-US" dirty="0" smtClean="0"/>
              <a:t>Two fundamental abstraction facilities</a:t>
            </a:r>
          </a:p>
          <a:p>
            <a:pPr lvl="1" eaLnBrk="1" hangingPunct="1"/>
            <a:r>
              <a:rPr lang="en-US" altLang="en-US" dirty="0" smtClean="0"/>
              <a:t>Process abstraction </a:t>
            </a:r>
          </a:p>
          <a:p>
            <a:pPr lvl="2" eaLnBrk="1" hangingPunct="1"/>
            <a:r>
              <a:rPr lang="en-US" altLang="en-US" dirty="0" smtClean="0"/>
              <a:t>Emphasized from the early days of programming</a:t>
            </a:r>
          </a:p>
          <a:p>
            <a:pPr lvl="2" eaLnBrk="1" hangingPunct="1"/>
            <a:r>
              <a:rPr lang="en-US" altLang="en-US" dirty="0" smtClean="0"/>
              <a:t>Discussed in this chapter</a:t>
            </a:r>
          </a:p>
          <a:p>
            <a:pPr lvl="1" eaLnBrk="1" hangingPunct="1"/>
            <a:r>
              <a:rPr lang="en-US" altLang="en-US" dirty="0" smtClean="0"/>
              <a:t>Data abstraction</a:t>
            </a:r>
          </a:p>
          <a:p>
            <a:pPr lvl="2" eaLnBrk="1" hangingPunct="1"/>
            <a:r>
              <a:rPr lang="en-US" altLang="en-US" dirty="0" smtClean="0"/>
              <a:t>Emphasized in the1980s</a:t>
            </a:r>
          </a:p>
          <a:p>
            <a:pPr lvl="2" eaLnBrk="1" hangingPunct="1"/>
            <a:r>
              <a:rPr lang="en-US" altLang="en-US" dirty="0" smtClean="0"/>
              <a:t>Through ADTs and OOP</a:t>
            </a:r>
          </a:p>
          <a:p>
            <a:pPr lvl="2" eaLnBrk="1" hangingPunct="1"/>
            <a:r>
              <a:rPr lang="en-US" altLang="en-US" dirty="0" smtClean="0"/>
              <a:t>Discussed at length in Chapter </a:t>
            </a:r>
            <a:r>
              <a:rPr lang="en-US" altLang="en-US" dirty="0" smtClean="0"/>
              <a:t>12</a:t>
            </a:r>
            <a:endParaRPr lang="en-US" altLang="en-US"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6288565-FF9A-4305-A7D7-904D4E1AA233}"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10244" name="Rectangle 2"/>
          <p:cNvSpPr>
            <a:spLocks noGrp="1" noChangeArrowheads="1"/>
          </p:cNvSpPr>
          <p:nvPr>
            <p:ph type="title"/>
          </p:nvPr>
        </p:nvSpPr>
        <p:spPr/>
        <p:txBody>
          <a:bodyPr/>
          <a:lstStyle/>
          <a:p>
            <a:pPr eaLnBrk="1" hangingPunct="1"/>
            <a:r>
              <a:rPr lang="en-US" altLang="en-US" smtClean="0"/>
              <a:t>Fundamentals of Subprograms</a:t>
            </a:r>
          </a:p>
        </p:txBody>
      </p:sp>
      <p:sp>
        <p:nvSpPr>
          <p:cNvPr id="10245" name="Rectangle 3"/>
          <p:cNvSpPr>
            <a:spLocks noGrp="1" noChangeArrowheads="1"/>
          </p:cNvSpPr>
          <p:nvPr>
            <p:ph type="body" idx="1"/>
          </p:nvPr>
        </p:nvSpPr>
        <p:spPr/>
        <p:txBody>
          <a:bodyPr/>
          <a:lstStyle/>
          <a:p>
            <a:pPr eaLnBrk="1" hangingPunct="1"/>
            <a:r>
              <a:rPr lang="en-US" altLang="en-US" dirty="0" smtClean="0"/>
              <a:t>Each subprogram has a single entry point</a:t>
            </a:r>
          </a:p>
          <a:p>
            <a:pPr eaLnBrk="1" hangingPunct="1"/>
            <a:r>
              <a:rPr lang="en-US" altLang="en-US" dirty="0" smtClean="0"/>
              <a:t>During execution of the called subprogram</a:t>
            </a:r>
          </a:p>
          <a:p>
            <a:pPr lvl="1" eaLnBrk="1" hangingPunct="1"/>
            <a:r>
              <a:rPr lang="en-US" altLang="en-US" dirty="0" smtClean="0"/>
              <a:t>The calling program is suspended</a:t>
            </a:r>
          </a:p>
          <a:p>
            <a:pPr eaLnBrk="1" hangingPunct="1"/>
            <a:r>
              <a:rPr lang="en-US" altLang="en-US" dirty="0" smtClean="0"/>
              <a:t>When called subprogram execution ends</a:t>
            </a:r>
          </a:p>
          <a:p>
            <a:pPr lvl="1" eaLnBrk="1" hangingPunct="1"/>
            <a:r>
              <a:rPr lang="en-US" altLang="en-US" dirty="0" smtClean="0"/>
              <a:t>Control always returns to the caller</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9756E41-86A9-40D6-B3DE-DBB74626C4F4}"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12292" name="Rectangle 2"/>
          <p:cNvSpPr>
            <a:spLocks noGrp="1" noChangeArrowheads="1"/>
          </p:cNvSpPr>
          <p:nvPr>
            <p:ph type="title"/>
          </p:nvPr>
        </p:nvSpPr>
        <p:spPr/>
        <p:txBody>
          <a:bodyPr/>
          <a:lstStyle/>
          <a:p>
            <a:pPr eaLnBrk="1" hangingPunct="1"/>
            <a:r>
              <a:rPr lang="en-US" altLang="en-US" smtClean="0"/>
              <a:t>Basic Definitions</a:t>
            </a:r>
          </a:p>
        </p:txBody>
      </p:sp>
      <p:sp>
        <p:nvSpPr>
          <p:cNvPr id="12293" name="Rectangle 3"/>
          <p:cNvSpPr>
            <a:spLocks noGrp="1" noChangeArrowheads="1"/>
          </p:cNvSpPr>
          <p:nvPr>
            <p:ph type="body" idx="1"/>
          </p:nvPr>
        </p:nvSpPr>
        <p:spPr>
          <a:xfrm>
            <a:off x="609600" y="1665890"/>
            <a:ext cx="8153400" cy="4572000"/>
          </a:xfrm>
        </p:spPr>
        <p:txBody>
          <a:bodyPr/>
          <a:lstStyle/>
          <a:p>
            <a:pPr eaLnBrk="1" hangingPunct="1">
              <a:lnSpc>
                <a:spcPct val="80000"/>
              </a:lnSpc>
            </a:pPr>
            <a:r>
              <a:rPr lang="en-US" altLang="en-US" dirty="0" smtClean="0"/>
              <a:t>Subprogram </a:t>
            </a:r>
            <a:r>
              <a:rPr lang="en-US" altLang="en-US" u="sng" dirty="0" smtClean="0"/>
              <a:t>definition</a:t>
            </a:r>
            <a:endParaRPr lang="en-US" altLang="en-US" dirty="0" smtClean="0"/>
          </a:p>
          <a:p>
            <a:pPr lvl="1" eaLnBrk="1" hangingPunct="1">
              <a:lnSpc>
                <a:spcPct val="80000"/>
              </a:lnSpc>
            </a:pPr>
            <a:r>
              <a:rPr lang="en-US" altLang="en-US" dirty="0" smtClean="0"/>
              <a:t>Defines </a:t>
            </a:r>
            <a:r>
              <a:rPr lang="en-US" altLang="en-US" u="sng" dirty="0" smtClean="0"/>
              <a:t>interface</a:t>
            </a:r>
            <a:r>
              <a:rPr lang="en-US" altLang="en-US" dirty="0" smtClean="0"/>
              <a:t> and </a:t>
            </a:r>
            <a:r>
              <a:rPr lang="en-US" altLang="en-US" u="sng" dirty="0" smtClean="0"/>
              <a:t>actions</a:t>
            </a:r>
            <a:r>
              <a:rPr lang="en-US" altLang="en-US" dirty="0" smtClean="0"/>
              <a:t> of a subprogram</a:t>
            </a:r>
          </a:p>
          <a:p>
            <a:pPr lvl="1" eaLnBrk="1" hangingPunct="1">
              <a:lnSpc>
                <a:spcPct val="80000"/>
              </a:lnSpc>
            </a:pPr>
            <a:r>
              <a:rPr lang="en-US" altLang="en-US" dirty="0" smtClean="0"/>
              <a:t>Interface specifies</a:t>
            </a:r>
          </a:p>
          <a:p>
            <a:pPr lvl="2" eaLnBrk="1" hangingPunct="1">
              <a:lnSpc>
                <a:spcPct val="80000"/>
              </a:lnSpc>
            </a:pPr>
            <a:r>
              <a:rPr lang="en-US" altLang="en-US" dirty="0" smtClean="0"/>
              <a:t>How the subprogram is used</a:t>
            </a:r>
          </a:p>
          <a:p>
            <a:pPr lvl="2" eaLnBrk="1" hangingPunct="1">
              <a:lnSpc>
                <a:spcPct val="80000"/>
              </a:lnSpc>
            </a:pPr>
            <a:r>
              <a:rPr lang="en-US" altLang="en-US" dirty="0"/>
              <a:t>D</a:t>
            </a:r>
            <a:r>
              <a:rPr lang="en-US" altLang="en-US" dirty="0" smtClean="0"/>
              <a:t>etails like subprogram name, parameter types, </a:t>
            </a:r>
            <a:r>
              <a:rPr lang="en-US" altLang="en-US" dirty="0" err="1" smtClean="0"/>
              <a:t>etc</a:t>
            </a:r>
            <a:endParaRPr lang="en-US" altLang="en-US" dirty="0" smtClean="0"/>
          </a:p>
          <a:p>
            <a:pPr lvl="1" eaLnBrk="1" hangingPunct="1">
              <a:lnSpc>
                <a:spcPct val="80000"/>
              </a:lnSpc>
            </a:pPr>
            <a:r>
              <a:rPr lang="en-US" altLang="en-US" dirty="0" smtClean="0"/>
              <a:t>Actions</a:t>
            </a:r>
          </a:p>
          <a:p>
            <a:pPr lvl="2" eaLnBrk="1" hangingPunct="1">
              <a:lnSpc>
                <a:spcPct val="80000"/>
              </a:lnSpc>
            </a:pPr>
            <a:r>
              <a:rPr lang="en-US" altLang="en-US" dirty="0" smtClean="0"/>
              <a:t>Specify what the subprogram does</a:t>
            </a:r>
          </a:p>
          <a:p>
            <a:pPr lvl="2" eaLnBrk="1" hangingPunct="1">
              <a:lnSpc>
                <a:spcPct val="80000"/>
              </a:lnSpc>
            </a:pPr>
            <a:r>
              <a:rPr lang="en-US" altLang="en-US" dirty="0" smtClean="0"/>
              <a:t>In other words, the body of the subprogram</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6C1A318-1A5B-425F-A7F2-EAE5CF39DEBE}"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14340" name="Rectangle 2"/>
          <p:cNvSpPr>
            <a:spLocks noGrp="1" noChangeArrowheads="1"/>
          </p:cNvSpPr>
          <p:nvPr>
            <p:ph type="title"/>
          </p:nvPr>
        </p:nvSpPr>
        <p:spPr/>
        <p:txBody>
          <a:bodyPr/>
          <a:lstStyle/>
          <a:p>
            <a:pPr eaLnBrk="1" hangingPunct="1"/>
            <a:r>
              <a:rPr lang="en-US" altLang="en-US" smtClean="0"/>
              <a:t>Basic Definitions</a:t>
            </a:r>
          </a:p>
        </p:txBody>
      </p:sp>
      <p:sp>
        <p:nvSpPr>
          <p:cNvPr id="7173" name="Rectangle 3"/>
          <p:cNvSpPr>
            <a:spLocks noGrp="1" noChangeArrowheads="1"/>
          </p:cNvSpPr>
          <p:nvPr>
            <p:ph type="body" idx="1"/>
          </p:nvPr>
        </p:nvSpPr>
        <p:spPr>
          <a:xfrm>
            <a:off x="609600" y="1665890"/>
            <a:ext cx="8153400" cy="4572000"/>
          </a:xfrm>
        </p:spPr>
        <p:txBody>
          <a:bodyPr/>
          <a:lstStyle/>
          <a:p>
            <a:pPr eaLnBrk="1" hangingPunct="1">
              <a:lnSpc>
                <a:spcPct val="80000"/>
              </a:lnSpc>
              <a:defRPr/>
            </a:pPr>
            <a:r>
              <a:rPr lang="en-US" altLang="en-US" dirty="0" smtClean="0"/>
              <a:t>Subprogram </a:t>
            </a:r>
            <a:r>
              <a:rPr lang="en-US" altLang="en-US" u="sng" dirty="0" smtClean="0"/>
              <a:t>definition</a:t>
            </a:r>
            <a:endParaRPr lang="en-US" altLang="en-US" dirty="0" smtClean="0"/>
          </a:p>
          <a:p>
            <a:pPr lvl="1" eaLnBrk="1" hangingPunct="1">
              <a:lnSpc>
                <a:spcPct val="80000"/>
              </a:lnSpc>
              <a:defRPr/>
            </a:pPr>
            <a:r>
              <a:rPr lang="en-US" altLang="en-US" dirty="0" smtClean="0"/>
              <a:t>In Python</a:t>
            </a:r>
          </a:p>
          <a:p>
            <a:pPr lvl="2" eaLnBrk="1" hangingPunct="1">
              <a:lnSpc>
                <a:spcPct val="80000"/>
              </a:lnSpc>
              <a:defRPr/>
            </a:pPr>
            <a:r>
              <a:rPr lang="en-US" altLang="en-US" dirty="0"/>
              <a:t>S</a:t>
            </a:r>
            <a:r>
              <a:rPr lang="en-US" altLang="en-US" dirty="0" smtClean="0"/>
              <a:t>ubprogram definitions are executable</a:t>
            </a:r>
          </a:p>
          <a:p>
            <a:pPr lvl="1" eaLnBrk="1" hangingPunct="1">
              <a:lnSpc>
                <a:spcPct val="80000"/>
              </a:lnSpc>
              <a:buFontTx/>
              <a:buNone/>
              <a:defRPr/>
            </a:pPr>
            <a:endParaRPr lang="en-US" altLang="en-US" sz="600" dirty="0" smtClean="0">
              <a:latin typeface="Courier New" panose="02070309020205020404" pitchFamily="49" charset="0"/>
            </a:endParaRPr>
          </a:p>
          <a:p>
            <a:pPr lvl="1" eaLnBrk="1" hangingPunct="1">
              <a:lnSpc>
                <a:spcPct val="80000"/>
              </a:lnSpc>
              <a:buFontTx/>
              <a:buNone/>
              <a:defRPr/>
            </a:pPr>
            <a:r>
              <a:rPr lang="en-US" altLang="en-US" sz="2100" dirty="0" smtClean="0">
                <a:latin typeface="Courier New" panose="02070309020205020404" pitchFamily="49" charset="0"/>
              </a:rPr>
              <a:t>	    </a:t>
            </a:r>
            <a:r>
              <a:rPr lang="en-US" altLang="en-US" sz="2100" b="1" dirty="0" smtClean="0">
                <a:latin typeface="Courier New" panose="02070309020205020404" pitchFamily="49" charset="0"/>
              </a:rPr>
              <a:t>if</a:t>
            </a:r>
            <a:r>
              <a:rPr lang="en-US" altLang="en-US" sz="2100" dirty="0" smtClean="0">
                <a:latin typeface="Courier New" panose="02070309020205020404" pitchFamily="49" charset="0"/>
              </a:rPr>
              <a:t> ...</a:t>
            </a:r>
          </a:p>
          <a:p>
            <a:pPr lvl="1" eaLnBrk="1" hangingPunct="1">
              <a:lnSpc>
                <a:spcPct val="80000"/>
              </a:lnSpc>
              <a:buFontTx/>
              <a:buNone/>
              <a:defRPr/>
            </a:pPr>
            <a:r>
              <a:rPr lang="en-US" altLang="en-US" sz="2100" dirty="0" smtClean="0">
                <a:latin typeface="Courier New" panose="02070309020205020404" pitchFamily="49" charset="0"/>
              </a:rPr>
              <a:t>	       </a:t>
            </a:r>
            <a:r>
              <a:rPr lang="en-US" altLang="en-US" sz="2100" b="1" dirty="0" err="1" smtClean="0">
                <a:latin typeface="Courier New" panose="02070309020205020404" pitchFamily="49" charset="0"/>
              </a:rPr>
              <a:t>def</a:t>
            </a:r>
            <a:r>
              <a:rPr lang="en-US" altLang="en-US" sz="2100" dirty="0" smtClean="0">
                <a:latin typeface="Courier New" panose="02070309020205020404" pitchFamily="49" charset="0"/>
              </a:rPr>
              <a:t> fun():</a:t>
            </a:r>
          </a:p>
          <a:p>
            <a:pPr lvl="1" eaLnBrk="1" hangingPunct="1">
              <a:lnSpc>
                <a:spcPct val="80000"/>
              </a:lnSpc>
              <a:buFontTx/>
              <a:buNone/>
              <a:defRPr/>
            </a:pPr>
            <a:r>
              <a:rPr lang="en-US" altLang="en-US" sz="2100" dirty="0" smtClean="0">
                <a:latin typeface="Courier New" panose="02070309020205020404" pitchFamily="49" charset="0"/>
              </a:rPr>
              <a:t>	       ...</a:t>
            </a:r>
          </a:p>
          <a:p>
            <a:pPr lvl="1" eaLnBrk="1" hangingPunct="1">
              <a:lnSpc>
                <a:spcPct val="80000"/>
              </a:lnSpc>
              <a:buFontTx/>
              <a:buNone/>
              <a:defRPr/>
            </a:pPr>
            <a:r>
              <a:rPr lang="en-US" altLang="en-US" sz="2100" dirty="0" smtClean="0">
                <a:latin typeface="Courier New" panose="02070309020205020404" pitchFamily="49" charset="0"/>
              </a:rPr>
              <a:t>	    </a:t>
            </a:r>
            <a:r>
              <a:rPr lang="en-US" altLang="en-US" sz="2100" b="1" dirty="0" smtClean="0">
                <a:latin typeface="Courier New" panose="02070309020205020404" pitchFamily="49" charset="0"/>
              </a:rPr>
              <a:t>else</a:t>
            </a:r>
          </a:p>
          <a:p>
            <a:pPr lvl="1" eaLnBrk="1" hangingPunct="1">
              <a:lnSpc>
                <a:spcPct val="80000"/>
              </a:lnSpc>
              <a:buFontTx/>
              <a:buNone/>
              <a:defRPr/>
            </a:pPr>
            <a:r>
              <a:rPr lang="en-US" altLang="en-US" sz="2100" dirty="0" smtClean="0">
                <a:latin typeface="Courier New" panose="02070309020205020404" pitchFamily="49" charset="0"/>
              </a:rPr>
              <a:t>	       </a:t>
            </a:r>
            <a:r>
              <a:rPr lang="en-US" altLang="en-US" sz="2100" b="1" dirty="0" err="1" smtClean="0">
                <a:latin typeface="Courier New" panose="02070309020205020404" pitchFamily="49" charset="0"/>
              </a:rPr>
              <a:t>def</a:t>
            </a:r>
            <a:r>
              <a:rPr lang="en-US" altLang="en-US" sz="2100" dirty="0" smtClean="0">
                <a:latin typeface="Courier New" panose="02070309020205020404" pitchFamily="49" charset="0"/>
              </a:rPr>
              <a:t> fun():</a:t>
            </a:r>
          </a:p>
          <a:p>
            <a:pPr lvl="1" eaLnBrk="1" hangingPunct="1">
              <a:lnSpc>
                <a:spcPct val="80000"/>
              </a:lnSpc>
              <a:buFontTx/>
              <a:buNone/>
              <a:defRPr/>
            </a:pPr>
            <a:r>
              <a:rPr lang="en-US" altLang="en-US" sz="2100" dirty="0" smtClean="0">
                <a:latin typeface="Courier New" panose="02070309020205020404" pitchFamily="49" charset="0"/>
              </a:rPr>
              <a:t>	       ...</a:t>
            </a:r>
          </a:p>
          <a:p>
            <a:pPr lvl="1" eaLnBrk="1" hangingPunct="1">
              <a:lnSpc>
                <a:spcPct val="80000"/>
              </a:lnSpc>
              <a:buFontTx/>
              <a:buNone/>
              <a:defRPr/>
            </a:pPr>
            <a:endParaRPr lang="en-US" altLang="en-US" sz="600" dirty="0" smtClean="0"/>
          </a:p>
          <a:p>
            <a:pPr lvl="2" eaLnBrk="1" hangingPunct="1">
              <a:lnSpc>
                <a:spcPct val="80000"/>
              </a:lnSpc>
              <a:defRPr/>
            </a:pPr>
            <a:r>
              <a:rPr lang="en-US" altLang="en-US" dirty="0" smtClean="0"/>
              <a:t>So we can have different definitions for </a:t>
            </a:r>
            <a:r>
              <a:rPr lang="en-US" altLang="en-US" dirty="0" smtClean="0">
                <a:latin typeface="Courier New" panose="02070309020205020404" pitchFamily="49" charset="0"/>
                <a:cs typeface="Courier New" panose="02070309020205020404" pitchFamily="49" charset="0"/>
              </a:rPr>
              <a:t>fun</a:t>
            </a:r>
          </a:p>
          <a:p>
            <a:pPr lvl="2" eaLnBrk="1" hangingPunct="1">
              <a:lnSpc>
                <a:spcPct val="80000"/>
              </a:lnSpc>
              <a:defRPr/>
            </a:pPr>
            <a:r>
              <a:rPr lang="en-US" altLang="en-US" dirty="0" smtClean="0"/>
              <a:t>It all depends on the outcome of the </a:t>
            </a:r>
            <a:r>
              <a:rPr lang="en-US" altLang="en-US" dirty="0" smtClean="0">
                <a:latin typeface="Courier New" panose="02070309020205020404" pitchFamily="49" charset="0"/>
                <a:cs typeface="Courier New" panose="02070309020205020404" pitchFamily="49" charset="0"/>
              </a:rPr>
              <a:t>if</a:t>
            </a:r>
          </a:p>
          <a:p>
            <a:pPr lvl="2" eaLnBrk="1" hangingPunct="1">
              <a:lnSpc>
                <a:spcPct val="80000"/>
              </a:lnSpc>
              <a:defRPr/>
            </a:pPr>
            <a:r>
              <a:rPr lang="en-US" altLang="en-US" dirty="0" smtClean="0">
                <a:latin typeface="+mj-lt"/>
                <a:cs typeface="Courier New" panose="02070309020205020404" pitchFamily="49" charset="0"/>
              </a:rPr>
              <a:t>Effect on the language evaluation criteria?</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9329B21-0E26-4534-A6E1-432DC10CC225}"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16388" name="Rectangle 2"/>
          <p:cNvSpPr>
            <a:spLocks noGrp="1" noChangeArrowheads="1"/>
          </p:cNvSpPr>
          <p:nvPr>
            <p:ph type="title"/>
          </p:nvPr>
        </p:nvSpPr>
        <p:spPr/>
        <p:txBody>
          <a:bodyPr/>
          <a:lstStyle/>
          <a:p>
            <a:pPr eaLnBrk="1" hangingPunct="1"/>
            <a:r>
              <a:rPr lang="en-US" altLang="en-US" smtClean="0"/>
              <a:t>Basic Definitions</a:t>
            </a:r>
          </a:p>
        </p:txBody>
      </p:sp>
      <p:sp>
        <p:nvSpPr>
          <p:cNvPr id="7173" name="Rectangle 3"/>
          <p:cNvSpPr>
            <a:spLocks noGrp="1" noChangeArrowheads="1"/>
          </p:cNvSpPr>
          <p:nvPr>
            <p:ph type="body" idx="1"/>
          </p:nvPr>
        </p:nvSpPr>
        <p:spPr>
          <a:xfrm>
            <a:off x="609600" y="1665890"/>
            <a:ext cx="8077200" cy="4572000"/>
          </a:xfrm>
        </p:spPr>
        <p:txBody>
          <a:bodyPr/>
          <a:lstStyle/>
          <a:p>
            <a:pPr eaLnBrk="1" hangingPunct="1">
              <a:lnSpc>
                <a:spcPct val="80000"/>
              </a:lnSpc>
              <a:defRPr/>
            </a:pPr>
            <a:r>
              <a:rPr lang="en-US" altLang="en-US" dirty="0" smtClean="0"/>
              <a:t>Subprogram </a:t>
            </a:r>
            <a:r>
              <a:rPr lang="en-US" altLang="en-US" u="sng" dirty="0" smtClean="0"/>
              <a:t>definition</a:t>
            </a:r>
            <a:endParaRPr lang="en-US" altLang="en-US" dirty="0" smtClean="0"/>
          </a:p>
          <a:p>
            <a:pPr lvl="1" eaLnBrk="1" hangingPunct="1">
              <a:lnSpc>
                <a:spcPct val="80000"/>
              </a:lnSpc>
              <a:defRPr/>
            </a:pPr>
            <a:r>
              <a:rPr lang="en-US" altLang="en-US" dirty="0" smtClean="0"/>
              <a:t>In Ruby</a:t>
            </a:r>
          </a:p>
          <a:p>
            <a:pPr lvl="2" eaLnBrk="1" hangingPunct="1">
              <a:lnSpc>
                <a:spcPct val="80000"/>
              </a:lnSpc>
              <a:defRPr/>
            </a:pPr>
            <a:r>
              <a:rPr lang="en-US" altLang="en-US" dirty="0" smtClean="0"/>
              <a:t>Function definitions in a class definition</a:t>
            </a:r>
          </a:p>
          <a:p>
            <a:pPr lvl="3" eaLnBrk="1" hangingPunct="1">
              <a:lnSpc>
                <a:spcPct val="80000"/>
              </a:lnSpc>
              <a:defRPr/>
            </a:pPr>
            <a:r>
              <a:rPr lang="en-US" altLang="en-US" dirty="0" smtClean="0"/>
              <a:t>Members of the class</a:t>
            </a:r>
          </a:p>
          <a:p>
            <a:pPr lvl="2" eaLnBrk="1" hangingPunct="1">
              <a:lnSpc>
                <a:spcPct val="80000"/>
              </a:lnSpc>
              <a:defRPr/>
            </a:pPr>
            <a:r>
              <a:rPr lang="en-US" altLang="en-US" dirty="0" smtClean="0"/>
              <a:t>Function definitions outside a class definition</a:t>
            </a:r>
          </a:p>
          <a:p>
            <a:pPr lvl="3" eaLnBrk="1" hangingPunct="1">
              <a:lnSpc>
                <a:spcPct val="80000"/>
              </a:lnSpc>
              <a:defRPr/>
            </a:pPr>
            <a:r>
              <a:rPr lang="en-US" altLang="en-US" dirty="0" smtClean="0"/>
              <a:t>Actually m</a:t>
            </a:r>
            <a:r>
              <a:rPr lang="en-US" altLang="en-US" dirty="0" smtClean="0"/>
              <a:t>ethods of class </a:t>
            </a:r>
            <a:r>
              <a:rPr lang="en-US" altLang="en-US" dirty="0" smtClean="0">
                <a:latin typeface="Courier New" panose="02070309020205020404" pitchFamily="49" charset="0"/>
                <a:cs typeface="Courier New" panose="02070309020205020404" pitchFamily="49" charset="0"/>
              </a:rPr>
              <a:t>Object</a:t>
            </a:r>
            <a:endParaRPr lang="en-US" altLang="en-US" dirty="0"/>
          </a:p>
          <a:p>
            <a:pPr lvl="3" eaLnBrk="1" hangingPunct="1">
              <a:lnSpc>
                <a:spcPct val="80000"/>
              </a:lnSpc>
              <a:defRPr/>
            </a:pPr>
            <a:r>
              <a:rPr lang="en-US" altLang="en-US" dirty="0" smtClean="0"/>
              <a:t>But can be called without an </a:t>
            </a:r>
            <a:r>
              <a:rPr lang="en-US" altLang="en-US" dirty="0" smtClean="0"/>
              <a:t>object</a:t>
            </a:r>
          </a:p>
          <a:p>
            <a:pPr lvl="3" eaLnBrk="1" hangingPunct="1">
              <a:lnSpc>
                <a:spcPct val="80000"/>
              </a:lnSpc>
              <a:defRPr/>
            </a:pPr>
            <a:r>
              <a:rPr lang="en-US" altLang="en-US" dirty="0" smtClean="0"/>
              <a:t>Therefore, they look like </a:t>
            </a:r>
            <a:r>
              <a:rPr lang="en-US" altLang="en-US" dirty="0" smtClean="0"/>
              <a:t>a </a:t>
            </a:r>
            <a:r>
              <a:rPr lang="en-US" altLang="en-US" dirty="0" smtClean="0"/>
              <a:t>C</a:t>
            </a:r>
            <a:r>
              <a:rPr lang="en-US" altLang="en-US" dirty="0"/>
              <a:t> </a:t>
            </a:r>
            <a:r>
              <a:rPr lang="en-US" altLang="en-US" dirty="0" smtClean="0"/>
              <a:t>function, but are not</a:t>
            </a:r>
            <a:endParaRPr lang="en-US" altLang="en-US" dirty="0"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mtClean="0"/>
              <a:t>Basic Definitions</a:t>
            </a:r>
            <a:endParaRPr lang="en-ZA" altLang="en-US" smtClean="0"/>
          </a:p>
        </p:txBody>
      </p:sp>
      <p:sp>
        <p:nvSpPr>
          <p:cNvPr id="14339" name="Content Placeholder 2"/>
          <p:cNvSpPr>
            <a:spLocks noGrp="1"/>
          </p:cNvSpPr>
          <p:nvPr>
            <p:ph idx="1"/>
          </p:nvPr>
        </p:nvSpPr>
        <p:spPr>
          <a:xfrm>
            <a:off x="609600" y="1665890"/>
            <a:ext cx="8153400" cy="4572000"/>
          </a:xfrm>
        </p:spPr>
        <p:txBody>
          <a:bodyPr/>
          <a:lstStyle/>
          <a:p>
            <a:pPr eaLnBrk="1" hangingPunct="1">
              <a:lnSpc>
                <a:spcPct val="80000"/>
              </a:lnSpc>
              <a:defRPr/>
            </a:pPr>
            <a:r>
              <a:rPr lang="en-US" altLang="en-US" dirty="0" smtClean="0"/>
              <a:t>Subprogram </a:t>
            </a:r>
            <a:r>
              <a:rPr lang="en-US" altLang="en-US" u="sng" dirty="0" smtClean="0"/>
              <a:t>header</a:t>
            </a:r>
            <a:endParaRPr lang="en-US" altLang="en-US" dirty="0" smtClean="0"/>
          </a:p>
          <a:p>
            <a:pPr lvl="1" eaLnBrk="1" hangingPunct="1">
              <a:lnSpc>
                <a:spcPct val="80000"/>
              </a:lnSpc>
              <a:defRPr/>
            </a:pPr>
            <a:r>
              <a:rPr lang="en-US" altLang="en-US" dirty="0" smtClean="0"/>
              <a:t>First part of the subprogram definition</a:t>
            </a:r>
          </a:p>
          <a:p>
            <a:pPr lvl="1" eaLnBrk="1" hangingPunct="1">
              <a:lnSpc>
                <a:spcPct val="80000"/>
              </a:lnSpc>
              <a:defRPr/>
            </a:pPr>
            <a:r>
              <a:rPr lang="en-US" altLang="en-US" dirty="0" smtClean="0"/>
              <a:t>Name, kind of subprogram, formal parameters</a:t>
            </a:r>
          </a:p>
          <a:p>
            <a:pPr eaLnBrk="1" hangingPunct="1">
              <a:lnSpc>
                <a:spcPct val="80000"/>
              </a:lnSpc>
              <a:defRPr/>
            </a:pPr>
            <a:r>
              <a:rPr lang="en-US" altLang="en-US" dirty="0"/>
              <a:t>Subprogram </a:t>
            </a:r>
            <a:r>
              <a:rPr lang="en-US" altLang="en-US" u="sng" dirty="0"/>
              <a:t>call</a:t>
            </a:r>
            <a:endParaRPr lang="en-US" altLang="en-US" dirty="0"/>
          </a:p>
          <a:p>
            <a:pPr lvl="1" eaLnBrk="1" hangingPunct="1">
              <a:lnSpc>
                <a:spcPct val="80000"/>
              </a:lnSpc>
              <a:defRPr/>
            </a:pPr>
            <a:r>
              <a:rPr lang="en-US" altLang="en-US" dirty="0"/>
              <a:t>Explicit subprogram execution request</a:t>
            </a:r>
          </a:p>
          <a:p>
            <a:pPr eaLnBrk="1" hangingPunct="1">
              <a:lnSpc>
                <a:spcPct val="80000"/>
              </a:lnSpc>
              <a:defRPr/>
            </a:pPr>
            <a:r>
              <a:rPr lang="en-US" altLang="en-US" dirty="0" smtClean="0"/>
              <a:t>For example</a:t>
            </a:r>
            <a:endParaRPr lang="en-US" altLang="en-US" sz="2400" dirty="0" smtClean="0"/>
          </a:p>
          <a:p>
            <a:pPr marL="0" indent="0" eaLnBrk="1" hangingPunct="1">
              <a:lnSpc>
                <a:spcPct val="80000"/>
              </a:lnSpc>
              <a:buFontTx/>
              <a:buNone/>
              <a:defRPr/>
            </a:pPr>
            <a:endParaRPr lang="en-US" altLang="en-US" sz="1800" dirty="0" smtClean="0">
              <a:latin typeface="Courier New" panose="02070309020205020404" pitchFamily="49" charset="0"/>
              <a:cs typeface="Courier New" panose="02070309020205020404" pitchFamily="49" charset="0"/>
            </a:endParaRPr>
          </a:p>
          <a:p>
            <a:pPr marL="0" indent="0" eaLnBrk="1" hangingPunct="1">
              <a:lnSpc>
                <a:spcPct val="80000"/>
              </a:lnSpc>
              <a:buFontTx/>
              <a:buNone/>
              <a:defRPr/>
            </a:pPr>
            <a:r>
              <a:rPr lang="en-US" altLang="en-US" sz="1800" dirty="0" smtClean="0">
                <a:latin typeface="Courier New" panose="02070309020205020404" pitchFamily="49" charset="0"/>
                <a:cs typeface="Courier New" panose="02070309020205020404" pitchFamily="49" charset="0"/>
              </a:rPr>
              <a:t>	</a:t>
            </a:r>
            <a:r>
              <a:rPr lang="en-US" altLang="en-US" sz="1800" b="1" dirty="0" smtClean="0">
                <a:latin typeface="Courier New" panose="02070309020205020404" pitchFamily="49" charset="0"/>
                <a:cs typeface="Courier New" panose="02070309020205020404" pitchFamily="49" charset="0"/>
              </a:rPr>
              <a:t>void</a:t>
            </a: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doSomething</a:t>
            </a:r>
            <a:r>
              <a:rPr lang="en-US" altLang="en-US" sz="1800" dirty="0" smtClean="0">
                <a:latin typeface="Courier New" panose="02070309020205020404" pitchFamily="49" charset="0"/>
                <a:cs typeface="Courier New" panose="02070309020205020404" pitchFamily="49" charset="0"/>
              </a:rPr>
              <a:t>(</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first, </a:t>
            </a:r>
            <a:r>
              <a:rPr lang="en-US" altLang="en-US" sz="1800" b="1" dirty="0" smtClean="0">
                <a:latin typeface="Courier New" panose="02070309020205020404" pitchFamily="49" charset="0"/>
                <a:cs typeface="Courier New" panose="02070309020205020404" pitchFamily="49" charset="0"/>
              </a:rPr>
              <a:t>float</a:t>
            </a:r>
            <a:r>
              <a:rPr lang="en-US" altLang="en-US" sz="1800" dirty="0" smtClean="0">
                <a:latin typeface="Courier New" panose="02070309020205020404" pitchFamily="49" charset="0"/>
                <a:cs typeface="Courier New" panose="02070309020205020404" pitchFamily="49" charset="0"/>
              </a:rPr>
              <a:t> second)</a:t>
            </a:r>
          </a:p>
          <a:p>
            <a:pPr marL="0" indent="0" eaLnBrk="1" hangingPunct="1">
              <a:lnSpc>
                <a:spcPct val="80000"/>
              </a:lnSpc>
              <a:buFontTx/>
              <a:buNone/>
              <a:defRPr/>
            </a:pPr>
            <a:r>
              <a:rPr lang="en-US" altLang="en-US" sz="1800" dirty="0" smtClean="0">
                <a:latin typeface="Courier New" panose="02070309020205020404" pitchFamily="49" charset="0"/>
                <a:cs typeface="Courier New" panose="02070309020205020404" pitchFamily="49" charset="0"/>
              </a:rPr>
              <a:t>	{ ... }</a:t>
            </a:r>
          </a:p>
          <a:p>
            <a:pPr marL="0" indent="0" eaLnBrk="1" hangingPunct="1">
              <a:lnSpc>
                <a:spcPct val="80000"/>
              </a:lnSpc>
              <a:buFontTx/>
              <a:buNone/>
              <a:defRPr/>
            </a:pPr>
            <a:endParaRPr lang="en-US" altLang="en-US" sz="1800" dirty="0" smtClean="0">
              <a:latin typeface="Courier New" panose="02070309020205020404" pitchFamily="49" charset="0"/>
              <a:cs typeface="Courier New" panose="02070309020205020404" pitchFamily="49" charset="0"/>
            </a:endParaRPr>
          </a:p>
          <a:p>
            <a:pPr marL="0" indent="0" eaLnBrk="1" hangingPunct="1">
              <a:lnSpc>
                <a:spcPct val="80000"/>
              </a:lnSpc>
              <a:buFontTx/>
              <a:buNone/>
              <a:defRPr/>
            </a:pP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doSomething</a:t>
            </a:r>
            <a:r>
              <a:rPr lang="en-US" altLang="en-US" sz="1800" dirty="0" smtClean="0">
                <a:latin typeface="Courier New" panose="02070309020205020404" pitchFamily="49" charset="0"/>
                <a:cs typeface="Courier New" panose="02070309020205020404" pitchFamily="49" charset="0"/>
              </a:rPr>
              <a:t>(1, 23.7);</a:t>
            </a:r>
          </a:p>
          <a:p>
            <a:pPr marL="0" indent="0" eaLnBrk="1" hangingPunct="1">
              <a:lnSpc>
                <a:spcPct val="80000"/>
              </a:lnSpc>
              <a:buFontTx/>
              <a:buNone/>
              <a:defRPr/>
            </a:pPr>
            <a:endParaRPr lang="en-US" altLang="en-US" sz="2400" dirty="0" smtClean="0"/>
          </a:p>
        </p:txBody>
      </p:sp>
      <p:sp>
        <p:nvSpPr>
          <p:cNvPr id="1843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C45A221-9718-4FE0-A8D0-E6D380EE1F78}"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cxnSp>
        <p:nvCxnSpPr>
          <p:cNvPr id="18438" name="Straight Arrow Connector 2"/>
          <p:cNvCxnSpPr>
            <a:cxnSpLocks noChangeShapeType="1"/>
          </p:cNvCxnSpPr>
          <p:nvPr/>
        </p:nvCxnSpPr>
        <p:spPr bwMode="auto">
          <a:xfrm flipH="1">
            <a:off x="7315200" y="4447735"/>
            <a:ext cx="457200" cy="0"/>
          </a:xfrm>
          <a:prstGeom prst="straightConnector1">
            <a:avLst/>
          </a:prstGeom>
          <a:noFill/>
          <a:ln w="9525" algn="ctr">
            <a:solidFill>
              <a:srgbClr val="333399"/>
            </a:solidFill>
            <a:round/>
            <a:headEnd/>
            <a:tailEnd type="triangle" w="med" len="med"/>
          </a:ln>
        </p:spPr>
      </p:cxnSp>
      <p:sp>
        <p:nvSpPr>
          <p:cNvPr id="5" name="TextBox 4"/>
          <p:cNvSpPr txBox="1"/>
          <p:nvPr/>
        </p:nvSpPr>
        <p:spPr>
          <a:xfrm>
            <a:off x="7772400" y="4315973"/>
            <a:ext cx="800100" cy="261937"/>
          </a:xfrm>
          <a:prstGeom prst="rect">
            <a:avLst/>
          </a:prstGeom>
          <a:noFill/>
          <a:ln>
            <a:solidFill>
              <a:srgbClr val="333399"/>
            </a:solidFill>
          </a:ln>
        </p:spPr>
        <p:txBody>
          <a:bodyPr wrap="none" bIns="0" anchor="ctr">
            <a:spAutoFit/>
          </a:bodyPr>
          <a:lstStyle/>
          <a:p>
            <a:pPr algn="ctr">
              <a:defRPr/>
            </a:pPr>
            <a:r>
              <a:rPr lang="en-ZA" sz="1400" dirty="0">
                <a:solidFill>
                  <a:srgbClr val="333399"/>
                </a:solidFill>
                <a:latin typeface="+mj-lt"/>
              </a:rPr>
              <a:t>Header</a:t>
            </a:r>
          </a:p>
        </p:txBody>
      </p:sp>
      <p:cxnSp>
        <p:nvCxnSpPr>
          <p:cNvPr id="18446" name="Straight Arrow Connector 44"/>
          <p:cNvCxnSpPr>
            <a:cxnSpLocks noChangeShapeType="1"/>
          </p:cNvCxnSpPr>
          <p:nvPr/>
        </p:nvCxnSpPr>
        <p:spPr bwMode="auto">
          <a:xfrm flipH="1">
            <a:off x="4610100" y="5266885"/>
            <a:ext cx="457200" cy="0"/>
          </a:xfrm>
          <a:prstGeom prst="straightConnector1">
            <a:avLst/>
          </a:prstGeom>
          <a:noFill/>
          <a:ln w="9525" algn="ctr">
            <a:solidFill>
              <a:srgbClr val="333399"/>
            </a:solidFill>
            <a:round/>
            <a:headEnd/>
            <a:tailEnd type="triangle" w="med" len="med"/>
          </a:ln>
        </p:spPr>
      </p:cxnSp>
      <p:sp>
        <p:nvSpPr>
          <p:cNvPr id="46" name="TextBox 45"/>
          <p:cNvSpPr txBox="1"/>
          <p:nvPr/>
        </p:nvSpPr>
        <p:spPr>
          <a:xfrm>
            <a:off x="5073650" y="5135123"/>
            <a:ext cx="1604963" cy="261937"/>
          </a:xfrm>
          <a:prstGeom prst="rect">
            <a:avLst/>
          </a:prstGeom>
          <a:noFill/>
          <a:ln>
            <a:solidFill>
              <a:srgbClr val="333399"/>
            </a:solidFill>
          </a:ln>
        </p:spPr>
        <p:txBody>
          <a:bodyPr wrap="none" bIns="0" anchor="ctr">
            <a:spAutoFit/>
          </a:bodyPr>
          <a:lstStyle/>
          <a:p>
            <a:pPr algn="ctr">
              <a:defRPr/>
            </a:pPr>
            <a:r>
              <a:rPr lang="en-ZA" sz="1400" dirty="0">
                <a:solidFill>
                  <a:srgbClr val="333399"/>
                </a:solidFill>
                <a:latin typeface="+mj-lt"/>
              </a:rPr>
              <a:t>Subprogram call</a:t>
            </a:r>
          </a:p>
        </p:txBody>
      </p:sp>
      <p:sp>
        <p:nvSpPr>
          <p:cNvPr id="10"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mtClean="0"/>
              <a:t>Basic Definitions</a:t>
            </a:r>
            <a:endParaRPr lang="en-ZA" altLang="en-US" smtClean="0"/>
          </a:p>
        </p:txBody>
      </p:sp>
      <p:sp>
        <p:nvSpPr>
          <p:cNvPr id="14339" name="Content Placeholder 2"/>
          <p:cNvSpPr>
            <a:spLocks noGrp="1"/>
          </p:cNvSpPr>
          <p:nvPr>
            <p:ph idx="1"/>
          </p:nvPr>
        </p:nvSpPr>
        <p:spPr>
          <a:xfrm>
            <a:off x="609600" y="1665890"/>
            <a:ext cx="8153400" cy="4572000"/>
          </a:xfrm>
        </p:spPr>
        <p:txBody>
          <a:bodyPr/>
          <a:lstStyle/>
          <a:p>
            <a:pPr eaLnBrk="1" hangingPunct="1">
              <a:lnSpc>
                <a:spcPct val="80000"/>
              </a:lnSpc>
              <a:defRPr/>
            </a:pPr>
            <a:r>
              <a:rPr lang="en-US" altLang="en-US" u="sng" dirty="0" smtClean="0"/>
              <a:t>Formal parameter</a:t>
            </a:r>
          </a:p>
          <a:p>
            <a:pPr lvl="1" eaLnBrk="1" hangingPunct="1">
              <a:lnSpc>
                <a:spcPct val="80000"/>
              </a:lnSpc>
              <a:defRPr/>
            </a:pPr>
            <a:r>
              <a:rPr lang="en-US" altLang="en-US" dirty="0"/>
              <a:t>D</a:t>
            </a:r>
            <a:r>
              <a:rPr lang="en-US" altLang="en-US" dirty="0" smtClean="0"/>
              <a:t>ummy variable listed in subprogram header</a:t>
            </a:r>
          </a:p>
          <a:p>
            <a:pPr lvl="1" eaLnBrk="1" hangingPunct="1">
              <a:lnSpc>
                <a:spcPct val="80000"/>
              </a:lnSpc>
              <a:defRPr/>
            </a:pPr>
            <a:r>
              <a:rPr lang="en-US" altLang="en-US" dirty="0" smtClean="0"/>
              <a:t>They are used in the subprogram</a:t>
            </a:r>
          </a:p>
          <a:p>
            <a:pPr eaLnBrk="1" hangingPunct="1">
              <a:lnSpc>
                <a:spcPct val="80000"/>
              </a:lnSpc>
              <a:defRPr/>
            </a:pPr>
            <a:r>
              <a:rPr lang="en-US" altLang="en-US" u="sng" dirty="0" smtClean="0"/>
              <a:t>Actual parameter</a:t>
            </a:r>
          </a:p>
          <a:p>
            <a:pPr lvl="1" eaLnBrk="1" hangingPunct="1">
              <a:lnSpc>
                <a:spcPct val="80000"/>
              </a:lnSpc>
              <a:defRPr/>
            </a:pPr>
            <a:r>
              <a:rPr lang="en-US" altLang="en-US" dirty="0" smtClean="0"/>
              <a:t>Value or address used in the subprogram call</a:t>
            </a:r>
          </a:p>
          <a:p>
            <a:pPr eaLnBrk="1" hangingPunct="1">
              <a:lnSpc>
                <a:spcPct val="80000"/>
              </a:lnSpc>
              <a:defRPr/>
            </a:pPr>
            <a:r>
              <a:rPr lang="en-US" altLang="en-US" dirty="0" smtClean="0"/>
              <a:t>For example</a:t>
            </a:r>
            <a:endParaRPr lang="en-US" altLang="en-US" sz="2400" dirty="0" smtClean="0"/>
          </a:p>
          <a:p>
            <a:pPr marL="0" indent="0" eaLnBrk="1" hangingPunct="1">
              <a:lnSpc>
                <a:spcPct val="80000"/>
              </a:lnSpc>
              <a:buFontTx/>
              <a:buNone/>
              <a:defRPr/>
            </a:pPr>
            <a:endParaRPr lang="en-US" altLang="en-US" sz="1800" dirty="0" smtClean="0">
              <a:latin typeface="Courier New" panose="02070309020205020404" pitchFamily="49" charset="0"/>
              <a:cs typeface="Courier New" panose="02070309020205020404" pitchFamily="49" charset="0"/>
            </a:endParaRPr>
          </a:p>
          <a:p>
            <a:pPr marL="0" indent="0" eaLnBrk="1" hangingPunct="1">
              <a:lnSpc>
                <a:spcPct val="80000"/>
              </a:lnSpc>
              <a:buFontTx/>
              <a:buNone/>
              <a:defRPr/>
            </a:pPr>
            <a:r>
              <a:rPr lang="en-US" altLang="en-US" sz="1800" dirty="0" smtClean="0">
                <a:latin typeface="Courier New" panose="02070309020205020404" pitchFamily="49" charset="0"/>
                <a:cs typeface="Courier New" panose="02070309020205020404" pitchFamily="49" charset="0"/>
              </a:rPr>
              <a:t>	</a:t>
            </a:r>
            <a:r>
              <a:rPr lang="en-US" altLang="en-US" sz="1800" b="1" dirty="0" smtClean="0">
                <a:latin typeface="Courier New" panose="02070309020205020404" pitchFamily="49" charset="0"/>
                <a:cs typeface="Courier New" panose="02070309020205020404" pitchFamily="49" charset="0"/>
              </a:rPr>
              <a:t>void</a:t>
            </a: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doSomething</a:t>
            </a:r>
            <a:r>
              <a:rPr lang="en-US" altLang="en-US" sz="1800" dirty="0" smtClean="0">
                <a:latin typeface="Courier New" panose="02070309020205020404" pitchFamily="49" charset="0"/>
                <a:cs typeface="Courier New" panose="02070309020205020404" pitchFamily="49" charset="0"/>
              </a:rPr>
              <a:t>(</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first, </a:t>
            </a:r>
            <a:r>
              <a:rPr lang="en-US" altLang="en-US" sz="1800" b="1" dirty="0" smtClean="0">
                <a:latin typeface="Courier New" panose="02070309020205020404" pitchFamily="49" charset="0"/>
                <a:cs typeface="Courier New" panose="02070309020205020404" pitchFamily="49" charset="0"/>
              </a:rPr>
              <a:t>float</a:t>
            </a:r>
            <a:r>
              <a:rPr lang="en-US" altLang="en-US" sz="1800" dirty="0" smtClean="0">
                <a:latin typeface="Courier New" panose="02070309020205020404" pitchFamily="49" charset="0"/>
                <a:cs typeface="Courier New" panose="02070309020205020404" pitchFamily="49" charset="0"/>
              </a:rPr>
              <a:t> second)</a:t>
            </a:r>
          </a:p>
          <a:p>
            <a:pPr marL="0" indent="0" eaLnBrk="1" hangingPunct="1">
              <a:lnSpc>
                <a:spcPct val="80000"/>
              </a:lnSpc>
              <a:buFontTx/>
              <a:buNone/>
              <a:defRPr/>
            </a:pPr>
            <a:r>
              <a:rPr lang="en-US" altLang="en-US" sz="1800" dirty="0">
                <a:latin typeface="Courier New" panose="02070309020205020404" pitchFamily="49" charset="0"/>
                <a:cs typeface="Courier New" panose="02070309020205020404" pitchFamily="49" charset="0"/>
              </a:rPr>
              <a:t>	</a:t>
            </a:r>
            <a:r>
              <a:rPr lang="en-US" altLang="en-US" sz="1800" dirty="0" smtClean="0">
                <a:latin typeface="Courier New" panose="02070309020205020404" pitchFamily="49" charset="0"/>
                <a:cs typeface="Courier New" panose="02070309020205020404" pitchFamily="49" charset="0"/>
              </a:rPr>
              <a:t>{ ... }</a:t>
            </a:r>
          </a:p>
          <a:p>
            <a:pPr marL="0" indent="0" eaLnBrk="1" hangingPunct="1">
              <a:lnSpc>
                <a:spcPct val="80000"/>
              </a:lnSpc>
              <a:buFontTx/>
              <a:buNone/>
              <a:defRPr/>
            </a:pPr>
            <a:endParaRPr lang="en-US" altLang="en-US" sz="1800" dirty="0">
              <a:latin typeface="Courier New" panose="02070309020205020404" pitchFamily="49" charset="0"/>
              <a:cs typeface="Courier New" panose="02070309020205020404" pitchFamily="49" charset="0"/>
            </a:endParaRPr>
          </a:p>
          <a:p>
            <a:pPr marL="0" indent="0" eaLnBrk="1" hangingPunct="1">
              <a:lnSpc>
                <a:spcPct val="80000"/>
              </a:lnSpc>
              <a:buFontTx/>
              <a:buNone/>
              <a:defRPr/>
            </a:pP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doSomething</a:t>
            </a:r>
            <a:r>
              <a:rPr lang="en-US" altLang="en-US" sz="1800" dirty="0" smtClean="0">
                <a:latin typeface="Courier New" panose="02070309020205020404" pitchFamily="49" charset="0"/>
                <a:cs typeface="Courier New" panose="02070309020205020404" pitchFamily="49" charset="0"/>
              </a:rPr>
              <a:t>(1, 23.7);</a:t>
            </a:r>
          </a:p>
          <a:p>
            <a:pPr marL="0" indent="0" eaLnBrk="1" hangingPunct="1">
              <a:lnSpc>
                <a:spcPct val="80000"/>
              </a:lnSpc>
              <a:buFontTx/>
              <a:buNone/>
              <a:defRPr/>
            </a:pPr>
            <a:endParaRPr lang="en-US" altLang="en-US" sz="2400" dirty="0" smtClean="0"/>
          </a:p>
        </p:txBody>
      </p:sp>
      <p:sp>
        <p:nvSpPr>
          <p:cNvPr id="1843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C45A221-9718-4FE0-A8D0-E6D380EE1F78}"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10" name="TextBox 9"/>
          <p:cNvSpPr txBox="1"/>
          <p:nvPr/>
        </p:nvSpPr>
        <p:spPr>
          <a:xfrm>
            <a:off x="4724400" y="3879313"/>
            <a:ext cx="1824038" cy="261937"/>
          </a:xfrm>
          <a:prstGeom prst="rect">
            <a:avLst/>
          </a:prstGeom>
          <a:noFill/>
          <a:ln>
            <a:solidFill>
              <a:srgbClr val="333399"/>
            </a:solidFill>
          </a:ln>
        </p:spPr>
        <p:txBody>
          <a:bodyPr wrap="none" bIns="0" anchor="ctr">
            <a:spAutoFit/>
          </a:bodyPr>
          <a:lstStyle/>
          <a:p>
            <a:pPr algn="ctr">
              <a:defRPr/>
            </a:pPr>
            <a:r>
              <a:rPr lang="en-ZA" sz="1400" dirty="0">
                <a:solidFill>
                  <a:srgbClr val="333399"/>
                </a:solidFill>
                <a:latin typeface="+mj-lt"/>
              </a:rPr>
              <a:t>Formal parameters</a:t>
            </a:r>
          </a:p>
        </p:txBody>
      </p:sp>
      <p:sp>
        <p:nvSpPr>
          <p:cNvPr id="23" name="TextBox 22"/>
          <p:cNvSpPr txBox="1"/>
          <p:nvPr/>
        </p:nvSpPr>
        <p:spPr>
          <a:xfrm>
            <a:off x="2743200" y="4674650"/>
            <a:ext cx="1770062" cy="260350"/>
          </a:xfrm>
          <a:prstGeom prst="rect">
            <a:avLst/>
          </a:prstGeom>
          <a:noFill/>
          <a:ln>
            <a:solidFill>
              <a:srgbClr val="333399"/>
            </a:solidFill>
          </a:ln>
        </p:spPr>
        <p:txBody>
          <a:bodyPr wrap="none" bIns="0" anchor="ctr">
            <a:spAutoFit/>
          </a:bodyPr>
          <a:lstStyle/>
          <a:p>
            <a:pPr algn="ctr">
              <a:defRPr/>
            </a:pPr>
            <a:r>
              <a:rPr lang="en-ZA" sz="1400" dirty="0">
                <a:solidFill>
                  <a:srgbClr val="333399"/>
                </a:solidFill>
                <a:latin typeface="+mj-lt"/>
              </a:rPr>
              <a:t>Actual parameters</a:t>
            </a:r>
          </a:p>
        </p:txBody>
      </p:sp>
      <p:cxnSp>
        <p:nvCxnSpPr>
          <p:cNvPr id="18444" name="Straight Arrow Connector 28"/>
          <p:cNvCxnSpPr>
            <a:cxnSpLocks noChangeShapeType="1"/>
          </p:cNvCxnSpPr>
          <p:nvPr/>
        </p:nvCxnSpPr>
        <p:spPr bwMode="auto">
          <a:xfrm>
            <a:off x="3337400" y="5025143"/>
            <a:ext cx="0" cy="141891"/>
          </a:xfrm>
          <a:prstGeom prst="straightConnector1">
            <a:avLst/>
          </a:prstGeom>
          <a:noFill/>
          <a:ln w="9525" algn="ctr">
            <a:solidFill>
              <a:srgbClr val="333399"/>
            </a:solidFill>
            <a:round/>
            <a:headEnd/>
            <a:tailEnd type="triangle" w="med" len="med"/>
          </a:ln>
        </p:spPr>
      </p:cxnSp>
      <p:cxnSp>
        <p:nvCxnSpPr>
          <p:cNvPr id="18445" name="Straight Arrow Connector 29"/>
          <p:cNvCxnSpPr>
            <a:cxnSpLocks noChangeShapeType="1"/>
          </p:cNvCxnSpPr>
          <p:nvPr/>
        </p:nvCxnSpPr>
        <p:spPr bwMode="auto">
          <a:xfrm>
            <a:off x="3926840" y="5025143"/>
            <a:ext cx="0" cy="147127"/>
          </a:xfrm>
          <a:prstGeom prst="straightConnector1">
            <a:avLst/>
          </a:prstGeom>
          <a:noFill/>
          <a:ln w="9525" algn="ctr">
            <a:solidFill>
              <a:srgbClr val="333399"/>
            </a:solidFill>
            <a:round/>
            <a:headEnd/>
            <a:tailEnd type="triangle" w="med" len="med"/>
          </a:ln>
        </p:spPr>
      </p:cxnSp>
      <p:cxnSp>
        <p:nvCxnSpPr>
          <p:cNvPr id="40" name="Straight Arrow Connector 28"/>
          <p:cNvCxnSpPr>
            <a:cxnSpLocks noChangeShapeType="1"/>
            <a:stCxn id="23" idx="2"/>
          </p:cNvCxnSpPr>
          <p:nvPr/>
        </p:nvCxnSpPr>
        <p:spPr bwMode="auto">
          <a:xfrm>
            <a:off x="3628231" y="4935000"/>
            <a:ext cx="794" cy="88485"/>
          </a:xfrm>
          <a:prstGeom prst="straightConnector1">
            <a:avLst/>
          </a:prstGeom>
          <a:noFill/>
          <a:ln w="9525" algn="ctr">
            <a:solidFill>
              <a:srgbClr val="333399"/>
            </a:solidFill>
            <a:round/>
            <a:headEnd/>
            <a:tailEnd type="none" w="med" len="med"/>
          </a:ln>
        </p:spPr>
      </p:cxnSp>
      <p:cxnSp>
        <p:nvCxnSpPr>
          <p:cNvPr id="41" name="Straight Arrow Connector 28"/>
          <p:cNvCxnSpPr>
            <a:cxnSpLocks noChangeShapeType="1"/>
          </p:cNvCxnSpPr>
          <p:nvPr/>
        </p:nvCxnSpPr>
        <p:spPr bwMode="auto">
          <a:xfrm>
            <a:off x="3333590" y="5021333"/>
            <a:ext cx="594520" cy="0"/>
          </a:xfrm>
          <a:prstGeom prst="straightConnector1">
            <a:avLst/>
          </a:prstGeom>
          <a:noFill/>
          <a:ln w="9525" algn="ctr">
            <a:solidFill>
              <a:srgbClr val="333399"/>
            </a:solidFill>
            <a:round/>
            <a:headEnd/>
            <a:tailEnd type="none" w="med" len="med"/>
          </a:ln>
        </p:spPr>
      </p:cxnSp>
      <p:cxnSp>
        <p:nvCxnSpPr>
          <p:cNvPr id="59" name="Straight Arrow Connector 28"/>
          <p:cNvCxnSpPr>
            <a:cxnSpLocks noChangeShapeType="1"/>
          </p:cNvCxnSpPr>
          <p:nvPr/>
        </p:nvCxnSpPr>
        <p:spPr bwMode="auto">
          <a:xfrm>
            <a:off x="4800600" y="4222530"/>
            <a:ext cx="0" cy="141891"/>
          </a:xfrm>
          <a:prstGeom prst="straightConnector1">
            <a:avLst/>
          </a:prstGeom>
          <a:noFill/>
          <a:ln w="9525" algn="ctr">
            <a:solidFill>
              <a:srgbClr val="333399"/>
            </a:solidFill>
            <a:round/>
            <a:headEnd/>
            <a:tailEnd type="triangle" w="med" len="med"/>
          </a:ln>
        </p:spPr>
      </p:cxnSp>
      <p:cxnSp>
        <p:nvCxnSpPr>
          <p:cNvPr id="60" name="Straight Arrow Connector 29"/>
          <p:cNvCxnSpPr>
            <a:cxnSpLocks noChangeShapeType="1"/>
          </p:cNvCxnSpPr>
          <p:nvPr/>
        </p:nvCxnSpPr>
        <p:spPr bwMode="auto">
          <a:xfrm>
            <a:off x="6477000" y="4222530"/>
            <a:ext cx="0" cy="147127"/>
          </a:xfrm>
          <a:prstGeom prst="straightConnector1">
            <a:avLst/>
          </a:prstGeom>
          <a:noFill/>
          <a:ln w="9525" algn="ctr">
            <a:solidFill>
              <a:srgbClr val="333399"/>
            </a:solidFill>
            <a:round/>
            <a:headEnd/>
            <a:tailEnd type="triangle" w="med" len="med"/>
          </a:ln>
        </p:spPr>
      </p:cxnSp>
      <p:cxnSp>
        <p:nvCxnSpPr>
          <p:cNvPr id="61" name="Straight Arrow Connector 28"/>
          <p:cNvCxnSpPr>
            <a:cxnSpLocks noChangeShapeType="1"/>
            <a:stCxn id="10" idx="2"/>
          </p:cNvCxnSpPr>
          <p:nvPr/>
        </p:nvCxnSpPr>
        <p:spPr bwMode="auto">
          <a:xfrm>
            <a:off x="5636419" y="4141250"/>
            <a:ext cx="2381" cy="81280"/>
          </a:xfrm>
          <a:prstGeom prst="straightConnector1">
            <a:avLst/>
          </a:prstGeom>
          <a:noFill/>
          <a:ln w="9525" algn="ctr">
            <a:solidFill>
              <a:srgbClr val="333399"/>
            </a:solidFill>
            <a:round/>
            <a:headEnd/>
            <a:tailEnd type="none" w="med" len="med"/>
          </a:ln>
        </p:spPr>
      </p:cxnSp>
      <p:cxnSp>
        <p:nvCxnSpPr>
          <p:cNvPr id="62" name="Straight Arrow Connector 28"/>
          <p:cNvCxnSpPr>
            <a:cxnSpLocks noChangeShapeType="1"/>
          </p:cNvCxnSpPr>
          <p:nvPr/>
        </p:nvCxnSpPr>
        <p:spPr bwMode="auto">
          <a:xfrm>
            <a:off x="4800600" y="4227540"/>
            <a:ext cx="1671320" cy="70"/>
          </a:xfrm>
          <a:prstGeom prst="straightConnector1">
            <a:avLst/>
          </a:prstGeom>
          <a:noFill/>
          <a:ln w="9525" algn="ctr">
            <a:solidFill>
              <a:srgbClr val="333399"/>
            </a:solidFill>
            <a:round/>
            <a:headEnd/>
            <a:tailEnd type="none" w="med" len="med"/>
          </a:ln>
        </p:spPr>
      </p:cxnSp>
      <p:sp>
        <p:nvSpPr>
          <p:cNvPr id="1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7021310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smtClean="0"/>
              <a:t>Basic Definitions</a:t>
            </a:r>
            <a:endParaRPr lang="en-ZA" altLang="en-US" smtClean="0"/>
          </a:p>
        </p:txBody>
      </p:sp>
      <p:sp>
        <p:nvSpPr>
          <p:cNvPr id="16387" name="Content Placeholder 2"/>
          <p:cNvSpPr>
            <a:spLocks noGrp="1"/>
          </p:cNvSpPr>
          <p:nvPr>
            <p:ph idx="1"/>
          </p:nvPr>
        </p:nvSpPr>
        <p:spPr>
          <a:xfrm>
            <a:off x="609600" y="1665890"/>
            <a:ext cx="8153400" cy="4572000"/>
          </a:xfrm>
        </p:spPr>
        <p:txBody>
          <a:bodyPr/>
          <a:lstStyle/>
          <a:p>
            <a:pPr eaLnBrk="1" hangingPunct="1">
              <a:lnSpc>
                <a:spcPct val="80000"/>
              </a:lnSpc>
              <a:defRPr/>
            </a:pPr>
            <a:r>
              <a:rPr lang="en-US" altLang="en-US" u="sng" dirty="0" smtClean="0"/>
              <a:t>Parameter profile</a:t>
            </a:r>
            <a:r>
              <a:rPr lang="en-US" altLang="en-US" dirty="0" smtClean="0"/>
              <a:t> (also called the </a:t>
            </a:r>
            <a:r>
              <a:rPr lang="en-US" altLang="en-US" u="sng" dirty="0" smtClean="0"/>
              <a:t>signature</a:t>
            </a:r>
            <a:r>
              <a:rPr lang="en-US" altLang="en-US" dirty="0" smtClean="0"/>
              <a:t>)</a:t>
            </a:r>
          </a:p>
          <a:p>
            <a:pPr lvl="1" eaLnBrk="1" hangingPunct="1">
              <a:lnSpc>
                <a:spcPct val="80000"/>
              </a:lnSpc>
              <a:defRPr/>
            </a:pPr>
            <a:r>
              <a:rPr lang="en-US" altLang="en-US" dirty="0"/>
              <a:t>N</a:t>
            </a:r>
            <a:r>
              <a:rPr lang="en-US" altLang="en-US" dirty="0" smtClean="0"/>
              <a:t>umber, order, and types of parameters</a:t>
            </a:r>
          </a:p>
          <a:p>
            <a:pPr lvl="1" eaLnBrk="1" hangingPunct="1">
              <a:lnSpc>
                <a:spcPct val="80000"/>
              </a:lnSpc>
              <a:defRPr/>
            </a:pPr>
            <a:r>
              <a:rPr lang="en-US" altLang="en-US" dirty="0" smtClean="0"/>
              <a:t>In the previous example</a:t>
            </a:r>
          </a:p>
          <a:p>
            <a:pPr lvl="2" eaLnBrk="1" hangingPunct="1">
              <a:lnSpc>
                <a:spcPct val="80000"/>
              </a:lnSpc>
              <a:defRPr/>
            </a:pPr>
            <a:r>
              <a:rPr lang="en-US" altLang="en-US" dirty="0" smtClean="0"/>
              <a:t>Two parameters, an </a:t>
            </a:r>
            <a:r>
              <a:rPr lang="en-US" altLang="en-US" dirty="0" err="1" smtClean="0">
                <a:latin typeface="Courier New" panose="02070309020205020404" pitchFamily="49" charset="0"/>
                <a:cs typeface="Courier New" panose="02070309020205020404" pitchFamily="49" charset="0"/>
              </a:rPr>
              <a:t>int</a:t>
            </a:r>
            <a:r>
              <a:rPr lang="en-US" altLang="en-US" dirty="0" smtClean="0"/>
              <a:t> followed by a </a:t>
            </a:r>
            <a:r>
              <a:rPr lang="en-US" altLang="en-US" dirty="0" smtClean="0">
                <a:latin typeface="Courier New" panose="02070309020205020404" pitchFamily="49" charset="0"/>
                <a:cs typeface="Courier New" panose="02070309020205020404" pitchFamily="49" charset="0"/>
              </a:rPr>
              <a:t>float</a:t>
            </a:r>
          </a:p>
          <a:p>
            <a:pPr eaLnBrk="1" hangingPunct="1">
              <a:lnSpc>
                <a:spcPct val="80000"/>
              </a:lnSpc>
              <a:defRPr/>
            </a:pPr>
            <a:r>
              <a:rPr lang="en-US" altLang="en-US" u="sng" dirty="0" smtClean="0"/>
              <a:t>Protocol</a:t>
            </a:r>
          </a:p>
          <a:p>
            <a:pPr lvl="1" eaLnBrk="1" hangingPunct="1">
              <a:lnSpc>
                <a:spcPct val="80000"/>
              </a:lnSpc>
              <a:defRPr/>
            </a:pPr>
            <a:r>
              <a:rPr lang="en-US" altLang="en-US" dirty="0" smtClean="0"/>
              <a:t>Parameter profile </a:t>
            </a:r>
            <a:r>
              <a:rPr lang="en-US" altLang="en-US" u="sng" dirty="0" smtClean="0"/>
              <a:t>with function return types</a:t>
            </a:r>
            <a:endParaRPr lang="en-US" altLang="en-US" dirty="0" smtClean="0"/>
          </a:p>
          <a:p>
            <a:pPr lvl="1" eaLnBrk="1" hangingPunct="1">
              <a:lnSpc>
                <a:spcPct val="80000"/>
              </a:lnSpc>
              <a:defRPr/>
            </a:pPr>
            <a:r>
              <a:rPr lang="en-US" altLang="en-US" dirty="0" smtClean="0"/>
              <a:t>In the previous example</a:t>
            </a:r>
          </a:p>
          <a:p>
            <a:pPr lvl="2" eaLnBrk="1" hangingPunct="1">
              <a:lnSpc>
                <a:spcPct val="80000"/>
              </a:lnSpc>
              <a:defRPr/>
            </a:pPr>
            <a:r>
              <a:rPr lang="en-US" altLang="en-US" dirty="0" smtClean="0"/>
              <a:t>Two parameters, an </a:t>
            </a:r>
            <a:r>
              <a:rPr lang="en-US" altLang="en-US" dirty="0" err="1" smtClean="0">
                <a:latin typeface="Courier New" panose="02070309020205020404" pitchFamily="49" charset="0"/>
                <a:cs typeface="Courier New" panose="02070309020205020404" pitchFamily="49" charset="0"/>
              </a:rPr>
              <a:t>int</a:t>
            </a:r>
            <a:r>
              <a:rPr lang="en-US" altLang="en-US" dirty="0" smtClean="0"/>
              <a:t> followed by a </a:t>
            </a:r>
            <a:r>
              <a:rPr lang="en-US" altLang="en-US" dirty="0" smtClean="0">
                <a:latin typeface="Courier New" panose="02070309020205020404" pitchFamily="49" charset="0"/>
                <a:cs typeface="Courier New" panose="02070309020205020404" pitchFamily="49" charset="0"/>
              </a:rPr>
              <a:t>float</a:t>
            </a:r>
            <a:endParaRPr lang="en-US" altLang="en-US" dirty="0" smtClean="0">
              <a:latin typeface="+mj-lt"/>
              <a:cs typeface="Courier New" panose="02070309020205020404" pitchFamily="49" charset="0"/>
            </a:endParaRPr>
          </a:p>
          <a:p>
            <a:pPr lvl="2" eaLnBrk="1" hangingPunct="1">
              <a:lnSpc>
                <a:spcPct val="80000"/>
              </a:lnSpc>
              <a:defRPr/>
            </a:pPr>
            <a:r>
              <a:rPr lang="en-US" altLang="en-US" dirty="0">
                <a:latin typeface="+mj-lt"/>
                <a:cs typeface="Courier New" panose="02070309020205020404" pitchFamily="49" charset="0"/>
              </a:rPr>
              <a:t>W</a:t>
            </a:r>
            <a:r>
              <a:rPr lang="en-US" altLang="en-US" dirty="0" smtClean="0">
                <a:latin typeface="+mj-lt"/>
                <a:cs typeface="Courier New" panose="02070309020205020404" pitchFamily="49" charset="0"/>
              </a:rPr>
              <a:t>ith </a:t>
            </a:r>
            <a:r>
              <a:rPr lang="en-US" altLang="en-US" dirty="0" smtClean="0">
                <a:latin typeface="+mj-lt"/>
                <a:cs typeface="Courier New" panose="02070309020205020404" pitchFamily="49" charset="0"/>
              </a:rPr>
              <a:t>a </a:t>
            </a:r>
            <a:r>
              <a:rPr lang="en-US" altLang="en-US" dirty="0" smtClean="0">
                <a:latin typeface="Courier New" panose="02070309020205020404" pitchFamily="49" charset="0"/>
                <a:cs typeface="Courier New" panose="02070309020205020404" pitchFamily="49" charset="0"/>
              </a:rPr>
              <a:t>void</a:t>
            </a:r>
            <a:r>
              <a:rPr lang="en-US" altLang="en-US" dirty="0" smtClean="0">
                <a:latin typeface="+mj-lt"/>
                <a:cs typeface="Courier New" panose="02070309020205020404" pitchFamily="49" charset="0"/>
              </a:rPr>
              <a:t> return</a:t>
            </a:r>
            <a:endParaRPr lang="en-US" altLang="en-US" dirty="0" smtClean="0">
              <a:latin typeface="+mj-lt"/>
            </a:endParaRPr>
          </a:p>
        </p:txBody>
      </p:sp>
      <p:sp>
        <p:nvSpPr>
          <p:cNvPr id="2048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5191C5C-B061-44A4-BAA8-EC3473D7794F}"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smtClean="0"/>
              <a:t>Basic Definitions</a:t>
            </a:r>
            <a:endParaRPr lang="en-ZA" altLang="en-US" smtClean="0"/>
          </a:p>
        </p:txBody>
      </p:sp>
      <p:sp>
        <p:nvSpPr>
          <p:cNvPr id="16387" name="Content Placeholder 2"/>
          <p:cNvSpPr>
            <a:spLocks noGrp="1"/>
          </p:cNvSpPr>
          <p:nvPr>
            <p:ph idx="1"/>
          </p:nvPr>
        </p:nvSpPr>
        <p:spPr>
          <a:xfrm>
            <a:off x="609600" y="1665890"/>
            <a:ext cx="8382000" cy="4572000"/>
          </a:xfrm>
        </p:spPr>
        <p:txBody>
          <a:bodyPr/>
          <a:lstStyle/>
          <a:p>
            <a:pPr eaLnBrk="1" hangingPunct="1">
              <a:lnSpc>
                <a:spcPct val="80000"/>
              </a:lnSpc>
              <a:defRPr/>
            </a:pPr>
            <a:r>
              <a:rPr lang="en-US" altLang="en-US" dirty="0" smtClean="0"/>
              <a:t>Subprogram </a:t>
            </a:r>
            <a:r>
              <a:rPr lang="en-US" altLang="en-US" u="sng" dirty="0" smtClean="0"/>
              <a:t>declaration</a:t>
            </a:r>
          </a:p>
          <a:p>
            <a:pPr lvl="1" eaLnBrk="1" hangingPunct="1">
              <a:lnSpc>
                <a:spcPct val="80000"/>
              </a:lnSpc>
              <a:defRPr/>
            </a:pPr>
            <a:r>
              <a:rPr lang="en-US" altLang="en-US" dirty="0" smtClean="0"/>
              <a:t>Provides subprogram protocol, but not its body</a:t>
            </a:r>
          </a:p>
          <a:p>
            <a:pPr lvl="1" eaLnBrk="1" hangingPunct="1">
              <a:lnSpc>
                <a:spcPct val="80000"/>
              </a:lnSpc>
              <a:defRPr/>
            </a:pPr>
            <a:r>
              <a:rPr lang="en-US" altLang="en-US" dirty="0" smtClean="0"/>
              <a:t>Often called </a:t>
            </a:r>
            <a:r>
              <a:rPr lang="en-US" altLang="en-US" u="sng" dirty="0" smtClean="0"/>
              <a:t>prototypes</a:t>
            </a:r>
            <a:r>
              <a:rPr lang="en-US" altLang="en-US" dirty="0" smtClean="0"/>
              <a:t> in C and C++</a:t>
            </a:r>
          </a:p>
          <a:p>
            <a:pPr lvl="2" eaLnBrk="1" hangingPunct="1">
              <a:lnSpc>
                <a:spcPct val="80000"/>
              </a:lnSpc>
              <a:defRPr/>
            </a:pPr>
            <a:endParaRPr lang="en-US" altLang="en-US" sz="700" dirty="0" smtClean="0"/>
          </a:p>
          <a:p>
            <a:pPr lvl="2" eaLnBrk="1" hangingPunct="1">
              <a:lnSpc>
                <a:spcPct val="80000"/>
              </a:lnSpc>
              <a:defRPr/>
            </a:pPr>
            <a:r>
              <a:rPr lang="en-US" altLang="en-US" sz="1800" dirty="0" smtClean="0"/>
              <a:t>The prototype usually appears in a header file</a:t>
            </a:r>
          </a:p>
          <a:p>
            <a:pPr marL="914400" lvl="2" indent="0" eaLnBrk="1" hangingPunct="1">
              <a:lnSpc>
                <a:spcPct val="80000"/>
              </a:lnSpc>
              <a:buFontTx/>
              <a:buNone/>
              <a:defRPr/>
            </a:pPr>
            <a:endParaRPr lang="en-US" altLang="en-US" sz="500" dirty="0" smtClean="0">
              <a:latin typeface="Courier New" panose="02070309020205020404" pitchFamily="49" charset="0"/>
              <a:cs typeface="Courier New" panose="02070309020205020404" pitchFamily="49" charset="0"/>
            </a:endParaRPr>
          </a:p>
          <a:p>
            <a:pPr marL="914400" lvl="2" indent="0" eaLnBrk="1" hangingPunct="1">
              <a:lnSpc>
                <a:spcPct val="80000"/>
              </a:lnSpc>
              <a:buFontTx/>
              <a:buNone/>
              <a:defRPr/>
            </a:pPr>
            <a:r>
              <a:rPr lang="en-US" altLang="en-US" dirty="0" smtClean="0">
                <a:latin typeface="Courier New" panose="02070309020205020404" pitchFamily="49" charset="0"/>
                <a:cs typeface="Courier New" panose="02070309020205020404" pitchFamily="49" charset="0"/>
              </a:rPr>
              <a:t>   </a:t>
            </a:r>
            <a:r>
              <a:rPr lang="en-US" altLang="en-US" b="1" dirty="0" smtClean="0">
                <a:latin typeface="Courier New" panose="02070309020205020404" pitchFamily="49" charset="0"/>
                <a:cs typeface="Courier New" panose="02070309020205020404" pitchFamily="49" charset="0"/>
              </a:rPr>
              <a:t>void</a:t>
            </a:r>
            <a:r>
              <a:rPr lang="en-US" altLang="en-US" dirty="0" smtClean="0">
                <a:latin typeface="Courier New" panose="02070309020205020404" pitchFamily="49" charset="0"/>
                <a:cs typeface="Courier New" panose="02070309020205020404" pitchFamily="49" charset="0"/>
              </a:rPr>
              <a:t> </a:t>
            </a:r>
            <a:r>
              <a:rPr lang="en-US" altLang="en-US" dirty="0" err="1" smtClean="0">
                <a:latin typeface="Courier New" panose="02070309020205020404" pitchFamily="49" charset="0"/>
                <a:cs typeface="Courier New" panose="02070309020205020404" pitchFamily="49" charset="0"/>
              </a:rPr>
              <a:t>doSomething</a:t>
            </a:r>
            <a:r>
              <a:rPr lang="en-US" altLang="en-US" dirty="0" smtClean="0">
                <a:latin typeface="Courier New" panose="02070309020205020404" pitchFamily="49" charset="0"/>
                <a:cs typeface="Courier New" panose="02070309020205020404" pitchFamily="49" charset="0"/>
              </a:rPr>
              <a:t>(</a:t>
            </a:r>
            <a:r>
              <a:rPr lang="en-US" altLang="en-US" b="1" dirty="0" err="1" smtClean="0">
                <a:latin typeface="Courier New" panose="02070309020205020404" pitchFamily="49" charset="0"/>
                <a:cs typeface="Courier New" panose="02070309020205020404" pitchFamily="49" charset="0"/>
              </a:rPr>
              <a:t>int</a:t>
            </a:r>
            <a:r>
              <a:rPr lang="en-US" altLang="en-US" dirty="0" smtClean="0">
                <a:latin typeface="Courier New" panose="02070309020205020404" pitchFamily="49" charset="0"/>
                <a:cs typeface="Courier New" panose="02070309020205020404" pitchFamily="49" charset="0"/>
              </a:rPr>
              <a:t>, </a:t>
            </a:r>
            <a:r>
              <a:rPr lang="en-US" altLang="en-US" b="1" dirty="0" smtClean="0">
                <a:latin typeface="Courier New" panose="02070309020205020404" pitchFamily="49" charset="0"/>
                <a:cs typeface="Courier New" panose="02070309020205020404" pitchFamily="49" charset="0"/>
              </a:rPr>
              <a:t>float</a:t>
            </a:r>
            <a:r>
              <a:rPr lang="en-US" altLang="en-US" dirty="0" smtClean="0">
                <a:latin typeface="Courier New" panose="02070309020205020404" pitchFamily="49" charset="0"/>
                <a:cs typeface="Courier New" panose="02070309020205020404" pitchFamily="49" charset="0"/>
              </a:rPr>
              <a:t>);</a:t>
            </a:r>
          </a:p>
          <a:p>
            <a:pPr marL="914400" lvl="2" indent="0" eaLnBrk="1" hangingPunct="1">
              <a:lnSpc>
                <a:spcPct val="80000"/>
              </a:lnSpc>
              <a:buFontTx/>
              <a:buNone/>
              <a:defRPr/>
            </a:pPr>
            <a:endParaRPr lang="en-US" altLang="en-US" sz="1100" dirty="0" smtClean="0">
              <a:latin typeface="Courier New" panose="02070309020205020404" pitchFamily="49" charset="0"/>
              <a:cs typeface="Courier New" panose="02070309020205020404" pitchFamily="49" charset="0"/>
            </a:endParaRPr>
          </a:p>
          <a:p>
            <a:pPr lvl="2" eaLnBrk="1" hangingPunct="1">
              <a:lnSpc>
                <a:spcPct val="80000"/>
              </a:lnSpc>
              <a:defRPr/>
            </a:pPr>
            <a:r>
              <a:rPr lang="en-US" altLang="en-US" sz="1800" dirty="0" smtClean="0"/>
              <a:t>The function definition goes in an implementation file</a:t>
            </a:r>
          </a:p>
          <a:p>
            <a:pPr marL="914400" lvl="2" indent="0" eaLnBrk="1" hangingPunct="1">
              <a:lnSpc>
                <a:spcPct val="80000"/>
              </a:lnSpc>
              <a:buFontTx/>
              <a:buNone/>
              <a:defRPr/>
            </a:pPr>
            <a:endParaRPr lang="en-US" altLang="en-US" sz="500" dirty="0" smtClean="0">
              <a:latin typeface="Courier New" panose="02070309020205020404" pitchFamily="49" charset="0"/>
              <a:cs typeface="Courier New" panose="02070309020205020404" pitchFamily="49" charset="0"/>
            </a:endParaRPr>
          </a:p>
          <a:p>
            <a:pPr marL="914400" lvl="2" indent="0" eaLnBrk="1" hangingPunct="1">
              <a:lnSpc>
                <a:spcPct val="80000"/>
              </a:lnSpc>
              <a:buFontTx/>
              <a:buNone/>
              <a:defRPr/>
            </a:pPr>
            <a:r>
              <a:rPr lang="en-US" altLang="en-US" dirty="0" smtClean="0">
                <a:latin typeface="Courier New" panose="02070309020205020404" pitchFamily="49" charset="0"/>
                <a:cs typeface="Courier New" panose="02070309020205020404" pitchFamily="49" charset="0"/>
              </a:rPr>
              <a:t>   </a:t>
            </a:r>
            <a:r>
              <a:rPr lang="en-US" altLang="en-US" b="1" dirty="0" smtClean="0">
                <a:latin typeface="Courier New" panose="02070309020205020404" pitchFamily="49" charset="0"/>
                <a:cs typeface="Courier New" panose="02070309020205020404" pitchFamily="49" charset="0"/>
              </a:rPr>
              <a:t>void</a:t>
            </a:r>
            <a:r>
              <a:rPr lang="en-US" altLang="en-US" dirty="0" smtClean="0">
                <a:latin typeface="Courier New" panose="02070309020205020404" pitchFamily="49" charset="0"/>
                <a:cs typeface="Courier New" panose="02070309020205020404" pitchFamily="49" charset="0"/>
              </a:rPr>
              <a:t> </a:t>
            </a:r>
            <a:r>
              <a:rPr lang="en-US" altLang="en-US" dirty="0" err="1" smtClean="0">
                <a:latin typeface="Courier New" panose="02070309020205020404" pitchFamily="49" charset="0"/>
                <a:cs typeface="Courier New" panose="02070309020205020404" pitchFamily="49" charset="0"/>
              </a:rPr>
              <a:t>doSomething</a:t>
            </a:r>
            <a:r>
              <a:rPr lang="en-US" altLang="en-US" dirty="0" smtClean="0">
                <a:latin typeface="Courier New" panose="02070309020205020404" pitchFamily="49" charset="0"/>
                <a:cs typeface="Courier New" panose="02070309020205020404" pitchFamily="49" charset="0"/>
              </a:rPr>
              <a:t>(</a:t>
            </a:r>
            <a:r>
              <a:rPr lang="en-US" altLang="en-US" b="1" dirty="0" err="1" smtClean="0">
                <a:latin typeface="Courier New" panose="02070309020205020404" pitchFamily="49" charset="0"/>
                <a:cs typeface="Courier New" panose="02070309020205020404" pitchFamily="49" charset="0"/>
              </a:rPr>
              <a:t>int</a:t>
            </a:r>
            <a:r>
              <a:rPr lang="en-US" altLang="en-US" dirty="0" smtClean="0">
                <a:latin typeface="Courier New" panose="02070309020205020404" pitchFamily="49" charset="0"/>
                <a:cs typeface="Courier New" panose="02070309020205020404" pitchFamily="49" charset="0"/>
              </a:rPr>
              <a:t> first, </a:t>
            </a:r>
            <a:r>
              <a:rPr lang="en-US" altLang="en-US" b="1" dirty="0" smtClean="0">
                <a:latin typeface="Courier New" panose="02070309020205020404" pitchFamily="49" charset="0"/>
                <a:cs typeface="Courier New" panose="02070309020205020404" pitchFamily="49" charset="0"/>
              </a:rPr>
              <a:t>float</a:t>
            </a:r>
            <a:r>
              <a:rPr lang="en-US" altLang="en-US" dirty="0" smtClean="0">
                <a:latin typeface="Courier New" panose="02070309020205020404" pitchFamily="49" charset="0"/>
                <a:cs typeface="Courier New" panose="02070309020205020404" pitchFamily="49" charset="0"/>
              </a:rPr>
              <a:t> second) </a:t>
            </a:r>
            <a:br>
              <a:rPr lang="en-US" altLang="en-US" dirty="0" smtClean="0">
                <a:latin typeface="Courier New" panose="02070309020205020404" pitchFamily="49" charset="0"/>
                <a:cs typeface="Courier New" panose="02070309020205020404" pitchFamily="49" charset="0"/>
              </a:rPr>
            </a:br>
            <a:r>
              <a:rPr lang="en-US" altLang="en-US" dirty="0" smtClean="0">
                <a:latin typeface="Courier New" panose="02070309020205020404" pitchFamily="49" charset="0"/>
                <a:cs typeface="Courier New" panose="02070309020205020404" pitchFamily="49" charset="0"/>
              </a:rPr>
              <a:t>   </a:t>
            </a:r>
            <a:r>
              <a:rPr lang="en-US" altLang="en-US" dirty="0" smtClean="0">
                <a:latin typeface="Courier New" panose="02070309020205020404" pitchFamily="49" charset="0"/>
                <a:cs typeface="Courier New" panose="02070309020205020404" pitchFamily="49" charset="0"/>
              </a:rPr>
              <a:t>{</a:t>
            </a:r>
          </a:p>
          <a:p>
            <a:pPr marL="914400" lvl="2" indent="0" eaLnBrk="1" hangingPunct="1">
              <a:lnSpc>
                <a:spcPct val="80000"/>
              </a:lnSpc>
              <a:buFontTx/>
              <a:buNone/>
              <a:defRPr/>
            </a:pPr>
            <a:r>
              <a:rPr lang="en-US" altLang="en-US" dirty="0" smtClean="0">
                <a:latin typeface="Courier New" panose="02070309020205020404" pitchFamily="49" charset="0"/>
                <a:cs typeface="Courier New" panose="02070309020205020404" pitchFamily="49" charset="0"/>
              </a:rPr>
              <a:t>      ...</a:t>
            </a:r>
          </a:p>
          <a:p>
            <a:pPr marL="914400" lvl="2" indent="0" eaLnBrk="1" hangingPunct="1">
              <a:lnSpc>
                <a:spcPct val="80000"/>
              </a:lnSpc>
              <a:buFontTx/>
              <a:buNone/>
              <a:defRPr/>
            </a:pPr>
            <a:r>
              <a:rPr lang="en-US" altLang="en-US" dirty="0">
                <a:latin typeface="Courier New" panose="02070309020205020404" pitchFamily="49" charset="0"/>
                <a:cs typeface="Courier New" panose="02070309020205020404" pitchFamily="49" charset="0"/>
              </a:rPr>
              <a:t> </a:t>
            </a:r>
            <a:r>
              <a:rPr lang="en-US" altLang="en-US" dirty="0" smtClean="0">
                <a:latin typeface="Courier New" panose="02070309020205020404" pitchFamily="49" charset="0"/>
                <a:cs typeface="Courier New" panose="02070309020205020404" pitchFamily="49" charset="0"/>
              </a:rPr>
              <a:t>  </a:t>
            </a:r>
            <a:r>
              <a:rPr lang="en-US" altLang="en-US" dirty="0" smtClean="0">
                <a:latin typeface="Courier New" panose="02070309020205020404" pitchFamily="49" charset="0"/>
                <a:cs typeface="Courier New" panose="02070309020205020404" pitchFamily="49" charset="0"/>
              </a:rPr>
              <a:t>}</a:t>
            </a:r>
            <a:endParaRPr lang="en-US" altLang="en-US" dirty="0" smtClean="0">
              <a:latin typeface="Courier New" panose="02070309020205020404" pitchFamily="49" charset="0"/>
              <a:cs typeface="Courier New" panose="02070309020205020404" pitchFamily="49" charset="0"/>
            </a:endParaRPr>
          </a:p>
        </p:txBody>
      </p:sp>
      <p:sp>
        <p:nvSpPr>
          <p:cNvPr id="2048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5191C5C-B061-44A4-BAA8-EC3473D7794F}"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28871718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5C42798-6A48-42A7-A813-9672F4B259F0}"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22532" name="Rectangle 2"/>
          <p:cNvSpPr>
            <a:spLocks noGrp="1" noChangeArrowheads="1"/>
          </p:cNvSpPr>
          <p:nvPr>
            <p:ph type="title"/>
          </p:nvPr>
        </p:nvSpPr>
        <p:spPr>
          <a:xfrm>
            <a:off x="609600" y="76200"/>
            <a:ext cx="8153400" cy="1143000"/>
          </a:xfrm>
        </p:spPr>
        <p:txBody>
          <a:bodyPr/>
          <a:lstStyle/>
          <a:p>
            <a:pPr eaLnBrk="1" hangingPunct="1"/>
            <a:r>
              <a:rPr lang="en-US" altLang="en-US" smtClean="0"/>
              <a:t>Actual/Formal Parameter Correspondence</a:t>
            </a:r>
          </a:p>
        </p:txBody>
      </p:sp>
      <p:sp>
        <p:nvSpPr>
          <p:cNvPr id="22533" name="Rectangle 3"/>
          <p:cNvSpPr>
            <a:spLocks noGrp="1" noChangeArrowheads="1"/>
          </p:cNvSpPr>
          <p:nvPr>
            <p:ph type="body" idx="1"/>
          </p:nvPr>
        </p:nvSpPr>
        <p:spPr>
          <a:xfrm>
            <a:off x="609600" y="1600200"/>
            <a:ext cx="8458200" cy="4876800"/>
          </a:xfrm>
        </p:spPr>
        <p:txBody>
          <a:bodyPr/>
          <a:lstStyle/>
          <a:p>
            <a:pPr eaLnBrk="1" hangingPunct="1"/>
            <a:r>
              <a:rPr lang="en-US" altLang="en-US" dirty="0" smtClean="0"/>
              <a:t>For a subprogram call, we must match</a:t>
            </a:r>
          </a:p>
          <a:p>
            <a:pPr lvl="1" eaLnBrk="1" hangingPunct="1"/>
            <a:r>
              <a:rPr lang="en-US" altLang="en-US" dirty="0"/>
              <a:t>A</a:t>
            </a:r>
            <a:r>
              <a:rPr lang="en-US" altLang="en-US" dirty="0" smtClean="0"/>
              <a:t>ctual parameters (in subprogram call) to the formal parameters (in subprogram definition)</a:t>
            </a:r>
          </a:p>
          <a:p>
            <a:pPr eaLnBrk="1" hangingPunct="1"/>
            <a:r>
              <a:rPr lang="en-US" altLang="en-US" u="sng" dirty="0" smtClean="0"/>
              <a:t>Positional parameters</a:t>
            </a:r>
          </a:p>
          <a:p>
            <a:pPr lvl="1" eaLnBrk="1" hangingPunct="1"/>
            <a:r>
              <a:rPr lang="en-US" altLang="en-US" dirty="0" smtClean="0"/>
              <a:t>Bind actual to formal parameters by position</a:t>
            </a:r>
          </a:p>
          <a:p>
            <a:pPr lvl="2" eaLnBrk="1" hangingPunct="1"/>
            <a:r>
              <a:rPr lang="en-US" altLang="en-US" dirty="0" smtClean="0"/>
              <a:t>1</a:t>
            </a:r>
            <a:r>
              <a:rPr lang="en-US" altLang="en-US" baseline="30000" dirty="0" smtClean="0"/>
              <a:t>st</a:t>
            </a:r>
            <a:r>
              <a:rPr lang="en-US" altLang="en-US" dirty="0" smtClean="0"/>
              <a:t> actual parameter bound to the 1</a:t>
            </a:r>
            <a:r>
              <a:rPr lang="en-US" altLang="en-US" baseline="30000" dirty="0" smtClean="0"/>
              <a:t>st</a:t>
            </a:r>
            <a:r>
              <a:rPr lang="en-US" altLang="en-US" dirty="0" smtClean="0"/>
              <a:t> formal parameter</a:t>
            </a:r>
          </a:p>
          <a:p>
            <a:pPr lvl="2" eaLnBrk="1" hangingPunct="1"/>
            <a:r>
              <a:rPr lang="en-US" altLang="en-US" dirty="0" smtClean="0"/>
              <a:t>2</a:t>
            </a:r>
            <a:r>
              <a:rPr lang="en-US" altLang="en-US" baseline="30000" dirty="0" smtClean="0"/>
              <a:t>nd</a:t>
            </a:r>
            <a:r>
              <a:rPr lang="en-US" altLang="en-US" dirty="0" smtClean="0"/>
              <a:t> </a:t>
            </a:r>
            <a:r>
              <a:rPr lang="en-US" altLang="en-US" dirty="0" smtClean="0"/>
              <a:t>to </a:t>
            </a:r>
            <a:r>
              <a:rPr lang="en-US" altLang="en-US" dirty="0" smtClean="0"/>
              <a:t>the 2</a:t>
            </a:r>
            <a:r>
              <a:rPr lang="en-US" altLang="en-US" baseline="30000" dirty="0" smtClean="0"/>
              <a:t>nd</a:t>
            </a:r>
            <a:r>
              <a:rPr lang="en-US" altLang="en-US" dirty="0" smtClean="0"/>
              <a:t>, </a:t>
            </a:r>
            <a:r>
              <a:rPr lang="en-US" altLang="en-US" dirty="0" smtClean="0"/>
              <a:t>and so on</a:t>
            </a:r>
          </a:p>
          <a:p>
            <a:pPr lvl="1" eaLnBrk="1" hangingPunct="1"/>
            <a:r>
              <a:rPr lang="en-US" altLang="en-US" dirty="0" smtClean="0"/>
              <a:t>Most high-level languages use this approach</a:t>
            </a:r>
          </a:p>
          <a:p>
            <a:pPr lvl="1" eaLnBrk="1" hangingPunct="1"/>
            <a:r>
              <a:rPr lang="en-US" altLang="en-US" dirty="0" smtClean="0"/>
              <a:t>Advantage</a:t>
            </a:r>
          </a:p>
          <a:p>
            <a:pPr lvl="2" eaLnBrk="1" hangingPunct="1"/>
            <a:r>
              <a:rPr lang="en-US" altLang="en-US" dirty="0" smtClean="0"/>
              <a:t>Safe and effective</a:t>
            </a:r>
          </a:p>
          <a:p>
            <a:pPr lvl="1" eaLnBrk="1" hangingPunct="1"/>
            <a:r>
              <a:rPr lang="en-US" altLang="en-US" dirty="0" smtClean="0"/>
              <a:t>Disadvantage?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a:spLocks noGrp="1"/>
          </p:cNvSpPr>
          <p:nvPr>
            <p:ph idx="1"/>
          </p:nvPr>
        </p:nvSpPr>
        <p:spPr>
          <a:xfrm>
            <a:off x="609600" y="1600200"/>
            <a:ext cx="8305800" cy="4572000"/>
          </a:xfrm>
        </p:spPr>
        <p:txBody>
          <a:bodyPr/>
          <a:lstStyle/>
          <a:p>
            <a:pPr eaLnBrk="1" hangingPunct="1"/>
            <a:r>
              <a:rPr lang="en-US" altLang="en-US" u="sng" dirty="0" smtClean="0"/>
              <a:t>Keyword parameters</a:t>
            </a:r>
          </a:p>
          <a:p>
            <a:pPr lvl="1" eaLnBrk="1" hangingPunct="1"/>
            <a:r>
              <a:rPr lang="en-US" altLang="en-US" dirty="0" smtClean="0"/>
              <a:t>Binding uses the names of formal parameters</a:t>
            </a:r>
          </a:p>
          <a:p>
            <a:pPr lvl="2" eaLnBrk="1" hangingPunct="1"/>
            <a:r>
              <a:rPr lang="en-US" altLang="en-US" dirty="0" smtClean="0"/>
              <a:t>Names specified with the actual parameters in call</a:t>
            </a:r>
          </a:p>
          <a:p>
            <a:pPr lvl="2" eaLnBrk="1" hangingPunct="1"/>
            <a:r>
              <a:rPr lang="en-US" altLang="en-US" dirty="0" smtClean="0"/>
              <a:t>For example:</a:t>
            </a:r>
          </a:p>
          <a:p>
            <a:pPr lvl="1" eaLnBrk="1" hangingPunct="1">
              <a:buFontTx/>
              <a:buNone/>
            </a:pPr>
            <a:r>
              <a:rPr lang="en-US" altLang="en-US" sz="2100" dirty="0" smtClean="0">
                <a:latin typeface="Courier New" panose="02070309020205020404" pitchFamily="49" charset="0"/>
              </a:rPr>
              <a:t>	    add(first = 10, second = 12, third = 3)</a:t>
            </a:r>
          </a:p>
          <a:p>
            <a:pPr lvl="1" eaLnBrk="1" hangingPunct="1"/>
            <a:r>
              <a:rPr lang="en-US" altLang="en-US" dirty="0" smtClean="0"/>
              <a:t>Advantage</a:t>
            </a:r>
          </a:p>
          <a:p>
            <a:pPr lvl="2" eaLnBrk="1" hangingPunct="1"/>
            <a:r>
              <a:rPr lang="en-US" altLang="en-US" dirty="0" smtClean="0"/>
              <a:t>Parameters can appear in any order</a:t>
            </a:r>
          </a:p>
          <a:p>
            <a:pPr lvl="2" eaLnBrk="1" hangingPunct="1"/>
            <a:r>
              <a:rPr lang="en-US" altLang="en-US" dirty="0" smtClean="0"/>
              <a:t>Avoid parameter correspondence errors</a:t>
            </a:r>
          </a:p>
          <a:p>
            <a:pPr lvl="1" eaLnBrk="1" hangingPunct="1"/>
            <a:r>
              <a:rPr lang="en-US" altLang="en-US" dirty="0" smtClean="0"/>
              <a:t>Disadvantage?</a:t>
            </a:r>
          </a:p>
        </p:txBody>
      </p:sp>
      <p:sp>
        <p:nvSpPr>
          <p:cNvPr id="2458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0E83669-89B6-44A3-AA65-D4EBA56C4766}"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24581" name="Rectangle 2"/>
          <p:cNvSpPr>
            <a:spLocks noGrp="1" noChangeArrowheads="1"/>
          </p:cNvSpPr>
          <p:nvPr>
            <p:ph type="title"/>
          </p:nvPr>
        </p:nvSpPr>
        <p:spPr>
          <a:xfrm>
            <a:off x="609600" y="76200"/>
            <a:ext cx="8153400" cy="1143000"/>
          </a:xfrm>
        </p:spPr>
        <p:txBody>
          <a:bodyPr/>
          <a:lstStyle/>
          <a:p>
            <a:pPr eaLnBrk="1" hangingPunct="1"/>
            <a:r>
              <a:rPr lang="en-US" altLang="en-US" smtClean="0"/>
              <a:t>Actual/Formal Parameter Correspondence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A57856C-9464-4C45-A70D-B837B8133E3F}"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25604" name="Rectangle 2"/>
          <p:cNvSpPr>
            <a:spLocks noGrp="1" noChangeArrowheads="1"/>
          </p:cNvSpPr>
          <p:nvPr>
            <p:ph type="title"/>
          </p:nvPr>
        </p:nvSpPr>
        <p:spPr/>
        <p:txBody>
          <a:bodyPr/>
          <a:lstStyle/>
          <a:p>
            <a:pPr eaLnBrk="1" hangingPunct="1"/>
            <a:r>
              <a:rPr lang="en-US" altLang="en-US" smtClean="0"/>
              <a:t>Formal Parameter Default Values</a:t>
            </a:r>
          </a:p>
        </p:txBody>
      </p:sp>
      <p:sp>
        <p:nvSpPr>
          <p:cNvPr id="25605" name="Rectangle 3"/>
          <p:cNvSpPr>
            <a:spLocks noGrp="1" noChangeArrowheads="1"/>
          </p:cNvSpPr>
          <p:nvPr>
            <p:ph type="body" idx="1"/>
          </p:nvPr>
        </p:nvSpPr>
        <p:spPr>
          <a:xfrm>
            <a:off x="609600" y="1600200"/>
            <a:ext cx="8458200" cy="4572000"/>
          </a:xfrm>
        </p:spPr>
        <p:txBody>
          <a:bodyPr/>
          <a:lstStyle/>
          <a:p>
            <a:pPr eaLnBrk="1" hangingPunct="1"/>
            <a:r>
              <a:rPr lang="en-US" altLang="en-US" dirty="0" smtClean="0"/>
              <a:t>Default values for formal parameters</a:t>
            </a:r>
          </a:p>
          <a:p>
            <a:pPr lvl="1" eaLnBrk="1" hangingPunct="1"/>
            <a:r>
              <a:rPr lang="en-US" altLang="en-US" dirty="0" smtClean="0"/>
              <a:t>Some actual parameters can be left out in a call</a:t>
            </a:r>
          </a:p>
          <a:p>
            <a:pPr lvl="2" eaLnBrk="1" hangingPunct="1"/>
            <a:r>
              <a:rPr lang="en-US" altLang="en-US" dirty="0"/>
              <a:t>D</a:t>
            </a:r>
            <a:r>
              <a:rPr lang="en-US" altLang="en-US" dirty="0" smtClean="0"/>
              <a:t>efault values assumed for these actual parameters</a:t>
            </a:r>
          </a:p>
          <a:p>
            <a:pPr lvl="2" eaLnBrk="1" hangingPunct="1"/>
            <a:r>
              <a:rPr lang="en-US" altLang="en-US" dirty="0" smtClean="0"/>
              <a:t>Defaults used only if no actual parameter passed</a:t>
            </a:r>
          </a:p>
          <a:p>
            <a:pPr lvl="1" eaLnBrk="1" hangingPunct="1"/>
            <a:r>
              <a:rPr lang="en-US" altLang="en-US" dirty="0" smtClean="0"/>
              <a:t>Supported in C++, Python, Ruby, Ada, and PHP</a:t>
            </a:r>
          </a:p>
          <a:p>
            <a:pPr lvl="2" eaLnBrk="1" hangingPunct="1">
              <a:lnSpc>
                <a:spcPct val="80000"/>
              </a:lnSpc>
            </a:pPr>
            <a:r>
              <a:rPr lang="en-US" altLang="en-US" dirty="0" smtClean="0"/>
              <a:t>In C++, default parameters must appear last</a:t>
            </a:r>
          </a:p>
          <a:p>
            <a:pPr lvl="1" eaLnBrk="1" hangingPunct="1">
              <a:lnSpc>
                <a:spcPct val="80000"/>
              </a:lnSpc>
            </a:pPr>
            <a:r>
              <a:rPr lang="en-US" altLang="en-US" dirty="0" smtClean="0"/>
              <a:t>Two related questions</a:t>
            </a:r>
          </a:p>
          <a:p>
            <a:pPr lvl="2" eaLnBrk="1" hangingPunct="1">
              <a:lnSpc>
                <a:spcPct val="80000"/>
              </a:lnSpc>
            </a:pPr>
            <a:r>
              <a:rPr lang="en-US" altLang="en-US" dirty="0" smtClean="0"/>
              <a:t>Why must default parameters appear last in C++?</a:t>
            </a:r>
          </a:p>
          <a:p>
            <a:pPr lvl="2" eaLnBrk="1" hangingPunct="1">
              <a:lnSpc>
                <a:spcPct val="80000"/>
              </a:lnSpc>
            </a:pPr>
            <a:r>
              <a:rPr lang="en-US" altLang="en-US" dirty="0" smtClean="0"/>
              <a:t>How </a:t>
            </a:r>
            <a:r>
              <a:rPr lang="en-US" altLang="en-US" dirty="0" smtClean="0"/>
              <a:t>could </a:t>
            </a:r>
            <a:r>
              <a:rPr lang="en-US" altLang="en-US" dirty="0" smtClean="0"/>
              <a:t>default </a:t>
            </a:r>
            <a:r>
              <a:rPr lang="en-US" altLang="en-US" dirty="0" smtClean="0"/>
              <a:t>parameters be allowed </a:t>
            </a:r>
            <a:r>
              <a:rPr lang="en-US" altLang="en-US" dirty="0" smtClean="0"/>
              <a:t>anywhere?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2"/>
          <p:cNvSpPr>
            <a:spLocks noGrp="1"/>
          </p:cNvSpPr>
          <p:nvPr>
            <p:ph idx="1"/>
          </p:nvPr>
        </p:nvSpPr>
        <p:spPr>
          <a:xfrm>
            <a:off x="609600" y="1667860"/>
            <a:ext cx="8382000" cy="4572000"/>
          </a:xfrm>
        </p:spPr>
        <p:txBody>
          <a:bodyPr/>
          <a:lstStyle/>
          <a:p>
            <a:pPr eaLnBrk="1" hangingPunct="1">
              <a:lnSpc>
                <a:spcPct val="80000"/>
              </a:lnSpc>
            </a:pPr>
            <a:r>
              <a:rPr lang="en-US" altLang="en-US" dirty="0" smtClean="0"/>
              <a:t>Variable number of parameters</a:t>
            </a:r>
          </a:p>
          <a:p>
            <a:pPr lvl="1" eaLnBrk="1" hangingPunct="1">
              <a:lnSpc>
                <a:spcPct val="80000"/>
              </a:lnSpc>
            </a:pPr>
            <a:r>
              <a:rPr lang="en-US" altLang="en-US" dirty="0"/>
              <a:t>A</a:t>
            </a:r>
            <a:r>
              <a:rPr lang="en-US" altLang="en-US" dirty="0" smtClean="0"/>
              <a:t> subprogram has one or more actual parameters</a:t>
            </a:r>
          </a:p>
          <a:p>
            <a:pPr lvl="1" eaLnBrk="1" hangingPunct="1">
              <a:lnSpc>
                <a:spcPct val="80000"/>
              </a:lnSpc>
            </a:pPr>
            <a:r>
              <a:rPr lang="en-US" altLang="en-US" dirty="0" smtClean="0"/>
              <a:t>Not the same as default parameters</a:t>
            </a:r>
          </a:p>
          <a:p>
            <a:pPr lvl="2" eaLnBrk="1" hangingPunct="1">
              <a:lnSpc>
                <a:spcPct val="80000"/>
              </a:lnSpc>
            </a:pPr>
            <a:r>
              <a:rPr lang="en-US" altLang="en-US" dirty="0" smtClean="0"/>
              <a:t>Default parameters can be left out</a:t>
            </a:r>
          </a:p>
          <a:p>
            <a:pPr lvl="2" eaLnBrk="1" hangingPunct="1">
              <a:lnSpc>
                <a:spcPct val="80000"/>
              </a:lnSpc>
            </a:pPr>
            <a:r>
              <a:rPr lang="en-US" altLang="en-US" dirty="0" smtClean="0"/>
              <a:t>Variable number of parameters </a:t>
            </a:r>
            <a:r>
              <a:rPr lang="en-US" altLang="en-US" dirty="0" smtClean="0"/>
              <a:t>processed like a </a:t>
            </a:r>
            <a:r>
              <a:rPr lang="en-US" altLang="en-US" dirty="0" smtClean="0"/>
              <a:t>list</a:t>
            </a:r>
          </a:p>
        </p:txBody>
      </p:sp>
      <p:sp>
        <p:nvSpPr>
          <p:cNvPr id="5" name="Slide Number Placeholder 4"/>
          <p:cNvSpPr>
            <a:spLocks noGrp="1"/>
          </p:cNvSpPr>
          <p:nvPr>
            <p:ph type="sldNum" sz="quarter" idx="11"/>
          </p:nvPr>
        </p:nvSpPr>
        <p:spPr/>
        <p:txBody>
          <a:bodyPr/>
          <a:lstStyle/>
          <a:p>
            <a:pPr>
              <a:defRPr/>
            </a:pPr>
            <a:r>
              <a:rPr lang="en-US" altLang="en-US" smtClean="0"/>
              <a:t>1-</a:t>
            </a:r>
            <a:fld id="{49A2313E-B607-4553-A2D3-7107AE96A555}" type="slidenum">
              <a:rPr lang="en-US" altLang="en-US" smtClean="0"/>
              <a:pPr>
                <a:defRPr/>
              </a:pPr>
              <a:t>15</a:t>
            </a:fld>
            <a:endParaRPr lang="en-US" altLang="en-US"/>
          </a:p>
        </p:txBody>
      </p:sp>
      <p:sp>
        <p:nvSpPr>
          <p:cNvPr id="27653" name="Rectangle 2"/>
          <p:cNvSpPr>
            <a:spLocks noGrp="1" noChangeArrowheads="1"/>
          </p:cNvSpPr>
          <p:nvPr>
            <p:ph type="title"/>
          </p:nvPr>
        </p:nvSpPr>
        <p:spPr/>
        <p:txBody>
          <a:bodyPr/>
          <a:lstStyle/>
          <a:p>
            <a:r>
              <a:rPr lang="en-US" altLang="en-US" smtClean="0"/>
              <a:t>Variable Number of Parameters</a:t>
            </a:r>
            <a:endParaRPr lang="en-GB" altLang="en-US"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67860"/>
            <a:ext cx="8458200" cy="4572000"/>
          </a:xfrm>
        </p:spPr>
        <p:txBody>
          <a:bodyPr/>
          <a:lstStyle/>
          <a:p>
            <a:pPr eaLnBrk="1" hangingPunct="1">
              <a:lnSpc>
                <a:spcPct val="80000"/>
              </a:lnSpc>
              <a:defRPr/>
            </a:pPr>
            <a:r>
              <a:rPr lang="en-US" altLang="en-US" dirty="0" smtClean="0"/>
              <a:t>In C#</a:t>
            </a:r>
          </a:p>
          <a:p>
            <a:pPr lvl="1" eaLnBrk="1" hangingPunct="1">
              <a:lnSpc>
                <a:spcPct val="80000"/>
              </a:lnSpc>
              <a:defRPr/>
            </a:pPr>
            <a:r>
              <a:rPr lang="en-US" altLang="en-US" dirty="0" smtClean="0"/>
              <a:t>Method can accept variable number of parameters</a:t>
            </a:r>
            <a:endParaRPr lang="en-US" altLang="en-US" sz="1800" dirty="0" smtClean="0"/>
          </a:p>
          <a:p>
            <a:pPr lvl="2" eaLnBrk="1" hangingPunct="1">
              <a:lnSpc>
                <a:spcPct val="80000"/>
              </a:lnSpc>
              <a:defRPr/>
            </a:pPr>
            <a:r>
              <a:rPr lang="en-US" altLang="en-US" dirty="0" smtClean="0"/>
              <a:t>The parameters have to be of the same type</a:t>
            </a:r>
          </a:p>
          <a:p>
            <a:pPr lvl="2" eaLnBrk="1" hangingPunct="1">
              <a:lnSpc>
                <a:spcPct val="80000"/>
              </a:lnSpc>
              <a:defRPr/>
            </a:pPr>
            <a:r>
              <a:rPr lang="en-US" altLang="en-US" dirty="0" smtClean="0"/>
              <a:t>The formal parameter is an array preceded by </a:t>
            </a:r>
            <a:r>
              <a:rPr lang="en-US" altLang="en-US" b="1" dirty="0" err="1" smtClean="0">
                <a:latin typeface="Courier New" panose="02070309020205020404" pitchFamily="49" charset="0"/>
              </a:rPr>
              <a:t>params</a:t>
            </a:r>
            <a:endParaRPr lang="en-US" altLang="en-US" b="1" dirty="0" smtClean="0">
              <a:latin typeface="Courier New" panose="02070309020205020404" pitchFamily="49" charset="0"/>
            </a:endParaRPr>
          </a:p>
          <a:p>
            <a:pPr lvl="2" eaLnBrk="1" hangingPunct="1">
              <a:lnSpc>
                <a:spcPct val="80000"/>
              </a:lnSpc>
              <a:defRPr/>
            </a:pPr>
            <a:r>
              <a:rPr lang="en-US" altLang="en-US" dirty="0" smtClean="0">
                <a:latin typeface="+mj-lt"/>
              </a:rPr>
              <a:t>Why do you think parameters must be the same type?</a:t>
            </a:r>
          </a:p>
        </p:txBody>
      </p:sp>
      <p:sp>
        <p:nvSpPr>
          <p:cNvPr id="5" name="Slide Number Placeholder 4"/>
          <p:cNvSpPr>
            <a:spLocks noGrp="1"/>
          </p:cNvSpPr>
          <p:nvPr>
            <p:ph type="sldNum" sz="quarter" idx="11"/>
          </p:nvPr>
        </p:nvSpPr>
        <p:spPr/>
        <p:txBody>
          <a:bodyPr/>
          <a:lstStyle/>
          <a:p>
            <a:pPr>
              <a:defRPr/>
            </a:pPr>
            <a:r>
              <a:rPr lang="en-US" altLang="en-US" smtClean="0"/>
              <a:t>1-</a:t>
            </a:r>
            <a:fld id="{829695BE-D1A2-4907-AB22-06AED9E897B4}" type="slidenum">
              <a:rPr lang="en-US" altLang="en-US" smtClean="0"/>
              <a:pPr>
                <a:defRPr/>
              </a:pPr>
              <a:t>16</a:t>
            </a:fld>
            <a:endParaRPr lang="en-US" altLang="en-US"/>
          </a:p>
        </p:txBody>
      </p:sp>
      <p:sp>
        <p:nvSpPr>
          <p:cNvPr id="28677" name="Rectangle 2"/>
          <p:cNvSpPr>
            <a:spLocks noGrp="1" noChangeArrowheads="1"/>
          </p:cNvSpPr>
          <p:nvPr>
            <p:ph type="title"/>
          </p:nvPr>
        </p:nvSpPr>
        <p:spPr/>
        <p:txBody>
          <a:bodyPr/>
          <a:lstStyle/>
          <a:p>
            <a:r>
              <a:rPr lang="en-US" altLang="en-US" smtClean="0"/>
              <a:t>Variable Number of Parameters</a:t>
            </a:r>
            <a:endParaRPr lang="en-GB" altLang="en-US"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67860"/>
            <a:ext cx="8229600" cy="4572000"/>
          </a:xfrm>
        </p:spPr>
        <p:txBody>
          <a:bodyPr/>
          <a:lstStyle/>
          <a:p>
            <a:pPr eaLnBrk="1" hangingPunct="1">
              <a:lnSpc>
                <a:spcPct val="80000"/>
              </a:lnSpc>
              <a:defRPr/>
            </a:pPr>
            <a:r>
              <a:rPr lang="en-US" altLang="en-US" dirty="0" smtClean="0"/>
              <a:t>In C#</a:t>
            </a:r>
          </a:p>
          <a:p>
            <a:pPr lvl="1" eaLnBrk="1" hangingPunct="1">
              <a:lnSpc>
                <a:spcPct val="80000"/>
              </a:lnSpc>
              <a:defRPr/>
            </a:pPr>
            <a:r>
              <a:rPr lang="en-US" dirty="0" smtClean="0">
                <a:latin typeface="+mj-lt"/>
              </a:rPr>
              <a:t>For example, in class </a:t>
            </a:r>
            <a:r>
              <a:rPr lang="en-US" dirty="0" err="1" smtClean="0">
                <a:latin typeface="Courier New" panose="02070309020205020404" pitchFamily="49" charset="0"/>
                <a:cs typeface="Courier New" panose="02070309020205020404" pitchFamily="49" charset="0"/>
              </a:rPr>
              <a:t>MyClass</a:t>
            </a:r>
            <a:endParaRPr lang="en-US" dirty="0" smtClean="0">
              <a:latin typeface="Courier New" panose="02070309020205020404" pitchFamily="49" charset="0"/>
              <a:cs typeface="Courier New" panose="02070309020205020404" pitchFamily="49" charset="0"/>
            </a:endParaRPr>
          </a:p>
          <a:p>
            <a:pPr marL="457200" lvl="1" indent="0" eaLnBrk="1" hangingPunct="1">
              <a:lnSpc>
                <a:spcPct val="80000"/>
              </a:lnSpc>
              <a:buNone/>
              <a:defRPr/>
            </a:pPr>
            <a:endParaRPr lang="en-US" sz="600" dirty="0">
              <a:solidFill>
                <a:srgbClr val="333399"/>
              </a:solidFill>
            </a:endParaRPr>
          </a:p>
          <a:p>
            <a:pPr marL="457200" lvl="1" indent="0" eaLnBrk="1" hangingPunct="1">
              <a:lnSpc>
                <a:spcPct val="80000"/>
              </a:lnSpc>
              <a:buNone/>
              <a:defRPr/>
            </a:pPr>
            <a:r>
              <a:rPr lang="en-US" sz="1600" dirty="0">
                <a:solidFill>
                  <a:srgbClr val="333399"/>
                </a:solidFill>
                <a:latin typeface="Courier New" panose="02070309020205020404" pitchFamily="49" charset="0"/>
                <a:cs typeface="Courier New" panose="02070309020205020404" pitchFamily="49" charset="0"/>
              </a:rPr>
              <a:t>     </a:t>
            </a:r>
            <a:r>
              <a:rPr lang="en-US" sz="1600" b="1" dirty="0">
                <a:solidFill>
                  <a:srgbClr val="333399"/>
                </a:solidFill>
                <a:latin typeface="Courier New" panose="02070309020205020404" pitchFamily="49" charset="0"/>
                <a:cs typeface="Courier New" panose="02070309020205020404" pitchFamily="49" charset="0"/>
              </a:rPr>
              <a:t>public void</a:t>
            </a:r>
            <a:r>
              <a:rPr lang="en-US" sz="1600" dirty="0">
                <a:solidFill>
                  <a:srgbClr val="333399"/>
                </a:solidFill>
                <a:latin typeface="Courier New" panose="02070309020205020404" pitchFamily="49" charset="0"/>
                <a:cs typeface="Courier New" panose="02070309020205020404" pitchFamily="49" charset="0"/>
              </a:rPr>
              <a:t> </a:t>
            </a:r>
            <a:r>
              <a:rPr lang="en-US" sz="1600" dirty="0" err="1">
                <a:solidFill>
                  <a:srgbClr val="333399"/>
                </a:solidFill>
                <a:latin typeface="Courier New" panose="02070309020205020404" pitchFamily="49" charset="0"/>
                <a:cs typeface="Courier New" panose="02070309020205020404" pitchFamily="49" charset="0"/>
              </a:rPr>
              <a:t>DisplayList</a:t>
            </a:r>
            <a:r>
              <a:rPr lang="en-US" sz="1600" dirty="0">
                <a:solidFill>
                  <a:srgbClr val="333399"/>
                </a:solidFill>
                <a:latin typeface="Courier New" panose="02070309020205020404" pitchFamily="49" charset="0"/>
                <a:cs typeface="Courier New" panose="02070309020205020404" pitchFamily="49" charset="0"/>
              </a:rPr>
              <a:t>(</a:t>
            </a:r>
            <a:r>
              <a:rPr lang="en-US" sz="1600" b="1" dirty="0" err="1">
                <a:solidFill>
                  <a:srgbClr val="333399"/>
                </a:solidFill>
                <a:latin typeface="Courier New" panose="02070309020205020404" pitchFamily="49" charset="0"/>
                <a:cs typeface="Courier New" panose="02070309020205020404" pitchFamily="49" charset="0"/>
              </a:rPr>
              <a:t>params</a:t>
            </a:r>
            <a:r>
              <a:rPr lang="en-US" sz="1600" b="1" dirty="0">
                <a:solidFill>
                  <a:srgbClr val="333399"/>
                </a:solidFill>
                <a:latin typeface="Courier New" panose="02070309020205020404" pitchFamily="49" charset="0"/>
                <a:cs typeface="Courier New" panose="02070309020205020404" pitchFamily="49" charset="0"/>
              </a:rPr>
              <a:t> </a:t>
            </a:r>
            <a:r>
              <a:rPr lang="en-US" sz="1600" b="1" dirty="0" err="1">
                <a:solidFill>
                  <a:srgbClr val="333399"/>
                </a:solidFill>
                <a:latin typeface="Courier New" panose="02070309020205020404" pitchFamily="49" charset="0"/>
                <a:cs typeface="Courier New" panose="02070309020205020404" pitchFamily="49" charset="0"/>
              </a:rPr>
              <a:t>int</a:t>
            </a:r>
            <a:r>
              <a:rPr lang="en-US" sz="1600" dirty="0">
                <a:solidFill>
                  <a:srgbClr val="333399"/>
                </a:solidFill>
                <a:latin typeface="Courier New" panose="02070309020205020404" pitchFamily="49" charset="0"/>
                <a:cs typeface="Courier New" panose="02070309020205020404" pitchFamily="49" charset="0"/>
              </a:rPr>
              <a:t>[] list) {</a:t>
            </a:r>
          </a:p>
          <a:p>
            <a:pPr marL="457200" lvl="1" indent="0" eaLnBrk="1" hangingPunct="1">
              <a:lnSpc>
                <a:spcPct val="80000"/>
              </a:lnSpc>
              <a:buNone/>
              <a:defRPr/>
            </a:pPr>
            <a:r>
              <a:rPr lang="en-US" sz="1600" dirty="0">
                <a:solidFill>
                  <a:srgbClr val="333399"/>
                </a:solidFill>
                <a:latin typeface="Courier New" panose="02070309020205020404" pitchFamily="49" charset="0"/>
                <a:cs typeface="Courier New" panose="02070309020205020404" pitchFamily="49" charset="0"/>
              </a:rPr>
              <a:t>        </a:t>
            </a:r>
            <a:r>
              <a:rPr lang="en-US" sz="1600" b="1" dirty="0" err="1">
                <a:solidFill>
                  <a:srgbClr val="333399"/>
                </a:solidFill>
                <a:latin typeface="Courier New" panose="02070309020205020404" pitchFamily="49" charset="0"/>
                <a:cs typeface="Courier New" panose="02070309020205020404" pitchFamily="49" charset="0"/>
              </a:rPr>
              <a:t>foreach</a:t>
            </a:r>
            <a:r>
              <a:rPr lang="en-US" sz="1600" dirty="0">
                <a:solidFill>
                  <a:srgbClr val="333399"/>
                </a:solidFill>
                <a:latin typeface="Courier New" panose="02070309020205020404" pitchFamily="49" charset="0"/>
                <a:cs typeface="Courier New" panose="02070309020205020404" pitchFamily="49" charset="0"/>
              </a:rPr>
              <a:t> (</a:t>
            </a:r>
            <a:r>
              <a:rPr lang="en-US" sz="1600" b="1" dirty="0" err="1">
                <a:solidFill>
                  <a:srgbClr val="333399"/>
                </a:solidFill>
                <a:latin typeface="Courier New" panose="02070309020205020404" pitchFamily="49" charset="0"/>
                <a:cs typeface="Courier New" panose="02070309020205020404" pitchFamily="49" charset="0"/>
              </a:rPr>
              <a:t>int</a:t>
            </a:r>
            <a:r>
              <a:rPr lang="en-US" sz="1600" dirty="0">
                <a:solidFill>
                  <a:srgbClr val="333399"/>
                </a:solidFill>
                <a:latin typeface="Courier New" panose="02070309020205020404" pitchFamily="49" charset="0"/>
                <a:cs typeface="Courier New" panose="02070309020205020404" pitchFamily="49" charset="0"/>
              </a:rPr>
              <a:t> next </a:t>
            </a:r>
            <a:r>
              <a:rPr lang="en-US" sz="1600" b="1" dirty="0">
                <a:solidFill>
                  <a:srgbClr val="333399"/>
                </a:solidFill>
                <a:latin typeface="Courier New" panose="02070309020205020404" pitchFamily="49" charset="0"/>
                <a:cs typeface="Courier New" panose="02070309020205020404" pitchFamily="49" charset="0"/>
              </a:rPr>
              <a:t>in</a:t>
            </a:r>
            <a:r>
              <a:rPr lang="en-US" sz="1600" dirty="0">
                <a:solidFill>
                  <a:srgbClr val="333399"/>
                </a:solidFill>
                <a:latin typeface="Courier New" panose="02070309020205020404" pitchFamily="49" charset="0"/>
                <a:cs typeface="Courier New" panose="02070309020205020404" pitchFamily="49" charset="0"/>
              </a:rPr>
              <a:t> list) {</a:t>
            </a:r>
          </a:p>
          <a:p>
            <a:pPr marL="457200" lvl="1" indent="0" eaLnBrk="1" hangingPunct="1">
              <a:lnSpc>
                <a:spcPct val="80000"/>
              </a:lnSpc>
              <a:buNone/>
              <a:defRPr/>
            </a:pPr>
            <a:r>
              <a:rPr lang="en-US" sz="1600" dirty="0">
                <a:solidFill>
                  <a:srgbClr val="333399"/>
                </a:solidFill>
                <a:latin typeface="Courier New" panose="02070309020205020404" pitchFamily="49" charset="0"/>
                <a:cs typeface="Courier New" panose="02070309020205020404" pitchFamily="49" charset="0"/>
              </a:rPr>
              <a:t>           </a:t>
            </a:r>
            <a:r>
              <a:rPr lang="en-US" sz="1600" dirty="0" err="1">
                <a:solidFill>
                  <a:srgbClr val="333399"/>
                </a:solidFill>
                <a:latin typeface="Courier New" panose="02070309020205020404" pitchFamily="49" charset="0"/>
                <a:cs typeface="Courier New" panose="02070309020205020404" pitchFamily="49" charset="0"/>
              </a:rPr>
              <a:t>Console.WriteLine</a:t>
            </a:r>
            <a:r>
              <a:rPr lang="en-US" sz="1600" dirty="0">
                <a:solidFill>
                  <a:srgbClr val="333399"/>
                </a:solidFill>
                <a:latin typeface="Courier New" panose="02070309020205020404" pitchFamily="49" charset="0"/>
                <a:cs typeface="Courier New" panose="02070309020205020404" pitchFamily="49" charset="0"/>
              </a:rPr>
              <a:t>("Value {0}", next);</a:t>
            </a:r>
          </a:p>
          <a:p>
            <a:pPr marL="457200" lvl="1" indent="0" eaLnBrk="1" hangingPunct="1">
              <a:lnSpc>
                <a:spcPct val="80000"/>
              </a:lnSpc>
              <a:buNone/>
              <a:defRPr/>
            </a:pPr>
            <a:r>
              <a:rPr lang="en-US" sz="1600" dirty="0">
                <a:solidFill>
                  <a:srgbClr val="333399"/>
                </a:solidFill>
                <a:latin typeface="Courier New" panose="02070309020205020404" pitchFamily="49" charset="0"/>
                <a:cs typeface="Courier New" panose="02070309020205020404" pitchFamily="49" charset="0"/>
              </a:rPr>
              <a:t>        }</a:t>
            </a:r>
          </a:p>
          <a:p>
            <a:pPr marL="457200" lvl="1" indent="0" eaLnBrk="1" hangingPunct="1">
              <a:lnSpc>
                <a:spcPct val="80000"/>
              </a:lnSpc>
              <a:buNone/>
              <a:defRPr/>
            </a:pPr>
            <a:r>
              <a:rPr lang="en-US" sz="1600" dirty="0">
                <a:solidFill>
                  <a:srgbClr val="333399"/>
                </a:solidFill>
                <a:latin typeface="Courier New" panose="02070309020205020404" pitchFamily="49" charset="0"/>
                <a:cs typeface="Courier New" panose="02070309020205020404" pitchFamily="49" charset="0"/>
              </a:rPr>
              <a:t>     }</a:t>
            </a:r>
          </a:p>
          <a:p>
            <a:pPr marL="457200" lvl="1" indent="0" eaLnBrk="1" hangingPunct="1">
              <a:lnSpc>
                <a:spcPct val="80000"/>
              </a:lnSpc>
              <a:buNone/>
              <a:defRPr/>
            </a:pPr>
            <a:endParaRPr lang="en-US" sz="1050" dirty="0">
              <a:solidFill>
                <a:srgbClr val="333399"/>
              </a:solidFill>
              <a:latin typeface="Courier New" panose="02070309020205020404" pitchFamily="49" charset="0"/>
              <a:cs typeface="Courier New" panose="02070309020205020404" pitchFamily="49" charset="0"/>
            </a:endParaRPr>
          </a:p>
          <a:p>
            <a:pPr lvl="1" eaLnBrk="1" hangingPunct="1">
              <a:lnSpc>
                <a:spcPct val="80000"/>
              </a:lnSpc>
              <a:defRPr/>
            </a:pPr>
            <a:r>
              <a:rPr lang="en-US" dirty="0" smtClean="0">
                <a:latin typeface="+mj-lt"/>
                <a:cs typeface="Courier New" panose="02070309020205020404" pitchFamily="49" charset="0"/>
              </a:rPr>
              <a:t>Can</a:t>
            </a:r>
            <a:r>
              <a:rPr lang="en-US" dirty="0"/>
              <a:t> be used in the following two ways</a:t>
            </a:r>
            <a:r>
              <a:rPr lang="en-US" dirty="0" smtClean="0"/>
              <a:t>:</a:t>
            </a:r>
            <a:endParaRPr lang="en-US" dirty="0" smtClean="0">
              <a:latin typeface="Courier New" panose="02070309020205020404" pitchFamily="49" charset="0"/>
              <a:cs typeface="Courier New" panose="02070309020205020404" pitchFamily="49" charset="0"/>
            </a:endParaRPr>
          </a:p>
          <a:p>
            <a:pPr marL="457200" lvl="1" indent="0" eaLnBrk="1" hangingPunct="1">
              <a:lnSpc>
                <a:spcPct val="80000"/>
              </a:lnSpc>
              <a:buFontTx/>
              <a:buNone/>
              <a:defRPr/>
            </a:pPr>
            <a:endParaRPr lang="en-ZA" sz="600" dirty="0" smtClean="0">
              <a:latin typeface="Courier New" panose="02070309020205020404" pitchFamily="49" charset="0"/>
              <a:cs typeface="Courier New" panose="02070309020205020404" pitchFamily="49" charset="0"/>
            </a:endParaRPr>
          </a:p>
          <a:p>
            <a:pPr marL="457200" lvl="1" indent="0" eaLnBrk="1" hangingPunct="1">
              <a:lnSpc>
                <a:spcPct val="80000"/>
              </a:lnSpc>
              <a:buFontTx/>
              <a:buNone/>
              <a:defRPr/>
            </a:pPr>
            <a:r>
              <a:rPr lang="en-ZA" sz="1600" dirty="0" smtClean="0">
                <a:latin typeface="Courier New" panose="02070309020205020404" pitchFamily="49" charset="0"/>
                <a:cs typeface="Courier New" panose="02070309020205020404" pitchFamily="49" charset="0"/>
              </a:rPr>
              <a:t>     </a:t>
            </a:r>
            <a:r>
              <a:rPr lang="en-ZA" sz="1600" dirty="0" err="1" smtClean="0">
                <a:latin typeface="Courier New" panose="02070309020205020404" pitchFamily="49" charset="0"/>
                <a:cs typeface="Courier New" panose="02070309020205020404" pitchFamily="49" charset="0"/>
              </a:rPr>
              <a:t>Myclass</a:t>
            </a:r>
            <a:r>
              <a:rPr lang="en-ZA" sz="1600" dirty="0" smtClean="0">
                <a:latin typeface="Courier New" panose="02070309020205020404" pitchFamily="49" charset="0"/>
                <a:cs typeface="Courier New" panose="02070309020205020404" pitchFamily="49" charset="0"/>
              </a:rPr>
              <a:t> </a:t>
            </a:r>
            <a:r>
              <a:rPr lang="en-ZA" sz="1600" dirty="0" err="1" smtClean="0">
                <a:latin typeface="Courier New" panose="02070309020205020404" pitchFamily="49" charset="0"/>
                <a:cs typeface="Courier New" panose="02070309020205020404" pitchFamily="49" charset="0"/>
              </a:rPr>
              <a:t>myObject</a:t>
            </a:r>
            <a:r>
              <a:rPr lang="en-ZA" sz="1600" dirty="0" smtClean="0">
                <a:latin typeface="Courier New" panose="02070309020205020404" pitchFamily="49" charset="0"/>
                <a:cs typeface="Courier New" panose="02070309020205020404" pitchFamily="49" charset="0"/>
              </a:rPr>
              <a:t> = </a:t>
            </a:r>
            <a:r>
              <a:rPr lang="en-ZA" sz="1600" b="1" dirty="0" smtClean="0">
                <a:latin typeface="Courier New" panose="02070309020205020404" pitchFamily="49" charset="0"/>
                <a:cs typeface="Courier New" panose="02070309020205020404" pitchFamily="49" charset="0"/>
              </a:rPr>
              <a:t>new</a:t>
            </a:r>
            <a:r>
              <a:rPr lang="en-ZA" sz="1600" dirty="0" smtClean="0">
                <a:latin typeface="Courier New" panose="02070309020205020404" pitchFamily="49" charset="0"/>
                <a:cs typeface="Courier New" panose="02070309020205020404" pitchFamily="49" charset="0"/>
              </a:rPr>
              <a:t> </a:t>
            </a:r>
            <a:r>
              <a:rPr lang="en-ZA" sz="1600" dirty="0" err="1" smtClean="0">
                <a:latin typeface="Courier New" panose="02070309020205020404" pitchFamily="49" charset="0"/>
                <a:cs typeface="Courier New" panose="02070309020205020404" pitchFamily="49" charset="0"/>
              </a:rPr>
              <a:t>Myclass</a:t>
            </a:r>
            <a:r>
              <a:rPr lang="en-ZA" sz="1600" dirty="0" smtClean="0">
                <a:latin typeface="Courier New" panose="02070309020205020404" pitchFamily="49" charset="0"/>
                <a:cs typeface="Courier New" panose="02070309020205020404" pitchFamily="49" charset="0"/>
              </a:rPr>
              <a:t>;</a:t>
            </a:r>
          </a:p>
          <a:p>
            <a:pPr marL="457200" lvl="1" indent="0" eaLnBrk="1" hangingPunct="1">
              <a:lnSpc>
                <a:spcPct val="80000"/>
              </a:lnSpc>
              <a:buFontTx/>
              <a:buNone/>
              <a:defRPr/>
            </a:pPr>
            <a:endParaRPr lang="en-ZA" sz="1600" dirty="0" smtClean="0">
              <a:latin typeface="Courier New" panose="02070309020205020404" pitchFamily="49" charset="0"/>
              <a:cs typeface="Courier New" panose="02070309020205020404" pitchFamily="49" charset="0"/>
            </a:endParaRPr>
          </a:p>
          <a:p>
            <a:pPr marL="457200" lvl="1" indent="0" eaLnBrk="1" hangingPunct="1">
              <a:lnSpc>
                <a:spcPct val="80000"/>
              </a:lnSpc>
              <a:buFontTx/>
              <a:buNone/>
              <a:defRPr/>
            </a:pPr>
            <a:r>
              <a:rPr lang="en-ZA" sz="1600" dirty="0" smtClean="0">
                <a:latin typeface="Courier New" panose="02070309020205020404" pitchFamily="49" charset="0"/>
                <a:cs typeface="Courier New" panose="02070309020205020404" pitchFamily="49" charset="0"/>
              </a:rPr>
              <a:t>     </a:t>
            </a:r>
            <a:r>
              <a:rPr lang="en-ZA" sz="1600" b="1" dirty="0" err="1" smtClean="0">
                <a:latin typeface="Courier New" panose="02070309020205020404" pitchFamily="49" charset="0"/>
                <a:cs typeface="Courier New" panose="02070309020205020404" pitchFamily="49" charset="0"/>
              </a:rPr>
              <a:t>int</a:t>
            </a:r>
            <a:r>
              <a:rPr lang="en-ZA" sz="1600" dirty="0" smtClean="0">
                <a:latin typeface="Courier New" panose="02070309020205020404" pitchFamily="49" charset="0"/>
                <a:cs typeface="Courier New" panose="02070309020205020404" pitchFamily="49" charset="0"/>
              </a:rPr>
              <a:t>[] </a:t>
            </a:r>
            <a:r>
              <a:rPr lang="en-ZA" sz="1600" dirty="0" err="1" smtClean="0">
                <a:latin typeface="Courier New" panose="02070309020205020404" pitchFamily="49" charset="0"/>
                <a:cs typeface="Courier New" panose="02070309020205020404" pitchFamily="49" charset="0"/>
              </a:rPr>
              <a:t>myList</a:t>
            </a:r>
            <a:r>
              <a:rPr lang="en-ZA" sz="1600" dirty="0" smtClean="0">
                <a:latin typeface="Courier New" panose="02070309020205020404" pitchFamily="49" charset="0"/>
                <a:cs typeface="Courier New" panose="02070309020205020404" pitchFamily="49" charset="0"/>
              </a:rPr>
              <a:t> = </a:t>
            </a:r>
            <a:r>
              <a:rPr lang="en-ZA" sz="1600" b="1" dirty="0" smtClean="0">
                <a:latin typeface="Courier New" panose="02070309020205020404" pitchFamily="49" charset="0"/>
                <a:cs typeface="Courier New" panose="02070309020205020404" pitchFamily="49" charset="0"/>
              </a:rPr>
              <a:t>new</a:t>
            </a:r>
            <a:r>
              <a:rPr lang="en-ZA" sz="1600" dirty="0" smtClean="0">
                <a:latin typeface="Courier New" panose="02070309020205020404" pitchFamily="49" charset="0"/>
                <a:cs typeface="Courier New" panose="02070309020205020404" pitchFamily="49" charset="0"/>
              </a:rPr>
              <a:t> </a:t>
            </a:r>
            <a:r>
              <a:rPr lang="en-ZA" sz="1600" b="1" dirty="0" err="1" smtClean="0">
                <a:latin typeface="Courier New" panose="02070309020205020404" pitchFamily="49" charset="0"/>
                <a:cs typeface="Courier New" panose="02070309020205020404" pitchFamily="49" charset="0"/>
              </a:rPr>
              <a:t>int</a:t>
            </a:r>
            <a:r>
              <a:rPr lang="en-ZA" sz="1600" dirty="0" smtClean="0">
                <a:latin typeface="Courier New" panose="02070309020205020404" pitchFamily="49" charset="0"/>
                <a:cs typeface="Courier New" panose="02070309020205020404" pitchFamily="49" charset="0"/>
              </a:rPr>
              <a:t>[6] {2, 4, 6, 8, 10, 12};</a:t>
            </a:r>
          </a:p>
          <a:p>
            <a:pPr marL="457200" lvl="1" indent="0" eaLnBrk="1" hangingPunct="1">
              <a:lnSpc>
                <a:spcPct val="80000"/>
              </a:lnSpc>
              <a:buFontTx/>
              <a:buNone/>
              <a:defRPr/>
            </a:pPr>
            <a:r>
              <a:rPr lang="en-ZA" sz="1600" dirty="0" smtClean="0">
                <a:latin typeface="Courier New" panose="02070309020205020404" pitchFamily="49" charset="0"/>
                <a:cs typeface="Courier New" panose="02070309020205020404" pitchFamily="49" charset="0"/>
              </a:rPr>
              <a:t>     </a:t>
            </a:r>
            <a:r>
              <a:rPr lang="en-ZA" sz="1600" dirty="0" err="1" smtClean="0">
                <a:latin typeface="Courier New" panose="02070309020205020404" pitchFamily="49" charset="0"/>
                <a:cs typeface="Courier New" panose="02070309020205020404" pitchFamily="49" charset="0"/>
              </a:rPr>
              <a:t>myObject.DisplayList</a:t>
            </a:r>
            <a:r>
              <a:rPr lang="en-ZA" sz="1600" dirty="0" smtClean="0">
                <a:latin typeface="Courier New" panose="02070309020205020404" pitchFamily="49" charset="0"/>
                <a:cs typeface="Courier New" panose="02070309020205020404" pitchFamily="49" charset="0"/>
              </a:rPr>
              <a:t>(</a:t>
            </a:r>
            <a:r>
              <a:rPr lang="en-ZA" sz="1600" dirty="0" err="1" smtClean="0">
                <a:latin typeface="Courier New" panose="02070309020205020404" pitchFamily="49" charset="0"/>
                <a:cs typeface="Courier New" panose="02070309020205020404" pitchFamily="49" charset="0"/>
              </a:rPr>
              <a:t>myList</a:t>
            </a:r>
            <a:r>
              <a:rPr lang="en-ZA" sz="1600" dirty="0" smtClean="0">
                <a:latin typeface="Courier New" panose="02070309020205020404" pitchFamily="49" charset="0"/>
                <a:cs typeface="Courier New" panose="02070309020205020404" pitchFamily="49" charset="0"/>
              </a:rPr>
              <a:t>);               // first way</a:t>
            </a:r>
          </a:p>
          <a:p>
            <a:pPr marL="457200" lvl="1" indent="0" eaLnBrk="1" hangingPunct="1">
              <a:lnSpc>
                <a:spcPct val="80000"/>
              </a:lnSpc>
              <a:buFontTx/>
              <a:buNone/>
              <a:defRPr/>
            </a:pPr>
            <a:endParaRPr lang="en-ZA" sz="1600" dirty="0" smtClean="0">
              <a:latin typeface="Courier New" panose="02070309020205020404" pitchFamily="49" charset="0"/>
              <a:cs typeface="Courier New" panose="02070309020205020404" pitchFamily="49" charset="0"/>
            </a:endParaRPr>
          </a:p>
          <a:p>
            <a:pPr marL="457200" lvl="1" indent="0" eaLnBrk="1" hangingPunct="1">
              <a:lnSpc>
                <a:spcPct val="80000"/>
              </a:lnSpc>
              <a:buFontTx/>
              <a:buNone/>
              <a:defRPr/>
            </a:pPr>
            <a:r>
              <a:rPr lang="en-ZA" sz="1600" dirty="0" smtClean="0">
                <a:latin typeface="Courier New" panose="02070309020205020404" pitchFamily="49" charset="0"/>
                <a:cs typeface="Courier New" panose="02070309020205020404" pitchFamily="49" charset="0"/>
              </a:rPr>
              <a:t>     </a:t>
            </a:r>
            <a:r>
              <a:rPr lang="en-ZA" sz="1600" dirty="0" err="1" smtClean="0">
                <a:latin typeface="Courier New" panose="02070309020205020404" pitchFamily="49" charset="0"/>
                <a:cs typeface="Courier New" panose="02070309020205020404" pitchFamily="49" charset="0"/>
              </a:rPr>
              <a:t>myObject.DisplayList</a:t>
            </a:r>
            <a:r>
              <a:rPr lang="en-ZA" sz="1600" dirty="0" smtClean="0">
                <a:latin typeface="Courier New" panose="02070309020205020404" pitchFamily="49" charset="0"/>
                <a:cs typeface="Courier New" panose="02070309020205020404" pitchFamily="49" charset="0"/>
              </a:rPr>
              <a:t>(2, 4, 3 * x - 1, 17);  // second way</a:t>
            </a:r>
            <a:endParaRPr lang="en-ZA" sz="1600" dirty="0">
              <a:latin typeface="Courier New" panose="02070309020205020404" pitchFamily="49" charset="0"/>
              <a:cs typeface="Courier New" panose="02070309020205020404" pitchFamily="49" charset="0"/>
            </a:endParaRPr>
          </a:p>
        </p:txBody>
      </p:sp>
      <p:sp>
        <p:nvSpPr>
          <p:cNvPr id="5" name="Slide Number Placeholder 4"/>
          <p:cNvSpPr>
            <a:spLocks noGrp="1"/>
          </p:cNvSpPr>
          <p:nvPr>
            <p:ph type="sldNum" sz="quarter" idx="11"/>
          </p:nvPr>
        </p:nvSpPr>
        <p:spPr/>
        <p:txBody>
          <a:bodyPr/>
          <a:lstStyle/>
          <a:p>
            <a:pPr>
              <a:defRPr/>
            </a:pPr>
            <a:r>
              <a:rPr lang="en-US" altLang="en-US" smtClean="0"/>
              <a:t>1-</a:t>
            </a:r>
            <a:fld id="{829695BE-D1A2-4907-AB22-06AED9E897B4}" type="slidenum">
              <a:rPr lang="en-US" altLang="en-US" smtClean="0"/>
              <a:pPr>
                <a:defRPr/>
              </a:pPr>
              <a:t>17</a:t>
            </a:fld>
            <a:endParaRPr lang="en-US" altLang="en-US"/>
          </a:p>
        </p:txBody>
      </p:sp>
      <p:sp>
        <p:nvSpPr>
          <p:cNvPr id="28677" name="Rectangle 2"/>
          <p:cNvSpPr>
            <a:spLocks noGrp="1" noChangeArrowheads="1"/>
          </p:cNvSpPr>
          <p:nvPr>
            <p:ph type="title"/>
          </p:nvPr>
        </p:nvSpPr>
        <p:spPr/>
        <p:txBody>
          <a:bodyPr/>
          <a:lstStyle/>
          <a:p>
            <a:r>
              <a:rPr lang="en-US" altLang="en-US" smtClean="0"/>
              <a:t>Variable Number of Parameters</a:t>
            </a:r>
            <a:endParaRPr lang="en-GB" altLang="en-US" smtClean="0"/>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31319899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smtClean="0"/>
              <a:t>Variable Number of Parameters</a:t>
            </a:r>
            <a:endParaRPr lang="en-GB" altLang="en-US" smtClean="0"/>
          </a:p>
        </p:txBody>
      </p:sp>
      <p:sp>
        <p:nvSpPr>
          <p:cNvPr id="30723" name="Rectangle 3"/>
          <p:cNvSpPr>
            <a:spLocks noGrp="1" noChangeArrowheads="1"/>
          </p:cNvSpPr>
          <p:nvPr>
            <p:ph type="body" idx="1"/>
          </p:nvPr>
        </p:nvSpPr>
        <p:spPr>
          <a:xfrm>
            <a:off x="609600" y="1667860"/>
            <a:ext cx="8153400" cy="4572000"/>
          </a:xfrm>
        </p:spPr>
        <p:txBody>
          <a:bodyPr/>
          <a:lstStyle/>
          <a:p>
            <a:pPr eaLnBrk="1" hangingPunct="1">
              <a:lnSpc>
                <a:spcPct val="80000"/>
              </a:lnSpc>
            </a:pPr>
            <a:r>
              <a:rPr lang="en-US" altLang="en-US" dirty="0" smtClean="0"/>
              <a:t>In Ruby</a:t>
            </a:r>
          </a:p>
          <a:p>
            <a:pPr lvl="1" eaLnBrk="1" hangingPunct="1">
              <a:lnSpc>
                <a:spcPct val="80000"/>
              </a:lnSpc>
            </a:pPr>
            <a:r>
              <a:rPr lang="en-US" altLang="en-US" dirty="0" smtClean="0"/>
              <a:t>Actual parameters sent as elements of an </a:t>
            </a:r>
            <a:r>
              <a:rPr lang="en-US" altLang="en-US" dirty="0" smtClean="0">
                <a:latin typeface="Courier New" panose="02070309020205020404" pitchFamily="49" charset="0"/>
              </a:rPr>
              <a:t>Array</a:t>
            </a:r>
            <a:endParaRPr lang="en-US" altLang="en-US" dirty="0" smtClean="0"/>
          </a:p>
          <a:p>
            <a:pPr lvl="1" eaLnBrk="1" hangingPunct="1">
              <a:lnSpc>
                <a:spcPct val="80000"/>
              </a:lnSpc>
            </a:pPr>
            <a:r>
              <a:rPr lang="en-US" altLang="en-US" dirty="0" smtClean="0"/>
              <a:t>The array can contain mixed </a:t>
            </a:r>
            <a:r>
              <a:rPr lang="en-US" altLang="en-US" dirty="0" smtClean="0"/>
              <a:t>types (why?)</a:t>
            </a:r>
            <a:endParaRPr lang="en-US" altLang="en-US" dirty="0" smtClean="0"/>
          </a:p>
          <a:p>
            <a:pPr lvl="1" eaLnBrk="1" hangingPunct="1">
              <a:lnSpc>
                <a:spcPct val="80000"/>
              </a:lnSpc>
            </a:pPr>
            <a:r>
              <a:rPr lang="en-US" altLang="en-US" dirty="0" smtClean="0"/>
              <a:t>Formal parameter is preceded by an asterisk</a:t>
            </a:r>
          </a:p>
          <a:p>
            <a:pPr lvl="1" eaLnBrk="1" hangingPunct="1">
              <a:lnSpc>
                <a:spcPct val="80000"/>
              </a:lnSpc>
              <a:buFontTx/>
              <a:buNone/>
            </a:pPr>
            <a:endParaRPr lang="en-US" altLang="en-US" dirty="0" smtClean="0">
              <a:latin typeface="Courier New" panose="02070309020205020404" pitchFamily="49" charset="0"/>
            </a:endParaRPr>
          </a:p>
          <a:p>
            <a:pPr lvl="1" eaLnBrk="1" hangingPunct="1">
              <a:lnSpc>
                <a:spcPct val="80000"/>
              </a:lnSpc>
              <a:buFontTx/>
              <a:buNone/>
            </a:pPr>
            <a:r>
              <a:rPr lang="en-US" altLang="en-US" sz="2000" dirty="0" smtClean="0">
                <a:latin typeface="Courier New" panose="02070309020205020404" pitchFamily="49" charset="0"/>
              </a:rPr>
              <a:t>	   </a:t>
            </a:r>
            <a:r>
              <a:rPr lang="en-US" altLang="en-US" sz="2000" b="1" dirty="0" err="1" smtClean="0">
                <a:latin typeface="Courier New" panose="02070309020205020404" pitchFamily="49" charset="0"/>
              </a:rPr>
              <a:t>def</a:t>
            </a:r>
            <a:r>
              <a:rPr lang="en-US" altLang="en-US" sz="2000" dirty="0" smtClean="0">
                <a:latin typeface="Courier New" panose="02070309020205020404" pitchFamily="49" charset="0"/>
              </a:rPr>
              <a:t> tester(p1, p2, *p3)</a:t>
            </a:r>
          </a:p>
          <a:p>
            <a:pPr lvl="1" eaLnBrk="1" hangingPunct="1">
              <a:lnSpc>
                <a:spcPct val="80000"/>
              </a:lnSpc>
              <a:buFontTx/>
              <a:buNone/>
            </a:pPr>
            <a:r>
              <a:rPr lang="en-US" altLang="en-US" sz="2000" dirty="0" smtClean="0">
                <a:latin typeface="Courier New" panose="02070309020205020404" pitchFamily="49" charset="0"/>
              </a:rPr>
              <a:t>	      ...</a:t>
            </a:r>
          </a:p>
          <a:p>
            <a:pPr lvl="1" eaLnBrk="1" hangingPunct="1">
              <a:lnSpc>
                <a:spcPct val="80000"/>
              </a:lnSpc>
              <a:buFontTx/>
              <a:buNone/>
            </a:pPr>
            <a:r>
              <a:rPr lang="en-US" altLang="en-US" sz="2000" dirty="0" smtClean="0">
                <a:latin typeface="Courier New" panose="02070309020205020404" pitchFamily="49" charset="0"/>
              </a:rPr>
              <a:t>	   </a:t>
            </a:r>
            <a:r>
              <a:rPr lang="en-US" altLang="en-US" sz="2000" b="1" dirty="0" smtClean="0">
                <a:latin typeface="Courier New" panose="02070309020205020404" pitchFamily="49" charset="0"/>
              </a:rPr>
              <a:t>end</a:t>
            </a:r>
            <a:endParaRPr lang="en-US" altLang="en-US" dirty="0" smtClean="0">
              <a:latin typeface="Courier New" panose="02070309020205020404" pitchFamily="49" charset="0"/>
            </a:endParaRPr>
          </a:p>
          <a:p>
            <a:pPr lvl="1" eaLnBrk="1" hangingPunct="1">
              <a:lnSpc>
                <a:spcPct val="80000"/>
              </a:lnSpc>
              <a:buFontTx/>
              <a:buNone/>
            </a:pPr>
            <a:endParaRPr lang="en-US" altLang="en-US" dirty="0" smtClean="0">
              <a:latin typeface="Courier New" panose="02070309020205020404" pitchFamily="49" charset="0"/>
            </a:endParaRPr>
          </a:p>
          <a:p>
            <a:pPr eaLnBrk="1" hangingPunct="1">
              <a:lnSpc>
                <a:spcPct val="80000"/>
              </a:lnSpc>
            </a:pPr>
            <a:r>
              <a:rPr lang="en-US" altLang="en-US" dirty="0" smtClean="0"/>
              <a:t>Python uses a similar </a:t>
            </a:r>
            <a:r>
              <a:rPr lang="en-US" altLang="en-US" dirty="0" smtClean="0"/>
              <a:t>approach to Ruby</a:t>
            </a:r>
          </a:p>
          <a:p>
            <a:pPr lvl="1" eaLnBrk="1" hangingPunct="1">
              <a:lnSpc>
                <a:spcPct val="80000"/>
              </a:lnSpc>
            </a:pPr>
            <a:r>
              <a:rPr lang="en-US" altLang="en-US" dirty="0" smtClean="0"/>
              <a:t>Actual parameters are sent in </a:t>
            </a:r>
            <a:r>
              <a:rPr lang="en-US" altLang="en-US" dirty="0" smtClean="0"/>
              <a:t>a </a:t>
            </a:r>
            <a:r>
              <a:rPr lang="en-US" altLang="en-US" dirty="0" smtClean="0"/>
              <a:t>list</a:t>
            </a:r>
          </a:p>
          <a:p>
            <a:pPr lvl="1" eaLnBrk="1" hangingPunct="1">
              <a:lnSpc>
                <a:spcPct val="80000"/>
              </a:lnSpc>
            </a:pPr>
            <a:r>
              <a:rPr lang="en-US" altLang="en-US" dirty="0" smtClean="0"/>
              <a:t>Why does Python allow mixed types?</a:t>
            </a:r>
            <a:endParaRPr lang="en-US" altLang="en-US" dirty="0" smtClean="0"/>
          </a:p>
        </p:txBody>
      </p:sp>
      <p:sp>
        <p:nvSpPr>
          <p:cNvPr id="30725" name="Slide Number Placeholder 4"/>
          <p:cNvSpPr txBox="1">
            <a:spLocks noGrp="1"/>
          </p:cNvSpPr>
          <p:nvPr/>
        </p:nvSpPr>
        <p:spPr bwMode="auto">
          <a:xfrm>
            <a:off x="6934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r">
              <a:spcBef>
                <a:spcPct val="0"/>
              </a:spcBef>
              <a:buFontTx/>
              <a:buNone/>
            </a:pPr>
            <a:r>
              <a:rPr lang="en-US" altLang="en-US" sz="1000">
                <a:solidFill>
                  <a:schemeClr val="tx1"/>
                </a:solidFill>
                <a:latin typeface="Arial" panose="020B0604020202020204" pitchFamily="34" charset="0"/>
              </a:rPr>
              <a:t>1-</a:t>
            </a:r>
            <a:fld id="{9A902E0C-343A-4945-B1F2-556489CE6455}" type="slidenum">
              <a:rPr lang="en-US" altLang="en-US" sz="1000">
                <a:solidFill>
                  <a:schemeClr val="tx1"/>
                </a:solidFill>
                <a:latin typeface="Arial" panose="020B0604020202020204" pitchFamily="34" charset="0"/>
              </a:rPr>
              <a:pPr algn="r">
                <a:spcBef>
                  <a:spcPct val="0"/>
                </a:spcBef>
                <a:buFontTx/>
                <a:buNone/>
              </a:pPr>
              <a:t>18</a:t>
            </a:fld>
            <a:endParaRPr lang="en-US" altLang="en-US" sz="100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74F096A-2371-404C-A194-74A4E45EF751}"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34820" name="Rectangle 2"/>
          <p:cNvSpPr>
            <a:spLocks noGrp="1" noChangeArrowheads="1"/>
          </p:cNvSpPr>
          <p:nvPr>
            <p:ph type="title"/>
          </p:nvPr>
        </p:nvSpPr>
        <p:spPr/>
        <p:txBody>
          <a:bodyPr/>
          <a:lstStyle/>
          <a:p>
            <a:pPr eaLnBrk="1" hangingPunct="1"/>
            <a:r>
              <a:rPr lang="en-US" altLang="en-US" smtClean="0"/>
              <a:t>Procedures and Functions </a:t>
            </a:r>
          </a:p>
        </p:txBody>
      </p:sp>
      <p:sp>
        <p:nvSpPr>
          <p:cNvPr id="34821"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There are two categories of subprograms</a:t>
            </a:r>
          </a:p>
          <a:p>
            <a:pPr lvl="1" eaLnBrk="1" hangingPunct="1"/>
            <a:r>
              <a:rPr lang="en-US" altLang="en-US" u="sng" dirty="0" smtClean="0"/>
              <a:t>Procedures</a:t>
            </a:r>
            <a:r>
              <a:rPr lang="en-US" altLang="en-US" dirty="0" smtClean="0"/>
              <a:t> are collections of statements that define parameterized computations</a:t>
            </a:r>
          </a:p>
          <a:p>
            <a:pPr lvl="2" eaLnBrk="1" hangingPunct="1"/>
            <a:r>
              <a:rPr lang="en-US" altLang="en-US" dirty="0" smtClean="0"/>
              <a:t>Produce results by modifying</a:t>
            </a:r>
          </a:p>
          <a:p>
            <a:pPr lvl="3" eaLnBrk="1" hangingPunct="1"/>
            <a:r>
              <a:rPr lang="en-US" altLang="en-US" dirty="0" smtClean="0"/>
              <a:t>Variables visible from an enclosing scope</a:t>
            </a:r>
          </a:p>
          <a:p>
            <a:pPr lvl="3" eaLnBrk="1" hangingPunct="1"/>
            <a:r>
              <a:rPr lang="en-US" altLang="en-US" dirty="0" smtClean="0"/>
              <a:t>Formal parameters that transfer data to caller</a:t>
            </a:r>
          </a:p>
          <a:p>
            <a:pPr lvl="3" eaLnBrk="1" hangingPunct="1"/>
            <a:r>
              <a:rPr lang="en-US" altLang="en-US" dirty="0" smtClean="0"/>
              <a:t>They therefore have no return values</a:t>
            </a:r>
          </a:p>
          <a:p>
            <a:pPr lvl="1" eaLnBrk="1" hangingPunct="1"/>
            <a:endParaRPr lang="en-US" altLang="en-US" sz="400" u="sng" dirty="0" smtClean="0"/>
          </a:p>
          <a:p>
            <a:pPr lvl="1" eaLnBrk="1" hangingPunct="1"/>
            <a:r>
              <a:rPr lang="en-US" altLang="en-US" u="sng" dirty="0" smtClean="0"/>
              <a:t>Functions</a:t>
            </a:r>
            <a:r>
              <a:rPr lang="en-US" altLang="en-US" dirty="0" smtClean="0"/>
              <a:t> </a:t>
            </a:r>
            <a:r>
              <a:rPr lang="en-US" altLang="en-US" dirty="0" smtClean="0"/>
              <a:t>resemble procedures but semantically modeled on mathematical functions</a:t>
            </a:r>
          </a:p>
          <a:p>
            <a:pPr lvl="2" eaLnBrk="1" hangingPunct="1"/>
            <a:r>
              <a:rPr lang="en-US" altLang="en-US" dirty="0" smtClean="0"/>
              <a:t>Produce results by returning a value</a:t>
            </a:r>
          </a:p>
          <a:p>
            <a:pPr lvl="2" eaLnBrk="1" hangingPunct="1"/>
            <a:r>
              <a:rPr lang="en-US" altLang="en-US" dirty="0" smtClean="0"/>
              <a:t>They are expected to produce no side effects</a:t>
            </a:r>
          </a:p>
          <a:p>
            <a:pPr lvl="2" eaLnBrk="1" hangingPunct="1"/>
            <a:r>
              <a:rPr lang="en-US" altLang="en-US" dirty="0" smtClean="0"/>
              <a:t>In practice, </a:t>
            </a:r>
            <a:r>
              <a:rPr lang="en-US" altLang="en-US" dirty="0" smtClean="0"/>
              <a:t>many languages allow </a:t>
            </a:r>
            <a:r>
              <a:rPr lang="en-US" altLang="en-US" dirty="0" smtClean="0"/>
              <a:t>side effects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3A1BCAE-689A-4F72-B2EB-701A86E2329C}" type="slidenum">
              <a:rPr lang="en-US" altLang="en-US" sz="1000" smtClean="0">
                <a:solidFill>
                  <a:schemeClr val="tx1"/>
                </a:solidFill>
                <a:latin typeface="Arial" panose="020B0604020202020204" pitchFamily="34" charset="0"/>
              </a:rPr>
              <a:pPr>
                <a:spcBef>
                  <a:spcPct val="0"/>
                </a:spcBef>
                <a:buFontTx/>
                <a:buNone/>
              </a:pPr>
              <a:t>20</a:t>
            </a:fld>
            <a:endParaRPr lang="en-US" altLang="en-US" sz="1000" smtClean="0">
              <a:solidFill>
                <a:schemeClr val="tx1"/>
              </a:solidFill>
              <a:latin typeface="Arial" panose="020B0604020202020204" pitchFamily="34" charset="0"/>
            </a:endParaRPr>
          </a:p>
        </p:txBody>
      </p:sp>
      <p:sp>
        <p:nvSpPr>
          <p:cNvPr id="36868" name="Rectangle 2"/>
          <p:cNvSpPr>
            <a:spLocks noGrp="1" noChangeArrowheads="1"/>
          </p:cNvSpPr>
          <p:nvPr>
            <p:ph type="title"/>
          </p:nvPr>
        </p:nvSpPr>
        <p:spPr/>
        <p:txBody>
          <a:bodyPr/>
          <a:lstStyle/>
          <a:p>
            <a:pPr eaLnBrk="1" hangingPunct="1"/>
            <a:r>
              <a:rPr lang="en-US" altLang="en-US" smtClean="0"/>
              <a:t>Design Issues for Subprograms</a:t>
            </a:r>
          </a:p>
        </p:txBody>
      </p:sp>
      <p:sp>
        <p:nvSpPr>
          <p:cNvPr id="36869" name="Rectangle 3"/>
          <p:cNvSpPr>
            <a:spLocks noGrp="1" noChangeArrowheads="1"/>
          </p:cNvSpPr>
          <p:nvPr>
            <p:ph type="body" idx="1"/>
          </p:nvPr>
        </p:nvSpPr>
        <p:spPr/>
        <p:txBody>
          <a:bodyPr/>
          <a:lstStyle/>
          <a:p>
            <a:pPr eaLnBrk="1" hangingPunct="1"/>
            <a:r>
              <a:rPr lang="en-US" altLang="en-US" sz="2000" dirty="0" smtClean="0"/>
              <a:t>Are local variable allocations static or dynamic?</a:t>
            </a:r>
          </a:p>
          <a:p>
            <a:pPr eaLnBrk="1" hangingPunct="1"/>
            <a:r>
              <a:rPr lang="en-US" altLang="en-US" sz="2000" dirty="0" smtClean="0"/>
              <a:t>Can subprogram definitions be nested?</a:t>
            </a:r>
          </a:p>
          <a:p>
            <a:pPr eaLnBrk="1" hangingPunct="1"/>
            <a:r>
              <a:rPr lang="en-US" altLang="en-US" sz="2000" dirty="0" smtClean="0"/>
              <a:t>What parameter passing methods are provided?</a:t>
            </a:r>
          </a:p>
          <a:p>
            <a:pPr eaLnBrk="1" hangingPunct="1"/>
            <a:r>
              <a:rPr lang="en-US" altLang="en-US" sz="2000" dirty="0" smtClean="0"/>
              <a:t>Are parameter types checked?</a:t>
            </a:r>
          </a:p>
          <a:p>
            <a:pPr eaLnBrk="1" hangingPunct="1"/>
            <a:r>
              <a:rPr lang="en-US" altLang="en-US" sz="2000" dirty="0" smtClean="0"/>
              <a:t>If subprograms can be passed as parameters and subprograms can be nested, what is the referencing environment of a passed subprogram?</a:t>
            </a:r>
          </a:p>
          <a:p>
            <a:pPr eaLnBrk="1" hangingPunct="1"/>
            <a:r>
              <a:rPr lang="en-US" altLang="en-US" sz="2000" dirty="0" smtClean="0"/>
              <a:t>Are functional side effects allowed?</a:t>
            </a:r>
          </a:p>
          <a:p>
            <a:pPr eaLnBrk="1" hangingPunct="1"/>
            <a:r>
              <a:rPr lang="en-US" altLang="en-US" sz="2000" dirty="0" smtClean="0"/>
              <a:t>What return types are allowed from functions?</a:t>
            </a:r>
          </a:p>
          <a:p>
            <a:pPr eaLnBrk="1" hangingPunct="1"/>
            <a:r>
              <a:rPr lang="en-US" altLang="en-US" sz="2000" dirty="0" smtClean="0"/>
              <a:t>How many values can a function return?</a:t>
            </a:r>
          </a:p>
          <a:p>
            <a:pPr eaLnBrk="1" hangingPunct="1"/>
            <a:r>
              <a:rPr lang="en-US" altLang="en-US" sz="2000" dirty="0" smtClean="0"/>
              <a:t>Can subprograms be overloaded?</a:t>
            </a:r>
          </a:p>
          <a:p>
            <a:pPr eaLnBrk="1" hangingPunct="1"/>
            <a:r>
              <a:rPr lang="en-US" altLang="en-US" sz="2000" dirty="0" smtClean="0"/>
              <a:t>Can subprogram be generic?</a:t>
            </a:r>
          </a:p>
          <a:p>
            <a:pPr eaLnBrk="1" hangingPunct="1"/>
            <a:r>
              <a:rPr lang="en-US" altLang="en-US" sz="2000" dirty="0" smtClean="0"/>
              <a:t>If nested subprograms are legal, are closures supported?</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p:cNvSpPr>
            <a:spLocks noGrp="1"/>
          </p:cNvSpPr>
          <p:nvPr>
            <p:ph idx="1"/>
          </p:nvPr>
        </p:nvSpPr>
        <p:spPr>
          <a:xfrm>
            <a:off x="609600" y="1600200"/>
            <a:ext cx="8153400" cy="4572000"/>
          </a:xfrm>
        </p:spPr>
        <p:txBody>
          <a:bodyPr/>
          <a:lstStyle/>
          <a:p>
            <a:r>
              <a:rPr lang="en-US" altLang="en-US" dirty="0" smtClean="0"/>
              <a:t>In most contemporary languages</a:t>
            </a:r>
          </a:p>
          <a:p>
            <a:pPr lvl="1"/>
            <a:r>
              <a:rPr lang="en-US" altLang="en-US" dirty="0" smtClean="0"/>
              <a:t>Local variables are stack dynamic</a:t>
            </a:r>
          </a:p>
          <a:p>
            <a:pPr lvl="1"/>
            <a:r>
              <a:rPr lang="en-US" altLang="en-US" dirty="0" smtClean="0"/>
              <a:t>In C and C++ functions</a:t>
            </a:r>
          </a:p>
          <a:p>
            <a:pPr lvl="2"/>
            <a:r>
              <a:rPr lang="en-US" altLang="en-US" dirty="0" smtClean="0"/>
              <a:t>Local variables are by default stack dynamic</a:t>
            </a:r>
          </a:p>
          <a:p>
            <a:pPr lvl="2"/>
            <a:r>
              <a:rPr lang="en-US" altLang="en-US" dirty="0" smtClean="0"/>
              <a:t>But can be declared </a:t>
            </a:r>
            <a:r>
              <a:rPr lang="en-US" altLang="en-US" b="1" dirty="0" smtClean="0">
                <a:latin typeface="Courier New" panose="02070309020205020404" pitchFamily="49" charset="0"/>
                <a:cs typeface="Courier New" panose="02070309020205020404" pitchFamily="49" charset="0"/>
              </a:rPr>
              <a:t>static</a:t>
            </a:r>
            <a:r>
              <a:rPr lang="en-US" altLang="en-US" b="1" dirty="0" smtClean="0"/>
              <a:t> </a:t>
            </a:r>
          </a:p>
          <a:p>
            <a:pPr lvl="1"/>
            <a:r>
              <a:rPr lang="en-US" altLang="en-US" dirty="0" smtClean="0"/>
              <a:t>The methods of Java, Python, and C#</a:t>
            </a:r>
          </a:p>
          <a:p>
            <a:pPr lvl="2"/>
            <a:r>
              <a:rPr lang="en-US" altLang="en-US" dirty="0" smtClean="0"/>
              <a:t>Only have stack dynamic local variables</a:t>
            </a:r>
          </a:p>
        </p:txBody>
      </p:sp>
      <p:sp>
        <p:nvSpPr>
          <p:cNvPr id="40964"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9CD98F1-9079-466D-A544-1BAB2CA695BB}" type="slidenum">
              <a:rPr lang="en-US" altLang="en-US" sz="1000" smtClean="0">
                <a:solidFill>
                  <a:schemeClr val="tx1"/>
                </a:solidFill>
                <a:latin typeface="Arial" panose="020B0604020202020204" pitchFamily="34" charset="0"/>
              </a:rPr>
              <a:pPr>
                <a:spcBef>
                  <a:spcPct val="0"/>
                </a:spcBef>
                <a:buFontTx/>
                <a:buNone/>
              </a:pPr>
              <a:t>21</a:t>
            </a:fld>
            <a:endParaRPr lang="en-US" altLang="en-US" sz="1000" smtClean="0">
              <a:solidFill>
                <a:schemeClr val="tx1"/>
              </a:solidFill>
              <a:latin typeface="Arial" panose="020B0604020202020204" pitchFamily="34" charset="0"/>
            </a:endParaRPr>
          </a:p>
        </p:txBody>
      </p:sp>
      <p:sp>
        <p:nvSpPr>
          <p:cNvPr id="40965" name="Rectangle 2"/>
          <p:cNvSpPr>
            <a:spLocks noGrp="1" noChangeArrowheads="1"/>
          </p:cNvSpPr>
          <p:nvPr>
            <p:ph type="title"/>
          </p:nvPr>
        </p:nvSpPr>
        <p:spPr/>
        <p:txBody>
          <a:bodyPr/>
          <a:lstStyle/>
          <a:p>
            <a:pPr eaLnBrk="1" hangingPunct="1"/>
            <a:r>
              <a:rPr lang="en-US" altLang="en-US" smtClean="0"/>
              <a:t>Local Referencing Environments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11078</TotalTime>
  <Words>1558</Words>
  <Application>Microsoft Office PowerPoint</Application>
  <PresentationFormat>On-screen Show (4:3)</PresentationFormat>
  <Paragraphs>315</Paragraphs>
  <Slides>21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Courier New</vt:lpstr>
      <vt:lpstr>Lucida Sans Unicode</vt:lpstr>
      <vt:lpstr>Times</vt:lpstr>
      <vt:lpstr>1_sebesta</vt:lpstr>
      <vt:lpstr>Chapter 9 Part 1</vt:lpstr>
      <vt:lpstr>Chapter 9 Topics</vt:lpstr>
      <vt:lpstr>Introduction</vt:lpstr>
      <vt:lpstr>Fundamentals of Subprograms</vt:lpstr>
      <vt:lpstr>Basic Definitions</vt:lpstr>
      <vt:lpstr>Basic Definitions</vt:lpstr>
      <vt:lpstr>Basic Definitions</vt:lpstr>
      <vt:lpstr>Basic Definitions</vt:lpstr>
      <vt:lpstr>Basic Definitions</vt:lpstr>
      <vt:lpstr>Basic Definitions</vt:lpstr>
      <vt:lpstr>Basic Definitions</vt:lpstr>
      <vt:lpstr>Actual/Formal Parameter Correspondence</vt:lpstr>
      <vt:lpstr>Actual/Formal Parameter Correspondence</vt:lpstr>
      <vt:lpstr>Formal Parameter Default Values</vt:lpstr>
      <vt:lpstr>Variable Number of Parameters</vt:lpstr>
      <vt:lpstr>Variable Number of Parameters</vt:lpstr>
      <vt:lpstr>Variable Number of Parameters</vt:lpstr>
      <vt:lpstr>Variable Number of Parameters</vt:lpstr>
      <vt:lpstr>Procedures and Functions </vt:lpstr>
      <vt:lpstr>Design Issues for Subprograms</vt:lpstr>
      <vt:lpstr>Local Referencing Environments</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654</cp:revision>
  <dcterms:created xsi:type="dcterms:W3CDTF">2003-08-01T12:29:19Z</dcterms:created>
  <dcterms:modified xsi:type="dcterms:W3CDTF">2026-05-14T22:17:19Z</dcterms:modified>
</cp:coreProperties>
</file>