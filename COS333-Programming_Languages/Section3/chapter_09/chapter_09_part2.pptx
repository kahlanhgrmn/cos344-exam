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34"/>
  </p:notesMasterIdLst>
  <p:sldIdLst>
    <p:sldId id="345" r:id="rId2"/>
    <p:sldId id="403" r:id="rId3"/>
    <p:sldId id="269" r:id="rId4"/>
    <p:sldId id="404" r:id="rId5"/>
    <p:sldId id="360" r:id="rId6"/>
    <p:sldId id="393" r:id="rId7"/>
    <p:sldId id="394" r:id="rId8"/>
    <p:sldId id="361" r:id="rId9"/>
    <p:sldId id="272" r:id="rId10"/>
    <p:sldId id="273" r:id="rId11"/>
    <p:sldId id="395" r:id="rId12"/>
    <p:sldId id="405" r:id="rId13"/>
    <p:sldId id="362" r:id="rId14"/>
    <p:sldId id="396" r:id="rId15"/>
    <p:sldId id="397" r:id="rId16"/>
    <p:sldId id="363" r:id="rId17"/>
    <p:sldId id="364" r:id="rId18"/>
    <p:sldId id="407" r:id="rId19"/>
    <p:sldId id="365" r:id="rId20"/>
    <p:sldId id="408" r:id="rId21"/>
    <p:sldId id="367" r:id="rId22"/>
    <p:sldId id="409" r:id="rId23"/>
    <p:sldId id="370" r:id="rId24"/>
    <p:sldId id="376" r:id="rId25"/>
    <p:sldId id="377" r:id="rId26"/>
    <p:sldId id="372" r:id="rId27"/>
    <p:sldId id="373" r:id="rId28"/>
    <p:sldId id="398" r:id="rId29"/>
    <p:sldId id="399" r:id="rId30"/>
    <p:sldId id="375" r:id="rId31"/>
    <p:sldId id="401" r:id="rId32"/>
    <p:sldId id="402" r:id="rId33"/>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D0214BAA-F996-4E66-846E-74E1335CBF9F}" type="slidenum">
              <a:rPr lang="en-US" altLang="en-US"/>
              <a:pPr>
                <a:defRPr/>
              </a:pPr>
              <a:t>‹#›</a:t>
            </a:fld>
            <a:endParaRPr lang="en-US" altLang="en-US"/>
          </a:p>
        </p:txBody>
      </p:sp>
    </p:spTree>
    <p:extLst>
      <p:ext uri="{BB962C8B-B14F-4D97-AF65-F5344CB8AC3E}">
        <p14:creationId xmlns:p14="http://schemas.microsoft.com/office/powerpoint/2010/main" val="15830790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EB19A44-522D-425B-9B29-8152FA1D96C9}"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932033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2226CF7-001B-4F15-85EC-C0DBB46FD30E}" type="slidenum">
              <a:rPr lang="en-US" altLang="en-US" sz="1200" smtClean="0"/>
              <a:pPr/>
              <a:t>2</a:t>
            </a:fld>
            <a:endParaRPr lang="en-US" altLang="en-US" sz="1200" smtClean="0"/>
          </a:p>
        </p:txBody>
      </p:sp>
      <p:sp>
        <p:nvSpPr>
          <p:cNvPr id="8195" name="Rectangle 2"/>
          <p:cNvSpPr>
            <a:spLocks noGrp="1" noRot="1" noChangeAspect="1" noChangeArrowheads="1" noTextEdit="1"/>
          </p:cNvSpPr>
          <p:nvPr>
            <p:ph type="sldImg"/>
          </p:nvPr>
        </p:nvSpPr>
        <p:spPr>
          <a:solidFill>
            <a:srgbClr val="FFFFFF"/>
          </a:solidFill>
          <a:ln/>
        </p:spPr>
      </p:sp>
      <p:sp>
        <p:nvSpPr>
          <p:cNvPr id="8196" name="Rectangle 3"/>
          <p:cNvSpPr>
            <a:spLocks noGrp="1" noChangeArrowheads="1"/>
          </p:cNvSpPr>
          <p:nvPr>
            <p:ph type="body" idx="1"/>
          </p:nvPr>
        </p:nvSpPr>
        <p:spPr>
          <a:solidFill>
            <a:srgbClr val="FFFFFF"/>
          </a:solidFill>
          <a:ln>
            <a:solidFill>
              <a:srgbClr val="000000"/>
            </a:solidFill>
          </a:ln>
        </p:spPr>
        <p:txBody>
          <a:bodyPr lIns="90004" tIns="45002" rIns="90004" bIns="45002"/>
          <a:lstStyle/>
          <a:p>
            <a:pPr eaLnBrk="1" hangingPunct="1"/>
            <a:endParaRPr lang="en-US" altLang="en-US" smtClean="0"/>
          </a:p>
        </p:txBody>
      </p:sp>
    </p:spTree>
    <p:extLst>
      <p:ext uri="{BB962C8B-B14F-4D97-AF65-F5344CB8AC3E}">
        <p14:creationId xmlns:p14="http://schemas.microsoft.com/office/powerpoint/2010/main" val="3780307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C93C9EF-9004-4CCF-9421-A0DE2EB2CED0}" type="slidenum">
              <a:rPr lang="en-US" altLang="en-US" sz="1200" smtClean="0"/>
              <a:pPr/>
              <a:t>3</a:t>
            </a:fld>
            <a:endParaRPr lang="en-US" altLang="en-US" sz="1200" smtClean="0"/>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700158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D5F7BC8-6CBA-438E-87C1-3F8FB1FECBCE}" type="slidenum">
              <a:rPr lang="en-US" altLang="en-US" sz="1300" smtClean="0"/>
              <a:pPr/>
              <a:t>4</a:t>
            </a:fld>
            <a:endParaRPr lang="en-US" altLang="en-US" sz="1300" smtClean="0"/>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0926705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95E51C3-0954-4A32-A677-8392C8A39A1D}" type="slidenum">
              <a:rPr lang="en-US" altLang="en-US" sz="1300" smtClean="0"/>
              <a:pPr/>
              <a:t>5</a:t>
            </a:fld>
            <a:endParaRPr lang="en-US" altLang="en-US" sz="1300" smtClean="0"/>
          </a:p>
        </p:txBody>
      </p:sp>
      <p:sp>
        <p:nvSpPr>
          <p:cNvPr id="50179" name="Rectangle 2"/>
          <p:cNvSpPr>
            <a:spLocks noGrp="1" noRot="1" noChangeAspect="1" noChangeArrowheads="1" noTextEdit="1"/>
          </p:cNvSpPr>
          <p:nvPr>
            <p:ph type="sldImg"/>
          </p:nvPr>
        </p:nvSpPr>
        <p:spPr>
          <a:xfrm>
            <a:off x="992188" y="768350"/>
            <a:ext cx="5114925" cy="3836988"/>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A physical move is used for by-value parameter passing in C++. If we were passing objects, rather than integers, the copy operation could take some time.</a:t>
            </a:r>
          </a:p>
        </p:txBody>
      </p:sp>
    </p:spTree>
    <p:extLst>
      <p:ext uri="{BB962C8B-B14F-4D97-AF65-F5344CB8AC3E}">
        <p14:creationId xmlns:p14="http://schemas.microsoft.com/office/powerpoint/2010/main" val="2488925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9A97222-2158-4562-A5E6-86708A579FC6}" type="slidenum">
              <a:rPr lang="en-US" altLang="en-US" sz="1300" smtClean="0"/>
              <a:pPr/>
              <a:t>6</a:t>
            </a:fld>
            <a:endParaRPr lang="en-US" altLang="en-US" sz="1300" smtClean="0"/>
          </a:p>
        </p:txBody>
      </p:sp>
      <p:sp>
        <p:nvSpPr>
          <p:cNvPr id="52227" name="Rectangle 2"/>
          <p:cNvSpPr>
            <a:spLocks noGrp="1" noRot="1" noChangeAspect="1" noChangeArrowheads="1" noTextEdit="1"/>
          </p:cNvSpPr>
          <p:nvPr>
            <p:ph type="sldImg"/>
          </p:nvPr>
        </p:nvSpPr>
        <p:spPr>
          <a:xfrm>
            <a:off x="992188" y="768350"/>
            <a:ext cx="5114925" cy="3836988"/>
          </a:xfrm>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209006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26F2F01-A263-45C4-A93B-E91DC1CE1D32}" type="slidenum">
              <a:rPr lang="en-US" altLang="en-US" sz="1300" smtClean="0"/>
              <a:pPr/>
              <a:t>7</a:t>
            </a:fld>
            <a:endParaRPr lang="en-US" altLang="en-US" sz="1300" smtClean="0"/>
          </a:p>
        </p:txBody>
      </p:sp>
      <p:sp>
        <p:nvSpPr>
          <p:cNvPr id="54275" name="Rectangle 2"/>
          <p:cNvSpPr>
            <a:spLocks noGrp="1" noRot="1" noChangeAspect="1" noChangeArrowheads="1" noTextEdit="1"/>
          </p:cNvSpPr>
          <p:nvPr>
            <p:ph type="sldImg"/>
          </p:nvPr>
        </p:nvSpPr>
        <p:spPr>
          <a:xfrm>
            <a:off x="992188" y="768350"/>
            <a:ext cx="5114925" cy="3836988"/>
          </a:xfrm>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Pass-by-result is not supported by C, C++ or Java.</a:t>
            </a:r>
          </a:p>
          <a:p>
            <a:pPr eaLnBrk="1" hangingPunct="1"/>
            <a:endParaRPr lang="en-GB" altLang="en-US" dirty="0" smtClean="0"/>
          </a:p>
          <a:p>
            <a:pPr eaLnBrk="1" hangingPunct="1"/>
            <a:r>
              <a:rPr lang="en-ZA" altLang="en-US" dirty="0" smtClean="0"/>
              <a:t>In the example, note that if C is not modified in the procedure, Q will have garbage written to it. It is therefore good practice to initialise all out parameters.</a:t>
            </a:r>
            <a:endParaRPr lang="en-GB" altLang="en-US" dirty="0" smtClean="0"/>
          </a:p>
        </p:txBody>
      </p:sp>
    </p:spTree>
    <p:extLst>
      <p:ext uri="{BB962C8B-B14F-4D97-AF65-F5344CB8AC3E}">
        <p14:creationId xmlns:p14="http://schemas.microsoft.com/office/powerpoint/2010/main" val="4168367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3BAF6A7-317C-48E2-831B-3B8192F91F78}" type="slidenum">
              <a:rPr lang="en-US" altLang="en-US" sz="1300" smtClean="0"/>
              <a:pPr/>
              <a:t>8</a:t>
            </a:fld>
            <a:endParaRPr lang="en-US" altLang="en-US" sz="1300" smtClean="0"/>
          </a:p>
        </p:txBody>
      </p:sp>
      <p:sp>
        <p:nvSpPr>
          <p:cNvPr id="56323" name="Rectangle 2"/>
          <p:cNvSpPr>
            <a:spLocks noGrp="1" noRot="1" noChangeAspect="1" noChangeArrowheads="1" noTextEdit="1"/>
          </p:cNvSpPr>
          <p:nvPr>
            <p:ph type="sldImg"/>
          </p:nvPr>
        </p:nvSpPr>
        <p:spPr>
          <a:xfrm>
            <a:off x="992188" y="768350"/>
            <a:ext cx="5114925" cy="3836988"/>
          </a:xfrm>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3629146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D12B5BB-9E12-466B-9700-B4465AFA5E2A}" type="slidenum">
              <a:rPr lang="en-US" altLang="en-US" sz="1200" smtClean="0"/>
              <a:pPr/>
              <a:t>9</a:t>
            </a:fld>
            <a:endParaRPr lang="en-US" altLang="en-US" sz="1200" smtClean="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Pass-by-value-result is not supported by C, C++ or Java.</a:t>
            </a:r>
          </a:p>
          <a:p>
            <a:pPr eaLnBrk="1" hangingPunct="1"/>
            <a:endParaRPr lang="en-GB" altLang="en-US" dirty="0" smtClean="0"/>
          </a:p>
          <a:p>
            <a:pPr eaLnBrk="1" hangingPunct="1"/>
            <a:r>
              <a:rPr lang="en-ZA" altLang="en-US" dirty="0" smtClean="0"/>
              <a:t>In the Ada example, it is legal to use the value of C sent by the procedure call. It is also legal to modify the value of C. The procedure could be called with the statement</a:t>
            </a:r>
          </a:p>
          <a:p>
            <a:pPr eaLnBrk="1" hangingPunct="1"/>
            <a:endParaRPr lang="en-ZA" altLang="en-US" dirty="0" smtClean="0"/>
          </a:p>
          <a:p>
            <a:pPr eaLnBrk="1" hangingPunct="1"/>
            <a:r>
              <a:rPr lang="en-ZA" altLang="en-US" dirty="0" err="1" smtClean="0"/>
              <a:t>A_Test</a:t>
            </a:r>
            <a:r>
              <a:rPr lang="en-ZA" altLang="en-US" dirty="0" smtClean="0"/>
              <a:t> (5 + P, 48, Q);</a:t>
            </a:r>
          </a:p>
          <a:p>
            <a:pPr eaLnBrk="1" hangingPunct="1"/>
            <a:endParaRPr lang="en-GB" altLang="en-US" dirty="0" smtClean="0"/>
          </a:p>
          <a:p>
            <a:pPr eaLnBrk="1" hangingPunct="1"/>
            <a:r>
              <a:rPr lang="en-GB" altLang="en-US" dirty="0" smtClean="0"/>
              <a:t>The value of Q will be sent to the procedure, and will also be overwritten by the procedure. If C is not modified, Q remains unchanged.</a:t>
            </a:r>
          </a:p>
        </p:txBody>
      </p:sp>
    </p:spTree>
    <p:extLst>
      <p:ext uri="{BB962C8B-B14F-4D97-AF65-F5344CB8AC3E}">
        <p14:creationId xmlns:p14="http://schemas.microsoft.com/office/powerpoint/2010/main" val="353491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5D792ED-9354-4730-B56C-5D5CC0E44E93}" type="slidenum">
              <a:rPr lang="en-US" altLang="en-US" sz="1200" smtClean="0"/>
              <a:pPr/>
              <a:t>10</a:t>
            </a:fld>
            <a:endParaRPr lang="en-US" altLang="en-US" sz="1200" smtClean="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smtClean="0"/>
              <a:t>The example function can be called as follows:</a:t>
            </a:r>
          </a:p>
          <a:p>
            <a:pPr eaLnBrk="1" hangingPunct="1"/>
            <a:endParaRPr lang="en-US" altLang="en-US" dirty="0" smtClean="0"/>
          </a:p>
          <a:p>
            <a:pPr eaLnBrk="1" hangingPunct="1"/>
            <a:r>
              <a:rPr lang="en-US" altLang="en-US" dirty="0" err="1" smtClean="0"/>
              <a:t>int</a:t>
            </a:r>
            <a:r>
              <a:rPr lang="en-US" altLang="en-US" dirty="0" smtClean="0"/>
              <a:t> </a:t>
            </a:r>
            <a:r>
              <a:rPr lang="en-US" altLang="en-US" dirty="0" err="1" smtClean="0"/>
              <a:t>val</a:t>
            </a:r>
            <a:r>
              <a:rPr lang="en-US" altLang="en-US" dirty="0" smtClean="0"/>
              <a:t> = 88;</a:t>
            </a:r>
          </a:p>
          <a:p>
            <a:pPr eaLnBrk="1" hangingPunct="1"/>
            <a:r>
              <a:rPr lang="en-US" altLang="en-US" dirty="0" err="1" smtClean="0"/>
              <a:t>int</a:t>
            </a:r>
            <a:r>
              <a:rPr lang="en-US" altLang="en-US" dirty="0" smtClean="0"/>
              <a:t> *</a:t>
            </a:r>
            <a:r>
              <a:rPr lang="en-US" altLang="en-US" dirty="0" err="1" smtClean="0"/>
              <a:t>varPointer</a:t>
            </a:r>
            <a:r>
              <a:rPr lang="en-US" altLang="en-US" dirty="0" smtClean="0"/>
              <a:t> = &amp;</a:t>
            </a:r>
            <a:r>
              <a:rPr lang="en-US" altLang="en-US" dirty="0" err="1" smtClean="0"/>
              <a:t>val</a:t>
            </a:r>
            <a:r>
              <a:rPr lang="en-US" altLang="en-US" dirty="0" smtClean="0"/>
              <a:t>;</a:t>
            </a:r>
          </a:p>
          <a:p>
            <a:pPr eaLnBrk="1" hangingPunct="1"/>
            <a:r>
              <a:rPr lang="en-US" altLang="en-US" dirty="0" err="1" smtClean="0"/>
              <a:t>int</a:t>
            </a:r>
            <a:r>
              <a:rPr lang="en-US" altLang="en-US" dirty="0" smtClean="0"/>
              <a:t> </a:t>
            </a:r>
            <a:r>
              <a:rPr lang="en-US" altLang="en-US" dirty="0" err="1" smtClean="0"/>
              <a:t>secondVal</a:t>
            </a:r>
            <a:r>
              <a:rPr lang="en-US" altLang="en-US" dirty="0" smtClean="0"/>
              <a:t> = 97;</a:t>
            </a:r>
          </a:p>
          <a:p>
            <a:pPr eaLnBrk="1" hangingPunct="1"/>
            <a:r>
              <a:rPr lang="en-US" altLang="en-US" dirty="0" smtClean="0"/>
              <a:t>foo(</a:t>
            </a:r>
            <a:r>
              <a:rPr lang="en-US" altLang="en-US" dirty="0" err="1" smtClean="0"/>
              <a:t>varPointer</a:t>
            </a:r>
            <a:r>
              <a:rPr lang="en-US" altLang="en-US" dirty="0" smtClean="0"/>
              <a:t>, </a:t>
            </a:r>
            <a:r>
              <a:rPr lang="en-US" altLang="en-US" dirty="0" err="1" smtClean="0"/>
              <a:t>secondVal</a:t>
            </a:r>
            <a:r>
              <a:rPr lang="en-US" altLang="en-US" dirty="0" smtClean="0"/>
              <a:t>);</a:t>
            </a:r>
          </a:p>
          <a:p>
            <a:pPr eaLnBrk="1" hangingPunct="1"/>
            <a:endParaRPr lang="en-US" altLang="en-US" dirty="0" smtClean="0"/>
          </a:p>
          <a:p>
            <a:pPr eaLnBrk="1" hangingPunct="1"/>
            <a:r>
              <a:rPr lang="en-US" altLang="en-US" dirty="0" smtClean="0"/>
              <a:t>In this case, the value pointed to by </a:t>
            </a:r>
            <a:r>
              <a:rPr lang="en-US" altLang="en-US" dirty="0" err="1" smtClean="0"/>
              <a:t>varPointer</a:t>
            </a:r>
            <a:r>
              <a:rPr lang="en-US" altLang="en-US" dirty="0" smtClean="0"/>
              <a:t> is modified in the function. The value of </a:t>
            </a:r>
            <a:r>
              <a:rPr lang="en-US" altLang="en-US" dirty="0" err="1" smtClean="0"/>
              <a:t>secondValue</a:t>
            </a:r>
            <a:r>
              <a:rPr lang="en-US" altLang="en-US" dirty="0" smtClean="0"/>
              <a:t> is also modified in the function.</a:t>
            </a:r>
          </a:p>
        </p:txBody>
      </p:sp>
    </p:spTree>
    <p:extLst>
      <p:ext uri="{BB962C8B-B14F-4D97-AF65-F5344CB8AC3E}">
        <p14:creationId xmlns:p14="http://schemas.microsoft.com/office/powerpoint/2010/main" val="2981809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0F11692-E719-40E6-839A-F2DA12A1AC31}" type="slidenum">
              <a:rPr lang="en-US" altLang="en-US" sz="1200" smtClean="0"/>
              <a:pPr/>
              <a:t>11</a:t>
            </a:fld>
            <a:endParaRPr lang="en-US" altLang="en-US" sz="1200"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3776012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0F11692-E719-40E6-839A-F2DA12A1AC31}" type="slidenum">
              <a:rPr lang="en-US" altLang="en-US" sz="1200" smtClean="0"/>
              <a:pPr/>
              <a:t>12</a:t>
            </a:fld>
            <a:endParaRPr lang="en-US" altLang="en-US" sz="1200" smtClean="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p>
        </p:txBody>
      </p:sp>
    </p:spTree>
    <p:extLst>
      <p:ext uri="{BB962C8B-B14F-4D97-AF65-F5344CB8AC3E}">
        <p14:creationId xmlns:p14="http://schemas.microsoft.com/office/powerpoint/2010/main" val="9377039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64BD694-B465-4DAF-BE2F-7887934AD064}" type="slidenum">
              <a:rPr lang="en-US" altLang="en-US" sz="1300" smtClean="0"/>
              <a:pPr/>
              <a:t>13</a:t>
            </a:fld>
            <a:endParaRPr lang="en-US" altLang="en-US" sz="1300" smtClean="0"/>
          </a:p>
        </p:txBody>
      </p:sp>
      <p:sp>
        <p:nvSpPr>
          <p:cNvPr id="64515" name="Rectangle 2"/>
          <p:cNvSpPr>
            <a:spLocks noGrp="1" noRot="1" noChangeAspect="1" noChangeArrowheads="1" noTextEdit="1"/>
          </p:cNvSpPr>
          <p:nvPr>
            <p:ph type="sldImg"/>
          </p:nvPr>
        </p:nvSpPr>
        <p:spPr>
          <a:xfrm>
            <a:off x="992188" y="768350"/>
            <a:ext cx="5114925" cy="3836988"/>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761868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C844241-70F9-49EE-BB21-7BC20FB4E0ED}" type="slidenum">
              <a:rPr lang="en-US" altLang="en-US" sz="1300" smtClean="0"/>
              <a:pPr/>
              <a:t>14</a:t>
            </a:fld>
            <a:endParaRPr lang="en-US" altLang="en-US" sz="1300" smtClean="0"/>
          </a:p>
        </p:txBody>
      </p:sp>
      <p:sp>
        <p:nvSpPr>
          <p:cNvPr id="66563" name="Rectangle 2"/>
          <p:cNvSpPr>
            <a:spLocks noGrp="1" noRot="1" noChangeAspect="1" noChangeArrowheads="1" noTextEdit="1"/>
          </p:cNvSpPr>
          <p:nvPr>
            <p:ph type="sldImg"/>
          </p:nvPr>
        </p:nvSpPr>
        <p:spPr>
          <a:xfrm>
            <a:off x="992188" y="768350"/>
            <a:ext cx="5114925" cy="3836988"/>
          </a:xfrm>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6344481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27E3571-7B5A-4F89-A128-4A535415F40C}" type="slidenum">
              <a:rPr lang="en-US" altLang="en-US" sz="1300" smtClean="0"/>
              <a:pPr/>
              <a:t>15</a:t>
            </a:fld>
            <a:endParaRPr lang="en-US" altLang="en-US" sz="1300" smtClean="0"/>
          </a:p>
        </p:txBody>
      </p:sp>
      <p:sp>
        <p:nvSpPr>
          <p:cNvPr id="68611" name="Rectangle 2"/>
          <p:cNvSpPr>
            <a:spLocks noGrp="1" noRot="1" noChangeAspect="1" noChangeArrowheads="1" noTextEdit="1"/>
          </p:cNvSpPr>
          <p:nvPr>
            <p:ph type="sldImg"/>
          </p:nvPr>
        </p:nvSpPr>
        <p:spPr>
          <a:xfrm>
            <a:off x="992188" y="768350"/>
            <a:ext cx="5114925" cy="3836988"/>
          </a:xfrm>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By using pass-by-name in this example, we’ve achieved a kind of late binding. This means we got to specify at runtime which subscript in the array to access through the value of the a variable (remember, this is a variable, so its value can change during runtime).</a:t>
            </a:r>
          </a:p>
          <a:p>
            <a:pPr eaLnBrk="1" hangingPunct="1"/>
            <a:endParaRPr lang="en-GB" altLang="en-US" dirty="0" smtClean="0"/>
          </a:p>
          <a:p>
            <a:pPr eaLnBrk="1" hangingPunct="1"/>
            <a:r>
              <a:rPr lang="en-GB" altLang="en-US" dirty="0" smtClean="0"/>
              <a:t>Now assume that the foo subprogram is used as follows:</a:t>
            </a:r>
          </a:p>
          <a:p>
            <a:pPr eaLnBrk="1" hangingPunct="1"/>
            <a:endParaRPr lang="en-GB" altLang="en-US" dirty="0" smtClean="0"/>
          </a:p>
          <a:p>
            <a:pPr eaLnBrk="1" hangingPunct="1"/>
            <a:r>
              <a:rPr lang="en-GB" altLang="en-US" dirty="0" err="1" smtClean="0"/>
              <a:t>int</a:t>
            </a:r>
            <a:r>
              <a:rPr lang="en-GB" altLang="en-US" dirty="0" smtClean="0"/>
              <a:t> val1 = 0;</a:t>
            </a:r>
          </a:p>
          <a:p>
            <a:pPr eaLnBrk="1" hangingPunct="1"/>
            <a:r>
              <a:rPr lang="en-GB" altLang="en-US" dirty="0" err="1" smtClean="0"/>
              <a:t>int</a:t>
            </a:r>
            <a:r>
              <a:rPr lang="en-GB" altLang="en-US" dirty="0" smtClean="0"/>
              <a:t> val2 = 2;</a:t>
            </a:r>
          </a:p>
          <a:p>
            <a:pPr eaLnBrk="1" hangingPunct="1"/>
            <a:r>
              <a:rPr lang="en-GB" altLang="en-US" dirty="0" smtClean="0"/>
              <a:t>foo(val1, val2);</a:t>
            </a:r>
          </a:p>
          <a:p>
            <a:pPr eaLnBrk="1" hangingPunct="1"/>
            <a:endParaRPr lang="en-GB" altLang="en-US" dirty="0" smtClean="0"/>
          </a:p>
          <a:p>
            <a:pPr eaLnBrk="1" hangingPunct="1"/>
            <a:r>
              <a:rPr lang="en-GB" altLang="en-US" dirty="0" smtClean="0"/>
              <a:t>Will there be any difference between the output if normal pass-by-value is used versus if pass-by-name is used?</a:t>
            </a:r>
          </a:p>
        </p:txBody>
      </p:sp>
    </p:spTree>
    <p:extLst>
      <p:ext uri="{BB962C8B-B14F-4D97-AF65-F5344CB8AC3E}">
        <p14:creationId xmlns:p14="http://schemas.microsoft.com/office/powerpoint/2010/main" val="27889904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9BC2217-4E78-4CA3-A969-E7B65E7361A8}" type="slidenum">
              <a:rPr lang="en-US" altLang="en-US" sz="1300" smtClean="0"/>
              <a:pPr/>
              <a:t>16</a:t>
            </a:fld>
            <a:endParaRPr lang="en-US" altLang="en-US" sz="1300" smtClean="0"/>
          </a:p>
        </p:txBody>
      </p:sp>
      <p:sp>
        <p:nvSpPr>
          <p:cNvPr id="70659" name="Rectangle 2"/>
          <p:cNvSpPr>
            <a:spLocks noGrp="1" noRot="1" noChangeAspect="1" noChangeArrowheads="1" noTextEdit="1"/>
          </p:cNvSpPr>
          <p:nvPr>
            <p:ph type="sldImg"/>
          </p:nvPr>
        </p:nvSpPr>
        <p:spPr>
          <a:xfrm>
            <a:off x="992188" y="768350"/>
            <a:ext cx="5114925" cy="3836988"/>
          </a:xfrm>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28179921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EE55516-776E-4D20-AB5D-E91961D29C3B}" type="slidenum">
              <a:rPr lang="en-US" altLang="en-US" sz="1300" smtClean="0"/>
              <a:pPr/>
              <a:t>17</a:t>
            </a:fld>
            <a:endParaRPr lang="en-US" altLang="en-US" sz="1300" smtClean="0"/>
          </a:p>
        </p:txBody>
      </p:sp>
      <p:sp>
        <p:nvSpPr>
          <p:cNvPr id="72707" name="Rectangle 2"/>
          <p:cNvSpPr>
            <a:spLocks noGrp="1" noRot="1" noChangeAspect="1" noChangeArrowheads="1" noTextEdit="1"/>
          </p:cNvSpPr>
          <p:nvPr>
            <p:ph type="sldImg"/>
          </p:nvPr>
        </p:nvSpPr>
        <p:spPr>
          <a:xfrm>
            <a:off x="992188" y="768350"/>
            <a:ext cx="5114925" cy="3836988"/>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PHP differs slightly from C# in that either the formal or actual parameter can be marked with ref.</a:t>
            </a:r>
          </a:p>
          <a:p>
            <a:pPr eaLnBrk="1" hangingPunct="1"/>
            <a:endParaRPr lang="en-GB" altLang="en-US" dirty="0" smtClean="0"/>
          </a:p>
          <a:p>
            <a:pPr eaLnBrk="1" hangingPunct="1"/>
            <a:r>
              <a:rPr lang="en-GB" altLang="en-US" dirty="0" smtClean="0"/>
              <a:t>Try to answer the question under the last point.</a:t>
            </a:r>
          </a:p>
        </p:txBody>
      </p:sp>
    </p:spTree>
    <p:extLst>
      <p:ext uri="{BB962C8B-B14F-4D97-AF65-F5344CB8AC3E}">
        <p14:creationId xmlns:p14="http://schemas.microsoft.com/office/powerpoint/2010/main" val="18881584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EE55516-776E-4D20-AB5D-E91961D29C3B}" type="slidenum">
              <a:rPr lang="en-US" altLang="en-US" sz="1300" smtClean="0"/>
              <a:pPr/>
              <a:t>18</a:t>
            </a:fld>
            <a:endParaRPr lang="en-US" altLang="en-US" sz="1300" smtClean="0"/>
          </a:p>
        </p:txBody>
      </p:sp>
      <p:sp>
        <p:nvSpPr>
          <p:cNvPr id="72707" name="Rectangle 2"/>
          <p:cNvSpPr>
            <a:spLocks noGrp="1" noRot="1" noChangeAspect="1" noChangeArrowheads="1" noTextEdit="1"/>
          </p:cNvSpPr>
          <p:nvPr>
            <p:ph type="sldImg"/>
          </p:nvPr>
        </p:nvSpPr>
        <p:spPr>
          <a:xfrm>
            <a:off x="992188" y="768350"/>
            <a:ext cx="5114925" cy="3836988"/>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Immutable objects in Python include:</a:t>
            </a:r>
          </a:p>
          <a:p>
            <a:pPr eaLnBrk="1" hangingPunct="1"/>
            <a:endParaRPr lang="en-GB" altLang="en-US" dirty="0" smtClean="0"/>
          </a:p>
          <a:p>
            <a:pPr marL="171450" indent="-171450" eaLnBrk="1" hangingPunct="1">
              <a:buFont typeface="Arial" panose="020B0604020202020204" pitchFamily="34" charset="0"/>
              <a:buChar char="•"/>
            </a:pPr>
            <a:r>
              <a:rPr lang="en-ZA" altLang="en-US" dirty="0" smtClean="0"/>
              <a:t>Numbers (Integer, Rational, Float, Decimal, Complex,</a:t>
            </a:r>
            <a:r>
              <a:rPr lang="en-ZA" altLang="en-US" baseline="0" dirty="0" smtClean="0"/>
              <a:t> and</a:t>
            </a:r>
            <a:r>
              <a:rPr lang="en-ZA" altLang="en-US" dirty="0" smtClean="0"/>
              <a:t> Booleans)</a:t>
            </a:r>
          </a:p>
          <a:p>
            <a:pPr marL="171450" indent="-171450" eaLnBrk="1" hangingPunct="1">
              <a:buFont typeface="Arial" panose="020B0604020202020204" pitchFamily="34" charset="0"/>
              <a:buChar char="•"/>
            </a:pPr>
            <a:r>
              <a:rPr lang="en-ZA" altLang="en-US" dirty="0" smtClean="0"/>
              <a:t>Strings</a:t>
            </a:r>
          </a:p>
          <a:p>
            <a:pPr marL="171450" indent="-171450" eaLnBrk="1" hangingPunct="1">
              <a:buFont typeface="Arial" panose="020B0604020202020204" pitchFamily="34" charset="0"/>
              <a:buChar char="•"/>
            </a:pPr>
            <a:r>
              <a:rPr lang="en-ZA" altLang="en-US" dirty="0" smtClean="0"/>
              <a:t>Tuples</a:t>
            </a:r>
          </a:p>
          <a:p>
            <a:pPr marL="171450" indent="-171450" eaLnBrk="1" hangingPunct="1">
              <a:buFont typeface="Arial" panose="020B0604020202020204" pitchFamily="34" charset="0"/>
              <a:buChar char="•"/>
            </a:pPr>
            <a:r>
              <a:rPr lang="en-ZA" altLang="en-US" dirty="0" smtClean="0"/>
              <a:t>Frozen Sets</a:t>
            </a:r>
            <a:endParaRPr lang="en-GB" altLang="en-US" dirty="0" smtClean="0"/>
          </a:p>
          <a:p>
            <a:pPr eaLnBrk="1" hangingPunct="1"/>
            <a:endParaRPr lang="en-GB" altLang="en-US" dirty="0" smtClean="0"/>
          </a:p>
          <a:p>
            <a:pPr eaLnBrk="1" hangingPunct="1"/>
            <a:r>
              <a:rPr lang="en-GB" altLang="en-US" dirty="0" smtClean="0"/>
              <a:t>In Ruby, most objects are mutable. Immutable objects in Ruby include</a:t>
            </a:r>
            <a:r>
              <a:rPr lang="en-GB" altLang="en-US" baseline="0" dirty="0" smtClean="0"/>
              <a:t> numbers and Boolean values. It is also possible to make an existing object immutable by freezing the object.</a:t>
            </a:r>
            <a:endParaRPr lang="en-GB" altLang="en-US" dirty="0" smtClean="0"/>
          </a:p>
          <a:p>
            <a:pPr eaLnBrk="1" hangingPunct="1"/>
            <a:endParaRPr lang="en-GB" altLang="en-US" dirty="0" smtClean="0"/>
          </a:p>
          <a:p>
            <a:pPr eaLnBrk="1" hangingPunct="1"/>
            <a:r>
              <a:rPr lang="en-GB" altLang="en-US" dirty="0" smtClean="0"/>
              <a:t>Now</a:t>
            </a:r>
            <a:r>
              <a:rPr lang="en-GB" altLang="en-US" baseline="0" dirty="0" smtClean="0"/>
              <a:t> t</a:t>
            </a:r>
            <a:r>
              <a:rPr lang="en-GB" altLang="en-US" dirty="0" smtClean="0"/>
              <a:t>ry to answer the question. Remember that immutable objects can’t be modified.</a:t>
            </a:r>
          </a:p>
        </p:txBody>
      </p:sp>
    </p:spTree>
    <p:extLst>
      <p:ext uri="{BB962C8B-B14F-4D97-AF65-F5344CB8AC3E}">
        <p14:creationId xmlns:p14="http://schemas.microsoft.com/office/powerpoint/2010/main" val="1844390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20614BB-7395-4875-8481-1D4B1532FE95}" type="slidenum">
              <a:rPr lang="en-US" altLang="en-US" sz="1300" smtClean="0"/>
              <a:pPr/>
              <a:t>19</a:t>
            </a:fld>
            <a:endParaRPr lang="en-US" altLang="en-US" sz="1300" smtClean="0"/>
          </a:p>
        </p:txBody>
      </p:sp>
      <p:sp>
        <p:nvSpPr>
          <p:cNvPr id="74755" name="Rectangle 2"/>
          <p:cNvSpPr>
            <a:spLocks noGrp="1" noRot="1" noChangeAspect="1" noChangeArrowheads="1" noTextEdit="1"/>
          </p:cNvSpPr>
          <p:nvPr>
            <p:ph type="sldImg"/>
          </p:nvPr>
        </p:nvSpPr>
        <p:spPr>
          <a:xfrm>
            <a:off x="992188" y="768350"/>
            <a:ext cx="5114925" cy="3836988"/>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If no type checking is performed for a parameter, it means that there is no way to confirm that a specific expected type is actually what will be passed through as an actual parameter in a subprogram call. Even if a type is specified (for example, look at the leftmost C example), these are really just hints. In the example, we are basically only saying “you can probably expect that the parameter x will be a double value, but there aren’t any guarantees”. Anyone calling the sin function can pass through whatever they like as a parameter. Whatever is passed</a:t>
            </a:r>
            <a:r>
              <a:rPr lang="en-GB" altLang="en-US" baseline="0" dirty="0" smtClean="0"/>
              <a:t> as the parameter is then interpreted on a bit level as a double value.</a:t>
            </a:r>
            <a:endParaRPr lang="en-GB" altLang="en-US" dirty="0" smtClean="0"/>
          </a:p>
          <a:p>
            <a:pPr eaLnBrk="1" hangingPunct="1"/>
            <a:endParaRPr lang="en-GB" altLang="en-US" dirty="0" smtClean="0"/>
          </a:p>
          <a:p>
            <a:pPr eaLnBrk="1" hangingPunct="1"/>
            <a:r>
              <a:rPr lang="en-GB" altLang="en-US" dirty="0" smtClean="0"/>
              <a:t>So a lack of type checking is almost always dangerous. Can you give concrete reasons what might happen if a type mismatch occurs?</a:t>
            </a:r>
          </a:p>
        </p:txBody>
      </p:sp>
    </p:spTree>
    <p:extLst>
      <p:ext uri="{BB962C8B-B14F-4D97-AF65-F5344CB8AC3E}">
        <p14:creationId xmlns:p14="http://schemas.microsoft.com/office/powerpoint/2010/main" val="2271109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20614BB-7395-4875-8481-1D4B1532FE95}" type="slidenum">
              <a:rPr lang="en-US" altLang="en-US" sz="1300" smtClean="0"/>
              <a:pPr/>
              <a:t>20</a:t>
            </a:fld>
            <a:endParaRPr lang="en-US" altLang="en-US" sz="1300" smtClean="0"/>
          </a:p>
        </p:txBody>
      </p:sp>
      <p:sp>
        <p:nvSpPr>
          <p:cNvPr id="74755" name="Rectangle 2"/>
          <p:cNvSpPr>
            <a:spLocks noGrp="1" noRot="1" noChangeAspect="1" noChangeArrowheads="1" noTextEdit="1"/>
          </p:cNvSpPr>
          <p:nvPr>
            <p:ph type="sldImg"/>
          </p:nvPr>
        </p:nvSpPr>
        <p:spPr>
          <a:xfrm>
            <a:off x="992188" y="768350"/>
            <a:ext cx="5114925" cy="3836988"/>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Consider the statement “variables do not have types, but objects do”, in relation to Python and Ruby. What does this mean? Let’s look at Python. Consider the following assignment:</a:t>
            </a:r>
          </a:p>
          <a:p>
            <a:pPr eaLnBrk="1" hangingPunct="1"/>
            <a:endParaRPr lang="en-GB" altLang="en-US" dirty="0" smtClean="0"/>
          </a:p>
          <a:p>
            <a:pPr eaLnBrk="1" hangingPunct="1"/>
            <a:r>
              <a:rPr lang="en-GB" altLang="en-US" dirty="0" smtClean="0"/>
              <a:t>p = </a:t>
            </a:r>
            <a:r>
              <a:rPr lang="en-GB" altLang="en-US" dirty="0" err="1" smtClean="0"/>
              <a:t>Person.new</a:t>
            </a:r>
            <a:endParaRPr lang="en-GB" altLang="en-US" dirty="0" smtClean="0"/>
          </a:p>
          <a:p>
            <a:pPr eaLnBrk="1" hangingPunct="1"/>
            <a:endParaRPr lang="en-GB" altLang="en-US" dirty="0" smtClean="0"/>
          </a:p>
          <a:p>
            <a:pPr eaLnBrk="1" hangingPunct="1"/>
            <a:r>
              <a:rPr lang="en-GB" altLang="en-US" dirty="0" smtClean="0"/>
              <a:t>Here the variable is p. When the assignment completes, what we’ve really done is create a Person object, and assigned this to the variable p. The assignment means that the variable p is now a reference to the Person object. The object has a type (a Person), but the variable p does not. You can think of this as a variable of type Object in Java. So now let’s assume we have a function as follows:</a:t>
            </a:r>
          </a:p>
          <a:p>
            <a:pPr eaLnBrk="1" hangingPunct="1"/>
            <a:endParaRPr lang="en-GB" altLang="en-US" dirty="0" smtClean="0"/>
          </a:p>
          <a:p>
            <a:pPr eaLnBrk="1" hangingPunct="1"/>
            <a:r>
              <a:rPr lang="en-GB" altLang="en-US" dirty="0" err="1" smtClean="0"/>
              <a:t>def</a:t>
            </a:r>
            <a:r>
              <a:rPr lang="en-GB" altLang="en-US" dirty="0" smtClean="0"/>
              <a:t> </a:t>
            </a:r>
            <a:r>
              <a:rPr lang="en-GB" altLang="en-US" dirty="0" err="1" smtClean="0"/>
              <a:t>my_function</a:t>
            </a:r>
            <a:r>
              <a:rPr lang="en-GB" altLang="en-US" dirty="0" smtClean="0"/>
              <a:t>(value):</a:t>
            </a:r>
          </a:p>
          <a:p>
            <a:pPr eaLnBrk="1" hangingPunct="1"/>
            <a:r>
              <a:rPr lang="en-GB" altLang="en-US" dirty="0" smtClean="0"/>
              <a:t>  print(value)</a:t>
            </a:r>
          </a:p>
          <a:p>
            <a:pPr eaLnBrk="1" hangingPunct="1"/>
            <a:endParaRPr lang="en-GB" altLang="en-US" dirty="0" smtClean="0"/>
          </a:p>
          <a:p>
            <a:pPr eaLnBrk="1" hangingPunct="1"/>
            <a:r>
              <a:rPr lang="en-GB" altLang="en-US" dirty="0" smtClean="0"/>
              <a:t>We have a formal parameter named value. This is a variable, and therefore has no type associated with it. This means that any particular object could be passed to </a:t>
            </a:r>
            <a:r>
              <a:rPr lang="en-GB" altLang="en-US" dirty="0" err="1" smtClean="0"/>
              <a:t>my_function</a:t>
            </a:r>
            <a:r>
              <a:rPr lang="en-GB" altLang="en-US" dirty="0" smtClean="0"/>
              <a:t>. Because value has no type associated with it, no type checking can take place.</a:t>
            </a:r>
          </a:p>
          <a:p>
            <a:pPr eaLnBrk="1" hangingPunct="1"/>
            <a:endParaRPr lang="en-GB" altLang="en-US" dirty="0" smtClean="0"/>
          </a:p>
          <a:p>
            <a:pPr eaLnBrk="1" hangingPunct="1"/>
            <a:r>
              <a:rPr lang="en-GB" altLang="en-US" dirty="0" smtClean="0"/>
              <a:t>We would see a</a:t>
            </a:r>
            <a:r>
              <a:rPr lang="en-GB" altLang="en-US" baseline="0" dirty="0" smtClean="0"/>
              <a:t> similar type of</a:t>
            </a:r>
            <a:r>
              <a:rPr lang="en-GB" altLang="en-US" dirty="0" smtClean="0"/>
              <a:t> thing in Java if we wrote a method that accepted an Object parameter – we would have to cast the parameter before we could use it. Here’s a Java method illustrating this:</a:t>
            </a:r>
          </a:p>
          <a:p>
            <a:pPr eaLnBrk="1" hangingPunct="1"/>
            <a:endParaRPr lang="en-GB" altLang="en-US" dirty="0" smtClean="0"/>
          </a:p>
          <a:p>
            <a:pPr eaLnBrk="1" hangingPunct="1"/>
            <a:r>
              <a:rPr lang="en-ZA" altLang="en-US" dirty="0" smtClean="0"/>
              <a:t>public static void </a:t>
            </a:r>
            <a:r>
              <a:rPr lang="en-ZA" altLang="en-US" dirty="0" err="1" smtClean="0"/>
              <a:t>doSomething</a:t>
            </a:r>
            <a:r>
              <a:rPr lang="en-ZA" altLang="en-US" dirty="0" smtClean="0"/>
              <a:t> (Object o) {</a:t>
            </a:r>
          </a:p>
          <a:p>
            <a:pPr eaLnBrk="1" hangingPunct="1"/>
            <a:r>
              <a:rPr lang="en-ZA" altLang="en-US" dirty="0" smtClean="0"/>
              <a:t>      Person </a:t>
            </a:r>
            <a:r>
              <a:rPr lang="en-ZA" altLang="en-US" dirty="0" err="1" smtClean="0"/>
              <a:t>myP</a:t>
            </a:r>
            <a:r>
              <a:rPr lang="en-ZA" altLang="en-US" dirty="0" smtClean="0"/>
              <a:t> = (Person) o;</a:t>
            </a:r>
          </a:p>
          <a:p>
            <a:pPr eaLnBrk="1" hangingPunct="1"/>
            <a:r>
              <a:rPr lang="en-ZA" altLang="en-US" dirty="0" smtClean="0"/>
              <a:t>      </a:t>
            </a:r>
            <a:r>
              <a:rPr lang="en-ZA" altLang="en-US" dirty="0" err="1" smtClean="0"/>
              <a:t>myP.printName</a:t>
            </a:r>
            <a:r>
              <a:rPr lang="en-ZA" altLang="en-US" dirty="0" smtClean="0"/>
              <a:t>();</a:t>
            </a:r>
          </a:p>
          <a:p>
            <a:pPr eaLnBrk="1" hangingPunct="1"/>
            <a:r>
              <a:rPr lang="en-ZA" altLang="en-US" dirty="0" smtClean="0"/>
              <a:t>      </a:t>
            </a:r>
            <a:r>
              <a:rPr lang="en-ZA" altLang="en-US" dirty="0" err="1" smtClean="0"/>
              <a:t>myP.printAge</a:t>
            </a:r>
            <a:r>
              <a:rPr lang="en-ZA" altLang="en-US" dirty="0" smtClean="0"/>
              <a:t>();</a:t>
            </a:r>
          </a:p>
          <a:p>
            <a:pPr eaLnBrk="1" hangingPunct="1"/>
            <a:r>
              <a:rPr lang="en-ZA" altLang="en-US" dirty="0" smtClean="0"/>
              <a:t>}</a:t>
            </a:r>
          </a:p>
          <a:p>
            <a:pPr eaLnBrk="1" hangingPunct="1"/>
            <a:endParaRPr lang="en-ZA" altLang="en-US" dirty="0" smtClean="0"/>
          </a:p>
          <a:p>
            <a:pPr eaLnBrk="1" hangingPunct="1"/>
            <a:r>
              <a:rPr lang="en-ZA" altLang="en-US" dirty="0" smtClean="0"/>
              <a:t>This method works, but it assumes that the object we pass to the </a:t>
            </a:r>
            <a:r>
              <a:rPr lang="en-ZA" altLang="en-US" dirty="0" err="1" smtClean="0"/>
              <a:t>doSomething</a:t>
            </a:r>
            <a:r>
              <a:rPr lang="en-ZA" altLang="en-US" dirty="0" smtClean="0"/>
              <a:t> method is an instance of the Person class. It’s completely possible to pass some other object to </a:t>
            </a:r>
            <a:r>
              <a:rPr lang="en-ZA" altLang="en-US" dirty="0" err="1" smtClean="0"/>
              <a:t>doSomething</a:t>
            </a:r>
            <a:r>
              <a:rPr lang="en-ZA" altLang="en-US" dirty="0" smtClean="0"/>
              <a:t>, and the program code will compile, but cause a runtime error. This illustrates the potential dangers associated with a lack of parameter type checking.</a:t>
            </a:r>
            <a:endParaRPr lang="en-GB" altLang="en-US" dirty="0" smtClean="0"/>
          </a:p>
        </p:txBody>
      </p:sp>
    </p:spTree>
    <p:extLst>
      <p:ext uri="{BB962C8B-B14F-4D97-AF65-F5344CB8AC3E}">
        <p14:creationId xmlns:p14="http://schemas.microsoft.com/office/powerpoint/2010/main" val="40307705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AC94759-742B-4484-AFAD-8C49408BC4FB}" type="slidenum">
              <a:rPr lang="en-US" altLang="en-US" sz="1300" smtClean="0"/>
              <a:pPr/>
              <a:t>21</a:t>
            </a:fld>
            <a:endParaRPr lang="en-US" altLang="en-US" sz="1300" smtClean="0"/>
          </a:p>
        </p:txBody>
      </p:sp>
      <p:sp>
        <p:nvSpPr>
          <p:cNvPr id="78851" name="Rectangle 2"/>
          <p:cNvSpPr>
            <a:spLocks noGrp="1" noRot="1" noChangeAspect="1" noChangeArrowheads="1" noTextEdit="1"/>
          </p:cNvSpPr>
          <p:nvPr>
            <p:ph type="sldImg"/>
          </p:nvPr>
        </p:nvSpPr>
        <p:spPr>
          <a:xfrm>
            <a:off x="992188" y="768350"/>
            <a:ext cx="5114925" cy="3836988"/>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The mapping function needs to know the size of all dimensions except the first because of the way arrays are organised in memory. Consider the following array (where part of the array</a:t>
            </a:r>
            <a:r>
              <a:rPr lang="en-GB" altLang="en-US" baseline="0" dirty="0" smtClean="0"/>
              <a:t> initialisation is left out for simplicity</a:t>
            </a:r>
            <a:r>
              <a:rPr lang="en-GB" altLang="en-US" dirty="0" smtClean="0"/>
              <a:t>):</a:t>
            </a:r>
          </a:p>
          <a:p>
            <a:pPr eaLnBrk="1" hangingPunct="1"/>
            <a:endParaRPr lang="en-GB" altLang="en-US" dirty="0" smtClean="0"/>
          </a:p>
          <a:p>
            <a:pPr eaLnBrk="1" hangingPunct="1"/>
            <a:r>
              <a:rPr lang="en-GB" altLang="en-US" dirty="0" err="1" smtClean="0"/>
              <a:t>int</a:t>
            </a:r>
            <a:r>
              <a:rPr lang="en-GB" altLang="en-US" dirty="0" smtClean="0"/>
              <a:t> </a:t>
            </a:r>
            <a:r>
              <a:rPr lang="en-GB" altLang="en-US" dirty="0" err="1" smtClean="0"/>
              <a:t>myArr</a:t>
            </a:r>
            <a:r>
              <a:rPr lang="en-GB" altLang="en-US" dirty="0" smtClean="0"/>
              <a:t>[ ][3] = {{1, 2, 3}, {4, 5, 6}, … };</a:t>
            </a:r>
          </a:p>
          <a:p>
            <a:pPr eaLnBrk="1" hangingPunct="1"/>
            <a:endParaRPr lang="en-GB" altLang="en-US" dirty="0" smtClean="0"/>
          </a:p>
          <a:p>
            <a:pPr eaLnBrk="1" hangingPunct="1"/>
            <a:r>
              <a:rPr lang="en-GB" altLang="en-US" dirty="0" smtClean="0"/>
              <a:t>This array is arranged as follows in memory:</a:t>
            </a:r>
          </a:p>
          <a:p>
            <a:pPr eaLnBrk="1" hangingPunct="1"/>
            <a:endParaRPr lang="en-GB" altLang="en-US" dirty="0" smtClean="0"/>
          </a:p>
          <a:p>
            <a:pPr eaLnBrk="1" hangingPunct="1"/>
            <a:r>
              <a:rPr lang="en-GB" altLang="en-US" dirty="0" smtClean="0"/>
              <a:t>[1][2][3][4][5][6] …</a:t>
            </a:r>
          </a:p>
          <a:p>
            <a:pPr eaLnBrk="1" hangingPunct="1"/>
            <a:endParaRPr lang="en-GB" altLang="en-US" dirty="0" smtClean="0"/>
          </a:p>
          <a:p>
            <a:pPr eaLnBrk="1" hangingPunct="1"/>
            <a:r>
              <a:rPr lang="en-GB" altLang="en-US" dirty="0" smtClean="0"/>
              <a:t>In order for the compiler to know where</a:t>
            </a:r>
            <a:r>
              <a:rPr lang="en-GB" altLang="en-US" baseline="0" dirty="0" smtClean="0"/>
              <a:t> the start of each row is in memory, it must know how much memory is taken up by each row. This is why it must know that the second dimension is 3. It doesn’t need to know the size of the first dimension because the same pattern is followed by all rows, so there can be an arbitrary number of rows (indicated by the ellipsis in the above representation). The same logic holds for more than two dimensions (each row now consists of further fixed length arrays).</a:t>
            </a:r>
          </a:p>
          <a:p>
            <a:pPr eaLnBrk="1" hangingPunct="1"/>
            <a:endParaRPr lang="en-GB" altLang="en-US" baseline="0" dirty="0" smtClean="0"/>
          </a:p>
          <a:p>
            <a:pPr eaLnBrk="1" hangingPunct="1"/>
            <a:r>
              <a:rPr lang="en-GB" altLang="en-US" baseline="0" dirty="0" smtClean="0"/>
              <a:t>In C and C++ this is particularly a problem, because a function can be compiled in a separate file. This means the compiler can’t rely on the call to the subprogram to determine the array’s dimensionality (and therefore the mapping function). The mapping function can only be determined from the function itself, hence requiring that all but the first array dimension be provided.</a:t>
            </a:r>
            <a:endParaRPr lang="en-GB" altLang="en-US" dirty="0" smtClean="0"/>
          </a:p>
        </p:txBody>
      </p:sp>
    </p:spTree>
    <p:extLst>
      <p:ext uri="{BB962C8B-B14F-4D97-AF65-F5344CB8AC3E}">
        <p14:creationId xmlns:p14="http://schemas.microsoft.com/office/powerpoint/2010/main" val="27063217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AC94759-742B-4484-AFAD-8C49408BC4FB}" type="slidenum">
              <a:rPr lang="en-US" altLang="en-US" sz="1300" smtClean="0"/>
              <a:pPr/>
              <a:t>22</a:t>
            </a:fld>
            <a:endParaRPr lang="en-US" altLang="en-US" sz="1300" smtClean="0"/>
          </a:p>
        </p:txBody>
      </p:sp>
      <p:sp>
        <p:nvSpPr>
          <p:cNvPr id="78851" name="Rectangle 2"/>
          <p:cNvSpPr>
            <a:spLocks noGrp="1" noRot="1" noChangeAspect="1" noChangeArrowheads="1" noTextEdit="1"/>
          </p:cNvSpPr>
          <p:nvPr>
            <p:ph type="sldImg"/>
          </p:nvPr>
        </p:nvSpPr>
        <p:spPr>
          <a:xfrm>
            <a:off x="992188" y="768350"/>
            <a:ext cx="5114925" cy="3836988"/>
          </a:xfrm>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You should be familiar with this approach to passing dynamic and multidimensional arrays to C++ functions. Try to answer the question.</a:t>
            </a:r>
          </a:p>
        </p:txBody>
      </p:sp>
    </p:spTree>
    <p:extLst>
      <p:ext uri="{BB962C8B-B14F-4D97-AF65-F5344CB8AC3E}">
        <p14:creationId xmlns:p14="http://schemas.microsoft.com/office/powerpoint/2010/main" val="30184231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4C221D6-EA00-4B3D-8DFA-D13B54B0E140}" type="slidenum">
              <a:rPr lang="en-US" altLang="en-US" sz="1300" smtClean="0"/>
              <a:pPr/>
              <a:t>23</a:t>
            </a:fld>
            <a:endParaRPr lang="en-US" altLang="en-US" sz="1300" smtClean="0"/>
          </a:p>
        </p:txBody>
      </p:sp>
      <p:sp>
        <p:nvSpPr>
          <p:cNvPr id="80899" name="Rectangle 2"/>
          <p:cNvSpPr>
            <a:spLocks noGrp="1" noRot="1" noChangeAspect="1" noChangeArrowheads="1" noTextEdit="1"/>
          </p:cNvSpPr>
          <p:nvPr>
            <p:ph type="sldImg"/>
          </p:nvPr>
        </p:nvSpPr>
        <p:spPr>
          <a:xfrm>
            <a:off x="992188" y="768350"/>
            <a:ext cx="5114925" cy="3836988"/>
          </a:xfrm>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763499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ZA" altLang="en-US" dirty="0" smtClean="0"/>
              <a:t>In the code example, </a:t>
            </a:r>
            <a:r>
              <a:rPr lang="en-ZA" altLang="en-US" dirty="0" err="1" smtClean="0"/>
              <a:t>ptr</a:t>
            </a:r>
            <a:r>
              <a:rPr lang="en-ZA" altLang="en-US" dirty="0" smtClean="0"/>
              <a:t> is a pointer to a function that returns a float, and receives two parameters, where the first is a float and the second is an int. If we assign </a:t>
            </a:r>
            <a:r>
              <a:rPr lang="en-ZA" altLang="en-US" dirty="0" err="1" smtClean="0"/>
              <a:t>ptr</a:t>
            </a:r>
            <a:r>
              <a:rPr lang="en-ZA" altLang="en-US" dirty="0" smtClean="0"/>
              <a:t> to </a:t>
            </a:r>
            <a:r>
              <a:rPr lang="en-ZA" altLang="en-US" dirty="0" err="1" smtClean="0"/>
              <a:t>myFunc</a:t>
            </a:r>
            <a:r>
              <a:rPr lang="en-ZA" altLang="en-US" dirty="0" smtClean="0"/>
              <a:t> (note that </a:t>
            </a:r>
            <a:r>
              <a:rPr lang="en-ZA" altLang="en-US" dirty="0" err="1" smtClean="0"/>
              <a:t>myFunc</a:t>
            </a:r>
            <a:r>
              <a:rPr lang="en-ZA" altLang="en-US" dirty="0" smtClean="0"/>
              <a:t> has the same return and parameter types), we can call </a:t>
            </a:r>
            <a:r>
              <a:rPr lang="en-ZA" altLang="en-US" dirty="0" err="1" smtClean="0"/>
              <a:t>ptr</a:t>
            </a:r>
            <a:r>
              <a:rPr lang="en-ZA" altLang="en-US" dirty="0" smtClean="0"/>
              <a:t> the same way as </a:t>
            </a:r>
            <a:r>
              <a:rPr lang="en-ZA" altLang="en-US" dirty="0" err="1" smtClean="0"/>
              <a:t>myFunc</a:t>
            </a:r>
            <a:r>
              <a:rPr lang="en-ZA" altLang="en-US" dirty="0" smtClean="0"/>
              <a:t>.</a:t>
            </a:r>
          </a:p>
          <a:p>
            <a:pPr>
              <a:defRPr/>
            </a:pPr>
            <a:endParaRPr lang="en-ZA" altLang="en-US" dirty="0" smtClean="0"/>
          </a:p>
          <a:p>
            <a:pPr>
              <a:defRPr/>
            </a:pPr>
            <a:r>
              <a:rPr lang="en-ZA" altLang="en-US" dirty="0" smtClean="0"/>
              <a:t>Function pointers allow a kind of parameterization for programs, because they can point to any function with the required return type and parameters. It’s therefore possible to:</a:t>
            </a:r>
          </a:p>
          <a:p>
            <a:pPr marL="171450" indent="-171450">
              <a:buFont typeface="Arial" panose="020B0604020202020204" pitchFamily="34" charset="0"/>
              <a:buChar char="•"/>
              <a:defRPr/>
            </a:pPr>
            <a:r>
              <a:rPr lang="en-ZA" altLang="en-US" dirty="0" smtClean="0"/>
              <a:t>Write several functions that perform different tasks</a:t>
            </a:r>
          </a:p>
          <a:p>
            <a:pPr marL="171450" indent="-171450">
              <a:buFont typeface="Arial" panose="020B0604020202020204" pitchFamily="34" charset="0"/>
              <a:buChar char="•"/>
              <a:defRPr/>
            </a:pPr>
            <a:r>
              <a:rPr lang="en-ZA" altLang="en-US" dirty="0" smtClean="0"/>
              <a:t>Dynamically figure out which one needs to be used at run time</a:t>
            </a:r>
          </a:p>
          <a:p>
            <a:pPr marL="171450" indent="-171450">
              <a:buFont typeface="Arial" panose="020B0604020202020204" pitchFamily="34" charset="0"/>
              <a:buChar char="•"/>
              <a:defRPr/>
            </a:pPr>
            <a:r>
              <a:rPr lang="en-ZA" altLang="en-US" dirty="0" smtClean="0"/>
              <a:t>Pass the appropriate function to another function that uses it</a:t>
            </a:r>
          </a:p>
          <a:p>
            <a:pPr>
              <a:buFont typeface="Arial" panose="020B0604020202020204" pitchFamily="34" charset="0"/>
              <a:buNone/>
              <a:defRPr/>
            </a:pPr>
            <a:endParaRPr lang="en-ZA" altLang="en-US" dirty="0" smtClean="0"/>
          </a:p>
          <a:p>
            <a:pPr>
              <a:buFont typeface="Arial" panose="020B0604020202020204" pitchFamily="34" charset="0"/>
              <a:buNone/>
              <a:defRPr/>
            </a:pPr>
            <a:r>
              <a:rPr lang="en-ZA" altLang="en-US" dirty="0" smtClean="0"/>
              <a:t>So you might write an event dispatcher function that executes runtime events. You can then write the code for individual event handlers in functions. As long as all the event handler functions have the same parameters and return types, whichever one is appropriate at the time can be passed to the dispatcher, where it will be executed.</a:t>
            </a:r>
          </a:p>
        </p:txBody>
      </p:sp>
      <p:sp>
        <p:nvSpPr>
          <p:cNvPr id="849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15F869E5-3211-49C7-B526-0A07DF60281A}" type="slidenum">
              <a:rPr lang="en-US" altLang="en-US" sz="1200" smtClean="0"/>
              <a:pPr/>
              <a:t>24</a:t>
            </a:fld>
            <a:endParaRPr lang="en-US" altLang="en-US" sz="1200" smtClean="0"/>
          </a:p>
        </p:txBody>
      </p:sp>
    </p:spTree>
    <p:extLst>
      <p:ext uri="{BB962C8B-B14F-4D97-AF65-F5344CB8AC3E}">
        <p14:creationId xmlns:p14="http://schemas.microsoft.com/office/powerpoint/2010/main" val="559596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t>What advantage does a C# delegate have in comparison to a C or C++ function pointer? Consider the fact that a delegate in C# uses a delegate type.</a:t>
            </a:r>
          </a:p>
          <a:p>
            <a:endParaRPr lang="en-US" altLang="en-US" dirty="0" smtClean="0"/>
          </a:p>
          <a:p>
            <a:r>
              <a:rPr lang="en-US" altLang="en-US" dirty="0" smtClean="0"/>
              <a:t>Can you think of a practical situation in which a multicast delegate might be useful?</a:t>
            </a:r>
          </a:p>
        </p:txBody>
      </p:sp>
      <p:sp>
        <p:nvSpPr>
          <p:cNvPr id="870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9F3DA77-BE93-41B0-9EC9-535723EE8282}" type="slidenum">
              <a:rPr lang="en-US" altLang="en-US" sz="1200" smtClean="0"/>
              <a:pPr/>
              <a:t>25</a:t>
            </a:fld>
            <a:endParaRPr lang="en-US" altLang="en-US" sz="1200" smtClean="0"/>
          </a:p>
        </p:txBody>
      </p:sp>
    </p:spTree>
    <p:extLst>
      <p:ext uri="{BB962C8B-B14F-4D97-AF65-F5344CB8AC3E}">
        <p14:creationId xmlns:p14="http://schemas.microsoft.com/office/powerpoint/2010/main" val="265474432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EA5E927-033E-4249-B417-B67CDDF22B0D}" type="slidenum">
              <a:rPr lang="en-US" altLang="en-US" sz="1300" smtClean="0"/>
              <a:pPr/>
              <a:t>26</a:t>
            </a:fld>
            <a:endParaRPr lang="en-US" altLang="en-US" sz="1300" smtClean="0"/>
          </a:p>
        </p:txBody>
      </p:sp>
      <p:sp>
        <p:nvSpPr>
          <p:cNvPr id="89091" name="Rectangle 2"/>
          <p:cNvSpPr>
            <a:spLocks noGrp="1" noRot="1" noChangeAspect="1" noChangeArrowheads="1" noTextEdit="1"/>
          </p:cNvSpPr>
          <p:nvPr>
            <p:ph type="sldImg"/>
          </p:nvPr>
        </p:nvSpPr>
        <p:spPr>
          <a:xfrm>
            <a:off x="992188" y="768350"/>
            <a:ext cx="5114925" cy="3836988"/>
          </a:xfrm>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6323416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B7C4A0D-7C80-441B-A49E-FB0C50611E9D}" type="slidenum">
              <a:rPr lang="en-US" altLang="en-US" sz="1300" smtClean="0"/>
              <a:pPr/>
              <a:t>27</a:t>
            </a:fld>
            <a:endParaRPr lang="en-US" altLang="en-US" sz="1300" smtClean="0"/>
          </a:p>
        </p:txBody>
      </p:sp>
      <p:sp>
        <p:nvSpPr>
          <p:cNvPr id="91139" name="Rectangle 2"/>
          <p:cNvSpPr>
            <a:spLocks noGrp="1" noRot="1" noChangeAspect="1" noChangeArrowheads="1" noTextEdit="1"/>
          </p:cNvSpPr>
          <p:nvPr>
            <p:ph type="sldImg"/>
          </p:nvPr>
        </p:nvSpPr>
        <p:spPr>
          <a:xfrm>
            <a:off x="992188" y="768350"/>
            <a:ext cx="5114925" cy="3836988"/>
          </a:xfrm>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Try to answer the question (consider the discussion on function pointers in the previous slides).</a:t>
            </a:r>
          </a:p>
        </p:txBody>
      </p:sp>
    </p:spTree>
    <p:extLst>
      <p:ext uri="{BB962C8B-B14F-4D97-AF65-F5344CB8AC3E}">
        <p14:creationId xmlns:p14="http://schemas.microsoft.com/office/powerpoint/2010/main" val="32073404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0E4E9E1-14B2-4122-B444-46883B158EB7}" type="slidenum">
              <a:rPr lang="en-US" altLang="en-US" sz="1300" smtClean="0"/>
              <a:pPr/>
              <a:t>28</a:t>
            </a:fld>
            <a:endParaRPr lang="en-US" altLang="en-US" sz="1300" smtClean="0"/>
          </a:p>
        </p:txBody>
      </p:sp>
      <p:sp>
        <p:nvSpPr>
          <p:cNvPr id="93187" name="Rectangle 2"/>
          <p:cNvSpPr>
            <a:spLocks noGrp="1" noRot="1" noChangeAspect="1" noChangeArrowheads="1" noTextEdit="1"/>
          </p:cNvSpPr>
          <p:nvPr>
            <p:ph type="sldImg"/>
          </p:nvPr>
        </p:nvSpPr>
        <p:spPr>
          <a:xfrm>
            <a:off x="992188" y="768350"/>
            <a:ext cx="5114925" cy="3836988"/>
          </a:xfrm>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6495449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a:ln/>
        </p:spPr>
      </p:sp>
      <p:sp>
        <p:nvSpPr>
          <p:cNvPr id="952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This is important work for examination purposes.</a:t>
            </a:r>
          </a:p>
        </p:txBody>
      </p:sp>
      <p:sp>
        <p:nvSpPr>
          <p:cNvPr id="952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9B60D2A-47C9-4D28-8360-9EBAA6BAA8D0}" type="slidenum">
              <a:rPr lang="en-US" altLang="en-US" sz="1200" smtClean="0"/>
              <a:pPr/>
              <a:t>29</a:t>
            </a:fld>
            <a:endParaRPr lang="en-US" altLang="en-US" sz="1200" smtClean="0"/>
          </a:p>
        </p:txBody>
      </p:sp>
    </p:spTree>
    <p:extLst>
      <p:ext uri="{BB962C8B-B14F-4D97-AF65-F5344CB8AC3E}">
        <p14:creationId xmlns:p14="http://schemas.microsoft.com/office/powerpoint/2010/main" val="2687752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a:ln/>
        </p:spPr>
      </p:sp>
      <p:sp>
        <p:nvSpPr>
          <p:cNvPr id="972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This is important work for examination purposes.</a:t>
            </a:r>
          </a:p>
        </p:txBody>
      </p:sp>
      <p:sp>
        <p:nvSpPr>
          <p:cNvPr id="972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4DDDA3E-15E5-44E5-8276-D9D64525713F}" type="slidenum">
              <a:rPr lang="en-US" altLang="en-US" sz="1200" smtClean="0"/>
              <a:pPr/>
              <a:t>30</a:t>
            </a:fld>
            <a:endParaRPr lang="en-US" altLang="en-US" sz="1200" smtClean="0"/>
          </a:p>
        </p:txBody>
      </p:sp>
    </p:spTree>
    <p:extLst>
      <p:ext uri="{BB962C8B-B14F-4D97-AF65-F5344CB8AC3E}">
        <p14:creationId xmlns:p14="http://schemas.microsoft.com/office/powerpoint/2010/main" val="32731886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This is important work for examination purposes.</a:t>
            </a:r>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330493F-15D3-444C-8A16-65DAE6A54E5C}" type="slidenum">
              <a:rPr lang="en-US" altLang="en-US" sz="1200" smtClean="0"/>
              <a:pPr/>
              <a:t>31</a:t>
            </a:fld>
            <a:endParaRPr lang="en-US" altLang="en-US" sz="1200" smtClean="0"/>
          </a:p>
        </p:txBody>
      </p:sp>
    </p:spTree>
    <p:extLst>
      <p:ext uri="{BB962C8B-B14F-4D97-AF65-F5344CB8AC3E}">
        <p14:creationId xmlns:p14="http://schemas.microsoft.com/office/powerpoint/2010/main" val="41684786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ZA" altLang="en-US" dirty="0" smtClean="0"/>
              <a:t>This is important work for examination purposes.</a:t>
            </a: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AC5CA9D-0FDF-4C8D-BC7E-1D1983745984}" type="slidenum">
              <a:rPr lang="en-US" altLang="en-US" sz="1200" smtClean="0"/>
              <a:pPr/>
              <a:t>32</a:t>
            </a:fld>
            <a:endParaRPr lang="en-US" altLang="en-US" sz="1200" smtClean="0"/>
          </a:p>
        </p:txBody>
      </p:sp>
    </p:spTree>
    <p:extLst>
      <p:ext uri="{BB962C8B-B14F-4D97-AF65-F5344CB8AC3E}">
        <p14:creationId xmlns:p14="http://schemas.microsoft.com/office/powerpoint/2010/main" val="37796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6431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p>
        </p:txBody>
      </p:sp>
      <p:sp>
        <p:nvSpPr>
          <p:cNvPr id="83970"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83971"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pic>
        <p:nvPicPr>
          <p:cNvPr id="7" name="Picture 8" descr="Front Cover: Concepts of Programming Languages, Global Edition, by Robert W Sebesta&#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621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068C4D9B-DB09-48CF-815F-00FF9F53859C}" type="slidenum">
              <a:rPr lang="en-US" altLang="en-US"/>
              <a:pPr>
                <a:defRPr/>
              </a:pPr>
              <a:t>‹#›</a:t>
            </a:fld>
            <a:endParaRPr lang="en-US" altLang="en-US"/>
          </a:p>
        </p:txBody>
      </p:sp>
    </p:spTree>
    <p:extLst>
      <p:ext uri="{BB962C8B-B14F-4D97-AF65-F5344CB8AC3E}">
        <p14:creationId xmlns:p14="http://schemas.microsoft.com/office/powerpoint/2010/main" val="2312328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489262AE-3C96-4FFE-994C-452D80FA3E03}" type="slidenum">
              <a:rPr lang="en-US" altLang="en-US"/>
              <a:pPr>
                <a:defRPr/>
              </a:pPr>
              <a:t>‹#›</a:t>
            </a:fld>
            <a:endParaRPr lang="en-US" altLang="en-US"/>
          </a:p>
        </p:txBody>
      </p:sp>
    </p:spTree>
    <p:extLst>
      <p:ext uri="{BB962C8B-B14F-4D97-AF65-F5344CB8AC3E}">
        <p14:creationId xmlns:p14="http://schemas.microsoft.com/office/powerpoint/2010/main" val="244055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69A223ED-7D3C-4F0D-B765-C9BE7A86837A}" type="slidenum">
              <a:rPr lang="en-US" altLang="en-US"/>
              <a:pPr>
                <a:defRPr/>
              </a:pPr>
              <a:t>‹#›</a:t>
            </a:fld>
            <a:endParaRPr lang="en-US" altLang="en-US"/>
          </a:p>
        </p:txBody>
      </p:sp>
    </p:spTree>
    <p:extLst>
      <p:ext uri="{BB962C8B-B14F-4D97-AF65-F5344CB8AC3E}">
        <p14:creationId xmlns:p14="http://schemas.microsoft.com/office/powerpoint/2010/main" val="3659882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659ACCDB-D07C-4876-AC2C-0CB04706E068}" type="slidenum">
              <a:rPr lang="en-US" altLang="en-US"/>
              <a:pPr>
                <a:defRPr/>
              </a:pPr>
              <a:t>‹#›</a:t>
            </a:fld>
            <a:endParaRPr lang="en-US" altLang="en-US"/>
          </a:p>
        </p:txBody>
      </p:sp>
    </p:spTree>
    <p:extLst>
      <p:ext uri="{BB962C8B-B14F-4D97-AF65-F5344CB8AC3E}">
        <p14:creationId xmlns:p14="http://schemas.microsoft.com/office/powerpoint/2010/main" val="1306465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A752000E-1525-4E24-BDEE-767765A8E3D8}" type="slidenum">
              <a:rPr lang="en-US" altLang="en-US"/>
              <a:pPr>
                <a:defRPr/>
              </a:pPr>
              <a:t>‹#›</a:t>
            </a:fld>
            <a:endParaRPr lang="en-US" altLang="en-US"/>
          </a:p>
        </p:txBody>
      </p:sp>
    </p:spTree>
    <p:extLst>
      <p:ext uri="{BB962C8B-B14F-4D97-AF65-F5344CB8AC3E}">
        <p14:creationId xmlns:p14="http://schemas.microsoft.com/office/powerpoint/2010/main" val="124024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534002DE-FA59-4308-93C4-619F77775D6D}" type="slidenum">
              <a:rPr lang="en-US" altLang="en-US"/>
              <a:pPr>
                <a:defRPr/>
              </a:pPr>
              <a:t>‹#›</a:t>
            </a:fld>
            <a:endParaRPr lang="en-US" altLang="en-US"/>
          </a:p>
        </p:txBody>
      </p:sp>
    </p:spTree>
    <p:extLst>
      <p:ext uri="{BB962C8B-B14F-4D97-AF65-F5344CB8AC3E}">
        <p14:creationId xmlns:p14="http://schemas.microsoft.com/office/powerpoint/2010/main" val="23311651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4981DA1A-192D-4062-9CA2-CCAB6D3628BC}" type="slidenum">
              <a:rPr lang="en-US" altLang="en-US"/>
              <a:pPr>
                <a:defRPr/>
              </a:pPr>
              <a:t>‹#›</a:t>
            </a:fld>
            <a:endParaRPr lang="en-US" altLang="en-US"/>
          </a:p>
        </p:txBody>
      </p:sp>
    </p:spTree>
    <p:extLst>
      <p:ext uri="{BB962C8B-B14F-4D97-AF65-F5344CB8AC3E}">
        <p14:creationId xmlns:p14="http://schemas.microsoft.com/office/powerpoint/2010/main" val="2210201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DE41EBA1-68BC-4645-AD98-44FCE51F4EA2}" type="slidenum">
              <a:rPr lang="en-US" altLang="en-US"/>
              <a:pPr>
                <a:defRPr/>
              </a:pPr>
              <a:t>‹#›</a:t>
            </a:fld>
            <a:endParaRPr lang="en-US" altLang="en-US"/>
          </a:p>
        </p:txBody>
      </p:sp>
    </p:spTree>
    <p:extLst>
      <p:ext uri="{BB962C8B-B14F-4D97-AF65-F5344CB8AC3E}">
        <p14:creationId xmlns:p14="http://schemas.microsoft.com/office/powerpoint/2010/main" val="28424825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DA8646B4-39F1-43BD-B18E-C983E4BEB336}" type="slidenum">
              <a:rPr lang="en-US" altLang="en-US"/>
              <a:pPr>
                <a:defRPr/>
              </a:pPr>
              <a:t>‹#›</a:t>
            </a:fld>
            <a:endParaRPr lang="en-US" altLang="en-US"/>
          </a:p>
        </p:txBody>
      </p:sp>
    </p:spTree>
    <p:extLst>
      <p:ext uri="{BB962C8B-B14F-4D97-AF65-F5344CB8AC3E}">
        <p14:creationId xmlns:p14="http://schemas.microsoft.com/office/powerpoint/2010/main" val="21892823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A24AF519-D3AD-4F4F-AA28-7F22C9FB7820}" type="slidenum">
              <a:rPr lang="en-US" altLang="en-US"/>
              <a:pPr>
                <a:defRPr/>
              </a:pPr>
              <a:t>‹#›</a:t>
            </a:fld>
            <a:endParaRPr lang="en-US" altLang="en-US"/>
          </a:p>
        </p:txBody>
      </p:sp>
    </p:spTree>
    <p:extLst>
      <p:ext uri="{BB962C8B-B14F-4D97-AF65-F5344CB8AC3E}">
        <p14:creationId xmlns:p14="http://schemas.microsoft.com/office/powerpoint/2010/main" val="1103872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82948"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82949"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A1705EE6-6E16-4451-A57D-3C93458E74C4}"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15"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p:txBody>
          <a:bodyPr/>
          <a:lstStyle/>
          <a:p>
            <a:pPr eaLnBrk="1" hangingPunct="1"/>
            <a:r>
              <a:rPr lang="en-US" altLang="en-US" dirty="0" smtClean="0"/>
              <a:t>Chapter 9</a:t>
            </a:r>
            <a:br>
              <a:rPr lang="en-US" altLang="en-US" dirty="0" smtClean="0"/>
            </a:br>
            <a:r>
              <a:rPr lang="en-US" altLang="en-US" sz="2800" dirty="0" smtClean="0"/>
              <a:t>Part 2</a:t>
            </a:r>
          </a:p>
        </p:txBody>
      </p:sp>
      <p:sp>
        <p:nvSpPr>
          <p:cNvPr id="4099" name="Rectangle 5"/>
          <p:cNvSpPr>
            <a:spLocks noGrp="1" noChangeArrowheads="1"/>
          </p:cNvSpPr>
          <p:nvPr>
            <p:ph type="subTitle" idx="1"/>
          </p:nvPr>
        </p:nvSpPr>
        <p:spPr/>
        <p:txBody>
          <a:bodyPr/>
          <a:lstStyle/>
          <a:p>
            <a:pPr eaLnBrk="1" hangingPunct="1"/>
            <a:r>
              <a:rPr lang="en-US" altLang="en-US" smtClean="0"/>
              <a:t>Subprograms</a:t>
            </a:r>
          </a:p>
          <a:p>
            <a:pPr eaLnBrk="1" hangingPunct="1"/>
            <a:endParaRPr lang="en-US" alt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D3D09AB-A1B9-49B9-B5F2-DBCF88BB4E15}"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7172" name="Rectangle 2"/>
          <p:cNvSpPr>
            <a:spLocks noGrp="1" noChangeArrowheads="1"/>
          </p:cNvSpPr>
          <p:nvPr>
            <p:ph type="title"/>
          </p:nvPr>
        </p:nvSpPr>
        <p:spPr/>
        <p:txBody>
          <a:bodyPr/>
          <a:lstStyle/>
          <a:p>
            <a:pPr eaLnBrk="1" hangingPunct="1"/>
            <a:r>
              <a:rPr lang="en-US" altLang="en-US" dirty="0" smtClean="0"/>
              <a:t>Chapter </a:t>
            </a:r>
            <a:r>
              <a:rPr lang="en-US" altLang="en-US" dirty="0"/>
              <a:t>9</a:t>
            </a:r>
            <a:r>
              <a:rPr lang="en-US" altLang="en-US" dirty="0" smtClean="0"/>
              <a:t> Topics</a:t>
            </a:r>
          </a:p>
        </p:txBody>
      </p:sp>
      <p:sp>
        <p:nvSpPr>
          <p:cNvPr id="7173" name="Rectangle 3"/>
          <p:cNvSpPr>
            <a:spLocks noGrp="1" noChangeArrowheads="1"/>
          </p:cNvSpPr>
          <p:nvPr>
            <p:ph type="body" idx="1"/>
          </p:nvPr>
        </p:nvSpPr>
        <p:spPr/>
        <p:txBody>
          <a:bodyPr/>
          <a:lstStyle/>
          <a:p>
            <a:pPr eaLnBrk="1" hangingPunct="1"/>
            <a:r>
              <a:rPr lang="en-US" altLang="en-US" dirty="0" smtClean="0"/>
              <a:t>Parameter-Passing Methods</a:t>
            </a:r>
          </a:p>
          <a:p>
            <a:pPr eaLnBrk="1" hangingPunct="1"/>
            <a:r>
              <a:rPr lang="en-US" altLang="en-US" dirty="0" smtClean="0"/>
              <a:t>Parameters That Are Subprograms</a:t>
            </a:r>
          </a:p>
          <a:p>
            <a:pPr eaLnBrk="1" hangingPunct="1"/>
            <a:r>
              <a:rPr lang="en-US" altLang="en-US" dirty="0" smtClean="0"/>
              <a:t>Calling Subprograms Indirectly</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5394914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0775DD9-CC33-4EF7-8718-69C42F3A6231}"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45060" name="Rectangle 2"/>
          <p:cNvSpPr>
            <a:spLocks noGrp="1" noChangeArrowheads="1"/>
          </p:cNvSpPr>
          <p:nvPr>
            <p:ph type="title"/>
          </p:nvPr>
        </p:nvSpPr>
        <p:spPr/>
        <p:txBody>
          <a:bodyPr/>
          <a:lstStyle/>
          <a:p>
            <a:pPr eaLnBrk="1" hangingPunct="1"/>
            <a:r>
              <a:rPr lang="en-US" altLang="en-US" sz="3200" dirty="0"/>
              <a:t>Semantic Models of Parameter Passing</a:t>
            </a:r>
            <a:endParaRPr lang="en-US" altLang="en-US" sz="3200" dirty="0" smtClean="0"/>
          </a:p>
        </p:txBody>
      </p:sp>
      <p:pic>
        <p:nvPicPr>
          <p:cNvPr id="4506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680" y="1584325"/>
            <a:ext cx="7353300" cy="458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1FED6D0-C8FA-4878-ADED-88E743E6B4D0}"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47108" name="Rectangle 2"/>
          <p:cNvSpPr>
            <a:spLocks noGrp="1" noChangeArrowheads="1"/>
          </p:cNvSpPr>
          <p:nvPr>
            <p:ph type="title"/>
          </p:nvPr>
        </p:nvSpPr>
        <p:spPr/>
        <p:txBody>
          <a:bodyPr/>
          <a:lstStyle/>
          <a:p>
            <a:pPr eaLnBrk="1" hangingPunct="1"/>
            <a:r>
              <a:rPr lang="en-US" altLang="en-US" smtClean="0"/>
              <a:t>Conceptual Models of Transfer</a:t>
            </a:r>
          </a:p>
        </p:txBody>
      </p:sp>
      <p:sp>
        <p:nvSpPr>
          <p:cNvPr id="47109" name="Rectangle 3"/>
          <p:cNvSpPr>
            <a:spLocks noGrp="1" noChangeArrowheads="1"/>
          </p:cNvSpPr>
          <p:nvPr>
            <p:ph type="body" idx="1"/>
          </p:nvPr>
        </p:nvSpPr>
        <p:spPr>
          <a:xfrm>
            <a:off x="611188" y="1600200"/>
            <a:ext cx="8153400" cy="4572000"/>
          </a:xfrm>
        </p:spPr>
        <p:txBody>
          <a:bodyPr/>
          <a:lstStyle/>
          <a:p>
            <a:pPr eaLnBrk="1" hangingPunct="1"/>
            <a:r>
              <a:rPr lang="en-US" altLang="en-US" dirty="0" smtClean="0"/>
              <a:t>Two ways data transfer can take place</a:t>
            </a:r>
          </a:p>
          <a:p>
            <a:pPr lvl="1" eaLnBrk="1" hangingPunct="1"/>
            <a:r>
              <a:rPr lang="en-US" altLang="en-US" dirty="0" smtClean="0"/>
              <a:t>Physically copy a value</a:t>
            </a:r>
          </a:p>
          <a:p>
            <a:pPr lvl="1" eaLnBrk="1" hangingPunct="1"/>
            <a:r>
              <a:rPr lang="en-US" altLang="en-US" dirty="0" smtClean="0"/>
              <a:t>Transmit an access path to a value</a:t>
            </a:r>
          </a:p>
          <a:p>
            <a:pPr eaLnBrk="1" hangingPunct="1"/>
            <a:r>
              <a:rPr lang="en-US" altLang="en-US" dirty="0" smtClean="0"/>
              <a:t>This </a:t>
            </a:r>
            <a:r>
              <a:rPr lang="en-US" altLang="en-US" smtClean="0"/>
              <a:t>gives us </a:t>
            </a:r>
            <a:r>
              <a:rPr lang="en-US" altLang="en-US" dirty="0" smtClean="0"/>
              <a:t>five implementation models for parameter passing</a:t>
            </a:r>
          </a:p>
          <a:p>
            <a:pPr lvl="1" eaLnBrk="1" hangingPunct="1"/>
            <a:r>
              <a:rPr lang="en-US" altLang="en-US" dirty="0" smtClean="0"/>
              <a:t>Pass-by-value</a:t>
            </a:r>
          </a:p>
          <a:p>
            <a:pPr lvl="1" eaLnBrk="1" hangingPunct="1"/>
            <a:r>
              <a:rPr lang="en-US" altLang="en-US" dirty="0" smtClean="0"/>
              <a:t>Pass-by-result</a:t>
            </a:r>
          </a:p>
          <a:p>
            <a:pPr lvl="1" eaLnBrk="1" hangingPunct="1"/>
            <a:r>
              <a:rPr lang="en-US" altLang="en-US" dirty="0" smtClean="0"/>
              <a:t>Pass-by-value-result</a:t>
            </a:r>
          </a:p>
          <a:p>
            <a:pPr lvl="1" eaLnBrk="1" hangingPunct="1"/>
            <a:r>
              <a:rPr lang="en-US" altLang="en-US" dirty="0" smtClean="0"/>
              <a:t>Pass-by-reference</a:t>
            </a:r>
          </a:p>
          <a:p>
            <a:pPr lvl="1" eaLnBrk="1" hangingPunct="1"/>
            <a:r>
              <a:rPr lang="en-US" altLang="en-US" dirty="0" smtClean="0"/>
              <a:t>Pass-by-name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049010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65DB928-2AC1-46C0-A91C-EE5939FBAE86}"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49156" name="Rectangle 2"/>
          <p:cNvSpPr>
            <a:spLocks noGrp="1" noChangeArrowheads="1"/>
          </p:cNvSpPr>
          <p:nvPr>
            <p:ph type="title"/>
          </p:nvPr>
        </p:nvSpPr>
        <p:spPr/>
        <p:txBody>
          <a:bodyPr/>
          <a:lstStyle/>
          <a:p>
            <a:pPr eaLnBrk="1" hangingPunct="1"/>
            <a:r>
              <a:rPr lang="en-US" altLang="en-US" smtClean="0"/>
              <a:t>Pass-by-Value (In Mode)</a:t>
            </a:r>
          </a:p>
        </p:txBody>
      </p:sp>
      <p:sp>
        <p:nvSpPr>
          <p:cNvPr id="49157"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The </a:t>
            </a:r>
            <a:r>
              <a:rPr lang="en-US" altLang="en-US" u="sng" dirty="0" smtClean="0"/>
              <a:t>value</a:t>
            </a:r>
            <a:r>
              <a:rPr lang="en-US" altLang="en-US" dirty="0" smtClean="0"/>
              <a:t> of the actual parameter is used to initialize corresponding formal parameter</a:t>
            </a:r>
          </a:p>
          <a:p>
            <a:pPr lvl="1" eaLnBrk="1" hangingPunct="1"/>
            <a:r>
              <a:rPr lang="en-US" altLang="en-US" dirty="0" smtClean="0"/>
              <a:t>For example, in C++</a:t>
            </a:r>
          </a:p>
          <a:p>
            <a:pPr marL="857250" lvl="2" indent="0" eaLnBrk="1" hangingPunct="1">
              <a:buFontTx/>
              <a:buNone/>
            </a:pPr>
            <a:endParaRPr lang="en-ZA" altLang="en-US" sz="1700" b="1" dirty="0" smtClean="0">
              <a:latin typeface="Courier New" panose="02070309020205020404" pitchFamily="49" charset="0"/>
              <a:cs typeface="Courier New" panose="02070309020205020404" pitchFamily="49" charset="0"/>
            </a:endParaRPr>
          </a:p>
          <a:p>
            <a:pPr marL="857250" lvl="2" indent="0" eaLnBrk="1" hangingPunct="1">
              <a:buFontTx/>
              <a:buNone/>
            </a:pPr>
            <a:r>
              <a:rPr lang="en-ZA" altLang="en-US" sz="1700" b="1" dirty="0" smtClean="0">
                <a:latin typeface="Courier New" panose="02070309020205020404" pitchFamily="49" charset="0"/>
                <a:cs typeface="Courier New" panose="02070309020205020404" pitchFamily="49" charset="0"/>
              </a:rPr>
              <a:t> void</a:t>
            </a:r>
            <a:r>
              <a:rPr lang="en-ZA" altLang="en-US" sz="1700" dirty="0" smtClean="0">
                <a:latin typeface="Courier New" panose="02070309020205020404" pitchFamily="49" charset="0"/>
                <a:cs typeface="Courier New" panose="02070309020205020404" pitchFamily="49" charset="0"/>
              </a:rPr>
              <a:t> foo(</a:t>
            </a:r>
            <a:r>
              <a:rPr lang="en-ZA" altLang="en-US" sz="1700" b="1" dirty="0" err="1" smtClean="0">
                <a:latin typeface="Courier New" panose="02070309020205020404" pitchFamily="49" charset="0"/>
                <a:cs typeface="Courier New" panose="02070309020205020404" pitchFamily="49" charset="0"/>
              </a:rPr>
              <a:t>int</a:t>
            </a:r>
            <a:r>
              <a:rPr lang="en-ZA" altLang="en-US" sz="1700" dirty="0" smtClean="0">
                <a:latin typeface="Courier New" panose="02070309020205020404" pitchFamily="49" charset="0"/>
                <a:cs typeface="Courier New" panose="02070309020205020404" pitchFamily="49" charset="0"/>
              </a:rPr>
              <a:t> a) {</a:t>
            </a:r>
          </a:p>
          <a:p>
            <a:pPr marL="857250" lvl="2" indent="0" eaLnBrk="1" hangingPunct="1">
              <a:buFontTx/>
              <a:buNone/>
            </a:pPr>
            <a:r>
              <a:rPr lang="en-ZA" altLang="en-US" sz="1700" dirty="0" smtClean="0">
                <a:latin typeface="Courier New" panose="02070309020205020404" pitchFamily="49" charset="0"/>
                <a:cs typeface="Courier New" panose="02070309020205020404" pitchFamily="49" charset="0"/>
              </a:rPr>
              <a:t>    a += 2;  // has no effect on b in main</a:t>
            </a:r>
          </a:p>
          <a:p>
            <a:pPr marL="857250" lvl="2" indent="0" eaLnBrk="1" hangingPunct="1">
              <a:buFontTx/>
              <a:buNone/>
            </a:pPr>
            <a:r>
              <a:rPr lang="en-ZA" altLang="en-US" sz="1700" dirty="0" smtClean="0">
                <a:latin typeface="Courier New" panose="02070309020205020404" pitchFamily="49" charset="0"/>
                <a:cs typeface="Courier New" panose="02070309020205020404" pitchFamily="49" charset="0"/>
              </a:rPr>
              <a:t> }</a:t>
            </a:r>
          </a:p>
          <a:p>
            <a:pPr marL="857250" lvl="2" indent="0" eaLnBrk="1" hangingPunct="1">
              <a:buFontTx/>
              <a:buNone/>
            </a:pPr>
            <a:r>
              <a:rPr lang="en-ZA" altLang="en-US" sz="1700" dirty="0" smtClean="0">
                <a:latin typeface="Courier New" panose="02070309020205020404" pitchFamily="49" charset="0"/>
                <a:cs typeface="Courier New" panose="02070309020205020404" pitchFamily="49" charset="0"/>
              </a:rPr>
              <a:t> </a:t>
            </a:r>
          </a:p>
          <a:p>
            <a:pPr marL="857250" lvl="2" indent="0" eaLnBrk="1" hangingPunct="1">
              <a:buFontTx/>
              <a:buNone/>
            </a:pPr>
            <a:r>
              <a:rPr lang="en-ZA" altLang="en-US" sz="1700" b="1" dirty="0" smtClean="0">
                <a:latin typeface="Courier New" panose="02070309020205020404" pitchFamily="49" charset="0"/>
                <a:cs typeface="Courier New" panose="02070309020205020404" pitchFamily="49" charset="0"/>
              </a:rPr>
              <a:t> </a:t>
            </a:r>
            <a:r>
              <a:rPr lang="en-ZA" altLang="en-US" sz="1700" b="1" dirty="0" err="1" smtClean="0">
                <a:latin typeface="Courier New" panose="02070309020205020404" pitchFamily="49" charset="0"/>
                <a:cs typeface="Courier New" panose="02070309020205020404" pitchFamily="49" charset="0"/>
              </a:rPr>
              <a:t>int</a:t>
            </a:r>
            <a:r>
              <a:rPr lang="en-ZA" altLang="en-US" sz="1700" dirty="0" smtClean="0">
                <a:latin typeface="Courier New" panose="02070309020205020404" pitchFamily="49" charset="0"/>
                <a:cs typeface="Courier New" panose="02070309020205020404" pitchFamily="49" charset="0"/>
              </a:rPr>
              <a:t> main() {</a:t>
            </a:r>
          </a:p>
          <a:p>
            <a:pPr marL="857250" lvl="2" indent="0" eaLnBrk="1" hangingPunct="1">
              <a:buFontTx/>
              <a:buNone/>
            </a:pPr>
            <a:r>
              <a:rPr lang="en-ZA" altLang="en-US" sz="1700" dirty="0" smtClean="0">
                <a:latin typeface="Courier New" panose="02070309020205020404" pitchFamily="49" charset="0"/>
                <a:cs typeface="Courier New" panose="02070309020205020404" pitchFamily="49" charset="0"/>
              </a:rPr>
              <a:t>    </a:t>
            </a:r>
            <a:r>
              <a:rPr lang="en-ZA" altLang="en-US" sz="1700" b="1" dirty="0" err="1" smtClean="0">
                <a:latin typeface="Courier New" panose="02070309020205020404" pitchFamily="49" charset="0"/>
                <a:cs typeface="Courier New" panose="02070309020205020404" pitchFamily="49" charset="0"/>
              </a:rPr>
              <a:t>int</a:t>
            </a:r>
            <a:r>
              <a:rPr lang="en-ZA" altLang="en-US" sz="1700" dirty="0" smtClean="0">
                <a:latin typeface="Courier New" panose="02070309020205020404" pitchFamily="49" charset="0"/>
                <a:cs typeface="Courier New" panose="02070309020205020404" pitchFamily="49" charset="0"/>
              </a:rPr>
              <a:t> b = 12;</a:t>
            </a:r>
          </a:p>
          <a:p>
            <a:pPr marL="857250" lvl="2" indent="0" eaLnBrk="1" hangingPunct="1">
              <a:buFontTx/>
              <a:buNone/>
            </a:pPr>
            <a:r>
              <a:rPr lang="en-ZA" altLang="en-US" sz="1700" dirty="0" smtClean="0">
                <a:latin typeface="Courier New" panose="02070309020205020404" pitchFamily="49" charset="0"/>
                <a:cs typeface="Courier New" panose="02070309020205020404" pitchFamily="49" charset="0"/>
              </a:rPr>
              <a:t>    foo(b);  // copies value 12 to a in foo</a:t>
            </a:r>
          </a:p>
          <a:p>
            <a:pPr marL="857250" lvl="2" indent="0" eaLnBrk="1" hangingPunct="1">
              <a:buFontTx/>
              <a:buNone/>
            </a:pPr>
            <a:r>
              <a:rPr lang="en-ZA" altLang="en-US" sz="1700" dirty="0" smtClean="0">
                <a:latin typeface="Courier New" panose="02070309020205020404" pitchFamily="49" charset="0"/>
                <a:cs typeface="Courier New" panose="02070309020205020404" pitchFamily="49" charset="0"/>
              </a:rPr>
              <a:t> }</a:t>
            </a:r>
            <a:endParaRPr lang="en-US" altLang="en-US" sz="1700" dirty="0" smtClean="0">
              <a:latin typeface="Courier New" panose="02070309020205020404" pitchFamily="49" charset="0"/>
              <a:cs typeface="Courier New" panose="02070309020205020404" pitchFamily="49"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8156007-A2B2-4A30-942A-AE11FF87B403}"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51204" name="Rectangle 2"/>
          <p:cNvSpPr>
            <a:spLocks noGrp="1" noChangeArrowheads="1"/>
          </p:cNvSpPr>
          <p:nvPr>
            <p:ph type="title"/>
          </p:nvPr>
        </p:nvSpPr>
        <p:spPr/>
        <p:txBody>
          <a:bodyPr/>
          <a:lstStyle/>
          <a:p>
            <a:pPr eaLnBrk="1" hangingPunct="1"/>
            <a:r>
              <a:rPr lang="en-US" altLang="en-US" smtClean="0"/>
              <a:t>Pass-by-Value (In Mode)</a:t>
            </a:r>
          </a:p>
        </p:txBody>
      </p:sp>
      <p:sp>
        <p:nvSpPr>
          <p:cNvPr id="51205" name="Rectangle 3"/>
          <p:cNvSpPr>
            <a:spLocks noGrp="1" noChangeArrowheads="1"/>
          </p:cNvSpPr>
          <p:nvPr>
            <p:ph type="body" idx="1"/>
          </p:nvPr>
        </p:nvSpPr>
        <p:spPr>
          <a:xfrm>
            <a:off x="609600" y="1600200"/>
            <a:ext cx="8153400" cy="4572000"/>
          </a:xfrm>
        </p:spPr>
        <p:txBody>
          <a:bodyPr/>
          <a:lstStyle/>
          <a:p>
            <a:pPr eaLnBrk="1" hangingPunct="1"/>
            <a:r>
              <a:rPr lang="en-US" altLang="en-US" dirty="0" smtClean="0"/>
              <a:t>Implementation of pass-by-value</a:t>
            </a:r>
          </a:p>
          <a:p>
            <a:pPr lvl="1" eaLnBrk="1" hangingPunct="1"/>
            <a:r>
              <a:rPr lang="en-US" altLang="en-US" dirty="0" smtClean="0"/>
              <a:t>Normally implemented by copying</a:t>
            </a:r>
          </a:p>
          <a:p>
            <a:pPr lvl="2" eaLnBrk="1" hangingPunct="1"/>
            <a:r>
              <a:rPr lang="en-US" altLang="en-US" dirty="0" smtClean="0"/>
              <a:t>Disadvantages</a:t>
            </a:r>
            <a:endParaRPr lang="en-US" altLang="en-US" dirty="0"/>
          </a:p>
          <a:p>
            <a:pPr lvl="3" eaLnBrk="1" hangingPunct="1"/>
            <a:r>
              <a:rPr lang="en-US" altLang="en-US" dirty="0"/>
              <a:t>Additional storage is required (stored twice)</a:t>
            </a:r>
          </a:p>
          <a:p>
            <a:pPr lvl="3" eaLnBrk="1" hangingPunct="1"/>
            <a:r>
              <a:rPr lang="en-US" altLang="en-US" dirty="0"/>
              <a:t>A</a:t>
            </a:r>
            <a:r>
              <a:rPr lang="en-US" altLang="en-US" dirty="0" smtClean="0"/>
              <a:t>ctual </a:t>
            </a:r>
            <a:r>
              <a:rPr lang="en-US" altLang="en-US" dirty="0"/>
              <a:t>move can be costly (for large parameters</a:t>
            </a:r>
            <a:r>
              <a:rPr lang="en-US" altLang="en-US" dirty="0" smtClean="0"/>
              <a:t>)</a:t>
            </a:r>
          </a:p>
          <a:p>
            <a:pPr lvl="1" eaLnBrk="1" hangingPunct="1"/>
            <a:r>
              <a:rPr lang="en-US" altLang="en-US" dirty="0" smtClean="0"/>
              <a:t>Can be done by transmitting an access path</a:t>
            </a:r>
          </a:p>
          <a:p>
            <a:pPr lvl="2" eaLnBrk="1" hangingPunct="1"/>
            <a:r>
              <a:rPr lang="en-US" altLang="en-US" dirty="0" smtClean="0"/>
              <a:t>Not recommended</a:t>
            </a:r>
          </a:p>
          <a:p>
            <a:pPr lvl="2" eaLnBrk="1" hangingPunct="1"/>
            <a:r>
              <a:rPr lang="en-US" altLang="en-US" dirty="0" smtClean="0"/>
              <a:t>Disadvantages</a:t>
            </a:r>
          </a:p>
          <a:p>
            <a:pPr lvl="3" eaLnBrk="1" hangingPunct="1"/>
            <a:r>
              <a:rPr lang="en-US" altLang="en-US" dirty="0" smtClean="0"/>
              <a:t>Must write-protect in the called subprogram</a:t>
            </a:r>
          </a:p>
          <a:p>
            <a:pPr lvl="3" eaLnBrk="1" hangingPunct="1"/>
            <a:r>
              <a:rPr lang="en-US" altLang="en-US" dirty="0" smtClean="0"/>
              <a:t>Accesses cost more (indirect addressing)</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5A3E0C9-2CA0-4D6E-B0CA-1CAB196F5C9D}"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53252" name="Rectangle 2"/>
          <p:cNvSpPr>
            <a:spLocks noGrp="1" noChangeArrowheads="1"/>
          </p:cNvSpPr>
          <p:nvPr>
            <p:ph type="title"/>
          </p:nvPr>
        </p:nvSpPr>
        <p:spPr/>
        <p:txBody>
          <a:bodyPr/>
          <a:lstStyle/>
          <a:p>
            <a:pPr eaLnBrk="1" hangingPunct="1"/>
            <a:r>
              <a:rPr lang="en-US" altLang="en-US" smtClean="0"/>
              <a:t>Pass-by-Result (Out Mode)</a:t>
            </a:r>
          </a:p>
        </p:txBody>
      </p:sp>
      <p:sp>
        <p:nvSpPr>
          <p:cNvPr id="45061" name="Rectangle 3"/>
          <p:cNvSpPr>
            <a:spLocks noGrp="1" noChangeArrowheads="1"/>
          </p:cNvSpPr>
          <p:nvPr>
            <p:ph type="body" idx="1"/>
          </p:nvPr>
        </p:nvSpPr>
        <p:spPr>
          <a:xfrm>
            <a:off x="609600" y="1485900"/>
            <a:ext cx="8153400" cy="4572000"/>
          </a:xfrm>
        </p:spPr>
        <p:txBody>
          <a:bodyPr/>
          <a:lstStyle/>
          <a:p>
            <a:pPr eaLnBrk="1" hangingPunct="1">
              <a:lnSpc>
                <a:spcPct val="90000"/>
              </a:lnSpc>
              <a:defRPr/>
            </a:pPr>
            <a:r>
              <a:rPr lang="en-US" altLang="en-US" u="sng" dirty="0"/>
              <a:t>V</a:t>
            </a:r>
            <a:r>
              <a:rPr lang="en-US" altLang="en-US" u="sng" dirty="0" smtClean="0"/>
              <a:t>alue</a:t>
            </a:r>
            <a:r>
              <a:rPr lang="en-US" altLang="en-US" dirty="0" smtClean="0"/>
              <a:t> of formal parameter is used to change corresponding actual parameter</a:t>
            </a:r>
            <a:endParaRPr lang="en-US" altLang="en-US" sz="2000" dirty="0" smtClean="0"/>
          </a:p>
          <a:p>
            <a:pPr lvl="1" eaLnBrk="1" hangingPunct="1">
              <a:lnSpc>
                <a:spcPct val="90000"/>
              </a:lnSpc>
              <a:defRPr/>
            </a:pPr>
            <a:r>
              <a:rPr lang="en-US" altLang="en-US" dirty="0" smtClean="0"/>
              <a:t>For example, in Ada</a:t>
            </a:r>
          </a:p>
          <a:p>
            <a:pPr marL="457200" lvl="1" indent="0" eaLnBrk="1" hangingPunct="1">
              <a:lnSpc>
                <a:spcPct val="90000"/>
              </a:lnSpc>
              <a:buFontTx/>
              <a:buNone/>
              <a:defRPr/>
            </a:pPr>
            <a:endParaRPr lang="en-ZA" altLang="en-US" sz="1000" dirty="0" smtClean="0">
              <a:latin typeface="Courier New" panose="02070309020205020404" pitchFamily="49" charset="0"/>
              <a:cs typeface="Courier New" panose="02070309020205020404" pitchFamily="49" charset="0"/>
            </a:endParaRPr>
          </a:p>
          <a:p>
            <a:pPr marL="457200" lvl="1" indent="0" eaLnBrk="1" hangingPunct="1">
              <a:lnSpc>
                <a:spcPct val="90000"/>
              </a:lnSpc>
              <a:buFontTx/>
              <a:buNone/>
              <a:defRPr/>
            </a:pPr>
            <a:r>
              <a:rPr lang="en-ZA" altLang="en-US" sz="1700" dirty="0" smtClean="0">
                <a:latin typeface="Courier New" panose="02070309020205020404" pitchFamily="49" charset="0"/>
                <a:cs typeface="Courier New" panose="02070309020205020404" pitchFamily="49" charset="0"/>
              </a:rPr>
              <a:t>	</a:t>
            </a:r>
            <a:r>
              <a:rPr lang="en-ZA" altLang="en-US" sz="1700" b="1" dirty="0" smtClean="0">
                <a:latin typeface="Courier New" panose="02070309020205020404" pitchFamily="49" charset="0"/>
                <a:cs typeface="Courier New" panose="02070309020205020404" pitchFamily="49" charset="0"/>
              </a:rPr>
              <a:t>procedure</a:t>
            </a:r>
            <a:r>
              <a:rPr lang="en-ZA" altLang="en-US" sz="1700" dirty="0" smtClean="0">
                <a:latin typeface="Courier New" panose="02070309020205020404" pitchFamily="49" charset="0"/>
                <a:cs typeface="Courier New" panose="02070309020205020404" pitchFamily="49" charset="0"/>
              </a:rPr>
              <a:t> </a:t>
            </a:r>
            <a:r>
              <a:rPr lang="en-ZA" altLang="en-US" sz="1700" dirty="0" err="1" smtClean="0">
                <a:latin typeface="Courier New" panose="02070309020205020404" pitchFamily="49" charset="0"/>
                <a:cs typeface="Courier New" panose="02070309020205020404" pitchFamily="49" charset="0"/>
              </a:rPr>
              <a:t>A_Test</a:t>
            </a:r>
            <a:r>
              <a:rPr lang="en-ZA" altLang="en-US" sz="1700" dirty="0" smtClean="0">
                <a:latin typeface="Courier New" panose="02070309020205020404" pitchFamily="49" charset="0"/>
                <a:cs typeface="Courier New" panose="02070309020205020404" pitchFamily="49" charset="0"/>
              </a:rPr>
              <a:t> (A, B: </a:t>
            </a:r>
            <a:r>
              <a:rPr lang="en-ZA" altLang="en-US" sz="1700" b="1" dirty="0" smtClean="0">
                <a:latin typeface="Courier New" panose="02070309020205020404" pitchFamily="49" charset="0"/>
                <a:cs typeface="Courier New" panose="02070309020205020404" pitchFamily="49" charset="0"/>
              </a:rPr>
              <a:t>in Integer</a:t>
            </a:r>
            <a:r>
              <a:rPr lang="en-ZA" altLang="en-US" sz="1700" dirty="0" smtClean="0">
                <a:latin typeface="Courier New" panose="02070309020205020404" pitchFamily="49" charset="0"/>
                <a:cs typeface="Courier New" panose="02070309020205020404" pitchFamily="49" charset="0"/>
              </a:rPr>
              <a:t>; C: </a:t>
            </a:r>
            <a:r>
              <a:rPr lang="en-ZA" altLang="en-US" sz="1700" b="1" dirty="0" smtClean="0">
                <a:latin typeface="Courier New" panose="02070309020205020404" pitchFamily="49" charset="0"/>
                <a:cs typeface="Courier New" panose="02070309020205020404" pitchFamily="49" charset="0"/>
              </a:rPr>
              <a:t>out Integer</a:t>
            </a:r>
            <a:r>
              <a:rPr lang="en-ZA" altLang="en-US" sz="1700" dirty="0" smtClean="0">
                <a:latin typeface="Courier New" panose="02070309020205020404" pitchFamily="49" charset="0"/>
                <a:cs typeface="Courier New" panose="02070309020205020404" pitchFamily="49" charset="0"/>
              </a:rPr>
              <a:t>) </a:t>
            </a:r>
            <a:r>
              <a:rPr lang="en-ZA" altLang="en-US" sz="1700" b="1" dirty="0" smtClean="0">
                <a:latin typeface="Courier New" panose="02070309020205020404" pitchFamily="49" charset="0"/>
                <a:cs typeface="Courier New" panose="02070309020205020404" pitchFamily="49" charset="0"/>
              </a:rPr>
              <a:t>is</a:t>
            </a:r>
          </a:p>
          <a:p>
            <a:pPr marL="457200" lvl="1" indent="0" eaLnBrk="1" hangingPunct="1">
              <a:lnSpc>
                <a:spcPct val="90000"/>
              </a:lnSpc>
              <a:buFontTx/>
              <a:buNone/>
              <a:defRPr/>
            </a:pPr>
            <a:r>
              <a:rPr lang="en-ZA" altLang="en-US" sz="1700" dirty="0" smtClean="0">
                <a:latin typeface="Courier New" panose="02070309020205020404" pitchFamily="49" charset="0"/>
                <a:cs typeface="Courier New" panose="02070309020205020404" pitchFamily="49" charset="0"/>
              </a:rPr>
              <a:t>	</a:t>
            </a:r>
            <a:r>
              <a:rPr lang="en-ZA" altLang="en-US" sz="1700" b="1" dirty="0" smtClean="0">
                <a:latin typeface="Courier New" panose="02070309020205020404" pitchFamily="49" charset="0"/>
                <a:cs typeface="Courier New" panose="02070309020205020404" pitchFamily="49" charset="0"/>
              </a:rPr>
              <a:t>begin</a:t>
            </a:r>
          </a:p>
          <a:p>
            <a:pPr marL="457200" lvl="1" indent="0" eaLnBrk="1" hangingPunct="1">
              <a:lnSpc>
                <a:spcPct val="90000"/>
              </a:lnSpc>
              <a:buFontTx/>
              <a:buNone/>
              <a:defRPr/>
            </a:pPr>
            <a:r>
              <a:rPr lang="en-ZA" altLang="en-US" sz="1700" dirty="0" smtClean="0">
                <a:latin typeface="Courier New" panose="02070309020205020404" pitchFamily="49" charset="0"/>
                <a:cs typeface="Courier New" panose="02070309020205020404" pitchFamily="49" charset="0"/>
              </a:rPr>
              <a:t>	   C := A + B;</a:t>
            </a:r>
          </a:p>
          <a:p>
            <a:pPr marL="457200" lvl="1" indent="0" eaLnBrk="1" hangingPunct="1">
              <a:lnSpc>
                <a:spcPct val="90000"/>
              </a:lnSpc>
              <a:buFontTx/>
              <a:buNone/>
              <a:defRPr/>
            </a:pPr>
            <a:r>
              <a:rPr lang="en-ZA" altLang="en-US" sz="1700" dirty="0" smtClean="0">
                <a:latin typeface="Courier New" panose="02070309020205020404" pitchFamily="49" charset="0"/>
                <a:cs typeface="Courier New" panose="02070309020205020404" pitchFamily="49" charset="0"/>
              </a:rPr>
              <a:t>	</a:t>
            </a:r>
            <a:r>
              <a:rPr lang="en-ZA" altLang="en-US" sz="1700" b="1" dirty="0" smtClean="0">
                <a:latin typeface="Courier New" panose="02070309020205020404" pitchFamily="49" charset="0"/>
                <a:cs typeface="Courier New" panose="02070309020205020404" pitchFamily="49" charset="0"/>
              </a:rPr>
              <a:t>end</a:t>
            </a:r>
            <a:r>
              <a:rPr lang="en-ZA" altLang="en-US" sz="1700" dirty="0" smtClean="0">
                <a:latin typeface="Courier New" panose="02070309020205020404" pitchFamily="49" charset="0"/>
                <a:cs typeface="Courier New" panose="02070309020205020404" pitchFamily="49" charset="0"/>
              </a:rPr>
              <a:t> </a:t>
            </a:r>
            <a:r>
              <a:rPr lang="en-ZA" altLang="en-US" sz="1700" dirty="0" err="1" smtClean="0">
                <a:latin typeface="Courier New" panose="02070309020205020404" pitchFamily="49" charset="0"/>
                <a:cs typeface="Courier New" panose="02070309020205020404" pitchFamily="49" charset="0"/>
              </a:rPr>
              <a:t>A_Test</a:t>
            </a:r>
            <a:r>
              <a:rPr lang="en-ZA" altLang="en-US" sz="1700" dirty="0" smtClean="0">
                <a:latin typeface="Courier New" panose="02070309020205020404" pitchFamily="49" charset="0"/>
                <a:cs typeface="Courier New" panose="02070309020205020404" pitchFamily="49" charset="0"/>
              </a:rPr>
              <a:t>;</a:t>
            </a:r>
          </a:p>
          <a:p>
            <a:pPr marL="457200" lvl="1" indent="0" eaLnBrk="1" hangingPunct="1">
              <a:lnSpc>
                <a:spcPct val="90000"/>
              </a:lnSpc>
              <a:buFontTx/>
              <a:buNone/>
              <a:defRPr/>
            </a:pPr>
            <a:endParaRPr lang="en-ZA" altLang="en-US" sz="1000" dirty="0" smtClean="0"/>
          </a:p>
          <a:p>
            <a:pPr lvl="1" eaLnBrk="1" hangingPunct="1">
              <a:lnSpc>
                <a:spcPct val="90000"/>
              </a:lnSpc>
              <a:defRPr/>
            </a:pPr>
            <a:r>
              <a:rPr lang="en-ZA" altLang="en-US" dirty="0" smtClean="0"/>
              <a:t>Consider this call</a:t>
            </a:r>
            <a:endParaRPr lang="en-ZA" altLang="en-US" dirty="0" smtClean="0">
              <a:latin typeface="Courier New" panose="02070309020205020404" pitchFamily="49" charset="0"/>
              <a:cs typeface="Courier New" panose="02070309020205020404" pitchFamily="49" charset="0"/>
            </a:endParaRPr>
          </a:p>
          <a:p>
            <a:pPr marL="457200" lvl="1" indent="0" eaLnBrk="1" hangingPunct="1">
              <a:lnSpc>
                <a:spcPct val="90000"/>
              </a:lnSpc>
              <a:buFontTx/>
              <a:buNone/>
              <a:defRPr/>
            </a:pPr>
            <a:endParaRPr lang="en-ZA" altLang="en-US" sz="1000" dirty="0" smtClean="0"/>
          </a:p>
          <a:p>
            <a:pPr marL="457200" lvl="1" indent="0" eaLnBrk="1" hangingPunct="1">
              <a:lnSpc>
                <a:spcPct val="90000"/>
              </a:lnSpc>
              <a:buFontTx/>
              <a:buNone/>
              <a:defRPr/>
            </a:pPr>
            <a:r>
              <a:rPr lang="en-ZA" altLang="en-US" sz="1700" dirty="0" smtClean="0">
                <a:latin typeface="Courier New" panose="02070309020205020404" pitchFamily="49" charset="0"/>
                <a:cs typeface="Courier New" panose="02070309020205020404" pitchFamily="49" charset="0"/>
              </a:rPr>
              <a:t>	</a:t>
            </a:r>
            <a:r>
              <a:rPr lang="en-ZA" altLang="en-US" sz="1700" dirty="0" err="1" smtClean="0">
                <a:latin typeface="Courier New" panose="02070309020205020404" pitchFamily="49" charset="0"/>
                <a:cs typeface="Courier New" panose="02070309020205020404" pitchFamily="49" charset="0"/>
              </a:rPr>
              <a:t>A_Test</a:t>
            </a:r>
            <a:r>
              <a:rPr lang="en-ZA" altLang="en-US" sz="1700" dirty="0" smtClean="0">
                <a:latin typeface="Courier New" panose="02070309020205020404" pitchFamily="49" charset="0"/>
                <a:cs typeface="Courier New" panose="02070309020205020404" pitchFamily="49" charset="0"/>
              </a:rPr>
              <a:t> (5 + P, 48, Q);</a:t>
            </a:r>
          </a:p>
          <a:p>
            <a:pPr marL="457200" lvl="1" indent="0" eaLnBrk="1" hangingPunct="1">
              <a:lnSpc>
                <a:spcPct val="90000"/>
              </a:lnSpc>
              <a:buFontTx/>
              <a:buNone/>
              <a:defRPr/>
            </a:pPr>
            <a:endParaRPr lang="en-ZA" altLang="en-US" sz="1000" dirty="0" smtClean="0"/>
          </a:p>
          <a:p>
            <a:pPr marL="987425" lvl="2" eaLnBrk="1" hangingPunct="1">
              <a:lnSpc>
                <a:spcPct val="90000"/>
              </a:lnSpc>
              <a:defRPr/>
            </a:pPr>
            <a:r>
              <a:rPr lang="en-ZA" altLang="en-US" dirty="0" smtClean="0"/>
              <a:t>Here, no </a:t>
            </a:r>
            <a:r>
              <a:rPr lang="en-ZA" altLang="en-US" u="sng" dirty="0" smtClean="0"/>
              <a:t>value</a:t>
            </a:r>
            <a:r>
              <a:rPr lang="en-ZA" altLang="en-US" dirty="0" smtClean="0"/>
              <a:t> can be transmitted to C</a:t>
            </a:r>
          </a:p>
          <a:p>
            <a:pPr marL="987425" lvl="2" eaLnBrk="1" hangingPunct="1">
              <a:lnSpc>
                <a:spcPct val="90000"/>
              </a:lnSpc>
              <a:defRPr/>
            </a:pPr>
            <a:r>
              <a:rPr lang="en-ZA" altLang="en-US" dirty="0" smtClean="0"/>
              <a:t>After call, </a:t>
            </a:r>
            <a:r>
              <a:rPr lang="en-ZA" altLang="en-US" dirty="0" smtClean="0">
                <a:latin typeface="Courier New" panose="02070309020205020404" pitchFamily="49" charset="0"/>
                <a:cs typeface="Courier New" panose="02070309020205020404" pitchFamily="49" charset="0"/>
              </a:rPr>
              <a:t>Q</a:t>
            </a:r>
            <a:r>
              <a:rPr lang="en-ZA" altLang="en-US" dirty="0" smtClean="0"/>
              <a:t> </a:t>
            </a:r>
            <a:r>
              <a:rPr lang="en-ZA" altLang="en-US" dirty="0"/>
              <a:t>is overwritten by the value assigned to </a:t>
            </a:r>
            <a:r>
              <a:rPr lang="en-ZA" altLang="en-US" dirty="0">
                <a:latin typeface="Courier New" panose="02070309020205020404" pitchFamily="49" charset="0"/>
                <a:cs typeface="Courier New" panose="02070309020205020404" pitchFamily="49" charset="0"/>
              </a:rPr>
              <a:t>C</a:t>
            </a:r>
          </a:p>
          <a:p>
            <a:pPr marL="457200" lvl="1" indent="0" eaLnBrk="1" hangingPunct="1">
              <a:lnSpc>
                <a:spcPct val="90000"/>
              </a:lnSpc>
              <a:buFontTx/>
              <a:buNone/>
              <a:defRPr/>
            </a:pPr>
            <a:endParaRPr lang="en-ZA" altLang="en-US" sz="1700" dirty="0" smtClean="0">
              <a:latin typeface="Courier New" panose="02070309020205020404" pitchFamily="49" charset="0"/>
              <a:cs typeface="Courier New" panose="02070309020205020404" pitchFamily="49"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D482FFD-DEB8-430B-B3DF-5B95B9FA2F79}"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55300" name="Rectangle 2"/>
          <p:cNvSpPr>
            <a:spLocks noGrp="1" noChangeArrowheads="1"/>
          </p:cNvSpPr>
          <p:nvPr>
            <p:ph type="title"/>
          </p:nvPr>
        </p:nvSpPr>
        <p:spPr/>
        <p:txBody>
          <a:bodyPr/>
          <a:lstStyle/>
          <a:p>
            <a:pPr eaLnBrk="1" hangingPunct="1"/>
            <a:r>
              <a:rPr lang="en-US" altLang="en-US" smtClean="0"/>
              <a:t>Pass-by-Result (Out Mode)</a:t>
            </a:r>
          </a:p>
        </p:txBody>
      </p:sp>
      <p:sp>
        <p:nvSpPr>
          <p:cNvPr id="55301" name="Rectangle 3"/>
          <p:cNvSpPr>
            <a:spLocks noGrp="1" noChangeArrowheads="1"/>
          </p:cNvSpPr>
          <p:nvPr>
            <p:ph type="body" idx="1"/>
          </p:nvPr>
        </p:nvSpPr>
        <p:spPr>
          <a:xfrm>
            <a:off x="609600" y="1485900"/>
            <a:ext cx="8458200" cy="4572000"/>
          </a:xfrm>
        </p:spPr>
        <p:txBody>
          <a:bodyPr/>
          <a:lstStyle/>
          <a:p>
            <a:pPr eaLnBrk="1" hangingPunct="1">
              <a:lnSpc>
                <a:spcPct val="90000"/>
              </a:lnSpc>
            </a:pPr>
            <a:r>
              <a:rPr lang="en-US" altLang="en-US" dirty="0" smtClean="0"/>
              <a:t>Implementation of pass-by-result</a:t>
            </a:r>
          </a:p>
          <a:p>
            <a:pPr lvl="1" eaLnBrk="1" hangingPunct="1">
              <a:lnSpc>
                <a:spcPct val="90000"/>
              </a:lnSpc>
            </a:pPr>
            <a:r>
              <a:rPr lang="en-US" altLang="en-US" dirty="0" smtClean="0"/>
              <a:t>The </a:t>
            </a:r>
            <a:r>
              <a:rPr lang="en-US" altLang="en-US" u="sng" dirty="0" smtClean="0"/>
              <a:t>value</a:t>
            </a:r>
            <a:r>
              <a:rPr lang="en-US" altLang="en-US" dirty="0" smtClean="0"/>
              <a:t> of the formal parameter is used to change the corresponding actual parameter</a:t>
            </a:r>
            <a:endParaRPr lang="en-US" altLang="en-US" sz="1600" dirty="0" smtClean="0"/>
          </a:p>
          <a:p>
            <a:pPr lvl="2" eaLnBrk="1" hangingPunct="1">
              <a:lnSpc>
                <a:spcPct val="90000"/>
              </a:lnSpc>
            </a:pPr>
            <a:r>
              <a:rPr lang="en-US" altLang="en-US" dirty="0" smtClean="0"/>
              <a:t>Pass happens when control is returned to the caller</a:t>
            </a:r>
          </a:p>
          <a:p>
            <a:pPr lvl="3" eaLnBrk="1" hangingPunct="1">
              <a:lnSpc>
                <a:spcPct val="90000"/>
              </a:lnSpc>
            </a:pPr>
            <a:r>
              <a:rPr lang="en-US" altLang="en-US" dirty="0" smtClean="0"/>
              <a:t>Copy from formal parameter to actual parameter</a:t>
            </a:r>
          </a:p>
          <a:p>
            <a:pPr lvl="3" eaLnBrk="1" hangingPunct="1">
              <a:lnSpc>
                <a:spcPct val="90000"/>
              </a:lnSpc>
            </a:pPr>
            <a:r>
              <a:rPr lang="en-US" altLang="en-US" dirty="0" smtClean="0"/>
              <a:t>Can an access path be transferred instead?</a:t>
            </a:r>
          </a:p>
          <a:p>
            <a:pPr lvl="2" eaLnBrk="1" hangingPunct="1">
              <a:lnSpc>
                <a:spcPct val="90000"/>
              </a:lnSpc>
            </a:pPr>
            <a:r>
              <a:rPr lang="en-US" altLang="en-US" dirty="0" smtClean="0"/>
              <a:t>Potential problems</a:t>
            </a:r>
          </a:p>
          <a:p>
            <a:pPr lvl="3" eaLnBrk="1" hangingPunct="1">
              <a:lnSpc>
                <a:spcPct val="90000"/>
              </a:lnSpc>
            </a:pPr>
            <a:r>
              <a:rPr lang="en-US" altLang="en-US" dirty="0" smtClean="0"/>
              <a:t>Requires extra storage location and copy operation</a:t>
            </a:r>
          </a:p>
          <a:p>
            <a:pPr lvl="3" eaLnBrk="1" hangingPunct="1">
              <a:lnSpc>
                <a:spcPct val="90000"/>
              </a:lnSpc>
            </a:pPr>
            <a:r>
              <a:rPr lang="en-US" altLang="en-US" dirty="0" smtClean="0"/>
              <a:t>For the subprogram definition </a:t>
            </a:r>
            <a:r>
              <a:rPr lang="en-US" altLang="en-US" dirty="0" smtClean="0">
                <a:latin typeface="Courier New" panose="02070309020205020404" pitchFamily="49" charset="0"/>
                <a:cs typeface="Courier New" panose="02070309020205020404" pitchFamily="49" charset="0"/>
              </a:rPr>
              <a:t>sub(a, b) {...}</a:t>
            </a:r>
            <a:endParaRPr lang="en-US" altLang="en-US" dirty="0" smtClean="0"/>
          </a:p>
          <a:p>
            <a:pPr lvl="4" eaLnBrk="1" hangingPunct="1">
              <a:lnSpc>
                <a:spcPct val="90000"/>
              </a:lnSpc>
            </a:pPr>
            <a:r>
              <a:rPr lang="en-US" altLang="en-US" dirty="0" smtClean="0"/>
              <a:t>Consider </a:t>
            </a:r>
            <a:r>
              <a:rPr lang="en-US" altLang="en-US" dirty="0" smtClean="0"/>
              <a:t>the call </a:t>
            </a:r>
            <a:r>
              <a:rPr lang="en-US" altLang="en-US" dirty="0" smtClean="0">
                <a:latin typeface="Courier New" panose="02070309020205020404" pitchFamily="49" charset="0"/>
                <a:cs typeface="Courier New" panose="02070309020205020404" pitchFamily="49" charset="0"/>
              </a:rPr>
              <a:t>sub(p1, p1);</a:t>
            </a:r>
          </a:p>
          <a:p>
            <a:pPr lvl="4" eaLnBrk="1" hangingPunct="1">
              <a:lnSpc>
                <a:spcPct val="90000"/>
              </a:lnSpc>
            </a:pPr>
            <a:r>
              <a:rPr lang="en-US" altLang="en-US" dirty="0" smtClean="0">
                <a:latin typeface="+mj-lt"/>
              </a:rPr>
              <a:t>​​</a:t>
            </a:r>
            <a:r>
              <a:rPr lang="en-US" altLang="en-US" dirty="0" smtClean="0">
                <a:latin typeface="Courier New" panose="02070309020205020404" pitchFamily="49" charset="0"/>
              </a:rPr>
              <a:t>p1</a:t>
            </a:r>
            <a:r>
              <a:rPr lang="en-US" altLang="en-US" dirty="0" smtClean="0"/>
              <a:t>’s </a:t>
            </a:r>
            <a:r>
              <a:rPr lang="en-US" altLang="en-US" dirty="0"/>
              <a:t>value </a:t>
            </a:r>
            <a:r>
              <a:rPr lang="en-US" altLang="en-US" dirty="0" smtClean="0"/>
              <a:t>depends on order parameters copied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DE786E2-1F1C-49FA-9830-387C272DBB85}"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57348" name="Rectangle 2"/>
          <p:cNvSpPr>
            <a:spLocks noGrp="1" noChangeArrowheads="1"/>
          </p:cNvSpPr>
          <p:nvPr>
            <p:ph type="title"/>
          </p:nvPr>
        </p:nvSpPr>
        <p:spPr/>
        <p:txBody>
          <a:bodyPr/>
          <a:lstStyle/>
          <a:p>
            <a:pPr eaLnBrk="1" hangingPunct="1"/>
            <a:r>
              <a:rPr lang="en-US" altLang="en-US" smtClean="0"/>
              <a:t>Pass-by-Value-Result (inout Mode)</a:t>
            </a:r>
          </a:p>
        </p:txBody>
      </p:sp>
      <p:sp>
        <p:nvSpPr>
          <p:cNvPr id="47109" name="Rectangle 3"/>
          <p:cNvSpPr>
            <a:spLocks noGrp="1" noChangeArrowheads="1"/>
          </p:cNvSpPr>
          <p:nvPr>
            <p:ph type="body" idx="1"/>
          </p:nvPr>
        </p:nvSpPr>
        <p:spPr>
          <a:xfrm>
            <a:off x="609600" y="1458310"/>
            <a:ext cx="8382000" cy="4572000"/>
          </a:xfrm>
        </p:spPr>
        <p:txBody>
          <a:bodyPr/>
          <a:lstStyle/>
          <a:p>
            <a:pPr eaLnBrk="1" hangingPunct="1">
              <a:defRPr/>
            </a:pPr>
            <a:r>
              <a:rPr lang="en-US" altLang="en-US" dirty="0" smtClean="0"/>
              <a:t>Combines pass-by-value</a:t>
            </a:r>
            <a:r>
              <a:rPr lang="en-US" altLang="en-US" dirty="0"/>
              <a:t> </a:t>
            </a:r>
            <a:r>
              <a:rPr lang="en-US" altLang="en-US" dirty="0" smtClean="0"/>
              <a:t>and pass-by-result</a:t>
            </a:r>
          </a:p>
          <a:p>
            <a:pPr lvl="1" eaLnBrk="1" hangingPunct="1">
              <a:defRPr/>
            </a:pPr>
            <a:r>
              <a:rPr lang="en-US" altLang="en-US" dirty="0" smtClean="0"/>
              <a:t>Formal parameters have local storage</a:t>
            </a:r>
          </a:p>
          <a:p>
            <a:pPr lvl="1" eaLnBrk="1" hangingPunct="1">
              <a:defRPr/>
            </a:pPr>
            <a:r>
              <a:rPr lang="en-US" altLang="en-US" dirty="0" smtClean="0"/>
              <a:t>Drawbacks of pass-by-result and pass-by-value </a:t>
            </a:r>
          </a:p>
          <a:p>
            <a:pPr lvl="1" eaLnBrk="1" hangingPunct="1">
              <a:defRPr/>
            </a:pPr>
            <a:r>
              <a:rPr lang="en-US" altLang="en-US" dirty="0" smtClean="0"/>
              <a:t>For example, in Ada</a:t>
            </a:r>
          </a:p>
          <a:p>
            <a:pPr marL="457200" lvl="1" indent="0" eaLnBrk="1" hangingPunct="1">
              <a:buFontTx/>
              <a:buNone/>
              <a:defRPr/>
            </a:pPr>
            <a:endParaRPr lang="en-ZA" altLang="en-US" sz="800" dirty="0" smtClean="0">
              <a:latin typeface="Courier New" panose="02070309020205020404" pitchFamily="49" charset="0"/>
              <a:cs typeface="Courier New" panose="02070309020205020404" pitchFamily="49" charset="0"/>
            </a:endParaRPr>
          </a:p>
          <a:p>
            <a:pPr marL="457200" lvl="1" indent="0" eaLnBrk="1" hangingPunct="1">
              <a:buFontTx/>
              <a:buNone/>
              <a:defRPr/>
            </a:pPr>
            <a:r>
              <a:rPr lang="en-ZA" altLang="en-US" sz="1650" dirty="0" smtClean="0">
                <a:latin typeface="Courier New" panose="02070309020205020404" pitchFamily="49" charset="0"/>
                <a:cs typeface="Courier New" panose="02070309020205020404" pitchFamily="49" charset="0"/>
              </a:rPr>
              <a:t>	   </a:t>
            </a:r>
            <a:r>
              <a:rPr lang="en-ZA" altLang="en-US" sz="1650" b="1" dirty="0" smtClean="0">
                <a:latin typeface="Courier New" panose="02070309020205020404" pitchFamily="49" charset="0"/>
                <a:cs typeface="Courier New" panose="02070309020205020404" pitchFamily="49" charset="0"/>
              </a:rPr>
              <a:t>procedure</a:t>
            </a:r>
            <a:r>
              <a:rPr lang="en-ZA" altLang="en-US" sz="1650" dirty="0" smtClean="0">
                <a:latin typeface="Courier New" panose="02070309020205020404" pitchFamily="49" charset="0"/>
                <a:cs typeface="Courier New" panose="02070309020205020404" pitchFamily="49" charset="0"/>
              </a:rPr>
              <a:t> </a:t>
            </a:r>
            <a:r>
              <a:rPr lang="en-ZA" altLang="en-US" sz="1650" dirty="0" err="1" smtClean="0">
                <a:latin typeface="Courier New" panose="02070309020205020404" pitchFamily="49" charset="0"/>
                <a:cs typeface="Courier New" panose="02070309020205020404" pitchFamily="49" charset="0"/>
              </a:rPr>
              <a:t>A_Test</a:t>
            </a:r>
            <a:r>
              <a:rPr lang="en-ZA" altLang="en-US" sz="1650" dirty="0" smtClean="0">
                <a:latin typeface="Courier New" panose="02070309020205020404" pitchFamily="49" charset="0"/>
                <a:cs typeface="Courier New" panose="02070309020205020404" pitchFamily="49" charset="0"/>
              </a:rPr>
              <a:t> (A, </a:t>
            </a:r>
            <a:r>
              <a:rPr lang="en-ZA" altLang="en-US" sz="1650" b="1" dirty="0" smtClean="0">
                <a:latin typeface="Courier New" panose="02070309020205020404" pitchFamily="49" charset="0"/>
                <a:cs typeface="Courier New" panose="02070309020205020404" pitchFamily="49" charset="0"/>
              </a:rPr>
              <a:t>in</a:t>
            </a:r>
            <a:r>
              <a:rPr lang="en-ZA" altLang="en-US" sz="1650" dirty="0" smtClean="0">
                <a:latin typeface="Courier New" panose="02070309020205020404" pitchFamily="49" charset="0"/>
                <a:cs typeface="Courier New" panose="02070309020205020404" pitchFamily="49" charset="0"/>
              </a:rPr>
              <a:t> </a:t>
            </a:r>
            <a:r>
              <a:rPr lang="en-ZA" altLang="en-US" sz="1650" b="1" dirty="0" smtClean="0">
                <a:latin typeface="Courier New" panose="02070309020205020404" pitchFamily="49" charset="0"/>
                <a:cs typeface="Courier New" panose="02070309020205020404" pitchFamily="49" charset="0"/>
              </a:rPr>
              <a:t>Integer</a:t>
            </a:r>
            <a:r>
              <a:rPr lang="en-ZA" altLang="en-US" sz="1650" dirty="0" smtClean="0">
                <a:latin typeface="Courier New" panose="02070309020205020404" pitchFamily="49" charset="0"/>
                <a:cs typeface="Courier New" panose="02070309020205020404" pitchFamily="49" charset="0"/>
              </a:rPr>
              <a:t>; C: </a:t>
            </a:r>
            <a:r>
              <a:rPr lang="en-ZA" altLang="en-US" sz="1650" b="1" dirty="0" smtClean="0">
                <a:latin typeface="Courier New" panose="02070309020205020404" pitchFamily="49" charset="0"/>
                <a:cs typeface="Courier New" panose="02070309020205020404" pitchFamily="49" charset="0"/>
              </a:rPr>
              <a:t>in out</a:t>
            </a:r>
            <a:r>
              <a:rPr lang="en-ZA" altLang="en-US" sz="1650" dirty="0" smtClean="0">
                <a:latin typeface="Courier New" panose="02070309020205020404" pitchFamily="49" charset="0"/>
                <a:cs typeface="Courier New" panose="02070309020205020404" pitchFamily="49" charset="0"/>
              </a:rPr>
              <a:t> </a:t>
            </a:r>
            <a:r>
              <a:rPr lang="en-ZA" altLang="en-US" sz="1650" b="1" dirty="0" smtClean="0">
                <a:latin typeface="Courier New" panose="02070309020205020404" pitchFamily="49" charset="0"/>
                <a:cs typeface="Courier New" panose="02070309020205020404" pitchFamily="49" charset="0"/>
              </a:rPr>
              <a:t>Integer</a:t>
            </a:r>
            <a:r>
              <a:rPr lang="en-ZA" altLang="en-US" sz="1650" dirty="0" smtClean="0">
                <a:latin typeface="Courier New" panose="02070309020205020404" pitchFamily="49" charset="0"/>
                <a:cs typeface="Courier New" panose="02070309020205020404" pitchFamily="49" charset="0"/>
              </a:rPr>
              <a:t>) </a:t>
            </a:r>
            <a:r>
              <a:rPr lang="en-ZA" altLang="en-US" sz="1650" b="1" dirty="0" smtClean="0">
                <a:latin typeface="Courier New" panose="02070309020205020404" pitchFamily="49" charset="0"/>
                <a:cs typeface="Courier New" panose="02070309020205020404" pitchFamily="49" charset="0"/>
              </a:rPr>
              <a:t>is</a:t>
            </a:r>
          </a:p>
          <a:p>
            <a:pPr marL="457200" lvl="1" indent="0" eaLnBrk="1" hangingPunct="1">
              <a:buFontTx/>
              <a:buNone/>
              <a:defRPr/>
            </a:pPr>
            <a:r>
              <a:rPr lang="en-ZA" altLang="en-US" sz="1650" dirty="0" smtClean="0">
                <a:latin typeface="Courier New" panose="02070309020205020404" pitchFamily="49" charset="0"/>
                <a:cs typeface="Courier New" panose="02070309020205020404" pitchFamily="49" charset="0"/>
              </a:rPr>
              <a:t>	   </a:t>
            </a:r>
            <a:r>
              <a:rPr lang="en-ZA" altLang="en-US" sz="1650" b="1" dirty="0" smtClean="0">
                <a:latin typeface="Courier New" panose="02070309020205020404" pitchFamily="49" charset="0"/>
                <a:cs typeface="Courier New" panose="02070309020205020404" pitchFamily="49" charset="0"/>
              </a:rPr>
              <a:t>begin</a:t>
            </a:r>
          </a:p>
          <a:p>
            <a:pPr marL="457200" lvl="1" indent="0" eaLnBrk="1" hangingPunct="1">
              <a:buFontTx/>
              <a:buNone/>
              <a:defRPr/>
            </a:pPr>
            <a:r>
              <a:rPr lang="en-ZA" altLang="en-US" sz="1650" dirty="0">
                <a:latin typeface="Courier New" panose="02070309020205020404" pitchFamily="49" charset="0"/>
                <a:cs typeface="Courier New" panose="02070309020205020404" pitchFamily="49" charset="0"/>
              </a:rPr>
              <a:t>	</a:t>
            </a:r>
            <a:r>
              <a:rPr lang="en-ZA" altLang="en-US" sz="1650" dirty="0" smtClean="0">
                <a:latin typeface="Courier New" panose="02070309020205020404" pitchFamily="49" charset="0"/>
                <a:cs typeface="Courier New" panose="02070309020205020404" pitchFamily="49" charset="0"/>
              </a:rPr>
              <a:t>      C := A + C;</a:t>
            </a:r>
          </a:p>
          <a:p>
            <a:pPr marL="457200" lvl="1" indent="0" eaLnBrk="1" hangingPunct="1">
              <a:buFontTx/>
              <a:buNone/>
              <a:defRPr/>
            </a:pPr>
            <a:r>
              <a:rPr lang="en-ZA" altLang="en-US" sz="1650" dirty="0" smtClean="0">
                <a:latin typeface="Courier New" panose="02070309020205020404" pitchFamily="49" charset="0"/>
                <a:cs typeface="Courier New" panose="02070309020205020404" pitchFamily="49" charset="0"/>
              </a:rPr>
              <a:t>	   </a:t>
            </a:r>
            <a:r>
              <a:rPr lang="en-ZA" altLang="en-US" sz="1650" b="1" dirty="0" smtClean="0">
                <a:latin typeface="Courier New" panose="02070309020205020404" pitchFamily="49" charset="0"/>
                <a:cs typeface="Courier New" panose="02070309020205020404" pitchFamily="49" charset="0"/>
              </a:rPr>
              <a:t>end</a:t>
            </a:r>
            <a:r>
              <a:rPr lang="en-ZA" altLang="en-US" sz="1650" dirty="0" smtClean="0">
                <a:latin typeface="Courier New" panose="02070309020205020404" pitchFamily="49" charset="0"/>
                <a:cs typeface="Courier New" panose="02070309020205020404" pitchFamily="49" charset="0"/>
              </a:rPr>
              <a:t> </a:t>
            </a:r>
            <a:r>
              <a:rPr lang="en-ZA" altLang="en-US" sz="1650" dirty="0" err="1" smtClean="0">
                <a:latin typeface="Courier New" panose="02070309020205020404" pitchFamily="49" charset="0"/>
                <a:cs typeface="Courier New" panose="02070309020205020404" pitchFamily="49" charset="0"/>
              </a:rPr>
              <a:t>A_Test</a:t>
            </a:r>
            <a:r>
              <a:rPr lang="en-ZA" altLang="en-US" sz="1650" dirty="0" smtClean="0">
                <a:latin typeface="Courier New" panose="02070309020205020404" pitchFamily="49" charset="0"/>
                <a:cs typeface="Courier New" panose="02070309020205020404" pitchFamily="49" charset="0"/>
              </a:rPr>
              <a:t>;</a:t>
            </a:r>
          </a:p>
          <a:p>
            <a:pPr marL="457200" lvl="1" indent="0" eaLnBrk="1" hangingPunct="1">
              <a:buFontTx/>
              <a:buNone/>
              <a:defRPr/>
            </a:pPr>
            <a:endParaRPr lang="en-US" altLang="en-US" sz="800" dirty="0" smtClean="0">
              <a:latin typeface="Courier New" panose="02070309020205020404" pitchFamily="49" charset="0"/>
              <a:cs typeface="Courier New" panose="02070309020205020404" pitchFamily="49" charset="0"/>
            </a:endParaRPr>
          </a:p>
          <a:p>
            <a:pPr lvl="2" eaLnBrk="1" hangingPunct="1">
              <a:defRPr/>
            </a:pPr>
            <a:r>
              <a:rPr lang="en-US" altLang="en-US" dirty="0" smtClean="0"/>
              <a:t>Here the formal parameter </a:t>
            </a:r>
            <a:r>
              <a:rPr lang="en-US" altLang="en-US" dirty="0" smtClean="0">
                <a:latin typeface="Courier New" panose="02070309020205020404" pitchFamily="49" charset="0"/>
                <a:cs typeface="Courier New" panose="02070309020205020404" pitchFamily="49" charset="0"/>
              </a:rPr>
              <a:t>C</a:t>
            </a:r>
            <a:r>
              <a:rPr lang="en-US" altLang="en-US" dirty="0" smtClean="0">
                <a:latin typeface="+mj-lt"/>
                <a:cs typeface="Courier New" panose="02070309020205020404" pitchFamily="49" charset="0"/>
              </a:rPr>
              <a:t> is used for two things</a:t>
            </a:r>
            <a:endParaRPr lang="en-US" altLang="en-US" dirty="0" smtClean="0"/>
          </a:p>
          <a:p>
            <a:pPr lvl="3" eaLnBrk="1" hangingPunct="1">
              <a:defRPr/>
            </a:pPr>
            <a:r>
              <a:rPr lang="en-US" altLang="en-US" dirty="0" smtClean="0"/>
              <a:t>It passes a value into </a:t>
            </a:r>
            <a:r>
              <a:rPr lang="en-US" altLang="en-US" dirty="0" err="1" smtClean="0">
                <a:latin typeface="Courier New" panose="02070309020205020404" pitchFamily="49" charset="0"/>
                <a:cs typeface="Courier New" panose="02070309020205020404" pitchFamily="49" charset="0"/>
              </a:rPr>
              <a:t>A_Test</a:t>
            </a:r>
            <a:endParaRPr lang="en-US" altLang="en-US" dirty="0" smtClean="0">
              <a:latin typeface="Courier New" panose="02070309020205020404" pitchFamily="49" charset="0"/>
              <a:cs typeface="Courier New" panose="02070309020205020404" pitchFamily="49" charset="0"/>
            </a:endParaRPr>
          </a:p>
          <a:p>
            <a:pPr lvl="3" eaLnBrk="1" hangingPunct="1">
              <a:defRPr/>
            </a:pPr>
            <a:r>
              <a:rPr lang="en-US" altLang="en-US" dirty="0" smtClean="0"/>
              <a:t>Can be assigned to, copying to the actual parameter</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D8D86E8-62A3-4D3E-8F35-783BC1353EC8}"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59396" name="Rectangle 2"/>
          <p:cNvSpPr>
            <a:spLocks noGrp="1" noChangeArrowheads="1"/>
          </p:cNvSpPr>
          <p:nvPr>
            <p:ph type="title"/>
          </p:nvPr>
        </p:nvSpPr>
        <p:spPr/>
        <p:txBody>
          <a:bodyPr/>
          <a:lstStyle/>
          <a:p>
            <a:pPr eaLnBrk="1" hangingPunct="1"/>
            <a:r>
              <a:rPr lang="en-US" altLang="en-US" smtClean="0"/>
              <a:t>Pass-by-Reference (Inout Mode)</a:t>
            </a:r>
          </a:p>
        </p:txBody>
      </p:sp>
      <p:sp>
        <p:nvSpPr>
          <p:cNvPr id="49157" name="Rectangle 3"/>
          <p:cNvSpPr>
            <a:spLocks noGrp="1" noChangeArrowheads="1"/>
          </p:cNvSpPr>
          <p:nvPr>
            <p:ph type="body" idx="1"/>
          </p:nvPr>
        </p:nvSpPr>
        <p:spPr>
          <a:xfrm>
            <a:off x="609600" y="1458310"/>
            <a:ext cx="8153400" cy="4572000"/>
          </a:xfrm>
        </p:spPr>
        <p:txBody>
          <a:bodyPr/>
          <a:lstStyle/>
          <a:p>
            <a:pPr eaLnBrk="1" hangingPunct="1">
              <a:defRPr/>
            </a:pPr>
            <a:r>
              <a:rPr lang="en-US" altLang="en-US" dirty="0" smtClean="0"/>
              <a:t>Pass an access path</a:t>
            </a:r>
          </a:p>
          <a:p>
            <a:pPr lvl="1" eaLnBrk="1" hangingPunct="1">
              <a:defRPr/>
            </a:pPr>
            <a:r>
              <a:rPr lang="en-US" altLang="en-US" dirty="0" smtClean="0"/>
              <a:t>Implemented using a reference or a pointer</a:t>
            </a:r>
          </a:p>
          <a:p>
            <a:pPr lvl="1" eaLnBrk="1" hangingPunct="1">
              <a:defRPr/>
            </a:pPr>
            <a:r>
              <a:rPr lang="en-US" altLang="en-US" dirty="0" smtClean="0"/>
              <a:t>Also called pass-by-sharing</a:t>
            </a:r>
          </a:p>
          <a:p>
            <a:pPr lvl="1" eaLnBrk="1" hangingPunct="1">
              <a:defRPr/>
            </a:pPr>
            <a:r>
              <a:rPr lang="en-US" altLang="en-US" dirty="0" smtClean="0"/>
              <a:t>For example, in C++</a:t>
            </a:r>
          </a:p>
          <a:p>
            <a:pPr marL="800100" lvl="2" indent="0" eaLnBrk="1" hangingPunct="1">
              <a:buFontTx/>
              <a:buNone/>
              <a:defRPr/>
            </a:pPr>
            <a:endParaRPr lang="en-US" altLang="en-US" sz="500" dirty="0" smtClean="0">
              <a:latin typeface="Courier New" panose="02070309020205020404" pitchFamily="49" charset="0"/>
              <a:cs typeface="Courier New" panose="02070309020205020404" pitchFamily="49" charset="0"/>
            </a:endParaRPr>
          </a:p>
          <a:p>
            <a:pPr marL="800100" lvl="2" indent="0" eaLnBrk="1" hangingPunct="1">
              <a:buFontTx/>
              <a:buNone/>
              <a:defRPr/>
            </a:pPr>
            <a:r>
              <a:rPr lang="en-US" altLang="en-US" sz="1700" dirty="0" smtClean="0">
                <a:latin typeface="Courier New" panose="02070309020205020404" pitchFamily="49" charset="0"/>
                <a:cs typeface="Courier New" panose="02070309020205020404" pitchFamily="49" charset="0"/>
              </a:rPr>
              <a:t>  </a:t>
            </a:r>
            <a:r>
              <a:rPr lang="en-US" altLang="en-US" sz="1700" b="1" dirty="0" smtClean="0">
                <a:latin typeface="Courier New" panose="02070309020205020404" pitchFamily="49" charset="0"/>
                <a:cs typeface="Courier New" panose="02070309020205020404" pitchFamily="49" charset="0"/>
              </a:rPr>
              <a:t>void</a:t>
            </a:r>
            <a:r>
              <a:rPr lang="en-US" altLang="en-US" sz="1700" dirty="0" smtClean="0">
                <a:latin typeface="Courier New" panose="02070309020205020404" pitchFamily="49" charset="0"/>
                <a:cs typeface="Courier New" panose="02070309020205020404" pitchFamily="49" charset="0"/>
              </a:rPr>
              <a:t> foo(</a:t>
            </a:r>
            <a:r>
              <a:rPr lang="en-US" altLang="en-US" sz="1700" b="1" dirty="0" err="1" smtClean="0">
                <a:latin typeface="Courier New" panose="02070309020205020404" pitchFamily="49" charset="0"/>
                <a:cs typeface="Courier New" panose="02070309020205020404" pitchFamily="49" charset="0"/>
              </a:rPr>
              <a:t>int</a:t>
            </a:r>
            <a:r>
              <a:rPr lang="en-US" altLang="en-US" sz="1700" dirty="0" smtClean="0">
                <a:latin typeface="Courier New" panose="02070309020205020404" pitchFamily="49" charset="0"/>
                <a:cs typeface="Courier New" panose="02070309020205020404" pitchFamily="49" charset="0"/>
              </a:rPr>
              <a:t> *p, </a:t>
            </a:r>
            <a:r>
              <a:rPr lang="en-US" altLang="en-US" sz="1700" b="1" dirty="0" err="1" smtClean="0">
                <a:latin typeface="Courier New" panose="02070309020205020404" pitchFamily="49" charset="0"/>
                <a:cs typeface="Courier New" panose="02070309020205020404" pitchFamily="49" charset="0"/>
              </a:rPr>
              <a:t>int</a:t>
            </a:r>
            <a:r>
              <a:rPr lang="en-US" altLang="en-US" sz="1700" dirty="0" smtClean="0">
                <a:latin typeface="Courier New" panose="02070309020205020404" pitchFamily="49" charset="0"/>
                <a:cs typeface="Courier New" panose="02070309020205020404" pitchFamily="49" charset="0"/>
              </a:rPr>
              <a:t> &amp;r) {</a:t>
            </a:r>
          </a:p>
          <a:p>
            <a:pPr marL="800100" lvl="2" indent="0" eaLnBrk="1" hangingPunct="1">
              <a:buFontTx/>
              <a:buNone/>
              <a:defRPr/>
            </a:pPr>
            <a:r>
              <a:rPr lang="en-US" altLang="en-US" sz="1700" dirty="0" smtClean="0">
                <a:latin typeface="Courier New" panose="02070309020205020404" pitchFamily="49" charset="0"/>
                <a:cs typeface="Courier New" panose="02070309020205020404" pitchFamily="49" charset="0"/>
              </a:rPr>
              <a:t>     *p = </a:t>
            </a:r>
            <a:r>
              <a:rPr lang="en-US" altLang="en-US" sz="1700" dirty="0" smtClean="0">
                <a:latin typeface="Courier New" panose="02070309020205020404" pitchFamily="49" charset="0"/>
                <a:cs typeface="Courier New" panose="02070309020205020404" pitchFamily="49" charset="0"/>
              </a:rPr>
              <a:t>23 + r;</a:t>
            </a:r>
            <a:endParaRPr lang="en-US" altLang="en-US" sz="1700" dirty="0" smtClean="0">
              <a:latin typeface="Courier New" panose="02070309020205020404" pitchFamily="49" charset="0"/>
              <a:cs typeface="Courier New" panose="02070309020205020404" pitchFamily="49" charset="0"/>
            </a:endParaRPr>
          </a:p>
          <a:p>
            <a:pPr marL="800100" lvl="2" indent="0" eaLnBrk="1" hangingPunct="1">
              <a:buFontTx/>
              <a:buNone/>
              <a:defRPr/>
            </a:pPr>
            <a:r>
              <a:rPr lang="en-US" altLang="en-US" sz="1700" dirty="0" smtClean="0">
                <a:latin typeface="Courier New" panose="02070309020205020404" pitchFamily="49" charset="0"/>
                <a:cs typeface="Courier New" panose="02070309020205020404" pitchFamily="49" charset="0"/>
              </a:rPr>
              <a:t>     r = </a:t>
            </a:r>
            <a:r>
              <a:rPr lang="en-US" altLang="en-US" sz="1700" dirty="0" smtClean="0">
                <a:latin typeface="Courier New" panose="02070309020205020404" pitchFamily="49" charset="0"/>
                <a:cs typeface="Courier New" panose="02070309020205020404" pitchFamily="49" charset="0"/>
              </a:rPr>
              <a:t>19 - *p;</a:t>
            </a:r>
            <a:endParaRPr lang="en-US" altLang="en-US" sz="1700" dirty="0" smtClean="0">
              <a:latin typeface="Courier New" panose="02070309020205020404" pitchFamily="49" charset="0"/>
              <a:cs typeface="Courier New" panose="02070309020205020404" pitchFamily="49" charset="0"/>
            </a:endParaRPr>
          </a:p>
          <a:p>
            <a:pPr marL="800100" lvl="2" indent="0" eaLnBrk="1" hangingPunct="1">
              <a:buFontTx/>
              <a:buNone/>
              <a:defRPr/>
            </a:pPr>
            <a:r>
              <a:rPr lang="en-US" altLang="en-US" sz="1700" dirty="0" smtClean="0">
                <a:latin typeface="Courier New" panose="02070309020205020404" pitchFamily="49" charset="0"/>
                <a:cs typeface="Courier New" panose="02070309020205020404" pitchFamily="49" charset="0"/>
              </a:rPr>
              <a:t>  }</a:t>
            </a:r>
          </a:p>
          <a:p>
            <a:pPr marL="800100" lvl="2" indent="0" eaLnBrk="1" hangingPunct="1">
              <a:buFontTx/>
              <a:buNone/>
              <a:defRPr/>
            </a:pPr>
            <a:endParaRPr lang="en-US" altLang="en-US" sz="500" dirty="0" smtClean="0">
              <a:latin typeface="Courier New" panose="02070309020205020404" pitchFamily="49" charset="0"/>
              <a:cs typeface="Courier New" panose="02070309020205020404" pitchFamily="49" charset="0"/>
            </a:endParaRPr>
          </a:p>
          <a:p>
            <a:pPr lvl="1" eaLnBrk="1" hangingPunct="1">
              <a:defRPr/>
            </a:pPr>
            <a:r>
              <a:rPr lang="en-US" altLang="en-US" dirty="0" smtClean="0"/>
              <a:t>Both </a:t>
            </a:r>
            <a:r>
              <a:rPr lang="en-US" altLang="en-US" dirty="0" smtClean="0">
                <a:latin typeface="Courier New" panose="02070309020205020404" pitchFamily="49" charset="0"/>
                <a:cs typeface="Courier New" panose="02070309020205020404" pitchFamily="49" charset="0"/>
              </a:rPr>
              <a:t>p</a:t>
            </a:r>
            <a:r>
              <a:rPr lang="en-US" altLang="en-US" dirty="0" smtClean="0"/>
              <a:t> and </a:t>
            </a:r>
            <a:r>
              <a:rPr lang="en-US" altLang="en-US" dirty="0" smtClean="0">
                <a:latin typeface="Courier New" panose="02070309020205020404" pitchFamily="49" charset="0"/>
                <a:cs typeface="Courier New" panose="02070309020205020404" pitchFamily="49" charset="0"/>
              </a:rPr>
              <a:t>r</a:t>
            </a:r>
            <a:r>
              <a:rPr lang="en-US" altLang="en-US" dirty="0" smtClean="0"/>
              <a:t> are passed by reference</a:t>
            </a:r>
          </a:p>
          <a:p>
            <a:pPr lvl="2" eaLnBrk="1" hangingPunct="1">
              <a:defRPr/>
            </a:pPr>
            <a:r>
              <a:rPr lang="en-US" altLang="en-US" dirty="0" smtClean="0">
                <a:latin typeface="+mj-lt"/>
                <a:cs typeface="Courier New" panose="02070309020205020404" pitchFamily="49" charset="0"/>
              </a:rPr>
              <a:t>The </a:t>
            </a:r>
            <a:r>
              <a:rPr lang="en-US" altLang="en-US" dirty="0" smtClean="0">
                <a:latin typeface="Courier New" panose="02070309020205020404" pitchFamily="49" charset="0"/>
                <a:cs typeface="Courier New" panose="02070309020205020404" pitchFamily="49" charset="0"/>
              </a:rPr>
              <a:t>p</a:t>
            </a:r>
            <a:r>
              <a:rPr lang="en-US" altLang="en-US" dirty="0" smtClean="0"/>
              <a:t> parameter is a pointer, while </a:t>
            </a:r>
            <a:r>
              <a:rPr lang="en-US" altLang="en-US" dirty="0" smtClean="0">
                <a:latin typeface="Courier New" panose="02070309020205020404" pitchFamily="49" charset="0"/>
                <a:cs typeface="Courier New" panose="02070309020205020404" pitchFamily="49" charset="0"/>
              </a:rPr>
              <a:t>r</a:t>
            </a:r>
            <a:r>
              <a:rPr lang="en-US" altLang="en-US" dirty="0" smtClean="0"/>
              <a:t> is a reference</a:t>
            </a:r>
          </a:p>
          <a:p>
            <a:pPr lvl="2" eaLnBrk="1" hangingPunct="1">
              <a:defRPr/>
            </a:pPr>
            <a:r>
              <a:rPr lang="en-US" altLang="en-US" dirty="0" smtClean="0"/>
              <a:t>Both can be used to pass data into the </a:t>
            </a:r>
            <a:r>
              <a:rPr lang="en-US" altLang="en-US" dirty="0" smtClean="0">
                <a:latin typeface="Courier New" panose="02070309020205020404" pitchFamily="49" charset="0"/>
                <a:cs typeface="Courier New" panose="02070309020205020404" pitchFamily="49" charset="0"/>
              </a:rPr>
              <a:t>foo</a:t>
            </a:r>
            <a:r>
              <a:rPr lang="en-US" altLang="en-US" dirty="0" smtClean="0"/>
              <a:t> function</a:t>
            </a:r>
          </a:p>
          <a:p>
            <a:pPr lvl="2" eaLnBrk="1" hangingPunct="1">
              <a:defRPr/>
            </a:pPr>
            <a:r>
              <a:rPr lang="en-US" altLang="en-US" dirty="0" smtClean="0"/>
              <a:t>Both can be used to send data back to the caller</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AB60F02-FCED-4913-843D-293A9DD6D7EC}"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61444" name="Rectangle 2"/>
          <p:cNvSpPr>
            <a:spLocks noGrp="1" noChangeArrowheads="1"/>
          </p:cNvSpPr>
          <p:nvPr>
            <p:ph type="title"/>
          </p:nvPr>
        </p:nvSpPr>
        <p:spPr/>
        <p:txBody>
          <a:bodyPr/>
          <a:lstStyle/>
          <a:p>
            <a:pPr eaLnBrk="1" hangingPunct="1"/>
            <a:r>
              <a:rPr lang="en-US" altLang="en-US" smtClean="0"/>
              <a:t>Pass-by-Reference (Inout Mode)</a:t>
            </a:r>
          </a:p>
        </p:txBody>
      </p:sp>
      <p:sp>
        <p:nvSpPr>
          <p:cNvPr id="49157" name="Rectangle 3"/>
          <p:cNvSpPr>
            <a:spLocks noGrp="1" noChangeArrowheads="1"/>
          </p:cNvSpPr>
          <p:nvPr>
            <p:ph type="body" idx="1"/>
          </p:nvPr>
        </p:nvSpPr>
        <p:spPr>
          <a:xfrm>
            <a:off x="609600" y="1458310"/>
            <a:ext cx="8153400" cy="4572000"/>
          </a:xfrm>
        </p:spPr>
        <p:txBody>
          <a:bodyPr/>
          <a:lstStyle/>
          <a:p>
            <a:pPr eaLnBrk="1" hangingPunct="1">
              <a:defRPr/>
            </a:pPr>
            <a:r>
              <a:rPr lang="en-US" altLang="en-US" dirty="0" smtClean="0"/>
              <a:t>Pass an access path</a:t>
            </a:r>
          </a:p>
          <a:p>
            <a:pPr lvl="1" eaLnBrk="1" hangingPunct="1">
              <a:defRPr/>
            </a:pPr>
            <a:r>
              <a:rPr lang="en-US" altLang="en-US" dirty="0" smtClean="0"/>
              <a:t>Advantage</a:t>
            </a:r>
          </a:p>
          <a:p>
            <a:pPr lvl="2" eaLnBrk="1" hangingPunct="1">
              <a:defRPr/>
            </a:pPr>
            <a:r>
              <a:rPr lang="en-US" altLang="en-US" dirty="0" smtClean="0"/>
              <a:t>Efficient execution (no copying)</a:t>
            </a:r>
          </a:p>
          <a:p>
            <a:pPr lvl="2" eaLnBrk="1" hangingPunct="1">
              <a:defRPr/>
            </a:pPr>
            <a:r>
              <a:rPr lang="en-US" altLang="en-US" dirty="0" smtClean="0"/>
              <a:t>Efficient storage (no duplicated storage)</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AB60F02-FCED-4913-843D-293A9DD6D7EC}"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61444" name="Rectangle 2"/>
          <p:cNvSpPr>
            <a:spLocks noGrp="1" noChangeArrowheads="1"/>
          </p:cNvSpPr>
          <p:nvPr>
            <p:ph type="title"/>
          </p:nvPr>
        </p:nvSpPr>
        <p:spPr/>
        <p:txBody>
          <a:bodyPr/>
          <a:lstStyle/>
          <a:p>
            <a:pPr eaLnBrk="1" hangingPunct="1"/>
            <a:r>
              <a:rPr lang="en-US" altLang="en-US" smtClean="0"/>
              <a:t>Pass-by-Reference (Inout Mode)</a:t>
            </a:r>
          </a:p>
        </p:txBody>
      </p:sp>
      <p:sp>
        <p:nvSpPr>
          <p:cNvPr id="49157" name="Rectangle 3"/>
          <p:cNvSpPr>
            <a:spLocks noGrp="1" noChangeArrowheads="1"/>
          </p:cNvSpPr>
          <p:nvPr>
            <p:ph type="body" idx="1"/>
          </p:nvPr>
        </p:nvSpPr>
        <p:spPr>
          <a:xfrm>
            <a:off x="609600" y="1458310"/>
            <a:ext cx="8153400" cy="4572000"/>
          </a:xfrm>
        </p:spPr>
        <p:txBody>
          <a:bodyPr/>
          <a:lstStyle/>
          <a:p>
            <a:pPr eaLnBrk="1" hangingPunct="1">
              <a:defRPr/>
            </a:pPr>
            <a:r>
              <a:rPr lang="en-US" altLang="en-US" dirty="0" smtClean="0"/>
              <a:t>Pass an access path</a:t>
            </a:r>
          </a:p>
          <a:p>
            <a:pPr lvl="1" eaLnBrk="1" hangingPunct="1">
              <a:defRPr/>
            </a:pPr>
            <a:r>
              <a:rPr lang="en-US" altLang="en-US" dirty="0" smtClean="0"/>
              <a:t>Disadvantages</a:t>
            </a:r>
          </a:p>
          <a:p>
            <a:pPr lvl="2" eaLnBrk="1" hangingPunct="1">
              <a:defRPr/>
            </a:pPr>
            <a:r>
              <a:rPr lang="en-US" altLang="en-US" dirty="0" smtClean="0"/>
              <a:t>Compared to pass-by-value</a:t>
            </a:r>
          </a:p>
          <a:p>
            <a:pPr lvl="3" eaLnBrk="1" hangingPunct="1">
              <a:defRPr/>
            </a:pPr>
            <a:r>
              <a:rPr lang="en-US" altLang="en-US" dirty="0" smtClean="0"/>
              <a:t>Slower accesses to formal parameters</a:t>
            </a:r>
          </a:p>
          <a:p>
            <a:pPr lvl="2" eaLnBrk="1" hangingPunct="1">
              <a:defRPr/>
            </a:pPr>
            <a:r>
              <a:rPr lang="en-US" altLang="en-US" dirty="0" smtClean="0"/>
              <a:t>Potential for unwanted side effects (see Chapter 15)</a:t>
            </a:r>
          </a:p>
          <a:p>
            <a:pPr lvl="2" eaLnBrk="1" hangingPunct="1">
              <a:defRPr/>
            </a:pPr>
            <a:r>
              <a:rPr lang="en-US" altLang="en-US" dirty="0" smtClean="0"/>
              <a:t>Unwanted aliases (broader access allows collisions)</a:t>
            </a:r>
          </a:p>
          <a:p>
            <a:pPr lvl="3" eaLnBrk="1" hangingPunct="1">
              <a:defRPr/>
            </a:pPr>
            <a:r>
              <a:rPr lang="en-US" altLang="en-US" dirty="0" smtClean="0"/>
              <a:t>Consider this function definition</a:t>
            </a:r>
          </a:p>
          <a:p>
            <a:pPr marL="1371600" lvl="3" indent="0" eaLnBrk="1" hangingPunct="1">
              <a:lnSpc>
                <a:spcPct val="90000"/>
              </a:lnSpc>
              <a:buFontTx/>
              <a:buNone/>
              <a:defRPr/>
            </a:pPr>
            <a:endParaRPr lang="en-US" altLang="en-US" sz="500" dirty="0" smtClean="0">
              <a:latin typeface="Courier New" panose="02070309020205020404" pitchFamily="49" charset="0"/>
            </a:endParaRPr>
          </a:p>
          <a:p>
            <a:pPr marL="1371600" lvl="3" indent="0" eaLnBrk="1" hangingPunct="1">
              <a:lnSpc>
                <a:spcPct val="90000"/>
              </a:lnSpc>
              <a:buFontTx/>
              <a:buNone/>
              <a:defRPr/>
            </a:pPr>
            <a:r>
              <a:rPr lang="en-US" altLang="en-US" dirty="0" smtClean="0">
                <a:latin typeface="Courier New" panose="02070309020205020404" pitchFamily="49" charset="0"/>
              </a:rPr>
              <a:t>	 </a:t>
            </a:r>
            <a:r>
              <a:rPr lang="en-US" altLang="en-US" b="1" dirty="0" smtClean="0">
                <a:latin typeface="Courier New" panose="02070309020205020404" pitchFamily="49" charset="0"/>
              </a:rPr>
              <a:t>void</a:t>
            </a:r>
            <a:r>
              <a:rPr lang="en-US" altLang="en-US" dirty="0" smtClean="0">
                <a:latin typeface="Courier New" panose="02070309020205020404" pitchFamily="49" charset="0"/>
              </a:rPr>
              <a:t> fun(</a:t>
            </a:r>
            <a:r>
              <a:rPr lang="en-US" altLang="en-US" dirty="0" err="1" smtClean="0">
                <a:latin typeface="Courier New" panose="02070309020205020404" pitchFamily="49" charset="0"/>
              </a:rPr>
              <a:t>int</a:t>
            </a:r>
            <a:r>
              <a:rPr lang="en-US" altLang="en-US" dirty="0" smtClean="0">
                <a:latin typeface="Courier New" panose="02070309020205020404" pitchFamily="49" charset="0"/>
              </a:rPr>
              <a:t> &amp;first, </a:t>
            </a:r>
            <a:r>
              <a:rPr lang="en-US" altLang="en-US" dirty="0" err="1" smtClean="0">
                <a:latin typeface="Courier New" panose="02070309020205020404" pitchFamily="49" charset="0"/>
              </a:rPr>
              <a:t>int</a:t>
            </a:r>
            <a:r>
              <a:rPr lang="en-US" altLang="en-US" dirty="0" smtClean="0">
                <a:latin typeface="Courier New" panose="02070309020205020404" pitchFamily="49" charset="0"/>
              </a:rPr>
              <a:t> &amp;second) {...}</a:t>
            </a:r>
          </a:p>
          <a:p>
            <a:pPr marL="1371600" lvl="3" indent="0" eaLnBrk="1" hangingPunct="1">
              <a:lnSpc>
                <a:spcPct val="90000"/>
              </a:lnSpc>
              <a:buFontTx/>
              <a:buNone/>
              <a:defRPr/>
            </a:pPr>
            <a:endParaRPr lang="en-US" altLang="en-US" sz="500" dirty="0" smtClean="0">
              <a:latin typeface="Courier New" panose="02070309020205020404" pitchFamily="49" charset="0"/>
            </a:endParaRPr>
          </a:p>
          <a:p>
            <a:pPr lvl="3" eaLnBrk="1" hangingPunct="1">
              <a:lnSpc>
                <a:spcPct val="90000"/>
              </a:lnSpc>
              <a:defRPr/>
            </a:pPr>
            <a:r>
              <a:rPr lang="en-US" altLang="en-US" dirty="0" smtClean="0">
                <a:latin typeface="+mj-lt"/>
              </a:rPr>
              <a:t>Now look at this function call</a:t>
            </a:r>
          </a:p>
          <a:p>
            <a:pPr marL="1371600" lvl="3" indent="0" eaLnBrk="1" hangingPunct="1">
              <a:lnSpc>
                <a:spcPct val="90000"/>
              </a:lnSpc>
              <a:buFontTx/>
              <a:buNone/>
              <a:defRPr/>
            </a:pPr>
            <a:endParaRPr lang="en-US" altLang="en-US" sz="500" dirty="0" smtClean="0">
              <a:latin typeface="Courier New" panose="02070309020205020404" pitchFamily="49" charset="0"/>
            </a:endParaRPr>
          </a:p>
          <a:p>
            <a:pPr marL="1371600" lvl="3" indent="0" eaLnBrk="1" hangingPunct="1">
              <a:lnSpc>
                <a:spcPct val="90000"/>
              </a:lnSpc>
              <a:buFontTx/>
              <a:buNone/>
              <a:defRPr/>
            </a:pPr>
            <a:r>
              <a:rPr lang="en-US" altLang="en-US" dirty="0" smtClean="0">
                <a:latin typeface="Courier New" panose="02070309020205020404" pitchFamily="49" charset="0"/>
              </a:rPr>
              <a:t>	 fun(total, total)</a:t>
            </a:r>
          </a:p>
          <a:p>
            <a:pPr marL="1371600" lvl="3" indent="0" eaLnBrk="1" hangingPunct="1">
              <a:lnSpc>
                <a:spcPct val="90000"/>
              </a:lnSpc>
              <a:buFontTx/>
              <a:buNone/>
              <a:defRPr/>
            </a:pPr>
            <a:endParaRPr lang="en-US" altLang="en-US" sz="500" dirty="0" smtClean="0">
              <a:latin typeface="Courier New" panose="02070309020205020404" pitchFamily="49" charset="0"/>
            </a:endParaRPr>
          </a:p>
          <a:p>
            <a:pPr lvl="3" eaLnBrk="1" hangingPunct="1">
              <a:lnSpc>
                <a:spcPct val="90000"/>
              </a:lnSpc>
              <a:defRPr/>
            </a:pPr>
            <a:r>
              <a:rPr lang="en-US" altLang="en-US" dirty="0" smtClean="0"/>
              <a:t>Here </a:t>
            </a:r>
            <a:r>
              <a:rPr lang="en-US" altLang="en-US" dirty="0" smtClean="0">
                <a:latin typeface="Courier New" panose="02070309020205020404" pitchFamily="49" charset="0"/>
                <a:cs typeface="Courier New" panose="02070309020205020404" pitchFamily="49" charset="0"/>
              </a:rPr>
              <a:t>first</a:t>
            </a:r>
            <a:r>
              <a:rPr lang="en-US" altLang="en-US" dirty="0" smtClean="0"/>
              <a:t> and </a:t>
            </a:r>
            <a:r>
              <a:rPr lang="en-US" altLang="en-US" dirty="0" smtClean="0">
                <a:latin typeface="Courier New" panose="02070309020205020404" pitchFamily="49" charset="0"/>
                <a:cs typeface="Courier New" panose="02070309020205020404" pitchFamily="49" charset="0"/>
              </a:rPr>
              <a:t>second</a:t>
            </a:r>
            <a:r>
              <a:rPr lang="en-US" altLang="en-US" dirty="0" smtClean="0"/>
              <a:t> are aliases for </a:t>
            </a:r>
            <a:r>
              <a:rPr lang="en-US" altLang="en-US" dirty="0" smtClean="0">
                <a:latin typeface="Courier New" panose="02070309020205020404" pitchFamily="49" charset="0"/>
                <a:cs typeface="Courier New" panose="02070309020205020404" pitchFamily="49" charset="0"/>
              </a:rPr>
              <a:t>total</a:t>
            </a:r>
          </a:p>
          <a:p>
            <a:pPr lvl="3" eaLnBrk="1" hangingPunct="1">
              <a:lnSpc>
                <a:spcPct val="90000"/>
              </a:lnSpc>
              <a:defRPr/>
            </a:pPr>
            <a:r>
              <a:rPr lang="en-US" altLang="en-US" dirty="0" smtClean="0"/>
              <a:t>What potential problems could this result in?</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5808352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28B454C-1ED5-4683-9969-EE8F62BC6596}"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63492" name="Rectangle 2"/>
          <p:cNvSpPr>
            <a:spLocks noGrp="1" noChangeArrowheads="1"/>
          </p:cNvSpPr>
          <p:nvPr>
            <p:ph type="title"/>
          </p:nvPr>
        </p:nvSpPr>
        <p:spPr/>
        <p:txBody>
          <a:bodyPr/>
          <a:lstStyle/>
          <a:p>
            <a:pPr eaLnBrk="1" hangingPunct="1"/>
            <a:r>
              <a:rPr lang="en-US" altLang="en-US" smtClean="0"/>
              <a:t>Pass-by-Name (Inout Mode)</a:t>
            </a:r>
          </a:p>
        </p:txBody>
      </p:sp>
      <p:sp>
        <p:nvSpPr>
          <p:cNvPr id="63493" name="Rectangle 3"/>
          <p:cNvSpPr>
            <a:spLocks noGrp="1" noChangeArrowheads="1"/>
          </p:cNvSpPr>
          <p:nvPr>
            <p:ph type="body" idx="1"/>
          </p:nvPr>
        </p:nvSpPr>
        <p:spPr>
          <a:xfrm>
            <a:off x="609600" y="1456340"/>
            <a:ext cx="8153400" cy="4572000"/>
          </a:xfrm>
        </p:spPr>
        <p:txBody>
          <a:bodyPr/>
          <a:lstStyle/>
          <a:p>
            <a:pPr eaLnBrk="1" hangingPunct="1"/>
            <a:r>
              <a:rPr lang="en-US" altLang="en-US" dirty="0" smtClean="0"/>
              <a:t>Pass-by-name uses textual substitution</a:t>
            </a:r>
          </a:p>
          <a:p>
            <a:pPr lvl="1" eaLnBrk="1" hangingPunct="1"/>
            <a:r>
              <a:rPr lang="en-US" altLang="en-US" dirty="0"/>
              <a:t>O</a:t>
            </a:r>
            <a:r>
              <a:rPr lang="en-US" altLang="en-US" dirty="0" smtClean="0"/>
              <a:t>lder approach, not used in modern languages</a:t>
            </a:r>
          </a:p>
          <a:p>
            <a:pPr lvl="1" eaLnBrk="1" hangingPunct="1"/>
            <a:r>
              <a:rPr lang="en-US" altLang="en-US" dirty="0" smtClean="0"/>
              <a:t>All formal parameter </a:t>
            </a:r>
            <a:r>
              <a:rPr lang="en-US" altLang="en-US" u="sng" dirty="0" smtClean="0"/>
              <a:t>occurrences</a:t>
            </a:r>
            <a:r>
              <a:rPr lang="en-US" altLang="en-US" dirty="0" smtClean="0"/>
              <a:t> are replaced by the appropriate actual parameter</a:t>
            </a:r>
          </a:p>
          <a:p>
            <a:pPr lvl="1" eaLnBrk="1" hangingPunct="1"/>
            <a:r>
              <a:rPr lang="en-US" altLang="en-US" dirty="0" smtClean="0"/>
              <a:t>Formal parameters are bound to access method</a:t>
            </a:r>
          </a:p>
          <a:p>
            <a:pPr lvl="2" eaLnBrk="1" hangingPunct="1"/>
            <a:r>
              <a:rPr lang="en-US" altLang="en-US" dirty="0" smtClean="0"/>
              <a:t>At call time</a:t>
            </a:r>
          </a:p>
          <a:p>
            <a:pPr lvl="2" eaLnBrk="1" hangingPunct="1"/>
            <a:r>
              <a:rPr lang="en-US" altLang="en-US" dirty="0" smtClean="0"/>
              <a:t>Access method could be a copy or a reference</a:t>
            </a:r>
          </a:p>
          <a:p>
            <a:pPr lvl="1" eaLnBrk="1" hangingPunct="1"/>
            <a:r>
              <a:rPr lang="en-US" altLang="en-US" dirty="0" smtClean="0"/>
              <a:t>Actual binding to a value or address</a:t>
            </a:r>
          </a:p>
          <a:p>
            <a:pPr lvl="2" eaLnBrk="1" hangingPunct="1"/>
            <a:r>
              <a:rPr lang="en-US" altLang="en-US" dirty="0" smtClean="0"/>
              <a:t>Only when formal parameter is used in subprogram</a:t>
            </a:r>
          </a:p>
          <a:p>
            <a:pPr lvl="1" eaLnBrk="1" hangingPunct="1"/>
            <a:r>
              <a:rPr lang="en-US" altLang="en-US" dirty="0" smtClean="0"/>
              <a:t>Allows flexibility in late binding</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1E869BF-3CAF-439E-9C81-C071133805B9}"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65540" name="Rectangle 2"/>
          <p:cNvSpPr>
            <a:spLocks noGrp="1" noChangeArrowheads="1"/>
          </p:cNvSpPr>
          <p:nvPr>
            <p:ph type="title"/>
          </p:nvPr>
        </p:nvSpPr>
        <p:spPr/>
        <p:txBody>
          <a:bodyPr/>
          <a:lstStyle/>
          <a:p>
            <a:pPr eaLnBrk="1" hangingPunct="1"/>
            <a:r>
              <a:rPr lang="en-US" altLang="en-US" smtClean="0"/>
              <a:t>Pass-by-Name (Inout Mode)</a:t>
            </a:r>
          </a:p>
        </p:txBody>
      </p:sp>
      <p:sp>
        <p:nvSpPr>
          <p:cNvPr id="51205" name="Rectangle 3"/>
          <p:cNvSpPr>
            <a:spLocks noGrp="1" noChangeArrowheads="1"/>
          </p:cNvSpPr>
          <p:nvPr>
            <p:ph type="body" idx="1"/>
          </p:nvPr>
        </p:nvSpPr>
        <p:spPr>
          <a:xfrm>
            <a:off x="609600" y="1456340"/>
            <a:ext cx="8229600" cy="4572000"/>
          </a:xfrm>
        </p:spPr>
        <p:txBody>
          <a:bodyPr/>
          <a:lstStyle/>
          <a:p>
            <a:pPr eaLnBrk="1" hangingPunct="1">
              <a:defRPr/>
            </a:pPr>
            <a:r>
              <a:rPr lang="en-US" altLang="en-US" dirty="0" smtClean="0"/>
              <a:t>Pass-by-name works by textual substitution</a:t>
            </a:r>
          </a:p>
          <a:p>
            <a:pPr lvl="1" eaLnBrk="1" hangingPunct="1">
              <a:defRPr/>
            </a:pPr>
            <a:r>
              <a:rPr lang="en-US" altLang="en-US" dirty="0" smtClean="0"/>
              <a:t>For example, consider this implementation</a:t>
            </a:r>
          </a:p>
          <a:p>
            <a:pPr marL="857250" lvl="2" indent="0" eaLnBrk="1" hangingPunct="1">
              <a:buFontTx/>
              <a:buNone/>
              <a:defRPr/>
            </a:pPr>
            <a:endParaRPr lang="en-US" altLang="en-US" sz="400" dirty="0" smtClean="0">
              <a:latin typeface="Courier New" panose="02070309020205020404" pitchFamily="49" charset="0"/>
              <a:cs typeface="Courier New" panose="02070309020205020404" pitchFamily="49" charset="0"/>
            </a:endParaRP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t>
            </a:r>
            <a:r>
              <a:rPr lang="en-US" altLang="en-US" sz="1600" b="1" dirty="0" smtClean="0">
                <a:latin typeface="Courier New" panose="02070309020205020404" pitchFamily="49" charset="0"/>
                <a:cs typeface="Courier New" panose="02070309020205020404" pitchFamily="49" charset="0"/>
              </a:rPr>
              <a:t>void</a:t>
            </a:r>
            <a:r>
              <a:rPr lang="en-US" altLang="en-US" sz="1600" dirty="0" smtClean="0">
                <a:latin typeface="Courier New" panose="02070309020205020404" pitchFamily="49" charset="0"/>
                <a:cs typeface="Courier New" panose="02070309020205020404" pitchFamily="49" charset="0"/>
              </a:rPr>
              <a:t> foo(</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a,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b) {</a:t>
            </a: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 = 1;</a:t>
            </a:r>
          </a:p>
          <a:p>
            <a:pPr marL="857250" lvl="2" indent="0" eaLnBrk="1" hangingPunct="1">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print(a, b);</a:t>
            </a: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t>
            </a:r>
          </a:p>
          <a:p>
            <a:pPr marL="857250" lvl="2" indent="0" eaLnBrk="1" hangingPunct="1">
              <a:buFontTx/>
              <a:buNone/>
              <a:defRPr/>
            </a:pPr>
            <a:endParaRPr lang="en-US" altLang="en-US" sz="500" dirty="0">
              <a:latin typeface="Courier New" panose="02070309020205020404" pitchFamily="49" charset="0"/>
              <a:cs typeface="Courier New" panose="02070309020205020404" pitchFamily="49" charset="0"/>
            </a:endParaRP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t>
            </a:r>
            <a:r>
              <a:rPr lang="en-US" altLang="en-US" sz="1600" b="1" dirty="0" smtClean="0">
                <a:latin typeface="Courier New" panose="02070309020205020404" pitchFamily="49" charset="0"/>
                <a:cs typeface="Courier New" panose="02070309020205020404" pitchFamily="49" charset="0"/>
              </a:rPr>
              <a:t>void</a:t>
            </a:r>
            <a:r>
              <a:rPr lang="en-US" altLang="en-US" sz="1600" dirty="0" smtClean="0">
                <a:latin typeface="Courier New" panose="02070309020205020404" pitchFamily="49" charset="0"/>
                <a:cs typeface="Courier New" panose="02070309020205020404" pitchFamily="49" charset="0"/>
              </a:rPr>
              <a:t> main() {</a:t>
            </a:r>
          </a:p>
          <a:p>
            <a:pPr marL="857250" lvl="2" indent="0" eaLnBrk="1" hangingPunct="1">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val</a:t>
            </a:r>
            <a:r>
              <a:rPr lang="en-US" altLang="en-US" sz="1600" dirty="0" smtClean="0">
                <a:latin typeface="Courier New" panose="02070309020205020404" pitchFamily="49" charset="0"/>
                <a:cs typeface="Courier New" panose="02070309020205020404" pitchFamily="49" charset="0"/>
              </a:rPr>
              <a:t> = 0;</a:t>
            </a:r>
          </a:p>
          <a:p>
            <a:pPr marL="857250" lvl="2" indent="0" eaLnBrk="1" hangingPunct="1">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arr</a:t>
            </a:r>
            <a:r>
              <a:rPr lang="en-US" altLang="en-US" sz="1600" dirty="0" smtClean="0">
                <a:latin typeface="Courier New" panose="02070309020205020404" pitchFamily="49" charset="0"/>
                <a:cs typeface="Courier New" panose="02070309020205020404" pitchFamily="49" charset="0"/>
              </a:rPr>
              <a:t>[3] = {2, 8, 9};</a:t>
            </a:r>
          </a:p>
          <a:p>
            <a:pPr marL="857250" lvl="2" indent="0" eaLnBrk="1" hangingPunct="1">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foo(</a:t>
            </a:r>
            <a:r>
              <a:rPr lang="en-US" altLang="en-US" sz="1600" dirty="0" err="1" smtClean="0">
                <a:latin typeface="Courier New" panose="02070309020205020404" pitchFamily="49" charset="0"/>
                <a:cs typeface="Courier New" panose="02070309020205020404" pitchFamily="49" charset="0"/>
              </a:rPr>
              <a:t>val</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arr</a:t>
            </a:r>
            <a:r>
              <a:rPr lang="en-US" altLang="en-US" sz="1600" dirty="0" smtClean="0">
                <a:latin typeface="Courier New" panose="02070309020205020404" pitchFamily="49" charset="0"/>
                <a:cs typeface="Courier New" panose="02070309020205020404" pitchFamily="49" charset="0"/>
              </a:rPr>
              <a:t>[</a:t>
            </a:r>
            <a:r>
              <a:rPr lang="en-US" altLang="en-US" sz="1600" dirty="0" err="1" smtClean="0">
                <a:latin typeface="Courier New" panose="02070309020205020404" pitchFamily="49" charset="0"/>
                <a:cs typeface="Courier New" panose="02070309020205020404" pitchFamily="49" charset="0"/>
              </a:rPr>
              <a:t>val</a:t>
            </a:r>
            <a:r>
              <a:rPr lang="en-US" altLang="en-US" sz="1600" dirty="0" smtClean="0">
                <a:latin typeface="Courier New" panose="02070309020205020404" pitchFamily="49" charset="0"/>
                <a:cs typeface="Courier New" panose="02070309020205020404" pitchFamily="49" charset="0"/>
              </a:rPr>
              <a:t>]);</a:t>
            </a: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t>
            </a:r>
          </a:p>
          <a:p>
            <a:pPr marL="857250" lvl="2" indent="0" eaLnBrk="1" hangingPunct="1">
              <a:buFontTx/>
              <a:buNone/>
              <a:defRPr/>
            </a:pPr>
            <a:endParaRPr lang="en-US" altLang="en-US" sz="400" dirty="0">
              <a:latin typeface="Courier New" panose="02070309020205020404" pitchFamily="49" charset="0"/>
              <a:cs typeface="Courier New" panose="02070309020205020404" pitchFamily="49" charset="0"/>
            </a:endParaRPr>
          </a:p>
          <a:p>
            <a:pPr lvl="1" eaLnBrk="1" hangingPunct="1">
              <a:defRPr/>
            </a:pPr>
            <a:r>
              <a:rPr lang="en-US" altLang="en-US" dirty="0" smtClean="0"/>
              <a:t>First, let’s assume normal pass-by-value is used</a:t>
            </a:r>
          </a:p>
          <a:p>
            <a:pPr lvl="2" eaLnBrk="1" hangingPunct="1">
              <a:defRPr/>
            </a:pPr>
            <a:r>
              <a:rPr lang="en-US" altLang="en-US" dirty="0" smtClean="0"/>
              <a:t>The output will be “</a:t>
            </a:r>
            <a:r>
              <a:rPr lang="en-US" altLang="en-US" dirty="0" smtClean="0">
                <a:latin typeface="Courier New" panose="02070309020205020404" pitchFamily="49" charset="0"/>
                <a:cs typeface="Courier New" panose="02070309020205020404" pitchFamily="49" charset="0"/>
              </a:rPr>
              <a:t>1 2</a:t>
            </a:r>
            <a:r>
              <a:rPr lang="en-US" altLang="en-US" dirty="0" smtClean="0"/>
              <a:t>”, as we’d expect</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E24B287-D1C0-4EFB-810C-701AAC398A1F}"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67588" name="Rectangle 2"/>
          <p:cNvSpPr>
            <a:spLocks noGrp="1" noChangeArrowheads="1"/>
          </p:cNvSpPr>
          <p:nvPr>
            <p:ph type="title"/>
          </p:nvPr>
        </p:nvSpPr>
        <p:spPr/>
        <p:txBody>
          <a:bodyPr/>
          <a:lstStyle/>
          <a:p>
            <a:pPr eaLnBrk="1" hangingPunct="1"/>
            <a:r>
              <a:rPr lang="en-US" altLang="en-US" smtClean="0"/>
              <a:t>Pass-by-Name (Inout Mode)</a:t>
            </a:r>
          </a:p>
        </p:txBody>
      </p:sp>
      <p:sp>
        <p:nvSpPr>
          <p:cNvPr id="51205" name="Rectangle 3"/>
          <p:cNvSpPr>
            <a:spLocks noGrp="1" noChangeArrowheads="1"/>
          </p:cNvSpPr>
          <p:nvPr>
            <p:ph type="body" idx="1"/>
          </p:nvPr>
        </p:nvSpPr>
        <p:spPr>
          <a:xfrm>
            <a:off x="609600" y="1456340"/>
            <a:ext cx="8382000" cy="4572000"/>
          </a:xfrm>
        </p:spPr>
        <p:txBody>
          <a:bodyPr/>
          <a:lstStyle/>
          <a:p>
            <a:pPr eaLnBrk="1" hangingPunct="1">
              <a:defRPr/>
            </a:pPr>
            <a:r>
              <a:rPr lang="en-US" altLang="en-US" dirty="0" smtClean="0"/>
              <a:t>Pass-by-name works by textual substitution</a:t>
            </a:r>
          </a:p>
          <a:p>
            <a:pPr lvl="1" eaLnBrk="1" hangingPunct="1">
              <a:defRPr/>
            </a:pPr>
            <a:r>
              <a:rPr lang="en-US" altLang="en-US" dirty="0" smtClean="0"/>
              <a:t>Now assume pass-by-name</a:t>
            </a:r>
            <a:endParaRPr lang="en-US" altLang="en-US" sz="2000" dirty="0" smtClean="0"/>
          </a:p>
          <a:p>
            <a:pPr marL="857250" lvl="2" indent="0" eaLnBrk="1" hangingPunct="1">
              <a:buFontTx/>
              <a:buNone/>
              <a:defRPr/>
            </a:pPr>
            <a:endParaRPr lang="en-US" altLang="en-US" sz="400" dirty="0" smtClean="0">
              <a:latin typeface="Courier New" panose="02070309020205020404" pitchFamily="49" charset="0"/>
              <a:cs typeface="Courier New" panose="02070309020205020404" pitchFamily="49" charset="0"/>
            </a:endParaRP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t>
            </a:r>
            <a:r>
              <a:rPr lang="en-US" altLang="en-US" sz="1600" b="1" dirty="0" smtClean="0">
                <a:latin typeface="Courier New" panose="02070309020205020404" pitchFamily="49" charset="0"/>
                <a:cs typeface="Courier New" panose="02070309020205020404" pitchFamily="49" charset="0"/>
              </a:rPr>
              <a:t>void</a:t>
            </a:r>
            <a:r>
              <a:rPr lang="en-US" altLang="en-US" sz="1600" dirty="0" smtClean="0">
                <a:latin typeface="Courier New" panose="02070309020205020404" pitchFamily="49" charset="0"/>
                <a:cs typeface="Courier New" panose="02070309020205020404" pitchFamily="49" charset="0"/>
              </a:rPr>
              <a:t> foo(</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a,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b) {</a:t>
            </a: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 = 1;</a:t>
            </a:r>
          </a:p>
          <a:p>
            <a:pPr marL="857250" lvl="2" indent="0" eaLnBrk="1" hangingPunct="1">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print(a, b);</a:t>
            </a: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t>
            </a:r>
          </a:p>
          <a:p>
            <a:pPr marL="857250" lvl="2" indent="0" eaLnBrk="1" hangingPunct="1">
              <a:buFontTx/>
              <a:buNone/>
              <a:defRPr/>
            </a:pPr>
            <a:endParaRPr lang="en-US" altLang="en-US" sz="500" dirty="0">
              <a:latin typeface="Courier New" panose="02070309020205020404" pitchFamily="49" charset="0"/>
              <a:cs typeface="Courier New" panose="02070309020205020404" pitchFamily="49" charset="0"/>
            </a:endParaRP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t>
            </a:r>
            <a:r>
              <a:rPr lang="en-US" altLang="en-US" sz="1600" b="1" dirty="0" smtClean="0">
                <a:latin typeface="Courier New" panose="02070309020205020404" pitchFamily="49" charset="0"/>
                <a:cs typeface="Courier New" panose="02070309020205020404" pitchFamily="49" charset="0"/>
              </a:rPr>
              <a:t>void</a:t>
            </a:r>
            <a:r>
              <a:rPr lang="en-US" altLang="en-US" sz="1600" dirty="0" smtClean="0">
                <a:latin typeface="Courier New" panose="02070309020205020404" pitchFamily="49" charset="0"/>
                <a:cs typeface="Courier New" panose="02070309020205020404" pitchFamily="49" charset="0"/>
              </a:rPr>
              <a:t> main() {</a:t>
            </a:r>
          </a:p>
          <a:p>
            <a:pPr marL="857250" lvl="2" indent="0" eaLnBrk="1" hangingPunct="1">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val</a:t>
            </a:r>
            <a:r>
              <a:rPr lang="en-US" altLang="en-US" sz="1600" dirty="0" smtClean="0">
                <a:latin typeface="Courier New" panose="02070309020205020404" pitchFamily="49" charset="0"/>
                <a:cs typeface="Courier New" panose="02070309020205020404" pitchFamily="49" charset="0"/>
              </a:rPr>
              <a:t> = 0;</a:t>
            </a:r>
          </a:p>
          <a:p>
            <a:pPr marL="857250" lvl="2" indent="0" eaLnBrk="1" hangingPunct="1">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a:t>
            </a:r>
            <a:r>
              <a:rPr lang="en-US" altLang="en-US" sz="1600" b="1" dirty="0" err="1" smtClean="0">
                <a:latin typeface="Courier New" panose="02070309020205020404" pitchFamily="49" charset="0"/>
                <a:cs typeface="Courier New" panose="02070309020205020404" pitchFamily="49" charset="0"/>
              </a:rPr>
              <a:t>int</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arr</a:t>
            </a:r>
            <a:r>
              <a:rPr lang="en-US" altLang="en-US" sz="1600" dirty="0" smtClean="0">
                <a:latin typeface="Courier New" panose="02070309020205020404" pitchFamily="49" charset="0"/>
                <a:cs typeface="Courier New" panose="02070309020205020404" pitchFamily="49" charset="0"/>
              </a:rPr>
              <a:t>[3] = {2, 8, 9};</a:t>
            </a:r>
          </a:p>
          <a:p>
            <a:pPr marL="857250" lvl="2" indent="0" eaLnBrk="1" hangingPunct="1">
              <a:buFontTx/>
              <a:buNone/>
              <a:defRPr/>
            </a:pPr>
            <a:r>
              <a:rPr lang="en-US" altLang="en-US" sz="1600" dirty="0">
                <a:latin typeface="Courier New" panose="02070309020205020404" pitchFamily="49" charset="0"/>
                <a:cs typeface="Courier New" panose="02070309020205020404" pitchFamily="49" charset="0"/>
              </a:rPr>
              <a:t> </a:t>
            </a:r>
            <a:r>
              <a:rPr lang="en-US" altLang="en-US" sz="1600" dirty="0" smtClean="0">
                <a:latin typeface="Courier New" panose="02070309020205020404" pitchFamily="49" charset="0"/>
                <a:cs typeface="Courier New" panose="02070309020205020404" pitchFamily="49" charset="0"/>
              </a:rPr>
              <a:t>    foo(</a:t>
            </a:r>
            <a:r>
              <a:rPr lang="en-US" altLang="en-US" sz="1600" dirty="0" err="1" smtClean="0">
                <a:latin typeface="Courier New" panose="02070309020205020404" pitchFamily="49" charset="0"/>
                <a:cs typeface="Courier New" panose="02070309020205020404" pitchFamily="49" charset="0"/>
              </a:rPr>
              <a:t>val</a:t>
            </a:r>
            <a:r>
              <a:rPr lang="en-US" altLang="en-US" sz="1600" dirty="0" smtClean="0">
                <a:latin typeface="Courier New" panose="02070309020205020404" pitchFamily="49" charset="0"/>
                <a:cs typeface="Courier New" panose="02070309020205020404" pitchFamily="49" charset="0"/>
              </a:rPr>
              <a:t>, </a:t>
            </a:r>
            <a:r>
              <a:rPr lang="en-US" altLang="en-US" sz="1600" dirty="0" err="1" smtClean="0">
                <a:latin typeface="Courier New" panose="02070309020205020404" pitchFamily="49" charset="0"/>
                <a:cs typeface="Courier New" panose="02070309020205020404" pitchFamily="49" charset="0"/>
              </a:rPr>
              <a:t>arr</a:t>
            </a:r>
            <a:r>
              <a:rPr lang="en-US" altLang="en-US" sz="1600" dirty="0" smtClean="0">
                <a:latin typeface="Courier New" panose="02070309020205020404" pitchFamily="49" charset="0"/>
                <a:cs typeface="Courier New" panose="02070309020205020404" pitchFamily="49" charset="0"/>
              </a:rPr>
              <a:t>[</a:t>
            </a:r>
            <a:r>
              <a:rPr lang="en-US" altLang="en-US" sz="1600" dirty="0" err="1" smtClean="0">
                <a:latin typeface="Courier New" panose="02070309020205020404" pitchFamily="49" charset="0"/>
                <a:cs typeface="Courier New" panose="02070309020205020404" pitchFamily="49" charset="0"/>
              </a:rPr>
              <a:t>val</a:t>
            </a:r>
            <a:r>
              <a:rPr lang="en-US" altLang="en-US" sz="1600" dirty="0" smtClean="0">
                <a:latin typeface="Courier New" panose="02070309020205020404" pitchFamily="49" charset="0"/>
                <a:cs typeface="Courier New" panose="02070309020205020404" pitchFamily="49" charset="0"/>
              </a:rPr>
              <a:t>]);</a:t>
            </a:r>
          </a:p>
          <a:p>
            <a:pPr marL="857250" lvl="2" indent="0" eaLnBrk="1" hangingPunct="1">
              <a:buFontTx/>
              <a:buNone/>
              <a:defRPr/>
            </a:pPr>
            <a:r>
              <a:rPr lang="en-US" altLang="en-US" sz="1600" dirty="0" smtClean="0">
                <a:latin typeface="Courier New" panose="02070309020205020404" pitchFamily="49" charset="0"/>
                <a:cs typeface="Courier New" panose="02070309020205020404" pitchFamily="49" charset="0"/>
              </a:rPr>
              <a:t>  }</a:t>
            </a:r>
          </a:p>
          <a:p>
            <a:pPr marL="857250" lvl="2" indent="0" eaLnBrk="1" hangingPunct="1">
              <a:buFontTx/>
              <a:buNone/>
              <a:defRPr/>
            </a:pPr>
            <a:endParaRPr lang="en-US" altLang="en-US" sz="400" dirty="0">
              <a:latin typeface="Courier New" panose="02070309020205020404" pitchFamily="49" charset="0"/>
              <a:cs typeface="Courier New" panose="02070309020205020404" pitchFamily="49" charset="0"/>
            </a:endParaRPr>
          </a:p>
          <a:p>
            <a:pPr lvl="1" eaLnBrk="1" hangingPunct="1">
              <a:defRPr/>
            </a:pPr>
            <a:r>
              <a:rPr lang="en-US" altLang="en-US" dirty="0" smtClean="0"/>
              <a:t>Substitute </a:t>
            </a:r>
            <a:r>
              <a:rPr lang="en-US" altLang="en-US" dirty="0" err="1" smtClean="0">
                <a:latin typeface="Courier New" panose="02070309020205020404" pitchFamily="49" charset="0"/>
                <a:cs typeface="Courier New" panose="02070309020205020404" pitchFamily="49" charset="0"/>
              </a:rPr>
              <a:t>val</a:t>
            </a:r>
            <a:r>
              <a:rPr lang="en-US" altLang="en-US" dirty="0" smtClean="0"/>
              <a:t> for </a:t>
            </a:r>
            <a:r>
              <a:rPr lang="en-US" altLang="en-US" dirty="0" smtClean="0">
                <a:latin typeface="Courier New" panose="02070309020205020404" pitchFamily="49" charset="0"/>
                <a:cs typeface="Courier New" panose="02070309020205020404" pitchFamily="49" charset="0"/>
              </a:rPr>
              <a:t>a</a:t>
            </a:r>
            <a:r>
              <a:rPr lang="en-US" altLang="en-US" dirty="0" smtClean="0"/>
              <a:t> and </a:t>
            </a:r>
            <a:r>
              <a:rPr lang="en-US" altLang="en-US" dirty="0" err="1" smtClean="0">
                <a:latin typeface="Courier New" panose="02070309020205020404" pitchFamily="49" charset="0"/>
                <a:cs typeface="Courier New" panose="02070309020205020404" pitchFamily="49" charset="0"/>
              </a:rPr>
              <a:t>arr</a:t>
            </a:r>
            <a:r>
              <a:rPr lang="en-US" altLang="en-US" dirty="0" smtClean="0">
                <a:latin typeface="Courier New" panose="02070309020205020404" pitchFamily="49" charset="0"/>
                <a:cs typeface="Courier New" panose="02070309020205020404" pitchFamily="49" charset="0"/>
              </a:rPr>
              <a:t>[</a:t>
            </a:r>
            <a:r>
              <a:rPr lang="en-US" altLang="en-US" dirty="0" err="1" smtClean="0">
                <a:latin typeface="Courier New" panose="02070309020205020404" pitchFamily="49" charset="0"/>
                <a:cs typeface="Courier New" panose="02070309020205020404" pitchFamily="49" charset="0"/>
              </a:rPr>
              <a:t>val</a:t>
            </a:r>
            <a:r>
              <a:rPr lang="en-US" altLang="en-US" dirty="0" smtClean="0">
                <a:latin typeface="Courier New" panose="02070309020205020404" pitchFamily="49" charset="0"/>
                <a:cs typeface="Courier New" panose="02070309020205020404" pitchFamily="49" charset="0"/>
              </a:rPr>
              <a:t>]</a:t>
            </a:r>
            <a:r>
              <a:rPr lang="en-US" altLang="en-US" dirty="0" smtClean="0"/>
              <a:t> for </a:t>
            </a:r>
            <a:r>
              <a:rPr lang="en-US" altLang="en-US" dirty="0" smtClean="0">
                <a:latin typeface="Courier New" panose="02070309020205020404" pitchFamily="49" charset="0"/>
                <a:cs typeface="Courier New" panose="02070309020205020404" pitchFamily="49" charset="0"/>
              </a:rPr>
              <a:t>b</a:t>
            </a:r>
          </a:p>
          <a:p>
            <a:pPr lvl="2" eaLnBrk="1" hangingPunct="1">
              <a:defRPr/>
            </a:pPr>
            <a:r>
              <a:rPr lang="en-US" altLang="en-US" dirty="0"/>
              <a:t>B</a:t>
            </a:r>
            <a:r>
              <a:rPr lang="en-US" altLang="en-US" dirty="0" smtClean="0"/>
              <a:t>ody becomes: </a:t>
            </a:r>
            <a:r>
              <a:rPr lang="en-US" altLang="en-US" dirty="0" err="1" smtClean="0">
                <a:latin typeface="Courier New" panose="02070309020205020404" pitchFamily="49" charset="0"/>
                <a:cs typeface="Courier New" panose="02070309020205020404" pitchFamily="49" charset="0"/>
              </a:rPr>
              <a:t>val</a:t>
            </a:r>
            <a:r>
              <a:rPr lang="en-US" altLang="en-US" dirty="0" smtClean="0">
                <a:latin typeface="Courier New" panose="02070309020205020404" pitchFamily="49" charset="0"/>
                <a:cs typeface="Courier New" panose="02070309020205020404" pitchFamily="49" charset="0"/>
              </a:rPr>
              <a:t> = 1; print(</a:t>
            </a:r>
            <a:r>
              <a:rPr lang="en-US" altLang="en-US" dirty="0" err="1" smtClean="0">
                <a:latin typeface="Courier New" panose="02070309020205020404" pitchFamily="49" charset="0"/>
                <a:cs typeface="Courier New" panose="02070309020205020404" pitchFamily="49" charset="0"/>
              </a:rPr>
              <a:t>val</a:t>
            </a:r>
            <a:r>
              <a:rPr lang="en-US" altLang="en-US" dirty="0" smtClean="0">
                <a:latin typeface="Courier New" panose="02070309020205020404" pitchFamily="49" charset="0"/>
                <a:cs typeface="Courier New" panose="02070309020205020404" pitchFamily="49" charset="0"/>
              </a:rPr>
              <a:t>, </a:t>
            </a:r>
            <a:r>
              <a:rPr lang="en-US" altLang="en-US" dirty="0" err="1" smtClean="0">
                <a:latin typeface="Courier New" panose="02070309020205020404" pitchFamily="49" charset="0"/>
                <a:cs typeface="Courier New" panose="02070309020205020404" pitchFamily="49" charset="0"/>
              </a:rPr>
              <a:t>arr</a:t>
            </a:r>
            <a:r>
              <a:rPr lang="en-US" altLang="en-US" dirty="0" smtClean="0">
                <a:latin typeface="Courier New" panose="02070309020205020404" pitchFamily="49" charset="0"/>
                <a:cs typeface="Courier New" panose="02070309020205020404" pitchFamily="49" charset="0"/>
              </a:rPr>
              <a:t>[</a:t>
            </a:r>
            <a:r>
              <a:rPr lang="en-US" altLang="en-US" dirty="0" err="1" smtClean="0">
                <a:latin typeface="Courier New" panose="02070309020205020404" pitchFamily="49" charset="0"/>
                <a:cs typeface="Courier New" panose="02070309020205020404" pitchFamily="49" charset="0"/>
              </a:rPr>
              <a:t>val</a:t>
            </a:r>
            <a:r>
              <a:rPr lang="en-US" altLang="en-US" dirty="0" smtClean="0">
                <a:latin typeface="Courier New" panose="02070309020205020404" pitchFamily="49" charset="0"/>
                <a:cs typeface="Courier New" panose="02070309020205020404" pitchFamily="49" charset="0"/>
              </a:rPr>
              <a:t>]);</a:t>
            </a:r>
          </a:p>
          <a:p>
            <a:pPr lvl="2" eaLnBrk="1" hangingPunct="1">
              <a:defRPr/>
            </a:pPr>
            <a:r>
              <a:rPr lang="en-US" altLang="en-US" dirty="0" smtClean="0"/>
              <a:t>The output will be “</a:t>
            </a:r>
            <a:r>
              <a:rPr lang="en-US" altLang="en-US" dirty="0" smtClean="0">
                <a:latin typeface="Courier New" panose="02070309020205020404" pitchFamily="49" charset="0"/>
                <a:cs typeface="Courier New" panose="02070309020205020404" pitchFamily="49" charset="0"/>
              </a:rPr>
              <a:t>1 8</a:t>
            </a:r>
            <a:r>
              <a:rPr lang="en-US" altLang="en-US" dirty="0" smtClean="0"/>
              <a:t>”</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592C6AD-6D35-4EC2-91DE-67F7C80B7C37}"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69636" name="Rectangle 3"/>
          <p:cNvSpPr>
            <a:spLocks noGrp="1" noChangeArrowheads="1"/>
          </p:cNvSpPr>
          <p:nvPr>
            <p:ph type="body" idx="1"/>
          </p:nvPr>
        </p:nvSpPr>
        <p:spPr>
          <a:xfrm>
            <a:off x="609600" y="1492470"/>
            <a:ext cx="8153400" cy="4572000"/>
          </a:xfrm>
        </p:spPr>
        <p:txBody>
          <a:bodyPr/>
          <a:lstStyle/>
          <a:p>
            <a:pPr eaLnBrk="1" hangingPunct="1">
              <a:lnSpc>
                <a:spcPct val="90000"/>
              </a:lnSpc>
            </a:pPr>
            <a:r>
              <a:rPr lang="en-US" altLang="en-US" dirty="0" smtClean="0"/>
              <a:t>In C and C++</a:t>
            </a:r>
          </a:p>
          <a:p>
            <a:pPr lvl="1" eaLnBrk="1" hangingPunct="1">
              <a:lnSpc>
                <a:spcPct val="90000"/>
              </a:lnSpc>
            </a:pPr>
            <a:r>
              <a:rPr lang="en-US" altLang="en-US" dirty="0" smtClean="0"/>
              <a:t>Pass-by-value</a:t>
            </a:r>
          </a:p>
          <a:p>
            <a:pPr lvl="1" eaLnBrk="1" hangingPunct="1">
              <a:lnSpc>
                <a:spcPct val="90000"/>
              </a:lnSpc>
            </a:pPr>
            <a:r>
              <a:rPr lang="en-US" altLang="en-US" dirty="0" smtClean="0"/>
              <a:t>Pass-by-reference</a:t>
            </a:r>
          </a:p>
          <a:p>
            <a:pPr lvl="2" eaLnBrk="1" hangingPunct="1">
              <a:lnSpc>
                <a:spcPct val="90000"/>
              </a:lnSpc>
            </a:pPr>
            <a:r>
              <a:rPr lang="en-US" altLang="en-US" dirty="0" smtClean="0"/>
              <a:t>Pointer parameters in C</a:t>
            </a:r>
          </a:p>
          <a:p>
            <a:pPr lvl="2" eaLnBrk="1" hangingPunct="1">
              <a:lnSpc>
                <a:spcPct val="90000"/>
              </a:lnSpc>
            </a:pPr>
            <a:r>
              <a:rPr lang="en-US" altLang="en-US" dirty="0" smtClean="0"/>
              <a:t>Pointer or reference parameters in C++</a:t>
            </a:r>
          </a:p>
          <a:p>
            <a:pPr eaLnBrk="1" hangingPunct="1">
              <a:lnSpc>
                <a:spcPct val="90000"/>
              </a:lnSpc>
            </a:pPr>
            <a:r>
              <a:rPr lang="en-US" altLang="en-US" dirty="0"/>
              <a:t>In Java</a:t>
            </a:r>
          </a:p>
          <a:p>
            <a:pPr lvl="1" eaLnBrk="1" hangingPunct="1">
              <a:lnSpc>
                <a:spcPct val="90000"/>
              </a:lnSpc>
            </a:pPr>
            <a:r>
              <a:rPr lang="en-US" altLang="en-US" dirty="0"/>
              <a:t>All parameters are passed by value</a:t>
            </a:r>
          </a:p>
          <a:p>
            <a:pPr lvl="1" eaLnBrk="1" hangingPunct="1">
              <a:lnSpc>
                <a:spcPct val="90000"/>
              </a:lnSpc>
            </a:pPr>
            <a:r>
              <a:rPr lang="en-US" altLang="en-US" dirty="0" smtClean="0"/>
              <a:t>Objects seem </a:t>
            </a:r>
            <a:r>
              <a:rPr lang="en-US" altLang="en-US" dirty="0"/>
              <a:t>to be passed by reference</a:t>
            </a:r>
          </a:p>
          <a:p>
            <a:pPr lvl="1" eaLnBrk="1" hangingPunct="1">
              <a:lnSpc>
                <a:spcPct val="90000"/>
              </a:lnSpc>
            </a:pPr>
            <a:r>
              <a:rPr lang="en-US" altLang="en-US" dirty="0"/>
              <a:t>Actually, </a:t>
            </a:r>
            <a:r>
              <a:rPr lang="en-US" altLang="en-US" u="sng" dirty="0"/>
              <a:t>object references</a:t>
            </a:r>
            <a:r>
              <a:rPr lang="en-US" altLang="en-US" dirty="0"/>
              <a:t> are passed by value</a:t>
            </a:r>
            <a:endParaRPr lang="en-US" altLang="en-US" sz="2000" dirty="0"/>
          </a:p>
          <a:p>
            <a:pPr eaLnBrk="1" hangingPunct="1"/>
            <a:r>
              <a:rPr lang="en-US" altLang="en-US" dirty="0"/>
              <a:t>In Fortran 95 and newer</a:t>
            </a:r>
          </a:p>
          <a:p>
            <a:pPr lvl="1" eaLnBrk="1" hangingPunct="1"/>
            <a:r>
              <a:rPr lang="en-US" altLang="en-US" dirty="0"/>
              <a:t>Parameters can be </a:t>
            </a:r>
            <a:r>
              <a:rPr lang="en-US" altLang="en-US" dirty="0">
                <a:latin typeface="Courier New" panose="02070309020205020404" pitchFamily="49" charset="0"/>
                <a:cs typeface="Courier New" panose="02070309020205020404" pitchFamily="49" charset="0"/>
              </a:rPr>
              <a:t>In</a:t>
            </a:r>
            <a:r>
              <a:rPr lang="en-US" altLang="en-US" dirty="0"/>
              <a:t>, </a:t>
            </a:r>
            <a:r>
              <a:rPr lang="en-US" altLang="en-US" dirty="0">
                <a:latin typeface="Courier New" panose="02070309020205020404" pitchFamily="49" charset="0"/>
                <a:cs typeface="Courier New" panose="02070309020205020404" pitchFamily="49" charset="0"/>
              </a:rPr>
              <a:t>Out</a:t>
            </a:r>
            <a:r>
              <a:rPr lang="en-US" altLang="en-US" dirty="0"/>
              <a:t>, or </a:t>
            </a:r>
            <a:r>
              <a:rPr lang="en-US" altLang="en-US" dirty="0" err="1">
                <a:latin typeface="Courier New" panose="02070309020205020404" pitchFamily="49" charset="0"/>
                <a:cs typeface="Courier New" panose="02070309020205020404" pitchFamily="49" charset="0"/>
              </a:rPr>
              <a:t>Inout</a:t>
            </a:r>
            <a:r>
              <a:rPr lang="en-US" altLang="en-US" dirty="0"/>
              <a:t> mode</a:t>
            </a:r>
            <a:endParaRPr lang="en-US" altLang="en-US" dirty="0" smtClean="0"/>
          </a:p>
        </p:txBody>
      </p:sp>
      <p:sp>
        <p:nvSpPr>
          <p:cNvPr id="69637" name="Rectangle 2"/>
          <p:cNvSpPr>
            <a:spLocks noGrp="1" noChangeArrowheads="1"/>
          </p:cNvSpPr>
          <p:nvPr>
            <p:ph type="title"/>
          </p:nvPr>
        </p:nvSpPr>
        <p:spPr/>
        <p:txBody>
          <a:bodyPr/>
          <a:lstStyle/>
          <a:p>
            <a:pPr eaLnBrk="1" hangingPunct="1"/>
            <a:r>
              <a:rPr lang="en-US" altLang="en-US" sz="3200" smtClean="0"/>
              <a:t>Parameter Passing Method Examples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0429A16-9BB7-4DCB-BE2D-8C38ABC6BF2C}"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71684" name="Rectangle 2"/>
          <p:cNvSpPr>
            <a:spLocks noGrp="1" noChangeArrowheads="1"/>
          </p:cNvSpPr>
          <p:nvPr>
            <p:ph type="title"/>
          </p:nvPr>
        </p:nvSpPr>
        <p:spPr/>
        <p:txBody>
          <a:bodyPr/>
          <a:lstStyle/>
          <a:p>
            <a:pPr eaLnBrk="1" hangingPunct="1"/>
            <a:r>
              <a:rPr lang="en-US" altLang="en-US" sz="3200" dirty="0" smtClean="0"/>
              <a:t>Parameter Passing Method Examples</a:t>
            </a:r>
          </a:p>
        </p:txBody>
      </p:sp>
      <p:sp>
        <p:nvSpPr>
          <p:cNvPr id="71685" name="Rectangle 3"/>
          <p:cNvSpPr>
            <a:spLocks noGrp="1" noChangeArrowheads="1"/>
          </p:cNvSpPr>
          <p:nvPr>
            <p:ph type="body" idx="1"/>
          </p:nvPr>
        </p:nvSpPr>
        <p:spPr>
          <a:xfrm>
            <a:off x="609600" y="1458310"/>
            <a:ext cx="8153400" cy="5029200"/>
          </a:xfrm>
        </p:spPr>
        <p:txBody>
          <a:bodyPr/>
          <a:lstStyle/>
          <a:p>
            <a:pPr eaLnBrk="1" hangingPunct="1"/>
            <a:r>
              <a:rPr lang="en-US" altLang="en-US" dirty="0" smtClean="0"/>
              <a:t>In C#</a:t>
            </a:r>
            <a:endParaRPr lang="en-US" altLang="en-US" sz="3200" dirty="0" smtClean="0"/>
          </a:p>
          <a:p>
            <a:pPr lvl="1" eaLnBrk="1" hangingPunct="1"/>
            <a:r>
              <a:rPr lang="en-US" altLang="en-US" dirty="0" smtClean="0"/>
              <a:t>Pass-by-value</a:t>
            </a:r>
          </a:p>
          <a:p>
            <a:pPr lvl="1" eaLnBrk="1" hangingPunct="1"/>
            <a:r>
              <a:rPr lang="en-US" altLang="en-US" dirty="0" smtClean="0"/>
              <a:t>Pass-by-reference</a:t>
            </a:r>
          </a:p>
          <a:p>
            <a:pPr lvl="2" eaLnBrk="1" hangingPunct="1"/>
            <a:r>
              <a:rPr lang="en-US" altLang="en-US" sz="1800" dirty="0" smtClean="0"/>
              <a:t>Precede formal parameter </a:t>
            </a:r>
            <a:r>
              <a:rPr lang="en-US" altLang="en-US" sz="1800" u="sng" dirty="0" smtClean="0"/>
              <a:t>and</a:t>
            </a:r>
            <a:r>
              <a:rPr lang="en-US" altLang="en-US" sz="1800" dirty="0" smtClean="0"/>
              <a:t> actual parameter with </a:t>
            </a:r>
            <a:r>
              <a:rPr lang="en-US" altLang="en-US" sz="1800" b="1" dirty="0" smtClean="0">
                <a:latin typeface="Courier New" panose="02070309020205020404" pitchFamily="49" charset="0"/>
                <a:cs typeface="Courier New" panose="02070309020205020404" pitchFamily="49" charset="0"/>
              </a:rPr>
              <a:t>ref</a:t>
            </a:r>
            <a:endParaRPr lang="en-US" altLang="en-US" sz="2000" b="1" dirty="0" smtClean="0">
              <a:latin typeface="Courier New" panose="02070309020205020404" pitchFamily="49" charset="0"/>
              <a:cs typeface="Courier New" panose="02070309020205020404" pitchFamily="49" charset="0"/>
            </a:endParaRPr>
          </a:p>
          <a:p>
            <a:pPr eaLnBrk="1" hangingPunct="1"/>
            <a:r>
              <a:rPr lang="en-US" altLang="en-US" dirty="0" smtClean="0"/>
              <a:t>In Perl</a:t>
            </a:r>
          </a:p>
          <a:p>
            <a:pPr lvl="1" eaLnBrk="1" hangingPunct="1"/>
            <a:r>
              <a:rPr lang="en-US" altLang="en-US" dirty="0" smtClean="0"/>
              <a:t>Implicitly places actual parameters in </a:t>
            </a:r>
            <a:r>
              <a:rPr lang="en-US" altLang="en-US" dirty="0" smtClean="0">
                <a:latin typeface="Courier New" panose="02070309020205020404" pitchFamily="49" charset="0"/>
                <a:cs typeface="Courier New" panose="02070309020205020404" pitchFamily="49" charset="0"/>
              </a:rPr>
              <a:t>@_</a:t>
            </a:r>
            <a:r>
              <a:rPr lang="en-US" altLang="en-US" dirty="0" smtClean="0"/>
              <a:t> array</a:t>
            </a:r>
            <a:endParaRPr lang="en-US" altLang="en-US" dirty="0" smtClean="0">
              <a:latin typeface="Courier New" panose="02070309020205020404" pitchFamily="49" charset="0"/>
              <a:cs typeface="Courier New" panose="02070309020205020404" pitchFamily="49" charset="0"/>
            </a:endParaRPr>
          </a:p>
          <a:p>
            <a:pPr lvl="1" eaLnBrk="1" hangingPunct="1"/>
            <a:r>
              <a:rPr lang="en-US" altLang="en-US" dirty="0" smtClean="0"/>
              <a:t>Elements of </a:t>
            </a:r>
            <a:r>
              <a:rPr lang="en-US" altLang="en-US" dirty="0" smtClean="0">
                <a:latin typeface="Courier New" panose="02070309020205020404" pitchFamily="49" charset="0"/>
                <a:cs typeface="Courier New" panose="02070309020205020404" pitchFamily="49" charset="0"/>
              </a:rPr>
              <a:t>@_</a:t>
            </a:r>
            <a:r>
              <a:rPr lang="en-US" altLang="en-US" dirty="0" smtClean="0"/>
              <a:t> are aliases for actual parameters</a:t>
            </a:r>
          </a:p>
          <a:p>
            <a:pPr lvl="1" eaLnBrk="1" hangingPunct="1"/>
            <a:r>
              <a:rPr lang="en-US" altLang="en-US" dirty="0" smtClean="0"/>
              <a:t>Which passing method does this imply?</a:t>
            </a:r>
            <a:endParaRPr lang="en-US" altLang="en-US" dirty="0" smtClean="0">
              <a:latin typeface="Courier New" panose="02070309020205020404" pitchFamily="49" charset="0"/>
              <a:cs typeface="Courier New" panose="02070309020205020404" pitchFamily="49"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0429A16-9BB7-4DCB-BE2D-8C38ABC6BF2C}"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71684" name="Rectangle 2"/>
          <p:cNvSpPr>
            <a:spLocks noGrp="1" noChangeArrowheads="1"/>
          </p:cNvSpPr>
          <p:nvPr>
            <p:ph type="title"/>
          </p:nvPr>
        </p:nvSpPr>
        <p:spPr/>
        <p:txBody>
          <a:bodyPr/>
          <a:lstStyle/>
          <a:p>
            <a:pPr eaLnBrk="1" hangingPunct="1"/>
            <a:r>
              <a:rPr lang="en-US" altLang="en-US" sz="3200" dirty="0" smtClean="0"/>
              <a:t>Parameter Passing Method Examples</a:t>
            </a:r>
          </a:p>
        </p:txBody>
      </p:sp>
      <p:sp>
        <p:nvSpPr>
          <p:cNvPr id="71685" name="Rectangle 3"/>
          <p:cNvSpPr>
            <a:spLocks noGrp="1" noChangeArrowheads="1"/>
          </p:cNvSpPr>
          <p:nvPr>
            <p:ph type="body" idx="1"/>
          </p:nvPr>
        </p:nvSpPr>
        <p:spPr>
          <a:xfrm>
            <a:off x="609600" y="1458310"/>
            <a:ext cx="8382000" cy="5029200"/>
          </a:xfrm>
        </p:spPr>
        <p:txBody>
          <a:bodyPr/>
          <a:lstStyle/>
          <a:p>
            <a:pPr eaLnBrk="1" hangingPunct="1"/>
            <a:r>
              <a:rPr lang="en-US" altLang="en-US" dirty="0" smtClean="0">
                <a:cs typeface="Courier New" panose="02070309020205020404" pitchFamily="49" charset="0"/>
              </a:rPr>
              <a:t>Python and Ruby use </a:t>
            </a:r>
            <a:r>
              <a:rPr lang="en-US" altLang="en-US" u="sng" dirty="0" smtClean="0">
                <a:cs typeface="Courier New" panose="02070309020205020404" pitchFamily="49" charset="0"/>
              </a:rPr>
              <a:t>pass-by-assignment</a:t>
            </a:r>
            <a:endParaRPr lang="en-US" altLang="en-US" sz="3200" u="sng" dirty="0" smtClean="0">
              <a:cs typeface="Courier New" panose="02070309020205020404" pitchFamily="49" charset="0"/>
            </a:endParaRPr>
          </a:p>
          <a:p>
            <a:pPr lvl="1" eaLnBrk="1" hangingPunct="1"/>
            <a:r>
              <a:rPr lang="en-US" altLang="en-US" dirty="0" smtClean="0">
                <a:cs typeface="Courier New" panose="02070309020205020404" pitchFamily="49" charset="0"/>
              </a:rPr>
              <a:t>Actual parameter assigned to formal parameter</a:t>
            </a:r>
          </a:p>
          <a:p>
            <a:pPr lvl="2" eaLnBrk="1" hangingPunct="1"/>
            <a:r>
              <a:rPr lang="en-US" altLang="en-US" dirty="0" smtClean="0">
                <a:cs typeface="Courier New" panose="02070309020205020404" pitchFamily="49" charset="0"/>
              </a:rPr>
              <a:t>Remember that all data values are objects</a:t>
            </a:r>
          </a:p>
          <a:p>
            <a:pPr lvl="2" eaLnBrk="1" hangingPunct="1"/>
            <a:r>
              <a:rPr lang="en-US" altLang="en-US" dirty="0" smtClean="0">
                <a:cs typeface="Courier New" panose="02070309020205020404" pitchFamily="49" charset="0"/>
              </a:rPr>
              <a:t>Assigning one object to another is a reference change</a:t>
            </a:r>
          </a:p>
          <a:p>
            <a:pPr lvl="2" eaLnBrk="1" hangingPunct="1"/>
            <a:r>
              <a:rPr lang="en-US" altLang="en-US" dirty="0" smtClean="0">
                <a:cs typeface="Courier New" panose="02070309020205020404" pitchFamily="49" charset="0"/>
              </a:rPr>
              <a:t>This means it works like pass-by-reference</a:t>
            </a:r>
          </a:p>
          <a:p>
            <a:pPr lvl="2" eaLnBrk="1" hangingPunct="1"/>
            <a:r>
              <a:rPr lang="en-US" altLang="en-US" dirty="0" smtClean="0">
                <a:cs typeface="Courier New" panose="02070309020205020404" pitchFamily="49" charset="0"/>
              </a:rPr>
              <a:t>Except when assigning to immutable objects</a:t>
            </a:r>
            <a:br>
              <a:rPr lang="en-US" altLang="en-US" dirty="0" smtClean="0">
                <a:cs typeface="Courier New" panose="02070309020205020404" pitchFamily="49" charset="0"/>
              </a:rPr>
            </a:br>
            <a:r>
              <a:rPr lang="en-US" altLang="en-US" dirty="0" smtClean="0">
                <a:cs typeface="Courier New" panose="02070309020205020404" pitchFamily="49" charset="0"/>
              </a:rPr>
              <a:t>(what happens here?)</a:t>
            </a:r>
            <a:endParaRPr lang="en-US" altLang="en-US" sz="2900" dirty="0" smtClean="0">
              <a:cs typeface="Courier New" panose="02070309020205020404" pitchFamily="49"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7849035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788E3AA-BCD1-4C69-A2D5-1D9471270767}"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73732" name="Rectangle 2"/>
          <p:cNvSpPr>
            <a:spLocks noGrp="1" noChangeArrowheads="1"/>
          </p:cNvSpPr>
          <p:nvPr>
            <p:ph type="title"/>
          </p:nvPr>
        </p:nvSpPr>
        <p:spPr/>
        <p:txBody>
          <a:bodyPr/>
          <a:lstStyle/>
          <a:p>
            <a:pPr eaLnBrk="1" hangingPunct="1"/>
            <a:r>
              <a:rPr lang="en-US" altLang="en-US" smtClean="0"/>
              <a:t>Type Checking Parameters</a:t>
            </a:r>
          </a:p>
        </p:txBody>
      </p:sp>
      <p:sp>
        <p:nvSpPr>
          <p:cNvPr id="73733" name="Rectangle 3"/>
          <p:cNvSpPr>
            <a:spLocks noGrp="1" noChangeArrowheads="1"/>
          </p:cNvSpPr>
          <p:nvPr>
            <p:ph type="body" idx="1"/>
          </p:nvPr>
        </p:nvSpPr>
        <p:spPr>
          <a:xfrm>
            <a:off x="609600" y="1458310"/>
            <a:ext cx="8229600" cy="5029200"/>
          </a:xfrm>
        </p:spPr>
        <p:txBody>
          <a:bodyPr/>
          <a:lstStyle/>
          <a:p>
            <a:pPr eaLnBrk="1" hangingPunct="1"/>
            <a:r>
              <a:rPr lang="en-US" altLang="en-US" dirty="0" smtClean="0"/>
              <a:t>Parameter type checking</a:t>
            </a:r>
          </a:p>
          <a:p>
            <a:pPr lvl="1" eaLnBrk="1" hangingPunct="1"/>
            <a:r>
              <a:rPr lang="en-US" altLang="en-US" dirty="0" smtClean="0"/>
              <a:t>Testing if actual </a:t>
            </a:r>
            <a:r>
              <a:rPr lang="en-US" altLang="en-US" dirty="0"/>
              <a:t>&amp;</a:t>
            </a:r>
            <a:r>
              <a:rPr lang="en-US" altLang="en-US" dirty="0" smtClean="0"/>
              <a:t> formal parameter types match</a:t>
            </a:r>
          </a:p>
          <a:p>
            <a:pPr lvl="1" eaLnBrk="1" hangingPunct="1"/>
            <a:r>
              <a:rPr lang="en-US" altLang="en-US" dirty="0" smtClean="0"/>
              <a:t>Very important for reliability</a:t>
            </a:r>
          </a:p>
          <a:p>
            <a:pPr eaLnBrk="1" hangingPunct="1"/>
            <a:endParaRPr lang="en-US" altLang="en-US" sz="500" dirty="0" smtClean="0"/>
          </a:p>
          <a:p>
            <a:pPr eaLnBrk="1" hangingPunct="1"/>
            <a:r>
              <a:rPr lang="en-US" altLang="en-US" dirty="0" smtClean="0"/>
              <a:t>FORTRAN 77, early C, Perl, JavaScript, PHP</a:t>
            </a:r>
          </a:p>
          <a:p>
            <a:pPr lvl="1" eaLnBrk="1" hangingPunct="1"/>
            <a:r>
              <a:rPr lang="en-US" altLang="en-US" dirty="0" smtClean="0"/>
              <a:t>Do </a:t>
            </a:r>
            <a:r>
              <a:rPr lang="en-US" altLang="en-US" u="sng" dirty="0" smtClean="0"/>
              <a:t>no checking</a:t>
            </a:r>
            <a:r>
              <a:rPr lang="en-US" altLang="en-US" dirty="0" smtClean="0"/>
              <a:t> (what is the result of this?)</a:t>
            </a:r>
            <a:endParaRPr lang="en-US" altLang="en-US" u="sng" dirty="0" smtClean="0"/>
          </a:p>
          <a:p>
            <a:pPr eaLnBrk="1" hangingPunct="1"/>
            <a:endParaRPr lang="en-US" altLang="en-US" sz="500" dirty="0" smtClean="0"/>
          </a:p>
          <a:p>
            <a:pPr eaLnBrk="1" hangingPunct="1"/>
            <a:r>
              <a:rPr lang="en-US" altLang="en-US" dirty="0" smtClean="0"/>
              <a:t>C versus C++</a:t>
            </a:r>
          </a:p>
        </p:txBody>
      </p:sp>
      <p:sp>
        <p:nvSpPr>
          <p:cNvPr id="10" name="Text Box 7"/>
          <p:cNvSpPr txBox="1">
            <a:spLocks noChangeArrowheads="1"/>
          </p:cNvSpPr>
          <p:nvPr/>
        </p:nvSpPr>
        <p:spPr bwMode="auto">
          <a:xfrm>
            <a:off x="1143000" y="4593622"/>
            <a:ext cx="1976438" cy="922338"/>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ZA" altLang="en-US" sz="1800" b="1">
                <a:solidFill>
                  <a:srgbClr val="333399"/>
                </a:solidFill>
                <a:latin typeface="Courier New" panose="02070309020205020404" pitchFamily="49" charset="0"/>
              </a:rPr>
              <a:t>double</a:t>
            </a:r>
            <a:r>
              <a:rPr lang="en-ZA" altLang="en-US" sz="1800">
                <a:solidFill>
                  <a:srgbClr val="333399"/>
                </a:solidFill>
                <a:latin typeface="Courier New" panose="02070309020205020404" pitchFamily="49" charset="0"/>
              </a:rPr>
              <a:t> sin(x)</a:t>
            </a:r>
          </a:p>
          <a:p>
            <a:pPr>
              <a:spcBef>
                <a:spcPct val="0"/>
              </a:spcBef>
              <a:buFontTx/>
              <a:buNone/>
            </a:pPr>
            <a:r>
              <a:rPr lang="en-ZA" altLang="en-US" sz="1800">
                <a:solidFill>
                  <a:srgbClr val="333399"/>
                </a:solidFill>
                <a:latin typeface="Courier New" panose="02070309020205020404" pitchFamily="49" charset="0"/>
              </a:rPr>
              <a:t>   </a:t>
            </a:r>
            <a:r>
              <a:rPr lang="en-ZA" altLang="en-US" sz="1800" b="1">
                <a:solidFill>
                  <a:srgbClr val="333399"/>
                </a:solidFill>
                <a:latin typeface="Courier New" panose="02070309020205020404" pitchFamily="49" charset="0"/>
              </a:rPr>
              <a:t>double</a:t>
            </a:r>
            <a:r>
              <a:rPr lang="en-ZA" altLang="en-US" sz="1800">
                <a:solidFill>
                  <a:srgbClr val="333399"/>
                </a:solidFill>
                <a:latin typeface="Courier New" panose="02070309020205020404" pitchFamily="49" charset="0"/>
              </a:rPr>
              <a:t> x;</a:t>
            </a:r>
          </a:p>
          <a:p>
            <a:pPr>
              <a:spcBef>
                <a:spcPct val="0"/>
              </a:spcBef>
              <a:buFontTx/>
              <a:buNone/>
            </a:pPr>
            <a:r>
              <a:rPr lang="en-ZA" altLang="en-US" sz="1800">
                <a:solidFill>
                  <a:srgbClr val="333399"/>
                </a:solidFill>
                <a:latin typeface="Courier New" panose="02070309020205020404" pitchFamily="49" charset="0"/>
              </a:rPr>
              <a:t>   { ... }</a:t>
            </a:r>
            <a:endParaRPr lang="en-GB" altLang="en-US" sz="1800">
              <a:solidFill>
                <a:srgbClr val="333399"/>
              </a:solidFill>
              <a:latin typeface="Courier New" panose="02070309020205020404" pitchFamily="49" charset="0"/>
            </a:endParaRPr>
          </a:p>
        </p:txBody>
      </p:sp>
      <p:sp>
        <p:nvSpPr>
          <p:cNvPr id="11" name="Text Box 8"/>
          <p:cNvSpPr txBox="1">
            <a:spLocks noChangeArrowheads="1"/>
          </p:cNvSpPr>
          <p:nvPr/>
        </p:nvSpPr>
        <p:spPr bwMode="auto">
          <a:xfrm>
            <a:off x="4572000" y="4593622"/>
            <a:ext cx="2941638" cy="646113"/>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ZA" altLang="en-US" sz="1800" b="1">
                <a:solidFill>
                  <a:srgbClr val="333399"/>
                </a:solidFill>
                <a:latin typeface="Courier New" panose="02070309020205020404" pitchFamily="49" charset="0"/>
              </a:rPr>
              <a:t>double</a:t>
            </a:r>
            <a:r>
              <a:rPr lang="en-ZA" altLang="en-US" sz="1800">
                <a:solidFill>
                  <a:srgbClr val="333399"/>
                </a:solidFill>
                <a:latin typeface="Courier New" panose="02070309020205020404" pitchFamily="49" charset="0"/>
              </a:rPr>
              <a:t> sin(</a:t>
            </a:r>
            <a:r>
              <a:rPr lang="en-ZA" altLang="en-US" sz="1800" b="1">
                <a:solidFill>
                  <a:srgbClr val="333399"/>
                </a:solidFill>
                <a:latin typeface="Courier New" panose="02070309020205020404" pitchFamily="49" charset="0"/>
              </a:rPr>
              <a:t>double</a:t>
            </a:r>
            <a:r>
              <a:rPr lang="en-ZA" altLang="en-US" sz="1800">
                <a:solidFill>
                  <a:srgbClr val="333399"/>
                </a:solidFill>
                <a:latin typeface="Courier New" panose="02070309020205020404" pitchFamily="49" charset="0"/>
              </a:rPr>
              <a:t> x)</a:t>
            </a:r>
          </a:p>
          <a:p>
            <a:pPr>
              <a:spcBef>
                <a:spcPct val="0"/>
              </a:spcBef>
              <a:buFontTx/>
              <a:buNone/>
            </a:pPr>
            <a:r>
              <a:rPr lang="en-ZA" altLang="en-US" sz="1800">
                <a:solidFill>
                  <a:srgbClr val="333399"/>
                </a:solidFill>
                <a:latin typeface="Courier New" panose="02070309020205020404" pitchFamily="49" charset="0"/>
              </a:rPr>
              <a:t>   { ... }</a:t>
            </a:r>
            <a:endParaRPr lang="en-GB" altLang="en-US" sz="1800">
              <a:solidFill>
                <a:srgbClr val="333399"/>
              </a:solidFill>
              <a:latin typeface="Courier New" panose="02070309020205020404" pitchFamily="49" charset="0"/>
            </a:endParaRPr>
          </a:p>
        </p:txBody>
      </p:sp>
      <p:sp>
        <p:nvSpPr>
          <p:cNvPr id="12" name="Text Box 9"/>
          <p:cNvSpPr txBox="1">
            <a:spLocks noChangeArrowheads="1"/>
          </p:cNvSpPr>
          <p:nvPr/>
        </p:nvSpPr>
        <p:spPr bwMode="auto">
          <a:xfrm>
            <a:off x="3155950" y="4582510"/>
            <a:ext cx="111125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ZA" altLang="en-US" sz="1400" dirty="0">
                <a:solidFill>
                  <a:srgbClr val="333399"/>
                </a:solidFill>
              </a:rPr>
              <a:t>No type</a:t>
            </a:r>
          </a:p>
          <a:p>
            <a:pPr>
              <a:spcBef>
                <a:spcPct val="0"/>
              </a:spcBef>
              <a:buFontTx/>
              <a:buNone/>
            </a:pPr>
            <a:r>
              <a:rPr lang="en-ZA" altLang="en-US" sz="1400" dirty="0">
                <a:solidFill>
                  <a:srgbClr val="333399"/>
                </a:solidFill>
              </a:rPr>
              <a:t>checking:</a:t>
            </a:r>
          </a:p>
          <a:p>
            <a:pPr>
              <a:spcBef>
                <a:spcPct val="0"/>
              </a:spcBef>
              <a:buFontTx/>
              <a:buNone/>
            </a:pPr>
            <a:r>
              <a:rPr lang="en-ZA" altLang="en-US" sz="1400" dirty="0">
                <a:solidFill>
                  <a:srgbClr val="333399"/>
                </a:solidFill>
              </a:rPr>
              <a:t>Original C,</a:t>
            </a:r>
          </a:p>
          <a:p>
            <a:pPr>
              <a:spcBef>
                <a:spcPct val="0"/>
              </a:spcBef>
              <a:buFontTx/>
              <a:buNone/>
            </a:pPr>
            <a:r>
              <a:rPr lang="en-ZA" altLang="en-US" sz="1400" dirty="0">
                <a:solidFill>
                  <a:srgbClr val="333399"/>
                </a:solidFill>
              </a:rPr>
              <a:t>C89</a:t>
            </a:r>
            <a:endParaRPr lang="en-GB" altLang="en-US" sz="1400" dirty="0">
              <a:solidFill>
                <a:srgbClr val="333399"/>
              </a:solidFill>
            </a:endParaRPr>
          </a:p>
        </p:txBody>
      </p:sp>
      <p:sp>
        <p:nvSpPr>
          <p:cNvPr id="13" name="Text Box 10"/>
          <p:cNvSpPr txBox="1">
            <a:spLocks noChangeArrowheads="1"/>
          </p:cNvSpPr>
          <p:nvPr/>
        </p:nvSpPr>
        <p:spPr bwMode="auto">
          <a:xfrm>
            <a:off x="7546975" y="4593622"/>
            <a:ext cx="1435100" cy="73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ctr">
              <a:spcBef>
                <a:spcPct val="0"/>
              </a:spcBef>
              <a:buFontTx/>
              <a:buNone/>
            </a:pPr>
            <a:r>
              <a:rPr lang="en-ZA" altLang="en-US" sz="1400">
                <a:solidFill>
                  <a:srgbClr val="333399"/>
                </a:solidFill>
              </a:rPr>
              <a:t>Type checking with coercion:</a:t>
            </a:r>
          </a:p>
          <a:p>
            <a:pPr algn="ctr">
              <a:spcBef>
                <a:spcPct val="0"/>
              </a:spcBef>
              <a:buFontTx/>
              <a:buNone/>
            </a:pPr>
            <a:r>
              <a:rPr lang="en-ZA" altLang="en-US" sz="1400">
                <a:solidFill>
                  <a:srgbClr val="333399"/>
                </a:solidFill>
              </a:rPr>
              <a:t>C89, C++</a:t>
            </a:r>
            <a:endParaRPr lang="en-GB" altLang="en-US" sz="1400">
              <a:solidFill>
                <a:srgbClr val="333399"/>
              </a:solidFill>
            </a:endParaRPr>
          </a:p>
        </p:txBody>
      </p:sp>
      <p:sp>
        <p:nvSpPr>
          <p:cNvPr id="14"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788E3AA-BCD1-4C69-A2D5-1D9471270767}"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73732" name="Rectangle 2"/>
          <p:cNvSpPr>
            <a:spLocks noGrp="1" noChangeArrowheads="1"/>
          </p:cNvSpPr>
          <p:nvPr>
            <p:ph type="title"/>
          </p:nvPr>
        </p:nvSpPr>
        <p:spPr/>
        <p:txBody>
          <a:bodyPr/>
          <a:lstStyle/>
          <a:p>
            <a:pPr eaLnBrk="1" hangingPunct="1"/>
            <a:r>
              <a:rPr lang="en-US" altLang="en-US" smtClean="0"/>
              <a:t>Type Checking Parameters</a:t>
            </a:r>
          </a:p>
        </p:txBody>
      </p:sp>
      <p:sp>
        <p:nvSpPr>
          <p:cNvPr id="73733" name="Rectangle 3"/>
          <p:cNvSpPr>
            <a:spLocks noGrp="1" noChangeArrowheads="1"/>
          </p:cNvSpPr>
          <p:nvPr>
            <p:ph type="body" idx="1"/>
          </p:nvPr>
        </p:nvSpPr>
        <p:spPr>
          <a:xfrm>
            <a:off x="609600" y="1458310"/>
            <a:ext cx="8153400" cy="5029200"/>
          </a:xfrm>
        </p:spPr>
        <p:txBody>
          <a:bodyPr/>
          <a:lstStyle/>
          <a:p>
            <a:pPr eaLnBrk="1" hangingPunct="1"/>
            <a:r>
              <a:rPr lang="en-US" altLang="en-US" dirty="0"/>
              <a:t>Pascal, FORTRAN 90, Java, and Ada</a:t>
            </a:r>
          </a:p>
          <a:p>
            <a:pPr lvl="1" eaLnBrk="1" hangingPunct="1"/>
            <a:r>
              <a:rPr lang="en-US" altLang="en-US" dirty="0"/>
              <a:t>Always required (what is the result of this</a:t>
            </a:r>
            <a:r>
              <a:rPr lang="en-US" altLang="en-US" dirty="0" smtClean="0"/>
              <a:t>?)</a:t>
            </a:r>
          </a:p>
          <a:p>
            <a:pPr eaLnBrk="1" hangingPunct="1"/>
            <a:endParaRPr lang="en-US" altLang="en-US" sz="500" dirty="0" smtClean="0"/>
          </a:p>
          <a:p>
            <a:pPr eaLnBrk="1" hangingPunct="1"/>
            <a:r>
              <a:rPr lang="en-US" altLang="en-US" dirty="0" smtClean="0"/>
              <a:t>Python and Ruby</a:t>
            </a:r>
          </a:p>
          <a:p>
            <a:pPr lvl="1" eaLnBrk="1" hangingPunct="1"/>
            <a:r>
              <a:rPr lang="en-US" altLang="en-US" dirty="0" smtClean="0"/>
              <a:t>Variables do not have types (objects do)</a:t>
            </a:r>
          </a:p>
          <a:p>
            <a:pPr lvl="2" eaLnBrk="1" hangingPunct="1"/>
            <a:r>
              <a:rPr lang="en-US" altLang="en-US" dirty="0" smtClean="0"/>
              <a:t>For example, consider this assignment in Ruby</a:t>
            </a:r>
          </a:p>
          <a:p>
            <a:pPr marL="1371600" lvl="3" indent="0" eaLnBrk="1" hangingPunct="1">
              <a:buNone/>
            </a:pPr>
            <a:endParaRPr lang="en-US" altLang="en-US" sz="300" dirty="0" smtClean="0">
              <a:latin typeface="Courier New" panose="02070309020205020404" pitchFamily="49" charset="0"/>
              <a:cs typeface="Courier New" panose="02070309020205020404" pitchFamily="49" charset="0"/>
            </a:endParaRPr>
          </a:p>
          <a:p>
            <a:pPr marL="1371600" lvl="3" indent="0" eaLnBrk="1" hangingPunct="1">
              <a:buNone/>
            </a:pPr>
            <a:r>
              <a:rPr lang="en-US" altLang="en-US" dirty="0" smtClean="0">
                <a:latin typeface="Courier New" panose="02070309020205020404" pitchFamily="49" charset="0"/>
                <a:cs typeface="Courier New" panose="02070309020205020404" pitchFamily="49" charset="0"/>
              </a:rPr>
              <a:t>    p = </a:t>
            </a:r>
            <a:r>
              <a:rPr lang="en-US" altLang="en-US" dirty="0" err="1" smtClean="0">
                <a:latin typeface="Courier New" panose="02070309020205020404" pitchFamily="49" charset="0"/>
                <a:cs typeface="Courier New" panose="02070309020205020404" pitchFamily="49" charset="0"/>
              </a:rPr>
              <a:t>Person.new</a:t>
            </a:r>
            <a:endParaRPr lang="en-US" altLang="en-US" dirty="0" smtClean="0">
              <a:latin typeface="Courier New" panose="02070309020205020404" pitchFamily="49" charset="0"/>
              <a:cs typeface="Courier New" panose="02070309020205020404" pitchFamily="49" charset="0"/>
            </a:endParaRPr>
          </a:p>
          <a:p>
            <a:pPr marL="1371600" lvl="3" indent="0" eaLnBrk="1" hangingPunct="1">
              <a:buNone/>
            </a:pPr>
            <a:endParaRPr lang="en-US" altLang="en-US" sz="300" dirty="0" smtClean="0">
              <a:latin typeface="Courier New" panose="02070309020205020404" pitchFamily="49" charset="0"/>
              <a:cs typeface="Courier New" panose="02070309020205020404" pitchFamily="49" charset="0"/>
            </a:endParaRPr>
          </a:p>
          <a:p>
            <a:pPr lvl="3" eaLnBrk="1" hangingPunct="1"/>
            <a:r>
              <a:rPr lang="en-US" altLang="en-US" dirty="0" smtClean="0"/>
              <a:t>The object assigned to </a:t>
            </a:r>
            <a:r>
              <a:rPr lang="en-US" altLang="en-US" dirty="0" smtClean="0">
                <a:latin typeface="Courier New" panose="02070309020205020404" pitchFamily="49" charset="0"/>
                <a:cs typeface="Courier New" panose="02070309020205020404" pitchFamily="49" charset="0"/>
              </a:rPr>
              <a:t>p</a:t>
            </a:r>
            <a:r>
              <a:rPr lang="en-US" altLang="en-US" dirty="0" smtClean="0"/>
              <a:t> has the type of </a:t>
            </a:r>
            <a:r>
              <a:rPr lang="en-US" altLang="en-US" dirty="0" smtClean="0">
                <a:latin typeface="Courier New" panose="02070309020205020404" pitchFamily="49" charset="0"/>
                <a:cs typeface="Courier New" panose="02070309020205020404" pitchFamily="49" charset="0"/>
              </a:rPr>
              <a:t>Person</a:t>
            </a:r>
          </a:p>
          <a:p>
            <a:pPr lvl="3" eaLnBrk="1" hangingPunct="1"/>
            <a:r>
              <a:rPr lang="en-US" altLang="en-US" dirty="0" smtClean="0">
                <a:latin typeface="+mj-lt"/>
                <a:cs typeface="Courier New" panose="02070309020205020404" pitchFamily="49" charset="0"/>
              </a:rPr>
              <a:t>The variable </a:t>
            </a:r>
            <a:r>
              <a:rPr lang="en-US" altLang="en-US" dirty="0" smtClean="0">
                <a:latin typeface="Courier New" panose="02070309020205020404" pitchFamily="49" charset="0"/>
                <a:cs typeface="Courier New" panose="02070309020205020404" pitchFamily="49" charset="0"/>
              </a:rPr>
              <a:t>p</a:t>
            </a:r>
            <a:r>
              <a:rPr lang="en-US" altLang="en-US" dirty="0" smtClean="0">
                <a:latin typeface="+mj-lt"/>
                <a:cs typeface="Courier New" panose="02070309020205020404" pitchFamily="49" charset="0"/>
              </a:rPr>
              <a:t> has no type</a:t>
            </a:r>
          </a:p>
          <a:p>
            <a:pPr lvl="2" eaLnBrk="1" hangingPunct="1"/>
            <a:r>
              <a:rPr lang="en-US" altLang="en-US" dirty="0" smtClean="0"/>
              <a:t>So formal parameters are </a:t>
            </a:r>
            <a:r>
              <a:rPr lang="en-US" altLang="en-US" dirty="0" err="1" smtClean="0"/>
              <a:t>typeless</a:t>
            </a:r>
            <a:endParaRPr lang="en-US" altLang="en-US" dirty="0" smtClean="0"/>
          </a:p>
          <a:p>
            <a:pPr lvl="2" eaLnBrk="1" hangingPunct="1"/>
            <a:r>
              <a:rPr lang="en-US" altLang="en-US" dirty="0" smtClean="0"/>
              <a:t>Meaning formal parameters can’t be type checked</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7805866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02A3240-5EBA-42E7-9136-BB59926CC27F}"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61444" name="Rectangle 3"/>
          <p:cNvSpPr>
            <a:spLocks noGrp="1" noChangeArrowheads="1"/>
          </p:cNvSpPr>
          <p:nvPr>
            <p:ph type="body" idx="1"/>
          </p:nvPr>
        </p:nvSpPr>
        <p:spPr>
          <a:xfrm>
            <a:off x="609600" y="1485298"/>
            <a:ext cx="8229600" cy="4572000"/>
          </a:xfrm>
        </p:spPr>
        <p:txBody>
          <a:bodyPr/>
          <a:lstStyle/>
          <a:p>
            <a:pPr eaLnBrk="1" hangingPunct="1">
              <a:lnSpc>
                <a:spcPct val="90000"/>
              </a:lnSpc>
              <a:defRPr/>
            </a:pPr>
            <a:r>
              <a:rPr lang="en-US" altLang="en-US" dirty="0" smtClean="0"/>
              <a:t>Formal array parameters in C and C++</a:t>
            </a:r>
          </a:p>
          <a:p>
            <a:pPr lvl="1" eaLnBrk="1" hangingPunct="1">
              <a:lnSpc>
                <a:spcPct val="90000"/>
              </a:lnSpc>
              <a:defRPr/>
            </a:pPr>
            <a:r>
              <a:rPr lang="en-US" altLang="en-US" dirty="0" smtClean="0"/>
              <a:t>Include sizes of all subscripts except the first</a:t>
            </a:r>
          </a:p>
          <a:p>
            <a:pPr lvl="1" eaLnBrk="1" hangingPunct="1">
              <a:lnSpc>
                <a:spcPct val="90000"/>
              </a:lnSpc>
              <a:defRPr/>
            </a:pPr>
            <a:r>
              <a:rPr lang="en-US" altLang="en-US" dirty="0" smtClean="0"/>
              <a:t>For example</a:t>
            </a:r>
            <a:endParaRPr lang="en-US" altLang="en-US" sz="2000" dirty="0" smtClean="0"/>
          </a:p>
          <a:p>
            <a:pPr eaLnBrk="1" hangingPunct="1">
              <a:lnSpc>
                <a:spcPct val="90000"/>
              </a:lnSpc>
              <a:buFontTx/>
              <a:buNone/>
              <a:defRPr/>
            </a:pPr>
            <a:endParaRPr lang="en-US" altLang="en-US" sz="500" dirty="0" smtClean="0">
              <a:latin typeface="Courier New" panose="02070309020205020404" pitchFamily="49" charset="0"/>
            </a:endParaRPr>
          </a:p>
          <a:p>
            <a:pPr eaLnBrk="1" hangingPunct="1">
              <a:lnSpc>
                <a:spcPct val="90000"/>
              </a:lnSpc>
              <a:buFontTx/>
              <a:buNone/>
              <a:defRPr/>
            </a:pPr>
            <a:r>
              <a:rPr lang="en-US" altLang="en-US" sz="1800" dirty="0" smtClean="0">
                <a:latin typeface="Courier New" panose="02070309020205020404" pitchFamily="49" charset="0"/>
              </a:rPr>
              <a:t>	     </a:t>
            </a:r>
            <a:r>
              <a:rPr lang="en-US" altLang="en-US" sz="1800" b="1" dirty="0" smtClean="0">
                <a:latin typeface="Courier New" panose="02070309020205020404" pitchFamily="49" charset="0"/>
              </a:rPr>
              <a:t>void</a:t>
            </a:r>
            <a:r>
              <a:rPr lang="en-US" altLang="en-US" sz="1800" dirty="0" smtClean="0">
                <a:latin typeface="Courier New" panose="02070309020205020404" pitchFamily="49" charset="0"/>
              </a:rPr>
              <a:t> fun(</a:t>
            </a:r>
            <a:r>
              <a:rPr lang="en-US" altLang="en-US" sz="1800" b="1" dirty="0" err="1" smtClean="0">
                <a:latin typeface="Courier New" panose="02070309020205020404" pitchFamily="49" charset="0"/>
              </a:rPr>
              <a:t>int</a:t>
            </a:r>
            <a:r>
              <a:rPr lang="en-US" altLang="en-US" sz="1800" dirty="0" smtClean="0">
                <a:latin typeface="Courier New" panose="02070309020205020404" pitchFamily="49" charset="0"/>
              </a:rPr>
              <a:t> matrix[][10]) { ... }</a:t>
            </a:r>
          </a:p>
          <a:p>
            <a:pPr eaLnBrk="1" hangingPunct="1">
              <a:lnSpc>
                <a:spcPct val="90000"/>
              </a:lnSpc>
              <a:buFontTx/>
              <a:buNone/>
              <a:defRPr/>
            </a:pPr>
            <a:endParaRPr lang="en-US" altLang="en-US" sz="500" dirty="0" smtClean="0">
              <a:latin typeface="Courier New" panose="02070309020205020404" pitchFamily="49" charset="0"/>
            </a:endParaRPr>
          </a:p>
          <a:p>
            <a:pPr eaLnBrk="1" hangingPunct="1">
              <a:lnSpc>
                <a:spcPct val="90000"/>
              </a:lnSpc>
              <a:defRPr/>
            </a:pPr>
            <a:r>
              <a:rPr lang="en-US" altLang="en-US" dirty="0" smtClean="0"/>
              <a:t>Disadvantage</a:t>
            </a:r>
          </a:p>
          <a:p>
            <a:pPr lvl="1" eaLnBrk="1" hangingPunct="1">
              <a:lnSpc>
                <a:spcPct val="90000"/>
              </a:lnSpc>
              <a:defRPr/>
            </a:pPr>
            <a:r>
              <a:rPr lang="en-US" altLang="en-US" dirty="0" smtClean="0"/>
              <a:t>Disallows writing flexible subprograms</a:t>
            </a:r>
          </a:p>
          <a:p>
            <a:pPr lvl="1" eaLnBrk="1" hangingPunct="1">
              <a:lnSpc>
                <a:spcPct val="90000"/>
              </a:lnSpc>
              <a:defRPr/>
            </a:pPr>
            <a:r>
              <a:rPr lang="en-US" altLang="en-US" dirty="0" smtClean="0"/>
              <a:t>The matrix above must have 10 columns</a:t>
            </a:r>
          </a:p>
        </p:txBody>
      </p:sp>
      <p:sp>
        <p:nvSpPr>
          <p:cNvPr id="77829" name="Rectangle 2"/>
          <p:cNvSpPr>
            <a:spLocks noGrp="1" noChangeArrowheads="1"/>
          </p:cNvSpPr>
          <p:nvPr>
            <p:ph type="title"/>
          </p:nvPr>
        </p:nvSpPr>
        <p:spPr/>
        <p:txBody>
          <a:bodyPr/>
          <a:lstStyle/>
          <a:p>
            <a:pPr eaLnBrk="1" hangingPunct="1"/>
            <a:r>
              <a:rPr lang="en-US" altLang="en-US" sz="3200" smtClean="0"/>
              <a:t>Multidimensional Arrays as Parameters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02A3240-5EBA-42E7-9136-BB59926CC27F}" type="slidenum">
              <a:rPr lang="en-US" altLang="en-US" sz="1000" smtClean="0">
                <a:solidFill>
                  <a:schemeClr val="tx1"/>
                </a:solidFill>
                <a:latin typeface="Arial" panose="020B0604020202020204" pitchFamily="34" charset="0"/>
              </a:rPr>
              <a:pPr>
                <a:spcBef>
                  <a:spcPct val="0"/>
                </a:spcBef>
                <a:buFontTx/>
                <a:buNone/>
              </a:pPr>
              <a:t>22</a:t>
            </a:fld>
            <a:endParaRPr lang="en-US" altLang="en-US" sz="1000" smtClean="0">
              <a:solidFill>
                <a:schemeClr val="tx1"/>
              </a:solidFill>
              <a:latin typeface="Arial" panose="020B0604020202020204" pitchFamily="34" charset="0"/>
            </a:endParaRPr>
          </a:p>
        </p:txBody>
      </p:sp>
      <p:sp>
        <p:nvSpPr>
          <p:cNvPr id="61444" name="Rectangle 3"/>
          <p:cNvSpPr>
            <a:spLocks noGrp="1" noChangeArrowheads="1"/>
          </p:cNvSpPr>
          <p:nvPr>
            <p:ph type="body" idx="1"/>
          </p:nvPr>
        </p:nvSpPr>
        <p:spPr>
          <a:xfrm>
            <a:off x="609600" y="1485298"/>
            <a:ext cx="8229600" cy="4572000"/>
          </a:xfrm>
        </p:spPr>
        <p:txBody>
          <a:bodyPr/>
          <a:lstStyle/>
          <a:p>
            <a:pPr eaLnBrk="1" hangingPunct="1">
              <a:lnSpc>
                <a:spcPct val="90000"/>
              </a:lnSpc>
              <a:defRPr/>
            </a:pPr>
            <a:r>
              <a:rPr lang="en-US" altLang="en-US" dirty="0" smtClean="0"/>
              <a:t>Solution</a:t>
            </a:r>
          </a:p>
          <a:p>
            <a:pPr lvl="1" eaLnBrk="1" hangingPunct="1">
              <a:lnSpc>
                <a:spcPct val="90000"/>
              </a:lnSpc>
              <a:defRPr/>
            </a:pPr>
            <a:r>
              <a:rPr lang="en-US" altLang="en-US" dirty="0" smtClean="0"/>
              <a:t>Pass array as a pointer</a:t>
            </a:r>
            <a:endParaRPr lang="en-US" altLang="en-US" dirty="0"/>
          </a:p>
          <a:p>
            <a:pPr lvl="1" eaLnBrk="1" hangingPunct="1">
              <a:lnSpc>
                <a:spcPct val="90000"/>
              </a:lnSpc>
              <a:defRPr/>
            </a:pPr>
            <a:r>
              <a:rPr lang="en-US" altLang="en-US" dirty="0" smtClean="0"/>
              <a:t>Pass dimension sizes as separate parameters</a:t>
            </a:r>
          </a:p>
          <a:p>
            <a:pPr lvl="1" eaLnBrk="1" hangingPunct="1">
              <a:lnSpc>
                <a:spcPct val="90000"/>
              </a:lnSpc>
              <a:defRPr/>
            </a:pPr>
            <a:r>
              <a:rPr lang="en-US" altLang="en-US" dirty="0" smtClean="0"/>
              <a:t>For example</a:t>
            </a:r>
          </a:p>
          <a:p>
            <a:pPr marL="457200" lvl="1" indent="0" eaLnBrk="1" hangingPunct="1">
              <a:lnSpc>
                <a:spcPct val="90000"/>
              </a:lnSpc>
              <a:buFontTx/>
              <a:buNone/>
              <a:defRPr/>
            </a:pPr>
            <a:endParaRPr lang="en-US" altLang="en-US" sz="500" dirty="0" smtClean="0">
              <a:latin typeface="Courier New" panose="02070309020205020404" pitchFamily="49" charset="0"/>
              <a:cs typeface="Courier New" panose="02070309020205020404" pitchFamily="49" charset="0"/>
            </a:endParaRPr>
          </a:p>
          <a:p>
            <a:pPr marL="457200" lvl="1" indent="0" eaLnBrk="1" hangingPunct="1">
              <a:lnSpc>
                <a:spcPct val="90000"/>
              </a:lnSpc>
              <a:buFontTx/>
              <a:buNone/>
              <a:defRPr/>
            </a:pPr>
            <a:r>
              <a:rPr lang="en-US" altLang="en-US" sz="1800" dirty="0" smtClean="0">
                <a:latin typeface="Courier New" panose="02070309020205020404" pitchFamily="49" charset="0"/>
                <a:cs typeface="Courier New" panose="02070309020205020404" pitchFamily="49" charset="0"/>
              </a:rPr>
              <a:t>	 </a:t>
            </a:r>
            <a:r>
              <a:rPr lang="en-US" altLang="en-US" sz="1800" b="1" dirty="0" smtClean="0">
                <a:latin typeface="Courier New" panose="02070309020205020404" pitchFamily="49" charset="0"/>
                <a:cs typeface="Courier New" panose="02070309020205020404" pitchFamily="49" charset="0"/>
              </a:rPr>
              <a:t>void</a:t>
            </a:r>
            <a:r>
              <a:rPr lang="en-US" altLang="en-US" sz="1800" dirty="0" smtClean="0">
                <a:latin typeface="Courier New" panose="02070309020205020404" pitchFamily="49" charset="0"/>
                <a:cs typeface="Courier New" panose="02070309020205020404" pitchFamily="49" charset="0"/>
              </a:rPr>
              <a:t> fun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*p,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numRows</a:t>
            </a:r>
            <a:r>
              <a:rPr lang="en-US" altLang="en-US" sz="1800"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numCols</a:t>
            </a:r>
            <a:r>
              <a:rPr lang="en-US" altLang="en-US" sz="1800" dirty="0" smtClean="0">
                <a:latin typeface="Courier New" panose="02070309020205020404" pitchFamily="49" charset="0"/>
                <a:cs typeface="Courier New" panose="02070309020205020404" pitchFamily="49" charset="0"/>
              </a:rPr>
              <a:t>) { ... }</a:t>
            </a:r>
          </a:p>
          <a:p>
            <a:pPr marL="457200" lvl="1" indent="0" eaLnBrk="1" hangingPunct="1">
              <a:lnSpc>
                <a:spcPct val="90000"/>
              </a:lnSpc>
              <a:buFontTx/>
              <a:buNone/>
              <a:defRPr/>
            </a:pPr>
            <a:endParaRPr lang="en-US" altLang="en-US" sz="500" dirty="0" smtClean="0">
              <a:latin typeface="Courier New" panose="02070309020205020404" pitchFamily="49" charset="0"/>
              <a:cs typeface="Courier New" panose="02070309020205020404" pitchFamily="49" charset="0"/>
            </a:endParaRPr>
          </a:p>
          <a:p>
            <a:pPr lvl="1" eaLnBrk="1" hangingPunct="1">
              <a:lnSpc>
                <a:spcPct val="90000"/>
              </a:lnSpc>
              <a:defRPr/>
            </a:pPr>
            <a:r>
              <a:rPr lang="en-US" altLang="en-US" dirty="0" smtClean="0"/>
              <a:t>Use pointer arithmetic to access array values</a:t>
            </a:r>
          </a:p>
          <a:p>
            <a:pPr lvl="1" eaLnBrk="1" hangingPunct="1">
              <a:lnSpc>
                <a:spcPct val="90000"/>
              </a:lnSpc>
              <a:defRPr/>
            </a:pPr>
            <a:r>
              <a:rPr lang="en-US" altLang="en-US" dirty="0" smtClean="0"/>
              <a:t>Disadvantages?</a:t>
            </a:r>
          </a:p>
        </p:txBody>
      </p:sp>
      <p:sp>
        <p:nvSpPr>
          <p:cNvPr id="77829" name="Rectangle 2"/>
          <p:cNvSpPr>
            <a:spLocks noGrp="1" noChangeArrowheads="1"/>
          </p:cNvSpPr>
          <p:nvPr>
            <p:ph type="title"/>
          </p:nvPr>
        </p:nvSpPr>
        <p:spPr/>
        <p:txBody>
          <a:bodyPr/>
          <a:lstStyle/>
          <a:p>
            <a:pPr eaLnBrk="1" hangingPunct="1"/>
            <a:r>
              <a:rPr lang="en-US" altLang="en-US" sz="3200" smtClean="0"/>
              <a:t>Multidimensional Arrays as Parameters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extLst>
      <p:ext uri="{BB962C8B-B14F-4D97-AF65-F5344CB8AC3E}">
        <p14:creationId xmlns:p14="http://schemas.microsoft.com/office/powerpoint/2010/main" val="18530102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F278717-764F-40A6-B1EF-0A626D4A10FF}" type="slidenum">
              <a:rPr lang="en-US" altLang="en-US" sz="1000" smtClean="0">
                <a:solidFill>
                  <a:schemeClr val="tx1"/>
                </a:solidFill>
                <a:latin typeface="Arial" panose="020B0604020202020204" pitchFamily="34" charset="0"/>
              </a:rPr>
              <a:pPr>
                <a:spcBef>
                  <a:spcPct val="0"/>
                </a:spcBef>
                <a:buFontTx/>
                <a:buNone/>
              </a:pPr>
              <a:t>23</a:t>
            </a:fld>
            <a:endParaRPr lang="en-US" altLang="en-US" sz="1000" smtClean="0">
              <a:solidFill>
                <a:schemeClr val="tx1"/>
              </a:solidFill>
              <a:latin typeface="Arial" panose="020B0604020202020204" pitchFamily="34" charset="0"/>
            </a:endParaRPr>
          </a:p>
        </p:txBody>
      </p:sp>
      <p:sp>
        <p:nvSpPr>
          <p:cNvPr id="79876" name="Rectangle 3"/>
          <p:cNvSpPr>
            <a:spLocks noGrp="1" noChangeArrowheads="1"/>
          </p:cNvSpPr>
          <p:nvPr>
            <p:ph type="body" idx="1"/>
          </p:nvPr>
        </p:nvSpPr>
        <p:spPr>
          <a:xfrm>
            <a:off x="609600" y="1458310"/>
            <a:ext cx="8153400" cy="4572000"/>
          </a:xfrm>
        </p:spPr>
        <p:txBody>
          <a:bodyPr/>
          <a:lstStyle/>
          <a:p>
            <a:pPr eaLnBrk="1" hangingPunct="1"/>
            <a:r>
              <a:rPr lang="en-US" altLang="en-US" dirty="0" smtClean="0"/>
              <a:t>In Java and C#</a:t>
            </a:r>
          </a:p>
          <a:p>
            <a:pPr lvl="1" eaLnBrk="1" hangingPunct="1"/>
            <a:r>
              <a:rPr lang="en-US" altLang="en-US" dirty="0" smtClean="0"/>
              <a:t>Arrays are objects</a:t>
            </a:r>
          </a:p>
          <a:p>
            <a:pPr lvl="2" eaLnBrk="1" hangingPunct="1"/>
            <a:r>
              <a:rPr lang="en-US" altLang="en-US" dirty="0" smtClean="0"/>
              <a:t>They are all single-dimensional</a:t>
            </a:r>
          </a:p>
          <a:p>
            <a:pPr lvl="2" eaLnBrk="1" hangingPunct="1"/>
            <a:r>
              <a:rPr lang="en-US" altLang="en-US" dirty="0" smtClean="0"/>
              <a:t>But, the elements can be arrays</a:t>
            </a:r>
          </a:p>
          <a:p>
            <a:pPr lvl="1" eaLnBrk="1" hangingPunct="1"/>
            <a:r>
              <a:rPr lang="en-US" altLang="en-US" dirty="0" smtClean="0"/>
              <a:t>Each array has a named constant</a:t>
            </a:r>
          </a:p>
          <a:p>
            <a:pPr lvl="2" eaLnBrk="1" hangingPunct="1"/>
            <a:r>
              <a:rPr lang="en-US" altLang="en-US" dirty="0" smtClean="0"/>
              <a:t>Set to the length of the array when array is created</a:t>
            </a:r>
          </a:p>
          <a:p>
            <a:pPr lvl="3" eaLnBrk="1" hangingPunct="1"/>
            <a:r>
              <a:rPr lang="en-US" altLang="en-US" dirty="0" smtClean="0"/>
              <a:t>Called </a:t>
            </a:r>
            <a:r>
              <a:rPr lang="en-US" altLang="en-US" dirty="0" smtClean="0">
                <a:latin typeface="Courier New" panose="02070309020205020404" pitchFamily="49" charset="0"/>
                <a:cs typeface="Courier New" panose="02070309020205020404" pitchFamily="49" charset="0"/>
              </a:rPr>
              <a:t>length</a:t>
            </a:r>
            <a:r>
              <a:rPr lang="en-US" altLang="en-US" dirty="0" smtClean="0"/>
              <a:t> in Java</a:t>
            </a:r>
          </a:p>
          <a:p>
            <a:pPr lvl="3" eaLnBrk="1" hangingPunct="1"/>
            <a:r>
              <a:rPr lang="en-US" altLang="en-US" dirty="0" smtClean="0"/>
              <a:t>Called </a:t>
            </a:r>
            <a:r>
              <a:rPr lang="en-US" altLang="en-US" dirty="0" smtClean="0">
                <a:latin typeface="Courier New" panose="02070309020205020404" pitchFamily="49" charset="0"/>
                <a:cs typeface="Courier New" panose="02070309020205020404" pitchFamily="49" charset="0"/>
              </a:rPr>
              <a:t>Length</a:t>
            </a:r>
            <a:r>
              <a:rPr lang="en-US" altLang="en-US" dirty="0" smtClean="0"/>
              <a:t> in C#</a:t>
            </a:r>
          </a:p>
          <a:p>
            <a:pPr lvl="2" eaLnBrk="1" hangingPunct="1"/>
            <a:r>
              <a:rPr lang="en-US" altLang="en-US" dirty="0" smtClean="0"/>
              <a:t>This means we can query an array to find its length</a:t>
            </a:r>
          </a:p>
          <a:p>
            <a:pPr lvl="2" eaLnBrk="1" hangingPunct="1"/>
            <a:r>
              <a:rPr lang="en-US" altLang="en-US" dirty="0" smtClean="0"/>
              <a:t>No sizes are specified in the formal parameters</a:t>
            </a:r>
          </a:p>
        </p:txBody>
      </p:sp>
      <p:sp>
        <p:nvSpPr>
          <p:cNvPr id="79877" name="Rectangle 2"/>
          <p:cNvSpPr>
            <a:spLocks noGrp="1" noChangeArrowheads="1"/>
          </p:cNvSpPr>
          <p:nvPr>
            <p:ph type="title"/>
          </p:nvPr>
        </p:nvSpPr>
        <p:spPr/>
        <p:txBody>
          <a:bodyPr/>
          <a:lstStyle/>
          <a:p>
            <a:pPr eaLnBrk="1" hangingPunct="1"/>
            <a:r>
              <a:rPr lang="en-US" altLang="en-US" sz="3200" smtClean="0"/>
              <a:t>Multidimensional Arrays as Parameters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r>
              <a:rPr lang="en-US" altLang="en-US" sz="3200" dirty="0" smtClean="0"/>
              <a:t>Calling Subprograms Indirectly</a:t>
            </a:r>
          </a:p>
        </p:txBody>
      </p:sp>
      <p:sp>
        <p:nvSpPr>
          <p:cNvPr id="75779" name="Content Placeholder 2"/>
          <p:cNvSpPr>
            <a:spLocks noGrp="1"/>
          </p:cNvSpPr>
          <p:nvPr>
            <p:ph idx="1"/>
          </p:nvPr>
        </p:nvSpPr>
        <p:spPr>
          <a:xfrm>
            <a:off x="609600" y="1458310"/>
            <a:ext cx="8153400" cy="4572000"/>
          </a:xfrm>
        </p:spPr>
        <p:txBody>
          <a:bodyPr/>
          <a:lstStyle/>
          <a:p>
            <a:pPr>
              <a:defRPr/>
            </a:pPr>
            <a:r>
              <a:rPr lang="en-US" altLang="en-US" dirty="0" smtClean="0"/>
              <a:t>Subprograms are called indirectly when</a:t>
            </a:r>
          </a:p>
          <a:p>
            <a:pPr lvl="1">
              <a:defRPr/>
            </a:pPr>
            <a:r>
              <a:rPr lang="en-US" altLang="en-US" dirty="0" smtClean="0"/>
              <a:t>There are several possible subprograms to call</a:t>
            </a:r>
          </a:p>
          <a:p>
            <a:pPr lvl="1">
              <a:defRPr/>
            </a:pPr>
            <a:r>
              <a:rPr lang="en-US" altLang="en-US" dirty="0" smtClean="0"/>
              <a:t>The correct one is not known until execution</a:t>
            </a:r>
          </a:p>
          <a:p>
            <a:pPr lvl="1">
              <a:defRPr/>
            </a:pPr>
            <a:r>
              <a:rPr lang="en-US" altLang="en-US" dirty="0" smtClean="0"/>
              <a:t>For example, during event handling</a:t>
            </a:r>
          </a:p>
          <a:p>
            <a:pPr>
              <a:defRPr/>
            </a:pPr>
            <a:r>
              <a:rPr lang="en-US" altLang="en-US" dirty="0" smtClean="0"/>
              <a:t>In C and C++</a:t>
            </a:r>
          </a:p>
          <a:p>
            <a:pPr lvl="1">
              <a:defRPr/>
            </a:pPr>
            <a:r>
              <a:rPr lang="en-US" altLang="en-US" dirty="0" smtClean="0"/>
              <a:t>Such calls are made through function pointers</a:t>
            </a:r>
          </a:p>
          <a:p>
            <a:pPr lvl="2">
              <a:defRPr/>
            </a:pPr>
            <a:r>
              <a:rPr lang="en-US" altLang="en-US" dirty="0" smtClean="0"/>
              <a:t>Pointer includes parameter and return types</a:t>
            </a:r>
          </a:p>
          <a:p>
            <a:pPr lvl="2">
              <a:defRPr/>
            </a:pPr>
            <a:r>
              <a:rPr lang="en-US" altLang="en-US" dirty="0" smtClean="0"/>
              <a:t>For example</a:t>
            </a:r>
          </a:p>
          <a:p>
            <a:pPr marL="914400" lvl="2" indent="0">
              <a:buFontTx/>
              <a:buNone/>
              <a:defRPr/>
            </a:pPr>
            <a:endParaRPr lang="en-US" altLang="en-US" sz="500" dirty="0"/>
          </a:p>
          <a:p>
            <a:pPr marL="914400" lvl="2" indent="0">
              <a:buFontTx/>
              <a:buNone/>
              <a:defRPr/>
            </a:pPr>
            <a:r>
              <a:rPr lang="en-US" altLang="en-US" sz="1800" dirty="0" smtClean="0">
                <a:latin typeface="Courier New" panose="02070309020205020404" pitchFamily="49" charset="0"/>
                <a:cs typeface="Courier New" panose="02070309020205020404" pitchFamily="49" charset="0"/>
              </a:rPr>
              <a:t>   </a:t>
            </a:r>
            <a:r>
              <a:rPr lang="en-US" altLang="en-US" sz="1800" b="1" dirty="0" smtClean="0">
                <a:latin typeface="Courier New" panose="02070309020205020404" pitchFamily="49" charset="0"/>
                <a:cs typeface="Courier New" panose="02070309020205020404" pitchFamily="49" charset="0"/>
              </a:rPr>
              <a:t>float</a:t>
            </a: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myFunc</a:t>
            </a:r>
            <a:r>
              <a:rPr lang="en-US" altLang="en-US" sz="1800" dirty="0" smtClean="0">
                <a:latin typeface="Courier New" panose="02070309020205020404" pitchFamily="49" charset="0"/>
                <a:cs typeface="Courier New" panose="02070309020205020404" pitchFamily="49" charset="0"/>
              </a:rPr>
              <a:t>(</a:t>
            </a:r>
            <a:r>
              <a:rPr lang="en-US" altLang="en-US" sz="1800" b="1" dirty="0" smtClean="0">
                <a:latin typeface="Courier New" panose="02070309020205020404" pitchFamily="49" charset="0"/>
                <a:cs typeface="Courier New" panose="02070309020205020404" pitchFamily="49" charset="0"/>
              </a:rPr>
              <a:t>float</a:t>
            </a:r>
            <a:r>
              <a:rPr lang="en-US" altLang="en-US" sz="1800" dirty="0" smtClean="0">
                <a:latin typeface="Courier New" panose="02070309020205020404" pitchFamily="49" charset="0"/>
                <a:cs typeface="Courier New" panose="02070309020205020404" pitchFamily="49" charset="0"/>
              </a:rPr>
              <a:t> a,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b) { ... }</a:t>
            </a:r>
          </a:p>
          <a:p>
            <a:pPr marL="914400" lvl="2" indent="0">
              <a:buFontTx/>
              <a:buNone/>
              <a:defRPr/>
            </a:pPr>
            <a:endParaRPr lang="en-US" altLang="en-US" sz="1000" dirty="0" smtClean="0">
              <a:latin typeface="Courier New" panose="02070309020205020404" pitchFamily="49" charset="0"/>
              <a:cs typeface="Courier New" panose="02070309020205020404" pitchFamily="49" charset="0"/>
            </a:endParaRPr>
          </a:p>
          <a:p>
            <a:pPr marL="914400" lvl="2" indent="0">
              <a:buFontTx/>
              <a:buNone/>
              <a:defRPr/>
            </a:pPr>
            <a:r>
              <a:rPr lang="en-US" altLang="en-US" sz="1800" dirty="0" smtClean="0">
                <a:latin typeface="Courier New" panose="02070309020205020404" pitchFamily="49" charset="0"/>
                <a:cs typeface="Courier New" panose="02070309020205020404" pitchFamily="49" charset="0"/>
              </a:rPr>
              <a:t>   </a:t>
            </a:r>
            <a:r>
              <a:rPr lang="en-US" altLang="en-US" sz="1800" b="1" dirty="0" smtClean="0">
                <a:latin typeface="Courier New" panose="02070309020205020404" pitchFamily="49" charset="0"/>
                <a:cs typeface="Courier New" panose="02070309020205020404" pitchFamily="49" charset="0"/>
              </a:rPr>
              <a:t>float</a:t>
            </a:r>
            <a:r>
              <a:rPr lang="en-US" altLang="en-US" sz="1800" dirty="0" smtClean="0">
                <a:latin typeface="Courier New" panose="02070309020205020404" pitchFamily="49" charset="0"/>
                <a:cs typeface="Courier New" panose="02070309020205020404" pitchFamily="49" charset="0"/>
              </a:rPr>
              <a:t> (*</a:t>
            </a:r>
            <a:r>
              <a:rPr lang="en-US" altLang="en-US" sz="1800" dirty="0" err="1">
                <a:latin typeface="Courier New" panose="02070309020205020404" pitchFamily="49" charset="0"/>
                <a:cs typeface="Courier New" panose="02070309020205020404" pitchFamily="49" charset="0"/>
              </a:rPr>
              <a:t>p</a:t>
            </a:r>
            <a:r>
              <a:rPr lang="en-US" altLang="en-US" sz="1800" dirty="0" err="1" smtClean="0">
                <a:latin typeface="Courier New" panose="02070309020205020404" pitchFamily="49" charset="0"/>
                <a:cs typeface="Courier New" panose="02070309020205020404" pitchFamily="49" charset="0"/>
              </a:rPr>
              <a:t>tr</a:t>
            </a:r>
            <a:r>
              <a:rPr lang="en-US" altLang="en-US" sz="1800" dirty="0" smtClean="0">
                <a:latin typeface="Courier New" panose="02070309020205020404" pitchFamily="49" charset="0"/>
                <a:cs typeface="Courier New" panose="02070309020205020404" pitchFamily="49" charset="0"/>
              </a:rPr>
              <a:t>)(</a:t>
            </a:r>
            <a:r>
              <a:rPr lang="en-US" altLang="en-US" sz="1800" b="1" dirty="0" smtClean="0">
                <a:latin typeface="Courier New" panose="02070309020205020404" pitchFamily="49" charset="0"/>
                <a:cs typeface="Courier New" panose="02070309020205020404" pitchFamily="49" charset="0"/>
              </a:rPr>
              <a:t>float</a:t>
            </a:r>
            <a:r>
              <a:rPr lang="en-US" altLang="en-US" sz="1800" dirty="0" smtClean="0">
                <a:latin typeface="Courier New" panose="02070309020205020404" pitchFamily="49" charset="0"/>
                <a:cs typeface="Courier New" panose="02070309020205020404" pitchFamily="49" charset="0"/>
              </a:rPr>
              <a:t>, </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 </a:t>
            </a:r>
            <a:r>
              <a:rPr lang="en-US" altLang="en-US" sz="1800" dirty="0" err="1" smtClean="0">
                <a:latin typeface="Courier New" panose="02070309020205020404" pitchFamily="49" charset="0"/>
                <a:cs typeface="Courier New" panose="02070309020205020404" pitchFamily="49" charset="0"/>
              </a:rPr>
              <a:t>myFunc</a:t>
            </a:r>
            <a:r>
              <a:rPr lang="en-US" altLang="en-US" sz="1800" dirty="0" smtClean="0">
                <a:latin typeface="Courier New" panose="02070309020205020404" pitchFamily="49" charset="0"/>
                <a:cs typeface="Courier New" panose="02070309020205020404" pitchFamily="49" charset="0"/>
              </a:rPr>
              <a:t>;</a:t>
            </a:r>
          </a:p>
          <a:p>
            <a:pPr marL="914400" lvl="2" indent="0">
              <a:buFontTx/>
              <a:buNone/>
              <a:defRPr/>
            </a:pPr>
            <a:r>
              <a:rPr lang="en-US" altLang="en-US" sz="1800" dirty="0">
                <a:latin typeface="Courier New" panose="02070309020205020404" pitchFamily="49" charset="0"/>
                <a:cs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ptr</a:t>
            </a:r>
            <a:r>
              <a:rPr lang="en-US" altLang="en-US" sz="1800" dirty="0" smtClean="0">
                <a:latin typeface="Courier New" panose="02070309020205020404" pitchFamily="49" charset="0"/>
                <a:cs typeface="Courier New" panose="02070309020205020404" pitchFamily="49" charset="0"/>
              </a:rPr>
              <a:t>(1.8, 3);</a:t>
            </a:r>
          </a:p>
        </p:txBody>
      </p:sp>
      <p:sp>
        <p:nvSpPr>
          <p:cNvPr id="8397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512B87A-6EB0-406E-9E5B-C4717FCC35AA}" type="slidenum">
              <a:rPr lang="en-US" altLang="en-US" sz="1000" smtClean="0">
                <a:solidFill>
                  <a:schemeClr val="tx1"/>
                </a:solidFill>
                <a:latin typeface="Arial" panose="020B0604020202020204" pitchFamily="34" charset="0"/>
              </a:rPr>
              <a:pPr>
                <a:spcBef>
                  <a:spcPct val="0"/>
                </a:spcBef>
                <a:buFontTx/>
                <a:buNone/>
              </a:pPr>
              <a:t>24</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r>
              <a:rPr lang="en-US" altLang="en-US" sz="3200" smtClean="0"/>
              <a:t>Calling Subprograms Indirectly</a:t>
            </a:r>
            <a:endParaRPr lang="en-US" altLang="en-US" sz="2000" smtClean="0"/>
          </a:p>
        </p:txBody>
      </p:sp>
      <p:sp>
        <p:nvSpPr>
          <p:cNvPr id="76803" name="Content Placeholder 2"/>
          <p:cNvSpPr>
            <a:spLocks noGrp="1"/>
          </p:cNvSpPr>
          <p:nvPr>
            <p:ph idx="1"/>
          </p:nvPr>
        </p:nvSpPr>
        <p:spPr>
          <a:xfrm>
            <a:off x="609600" y="1458310"/>
            <a:ext cx="8153400" cy="5029200"/>
          </a:xfrm>
        </p:spPr>
        <p:txBody>
          <a:bodyPr/>
          <a:lstStyle/>
          <a:p>
            <a:pPr>
              <a:defRPr/>
            </a:pPr>
            <a:r>
              <a:rPr lang="en-US" altLang="en-US" dirty="0" smtClean="0"/>
              <a:t>In C# method pointers are possible</a:t>
            </a:r>
          </a:p>
          <a:p>
            <a:pPr lvl="1">
              <a:defRPr/>
            </a:pPr>
            <a:r>
              <a:rPr lang="en-US" altLang="en-US" dirty="0" smtClean="0"/>
              <a:t>Implemented as objects called </a:t>
            </a:r>
            <a:r>
              <a:rPr lang="en-US" altLang="en-US" u="sng" dirty="0" smtClean="0"/>
              <a:t>delegates</a:t>
            </a:r>
            <a:endParaRPr lang="en-US" altLang="en-US" sz="500" dirty="0" smtClean="0">
              <a:latin typeface="Courier New" panose="02070309020205020404" pitchFamily="49" charset="0"/>
              <a:cs typeface="Courier New" panose="02070309020205020404" pitchFamily="49" charset="0"/>
            </a:endParaRPr>
          </a:p>
          <a:p>
            <a:pPr lvl="2">
              <a:defRPr/>
            </a:pPr>
            <a:r>
              <a:rPr lang="en-US" altLang="en-US" dirty="0" smtClean="0"/>
              <a:t>Declaring a delegate type named </a:t>
            </a:r>
            <a:r>
              <a:rPr lang="en-US" altLang="en-US" sz="2000" dirty="0" smtClean="0">
                <a:latin typeface="Courier New" panose="02070309020205020404" pitchFamily="49" charset="0"/>
                <a:cs typeface="Courier New" panose="02070309020205020404" pitchFamily="49" charset="0"/>
              </a:rPr>
              <a:t>Change</a:t>
            </a:r>
          </a:p>
          <a:p>
            <a:pPr marL="914400" lvl="2" indent="0">
              <a:buFontTx/>
              <a:buNone/>
              <a:defRPr/>
            </a:pPr>
            <a:r>
              <a:rPr lang="en-US" altLang="en-US" sz="1800" b="1" dirty="0" smtClean="0">
                <a:latin typeface="Courier New" panose="02070309020205020404" pitchFamily="49" charset="0"/>
                <a:cs typeface="Courier New" panose="02070309020205020404" pitchFamily="49" charset="0"/>
              </a:rPr>
              <a:t>     public delegate </a:t>
            </a:r>
            <a:r>
              <a:rPr lang="en-US" altLang="en-US" sz="1800" b="1" dirty="0" err="1" smtClean="0">
                <a:latin typeface="Courier New" panose="02070309020205020404" pitchFamily="49" charset="0"/>
                <a:cs typeface="Courier New" panose="02070309020205020404" pitchFamily="49" charset="0"/>
              </a:rPr>
              <a:t>int</a:t>
            </a:r>
            <a:r>
              <a:rPr lang="en-US" altLang="en-US" sz="1800" b="1" dirty="0" smtClean="0">
                <a:latin typeface="Courier New" panose="02070309020205020404" pitchFamily="49" charset="0"/>
                <a:cs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Change(</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x);</a:t>
            </a:r>
          </a:p>
          <a:p>
            <a:pPr marL="914400" lvl="2" indent="0">
              <a:buFontTx/>
              <a:buNone/>
              <a:defRPr/>
            </a:pPr>
            <a:endParaRPr lang="en-US" altLang="en-US" sz="500" dirty="0" smtClean="0">
              <a:latin typeface="Courier New" panose="02070309020205020404" pitchFamily="49" charset="0"/>
              <a:cs typeface="Courier New" panose="02070309020205020404" pitchFamily="49" charset="0"/>
            </a:endParaRPr>
          </a:p>
          <a:p>
            <a:pPr lvl="2">
              <a:defRPr/>
            </a:pPr>
            <a:r>
              <a:rPr lang="en-US" altLang="en-US" dirty="0" smtClean="0"/>
              <a:t>A delegate object is instantiated with method that has the appropriate protocol</a:t>
            </a:r>
          </a:p>
          <a:p>
            <a:pPr marL="914400" lvl="2" indent="0">
              <a:buFontTx/>
              <a:buNone/>
              <a:defRPr/>
            </a:pPr>
            <a:r>
              <a:rPr lang="en-US" altLang="en-US" sz="1800" b="1" dirty="0" smtClean="0">
                <a:latin typeface="Courier New" panose="02070309020205020404" pitchFamily="49" charset="0"/>
                <a:cs typeface="Courier New" panose="02070309020205020404" pitchFamily="49" charset="0"/>
              </a:rPr>
              <a:t>     static </a:t>
            </a:r>
            <a:r>
              <a:rPr lang="en-US" altLang="en-US" sz="1800" b="1" dirty="0" err="1" smtClean="0">
                <a:latin typeface="Courier New" panose="02070309020205020404" pitchFamily="49" charset="0"/>
                <a:cs typeface="Courier New" panose="02070309020205020404" pitchFamily="49" charset="0"/>
              </a:rPr>
              <a:t>int</a:t>
            </a:r>
            <a:r>
              <a:rPr lang="en-US" altLang="en-US" sz="1800" b="1" dirty="0" smtClean="0">
                <a:latin typeface="Courier New" panose="02070309020205020404" pitchFamily="49" charset="0"/>
                <a:cs typeface="Courier New" panose="02070309020205020404" pitchFamily="49" charset="0"/>
              </a:rPr>
              <a:t> </a:t>
            </a:r>
            <a:r>
              <a:rPr lang="en-US" altLang="en-US" sz="1800" dirty="0">
                <a:latin typeface="Courier New" panose="02070309020205020404" pitchFamily="49" charset="0"/>
                <a:cs typeface="Courier New" panose="02070309020205020404" pitchFamily="49" charset="0"/>
              </a:rPr>
              <a:t>m</a:t>
            </a:r>
            <a:r>
              <a:rPr lang="en-US" altLang="en-US" sz="1800" dirty="0" smtClean="0">
                <a:latin typeface="Courier New" panose="02070309020205020404" pitchFamily="49" charset="0"/>
                <a:cs typeface="Courier New" panose="02070309020205020404" pitchFamily="49" charset="0"/>
              </a:rPr>
              <a:t>1(</a:t>
            </a:r>
            <a:r>
              <a:rPr lang="en-US" altLang="en-US" sz="1800" b="1" dirty="0" err="1" smtClean="0">
                <a:latin typeface="Courier New" panose="02070309020205020404" pitchFamily="49" charset="0"/>
                <a:cs typeface="Courier New" panose="02070309020205020404" pitchFamily="49" charset="0"/>
              </a:rPr>
              <a:t>int</a:t>
            </a:r>
            <a:r>
              <a:rPr lang="en-US" altLang="en-US" sz="1800" dirty="0" smtClean="0">
                <a:latin typeface="Courier New" panose="02070309020205020404" pitchFamily="49" charset="0"/>
                <a:cs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x) { ... }</a:t>
            </a:r>
          </a:p>
          <a:p>
            <a:pPr marL="914400" lvl="2" indent="0">
              <a:buFontTx/>
              <a:buNone/>
              <a:defRPr/>
            </a:pPr>
            <a:r>
              <a:rPr lang="en-US" altLang="en-US" sz="1800" dirty="0" smtClean="0">
                <a:latin typeface="Courier New" panose="02070309020205020404" pitchFamily="49" charset="0"/>
                <a:cs typeface="Courier New" panose="02070309020205020404" pitchFamily="49" charset="0"/>
              </a:rPr>
              <a:t>     Change </a:t>
            </a:r>
            <a:r>
              <a:rPr lang="en-US" altLang="en-US" sz="1800" dirty="0" err="1" smtClean="0">
                <a:latin typeface="Courier New" panose="02070309020205020404" pitchFamily="49" charset="0"/>
                <a:cs typeface="Courier New" panose="02070309020205020404" pitchFamily="49" charset="0"/>
              </a:rPr>
              <a:t>myChangeFunction</a:t>
            </a:r>
            <a:r>
              <a:rPr lang="en-US" altLang="en-US" sz="1800" dirty="0" smtClean="0">
                <a:latin typeface="Courier New" panose="02070309020205020404" pitchFamily="49" charset="0"/>
                <a:cs typeface="Courier New" panose="02070309020205020404" pitchFamily="49" charset="0"/>
              </a:rPr>
              <a:t> = </a:t>
            </a:r>
            <a:r>
              <a:rPr lang="en-US" altLang="en-US" sz="1800" b="1" dirty="0" smtClean="0">
                <a:latin typeface="Courier New" panose="02070309020205020404" pitchFamily="49" charset="0"/>
                <a:cs typeface="Courier New" panose="02070309020205020404" pitchFamily="49" charset="0"/>
              </a:rPr>
              <a:t>new</a:t>
            </a:r>
            <a:r>
              <a:rPr lang="en-US" altLang="en-US" sz="1800" dirty="0" smtClean="0">
                <a:latin typeface="Courier New" panose="02070309020205020404" pitchFamily="49" charset="0"/>
                <a:cs typeface="Courier New" panose="02070309020205020404" pitchFamily="49" charset="0"/>
              </a:rPr>
              <a:t> </a:t>
            </a:r>
            <a:r>
              <a:rPr lang="en-US" altLang="en-US" sz="1800" dirty="0" smtClean="0">
                <a:latin typeface="Courier New" panose="02070309020205020404" pitchFamily="49" charset="0"/>
                <a:cs typeface="Courier New" panose="02070309020205020404" pitchFamily="49" charset="0"/>
              </a:rPr>
              <a:t>Change(m1</a:t>
            </a:r>
            <a:r>
              <a:rPr lang="en-US" altLang="en-US" sz="1800" dirty="0" smtClean="0">
                <a:latin typeface="Courier New" panose="02070309020205020404" pitchFamily="49" charset="0"/>
                <a:cs typeface="Courier New" panose="02070309020205020404" pitchFamily="49" charset="0"/>
              </a:rPr>
              <a:t>);</a:t>
            </a:r>
          </a:p>
          <a:p>
            <a:pPr marL="914400" lvl="2" indent="0">
              <a:buFontTx/>
              <a:buNone/>
              <a:defRPr/>
            </a:pP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myChangeFunction</a:t>
            </a:r>
            <a:r>
              <a:rPr lang="en-US" altLang="en-US" sz="1800" dirty="0" smtClean="0">
                <a:latin typeface="Courier New" panose="02070309020205020404" pitchFamily="49" charset="0"/>
                <a:cs typeface="Courier New" panose="02070309020205020404" pitchFamily="49" charset="0"/>
              </a:rPr>
              <a:t>(12);</a:t>
            </a:r>
          </a:p>
          <a:p>
            <a:pPr lvl="1">
              <a:defRPr/>
            </a:pPr>
            <a:r>
              <a:rPr lang="en-US" altLang="en-US" u="sng" dirty="0"/>
              <a:t>M</a:t>
            </a:r>
            <a:r>
              <a:rPr lang="en-US" altLang="en-US" u="sng" dirty="0" smtClean="0"/>
              <a:t>ulticast delegates</a:t>
            </a:r>
            <a:endParaRPr lang="en-US" altLang="en-US" dirty="0"/>
          </a:p>
          <a:p>
            <a:pPr lvl="2">
              <a:defRPr/>
            </a:pPr>
            <a:r>
              <a:rPr lang="en-US" altLang="en-US" dirty="0" smtClean="0"/>
              <a:t>Store several method pointers, run in sequence</a:t>
            </a:r>
          </a:p>
          <a:p>
            <a:pPr marL="914400" lvl="2" indent="0">
              <a:buFontTx/>
              <a:buNone/>
              <a:defRPr/>
            </a:pPr>
            <a:r>
              <a:rPr lang="en-US" altLang="en-US" sz="1800" dirty="0" smtClean="0">
                <a:latin typeface="Courier New" panose="02070309020205020404" pitchFamily="49" charset="0"/>
                <a:cs typeface="Courier New" panose="02070309020205020404" pitchFamily="49" charset="0"/>
              </a:rPr>
              <a:t>     </a:t>
            </a:r>
            <a:r>
              <a:rPr lang="en-US" altLang="en-US" sz="1800" dirty="0" err="1" smtClean="0">
                <a:latin typeface="Courier New" panose="02070309020205020404" pitchFamily="49" charset="0"/>
                <a:cs typeface="Courier New" panose="02070309020205020404" pitchFamily="49" charset="0"/>
              </a:rPr>
              <a:t>myChangeFunction</a:t>
            </a:r>
            <a:r>
              <a:rPr lang="en-US" altLang="en-US" sz="1800" dirty="0" smtClean="0">
                <a:latin typeface="Courier New" panose="02070309020205020404" pitchFamily="49" charset="0"/>
                <a:cs typeface="Courier New" panose="02070309020205020404" pitchFamily="49" charset="0"/>
              </a:rPr>
              <a:t> += fun2;</a:t>
            </a:r>
            <a:endParaRPr lang="en-US" altLang="en-US" sz="1800" dirty="0" smtClean="0"/>
          </a:p>
        </p:txBody>
      </p:sp>
      <p:sp>
        <p:nvSpPr>
          <p:cNvPr id="8602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EC22C2B-9B8F-4D1F-85F9-CB4E921AA57F}" type="slidenum">
              <a:rPr lang="en-US" altLang="en-US" sz="1000" smtClean="0">
                <a:solidFill>
                  <a:schemeClr val="tx1"/>
                </a:solidFill>
                <a:latin typeface="Arial" panose="020B0604020202020204" pitchFamily="34" charset="0"/>
              </a:rPr>
              <a:pPr>
                <a:spcBef>
                  <a:spcPct val="0"/>
                </a:spcBef>
                <a:buFontTx/>
                <a:buNone/>
              </a:pPr>
              <a:t>25</a:t>
            </a:fld>
            <a:endParaRPr lang="en-US" altLang="en-US" sz="1000" smtClean="0">
              <a:solidFill>
                <a:schemeClr val="tx1"/>
              </a:solidFill>
              <a:latin typeface="Arial" panose="020B0604020202020204" pitchFamily="34" charset="0"/>
            </a:endParaRP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6402F3E-98C3-4D10-B430-EF671F48CCB7}" type="slidenum">
              <a:rPr lang="en-US" altLang="en-US" sz="1000" smtClean="0">
                <a:solidFill>
                  <a:schemeClr val="tx1"/>
                </a:solidFill>
                <a:latin typeface="Arial" panose="020B0604020202020204" pitchFamily="34" charset="0"/>
              </a:rPr>
              <a:pPr>
                <a:spcBef>
                  <a:spcPct val="0"/>
                </a:spcBef>
                <a:buFontTx/>
                <a:buNone/>
              </a:pPr>
              <a:t>26</a:t>
            </a:fld>
            <a:endParaRPr lang="en-US" altLang="en-US" sz="1000" smtClean="0">
              <a:solidFill>
                <a:schemeClr val="tx1"/>
              </a:solidFill>
              <a:latin typeface="Arial" panose="020B0604020202020204" pitchFamily="34" charset="0"/>
            </a:endParaRPr>
          </a:p>
        </p:txBody>
      </p:sp>
      <p:sp>
        <p:nvSpPr>
          <p:cNvPr id="88068" name="Rectangle 2"/>
          <p:cNvSpPr>
            <a:spLocks noGrp="1" noChangeArrowheads="1"/>
          </p:cNvSpPr>
          <p:nvPr>
            <p:ph type="title"/>
          </p:nvPr>
        </p:nvSpPr>
        <p:spPr>
          <a:xfrm>
            <a:off x="533400" y="381000"/>
            <a:ext cx="8153400" cy="1143000"/>
          </a:xfrm>
        </p:spPr>
        <p:txBody>
          <a:bodyPr/>
          <a:lstStyle/>
          <a:p>
            <a:pPr eaLnBrk="1" hangingPunct="1"/>
            <a:r>
              <a:rPr lang="en-US" altLang="en-US" sz="3200" smtClean="0"/>
              <a:t>Parameters that are Subprogram Names</a:t>
            </a:r>
          </a:p>
        </p:txBody>
      </p:sp>
      <p:sp>
        <p:nvSpPr>
          <p:cNvPr id="88069" name="Rectangle 3"/>
          <p:cNvSpPr>
            <a:spLocks noGrp="1" noChangeArrowheads="1"/>
          </p:cNvSpPr>
          <p:nvPr>
            <p:ph type="body" idx="1"/>
          </p:nvPr>
        </p:nvSpPr>
        <p:spPr>
          <a:xfrm>
            <a:off x="609600" y="1458310"/>
            <a:ext cx="8153400" cy="4572000"/>
          </a:xfrm>
        </p:spPr>
        <p:txBody>
          <a:bodyPr/>
          <a:lstStyle/>
          <a:p>
            <a:pPr marL="457200" indent="-457200" eaLnBrk="1" hangingPunct="1"/>
            <a:r>
              <a:rPr lang="en-US" altLang="en-US" dirty="0" smtClean="0"/>
              <a:t>It is sometimes convenient to</a:t>
            </a:r>
          </a:p>
          <a:p>
            <a:pPr marL="857250" lvl="1" indent="-457200" eaLnBrk="1" hangingPunct="1"/>
            <a:r>
              <a:rPr lang="en-US" altLang="en-US" dirty="0" smtClean="0"/>
              <a:t>Pass subprogram names as parameters</a:t>
            </a:r>
          </a:p>
          <a:p>
            <a:pPr marL="857250" lvl="1" indent="-457200" eaLnBrk="1" hangingPunct="1"/>
            <a:r>
              <a:rPr lang="en-US" altLang="en-US" dirty="0" smtClean="0"/>
              <a:t>Requires a way to call a subprogram indirectly</a:t>
            </a:r>
          </a:p>
          <a:p>
            <a:pPr marL="857250" lvl="1" indent="-457200" eaLnBrk="1" hangingPunct="1"/>
            <a:r>
              <a:rPr lang="en-US" altLang="en-US" dirty="0" smtClean="0"/>
              <a:t>Two issues</a:t>
            </a:r>
          </a:p>
          <a:p>
            <a:pPr marL="1238250" lvl="2" indent="-381000" eaLnBrk="1" hangingPunct="1">
              <a:buFontTx/>
              <a:buAutoNum type="arabicPeriod"/>
            </a:pPr>
            <a:r>
              <a:rPr lang="en-US" altLang="en-US" dirty="0" smtClean="0"/>
              <a:t>Are parameter types checked?</a:t>
            </a:r>
          </a:p>
          <a:p>
            <a:pPr marL="1238250" lvl="2" indent="-381000" eaLnBrk="1" hangingPunct="1">
              <a:buFontTx/>
              <a:buAutoNum type="arabicPeriod"/>
            </a:pPr>
            <a:r>
              <a:rPr lang="en-US" altLang="en-US" dirty="0" smtClean="0"/>
              <a:t>Referencing environment for passed subprogram?</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ED8517D1-9FD8-47A6-922D-E758C97FBCA9}" type="slidenum">
              <a:rPr lang="en-US" altLang="en-US" sz="1000" smtClean="0">
                <a:solidFill>
                  <a:schemeClr val="tx1"/>
                </a:solidFill>
                <a:latin typeface="Arial" panose="020B0604020202020204" pitchFamily="34" charset="0"/>
              </a:rPr>
              <a:pPr>
                <a:spcBef>
                  <a:spcPct val="0"/>
                </a:spcBef>
                <a:buFontTx/>
                <a:buNone/>
              </a:pPr>
              <a:t>27</a:t>
            </a:fld>
            <a:endParaRPr lang="en-US" altLang="en-US" sz="1000" smtClean="0">
              <a:solidFill>
                <a:schemeClr val="tx1"/>
              </a:solidFill>
              <a:latin typeface="Arial" panose="020B0604020202020204" pitchFamily="34" charset="0"/>
            </a:endParaRPr>
          </a:p>
        </p:txBody>
      </p:sp>
      <p:sp>
        <p:nvSpPr>
          <p:cNvPr id="90116" name="Rectangle 2"/>
          <p:cNvSpPr>
            <a:spLocks noGrp="1" noChangeArrowheads="1"/>
          </p:cNvSpPr>
          <p:nvPr>
            <p:ph type="title"/>
          </p:nvPr>
        </p:nvSpPr>
        <p:spPr>
          <a:xfrm>
            <a:off x="609600" y="152400"/>
            <a:ext cx="8153400" cy="1143000"/>
          </a:xfrm>
        </p:spPr>
        <p:txBody>
          <a:bodyPr/>
          <a:lstStyle/>
          <a:p>
            <a:pPr eaLnBrk="1" hangingPunct="1"/>
            <a:r>
              <a:rPr lang="en-US" altLang="en-US" sz="2800" smtClean="0"/>
              <a:t>Parameters that are Subprogram Names: Parameter Type Checking</a:t>
            </a:r>
          </a:p>
        </p:txBody>
      </p:sp>
      <p:sp>
        <p:nvSpPr>
          <p:cNvPr id="90117" name="Rectangle 3"/>
          <p:cNvSpPr>
            <a:spLocks noGrp="1" noChangeArrowheads="1"/>
          </p:cNvSpPr>
          <p:nvPr>
            <p:ph type="body" idx="1"/>
          </p:nvPr>
        </p:nvSpPr>
        <p:spPr>
          <a:xfrm>
            <a:off x="606645" y="1458310"/>
            <a:ext cx="8353425" cy="4572000"/>
          </a:xfrm>
        </p:spPr>
        <p:txBody>
          <a:bodyPr/>
          <a:lstStyle/>
          <a:p>
            <a:pPr marL="533400" indent="-533400" eaLnBrk="1" hangingPunct="1"/>
            <a:r>
              <a:rPr lang="en-US" altLang="en-US" dirty="0" smtClean="0"/>
              <a:t>C and C++</a:t>
            </a:r>
          </a:p>
          <a:p>
            <a:pPr marL="933450" lvl="1" indent="-533400" eaLnBrk="1" hangingPunct="1"/>
            <a:r>
              <a:rPr lang="en-US" altLang="en-US" dirty="0" smtClean="0"/>
              <a:t>Function pointers passed as parameters</a:t>
            </a:r>
          </a:p>
          <a:p>
            <a:pPr marL="933450" lvl="1" indent="-533400" eaLnBrk="1" hangingPunct="1"/>
            <a:r>
              <a:rPr lang="en-US" altLang="en-US" dirty="0"/>
              <a:t>A</a:t>
            </a:r>
            <a:r>
              <a:rPr lang="en-US" altLang="en-US" dirty="0" smtClean="0"/>
              <a:t>llows parameters to be type checked (why?)</a:t>
            </a:r>
          </a:p>
          <a:p>
            <a:pPr marL="533400" indent="-533400" eaLnBrk="1" hangingPunct="1"/>
            <a:r>
              <a:rPr lang="en-US" altLang="en-US" dirty="0" smtClean="0"/>
              <a:t>FORTRAN 95</a:t>
            </a:r>
          </a:p>
          <a:p>
            <a:pPr marL="933450" lvl="1" indent="-533400" eaLnBrk="1" hangingPunct="1"/>
            <a:r>
              <a:rPr lang="en-US" altLang="en-US" dirty="0" smtClean="0"/>
              <a:t>Allows subprograms to be passed as parameters</a:t>
            </a:r>
          </a:p>
          <a:p>
            <a:pPr marL="933450" lvl="1" indent="-533400" eaLnBrk="1" hangingPunct="1"/>
            <a:r>
              <a:rPr lang="en-US" altLang="en-US" dirty="0" smtClean="0"/>
              <a:t>Type checks parameters</a:t>
            </a:r>
          </a:p>
          <a:p>
            <a:pPr marL="533400" indent="-533400" eaLnBrk="1" hangingPunct="1"/>
            <a:r>
              <a:rPr lang="en-US" altLang="en-US" dirty="0" smtClean="0"/>
              <a:t>Java</a:t>
            </a:r>
          </a:p>
          <a:p>
            <a:pPr marL="933450" lvl="1" indent="-533400" eaLnBrk="1" hangingPunct="1"/>
            <a:r>
              <a:rPr lang="en-US" altLang="en-US" dirty="0" smtClean="0"/>
              <a:t>Doesn’t allow parameters that are subprograms</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1E17F59-13B8-479B-9AC1-85A468765B0D}" type="slidenum">
              <a:rPr lang="en-US" altLang="en-US" sz="1000" smtClean="0">
                <a:solidFill>
                  <a:schemeClr val="tx1"/>
                </a:solidFill>
                <a:latin typeface="Arial" panose="020B0604020202020204" pitchFamily="34" charset="0"/>
              </a:rPr>
              <a:pPr>
                <a:spcBef>
                  <a:spcPct val="0"/>
                </a:spcBef>
                <a:buFontTx/>
                <a:buNone/>
              </a:pPr>
              <a:t>28</a:t>
            </a:fld>
            <a:endParaRPr lang="en-US" altLang="en-US" sz="1000" smtClean="0">
              <a:solidFill>
                <a:schemeClr val="tx1"/>
              </a:solidFill>
              <a:latin typeface="Arial" panose="020B0604020202020204" pitchFamily="34" charset="0"/>
            </a:endParaRPr>
          </a:p>
        </p:txBody>
      </p:sp>
      <p:sp>
        <p:nvSpPr>
          <p:cNvPr id="92164" name="Rectangle 2"/>
          <p:cNvSpPr>
            <a:spLocks noGrp="1" noChangeArrowheads="1"/>
          </p:cNvSpPr>
          <p:nvPr>
            <p:ph type="title"/>
          </p:nvPr>
        </p:nvSpPr>
        <p:spPr>
          <a:xfrm>
            <a:off x="609600" y="152400"/>
            <a:ext cx="8153400" cy="1143000"/>
          </a:xfrm>
        </p:spPr>
        <p:txBody>
          <a:bodyPr/>
          <a:lstStyle/>
          <a:p>
            <a:pPr eaLnBrk="1" hangingPunct="1"/>
            <a:r>
              <a:rPr lang="en-US" altLang="en-US" sz="2800" smtClean="0"/>
              <a:t>Parameters that are Subprogram Names: Referencing Environment</a:t>
            </a:r>
          </a:p>
        </p:txBody>
      </p:sp>
      <p:sp>
        <p:nvSpPr>
          <p:cNvPr id="92165" name="Rectangle 3"/>
          <p:cNvSpPr>
            <a:spLocks noGrp="1" noChangeArrowheads="1"/>
          </p:cNvSpPr>
          <p:nvPr>
            <p:ph type="body" idx="1"/>
          </p:nvPr>
        </p:nvSpPr>
        <p:spPr>
          <a:xfrm>
            <a:off x="609600" y="1458310"/>
            <a:ext cx="8229600" cy="4572000"/>
          </a:xfrm>
        </p:spPr>
        <p:txBody>
          <a:bodyPr/>
          <a:lstStyle/>
          <a:p>
            <a:pPr marL="533400" indent="-533400" eaLnBrk="1" hangingPunct="1"/>
            <a:r>
              <a:rPr lang="en-US" altLang="en-US" dirty="0" smtClean="0"/>
              <a:t>Recall that a referencing environment is</a:t>
            </a:r>
          </a:p>
          <a:p>
            <a:pPr marL="933450" lvl="1" indent="-533400" eaLnBrk="1" hangingPunct="1"/>
            <a:r>
              <a:rPr lang="en-US" altLang="en-US" dirty="0" smtClean="0"/>
              <a:t>All variables visible to a statement</a:t>
            </a:r>
          </a:p>
          <a:p>
            <a:pPr marL="933450" lvl="1" indent="-533400" eaLnBrk="1" hangingPunct="1"/>
            <a:r>
              <a:rPr lang="en-US" altLang="en-US" dirty="0" smtClean="0"/>
              <a:t>That is, variables the statement can reference</a:t>
            </a:r>
            <a:endParaRPr lang="en-US" altLang="en-US" sz="2800" dirty="0" smtClean="0"/>
          </a:p>
          <a:p>
            <a:pPr marL="533400" indent="-533400" eaLnBrk="1" hangingPunct="1"/>
            <a:r>
              <a:rPr lang="en-US" altLang="en-US" dirty="0" smtClean="0"/>
              <a:t>A passed subprogram </a:t>
            </a:r>
          </a:p>
          <a:p>
            <a:pPr marL="933450" lvl="1" indent="-533400" eaLnBrk="1" hangingPunct="1"/>
            <a:r>
              <a:rPr lang="en-US" altLang="en-US" dirty="0" smtClean="0"/>
              <a:t>Has a referencing environment</a:t>
            </a:r>
          </a:p>
          <a:p>
            <a:pPr marL="1333500" lvl="2" indent="-533400" eaLnBrk="1" hangingPunct="1"/>
            <a:r>
              <a:rPr lang="en-US" altLang="en-US" dirty="0" smtClean="0"/>
              <a:t>This becomes important when</a:t>
            </a:r>
          </a:p>
          <a:p>
            <a:pPr marL="1790700" lvl="3" indent="-533400" eaLnBrk="1" hangingPunct="1"/>
            <a:r>
              <a:rPr lang="en-US" altLang="en-US" dirty="0" smtClean="0"/>
              <a:t>Passed subprogram refers to a variable</a:t>
            </a:r>
          </a:p>
          <a:p>
            <a:pPr marL="1790700" lvl="3" indent="-533400" eaLnBrk="1" hangingPunct="1"/>
            <a:r>
              <a:rPr lang="en-US" altLang="en-US" dirty="0" smtClean="0"/>
              <a:t>Variable is defined outside passed subprogram</a:t>
            </a:r>
          </a:p>
          <a:p>
            <a:pPr marL="1790700" lvl="3" indent="-533400" eaLnBrk="1" hangingPunct="1"/>
            <a:r>
              <a:rPr lang="en-US" altLang="en-US" dirty="0" smtClean="0"/>
              <a:t>Need to disambiguate which variable is referred to</a:t>
            </a:r>
          </a:p>
        </p:txBody>
      </p:sp>
      <p:sp>
        <p:nvSpPr>
          <p:cNvPr id="6"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Content Placeholder 2"/>
          <p:cNvSpPr>
            <a:spLocks noGrp="1"/>
          </p:cNvSpPr>
          <p:nvPr>
            <p:ph idx="1"/>
          </p:nvPr>
        </p:nvSpPr>
        <p:spPr>
          <a:xfrm>
            <a:off x="533400" y="1600200"/>
            <a:ext cx="8153400" cy="4572000"/>
          </a:xfrm>
        </p:spPr>
        <p:txBody>
          <a:bodyPr/>
          <a:lstStyle/>
          <a:p>
            <a:pPr marL="0" indent="0">
              <a:buFontTx/>
              <a:buNone/>
            </a:pP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sub1()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1</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sub2()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print</a:t>
            </a:r>
            <a:r>
              <a:rPr lang="en-ZA" altLang="en-US" sz="1500" smtClean="0">
                <a:latin typeface="Courier New" panose="02070309020205020404" pitchFamily="49" charset="0"/>
                <a:cs typeface="Courier New" panose="02070309020205020404" pitchFamily="49" charset="0"/>
              </a:rPr>
              <a:t> x</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sub3()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3</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sub4(sub2)</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sub4(subx)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4</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subx()</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sub3()</a:t>
            </a:r>
          </a:p>
          <a:p>
            <a:pPr marL="0" indent="0">
              <a:buFontTx/>
              <a:buNone/>
            </a:pPr>
            <a:r>
              <a:rPr lang="en-ZA" altLang="en-US" sz="1500" smtClean="0">
                <a:latin typeface="Courier New" panose="02070309020205020404" pitchFamily="49" charset="0"/>
                <a:cs typeface="Courier New" panose="02070309020205020404" pitchFamily="49" charset="0"/>
              </a:rPr>
              <a:t>}</a:t>
            </a:r>
          </a:p>
        </p:txBody>
      </p:sp>
      <p:sp>
        <p:nvSpPr>
          <p:cNvPr id="5" name="Slide Number Placeholder 4"/>
          <p:cNvSpPr>
            <a:spLocks noGrp="1"/>
          </p:cNvSpPr>
          <p:nvPr>
            <p:ph type="sldNum" sz="quarter" idx="11"/>
          </p:nvPr>
        </p:nvSpPr>
        <p:spPr/>
        <p:txBody>
          <a:bodyPr/>
          <a:lstStyle/>
          <a:p>
            <a:pPr>
              <a:defRPr/>
            </a:pPr>
            <a:r>
              <a:rPr lang="en-US" altLang="en-US" smtClean="0"/>
              <a:t>1-</a:t>
            </a:r>
            <a:fld id="{30963642-B68F-4E4B-9DAF-ABD8BF13967E}" type="slidenum">
              <a:rPr lang="en-US" altLang="en-US" smtClean="0"/>
              <a:pPr>
                <a:defRPr/>
              </a:pPr>
              <a:t>29</a:t>
            </a:fld>
            <a:endParaRPr lang="en-US" altLang="en-US"/>
          </a:p>
        </p:txBody>
      </p:sp>
      <p:sp>
        <p:nvSpPr>
          <p:cNvPr id="94213" name="Rectangle 2"/>
          <p:cNvSpPr>
            <a:spLocks noGrp="1" noChangeArrowheads="1"/>
          </p:cNvSpPr>
          <p:nvPr>
            <p:ph type="title"/>
          </p:nvPr>
        </p:nvSpPr>
        <p:spPr>
          <a:xfrm>
            <a:off x="609600" y="152400"/>
            <a:ext cx="8153400" cy="1143000"/>
          </a:xfrm>
        </p:spPr>
        <p:txBody>
          <a:bodyPr/>
          <a:lstStyle/>
          <a:p>
            <a:pPr eaLnBrk="1" hangingPunct="1"/>
            <a:r>
              <a:rPr lang="en-US" altLang="en-US" sz="2800" smtClean="0"/>
              <a:t>Parameters that are Subprogram Names: Referencing Environment</a:t>
            </a:r>
          </a:p>
        </p:txBody>
      </p:sp>
      <p:sp>
        <p:nvSpPr>
          <p:cNvPr id="8" name="TextBox 7"/>
          <p:cNvSpPr txBox="1"/>
          <p:nvPr/>
        </p:nvSpPr>
        <p:spPr>
          <a:xfrm>
            <a:off x="3352800" y="1584841"/>
            <a:ext cx="5562600" cy="4739759"/>
          </a:xfrm>
          <a:prstGeom prst="rect">
            <a:avLst/>
          </a:prstGeom>
          <a:noFill/>
          <a:ln>
            <a:noFill/>
          </a:ln>
        </p:spPr>
        <p:txBody>
          <a:bodyPr>
            <a:spAutoFit/>
          </a:bodyPr>
          <a:lstStyle/>
          <a:p>
            <a:pPr marL="342900" indent="-342900">
              <a:buFont typeface="Arial" panose="020B0604020202020204" pitchFamily="34" charset="0"/>
              <a:buChar char="•"/>
              <a:defRPr/>
            </a:pPr>
            <a:r>
              <a:rPr lang="en-ZA" sz="1800" dirty="0">
                <a:solidFill>
                  <a:srgbClr val="7030A0"/>
                </a:solidFill>
                <a:latin typeface="+mj-lt"/>
              </a:rPr>
              <a:t>We’ll illustrate concepts using this example</a:t>
            </a:r>
          </a:p>
          <a:p>
            <a:pPr marL="800100" lvl="1" indent="-342900">
              <a:buFont typeface="Lucida Sans Unicode" panose="020B0602030504020204" pitchFamily="34" charset="0"/>
              <a:buChar char="-"/>
              <a:defRPr/>
            </a:pPr>
            <a:r>
              <a:rPr lang="en-ZA" sz="1600" dirty="0">
                <a:solidFill>
                  <a:srgbClr val="7030A0"/>
                </a:solidFill>
                <a:latin typeface="+mj-lt"/>
              </a:rPr>
              <a:t>We assume nested subprograms are allowed</a:t>
            </a:r>
          </a:p>
          <a:p>
            <a:pPr marL="800100" lvl="1" indent="-342900">
              <a:buFont typeface="Lucida Sans Unicode" panose="020B0602030504020204" pitchFamily="34" charset="0"/>
              <a:buChar char="-"/>
              <a:defRPr/>
            </a:pPr>
            <a:r>
              <a:rPr lang="en-ZA" sz="1600" dirty="0">
                <a:solidFill>
                  <a:srgbClr val="7030A0"/>
                </a:solidFill>
                <a:latin typeface="+mj-lt"/>
              </a:rPr>
              <a:t>We assume static scoping rules</a:t>
            </a:r>
          </a:p>
          <a:p>
            <a:pPr marL="800100" lvl="1" indent="-342900">
              <a:buFont typeface="Lucida Sans Unicode" panose="020B0602030504020204" pitchFamily="34" charset="0"/>
              <a:buChar char="-"/>
              <a:defRPr/>
            </a:pPr>
            <a:r>
              <a:rPr lang="en-ZA" sz="1600" dirty="0">
                <a:solidFill>
                  <a:srgbClr val="7030A0"/>
                </a:solidFill>
                <a:latin typeface="Courier New" panose="02070309020205020404" pitchFamily="49" charset="0"/>
                <a:cs typeface="Courier New" panose="02070309020205020404" pitchFamily="49" charset="0"/>
              </a:rPr>
              <a:t>sub1</a:t>
            </a:r>
            <a:r>
              <a:rPr lang="en-ZA" sz="1600" dirty="0">
                <a:solidFill>
                  <a:srgbClr val="7030A0"/>
                </a:solidFill>
                <a:latin typeface="+mj-lt"/>
              </a:rPr>
              <a:t> calls </a:t>
            </a:r>
            <a:r>
              <a:rPr lang="en-ZA" sz="1600" dirty="0">
                <a:solidFill>
                  <a:srgbClr val="7030A0"/>
                </a:solidFill>
                <a:latin typeface="Courier New" panose="02070309020205020404" pitchFamily="49" charset="0"/>
                <a:cs typeface="Courier New" panose="02070309020205020404" pitchFamily="49" charset="0"/>
              </a:rPr>
              <a:t>sub3</a:t>
            </a:r>
          </a:p>
          <a:p>
            <a:pPr marL="800100" lvl="1" indent="-342900">
              <a:buFont typeface="Lucida Sans Unicode" panose="020B0602030504020204" pitchFamily="34" charset="0"/>
              <a:buChar char="-"/>
              <a:defRPr/>
            </a:pPr>
            <a:r>
              <a:rPr lang="en-ZA" sz="1600" dirty="0">
                <a:solidFill>
                  <a:srgbClr val="7030A0"/>
                </a:solidFill>
                <a:latin typeface="Courier New" panose="02070309020205020404" pitchFamily="49" charset="0"/>
                <a:cs typeface="Courier New" panose="02070309020205020404" pitchFamily="49" charset="0"/>
              </a:rPr>
              <a:t>sub3</a:t>
            </a:r>
            <a:r>
              <a:rPr lang="en-ZA" sz="1600" dirty="0">
                <a:solidFill>
                  <a:srgbClr val="7030A0"/>
                </a:solidFill>
                <a:latin typeface="+mj-lt"/>
              </a:rPr>
              <a:t> passes </a:t>
            </a:r>
            <a:r>
              <a:rPr lang="en-ZA" sz="1600" dirty="0">
                <a:solidFill>
                  <a:srgbClr val="7030A0"/>
                </a:solidFill>
                <a:latin typeface="Courier New" panose="02070309020205020404" pitchFamily="49" charset="0"/>
                <a:cs typeface="Courier New" panose="02070309020205020404" pitchFamily="49" charset="0"/>
              </a:rPr>
              <a:t>sub2</a:t>
            </a:r>
            <a:r>
              <a:rPr lang="en-ZA" sz="1600" dirty="0">
                <a:solidFill>
                  <a:srgbClr val="7030A0"/>
                </a:solidFill>
                <a:latin typeface="+mj-lt"/>
              </a:rPr>
              <a:t> as a parameter to </a:t>
            </a:r>
            <a:r>
              <a:rPr lang="en-ZA" sz="1600" dirty="0">
                <a:solidFill>
                  <a:srgbClr val="7030A0"/>
                </a:solidFill>
                <a:latin typeface="Courier New" panose="02070309020205020404" pitchFamily="49" charset="0"/>
                <a:cs typeface="Courier New" panose="02070309020205020404" pitchFamily="49" charset="0"/>
              </a:rPr>
              <a:t>sub4</a:t>
            </a:r>
          </a:p>
          <a:p>
            <a:pPr marL="800100" lvl="1" indent="-342900">
              <a:buFont typeface="Lucida Sans Unicode" panose="020B0602030504020204" pitchFamily="34" charset="0"/>
              <a:buChar char="-"/>
              <a:defRPr/>
            </a:pPr>
            <a:r>
              <a:rPr lang="en-ZA" sz="1600" dirty="0">
                <a:solidFill>
                  <a:srgbClr val="7030A0"/>
                </a:solidFill>
                <a:latin typeface="Courier New" panose="02070309020205020404" pitchFamily="49" charset="0"/>
                <a:cs typeface="Courier New" panose="02070309020205020404" pitchFamily="49" charset="0"/>
              </a:rPr>
              <a:t>sub4</a:t>
            </a:r>
            <a:r>
              <a:rPr lang="en-ZA" sz="1600" dirty="0">
                <a:solidFill>
                  <a:srgbClr val="7030A0"/>
                </a:solidFill>
                <a:latin typeface="+mj-lt"/>
              </a:rPr>
              <a:t> executes the subprogram passed to it</a:t>
            </a:r>
            <a:endParaRPr lang="en-ZA" sz="1800" dirty="0">
              <a:solidFill>
                <a:srgbClr val="7030A0"/>
              </a:solidFill>
              <a:latin typeface="+mj-lt"/>
            </a:endParaRPr>
          </a:p>
          <a:p>
            <a:pPr marL="342900" indent="-342900">
              <a:buFont typeface="Arial" panose="020B0604020202020204" pitchFamily="34" charset="0"/>
              <a:buChar char="•"/>
              <a:defRPr/>
            </a:pPr>
            <a:endParaRPr lang="en-ZA" sz="1800" dirty="0">
              <a:solidFill>
                <a:srgbClr val="7030A0"/>
              </a:solidFill>
              <a:latin typeface="+mj-lt"/>
            </a:endParaRPr>
          </a:p>
          <a:p>
            <a:pPr marL="342900" indent="-342900">
              <a:buFont typeface="Arial" panose="020B0604020202020204" pitchFamily="34" charset="0"/>
              <a:buChar char="•"/>
              <a:defRPr/>
            </a:pPr>
            <a:r>
              <a:rPr lang="en-ZA" sz="1800" dirty="0">
                <a:solidFill>
                  <a:srgbClr val="7030A0"/>
                </a:solidFill>
                <a:latin typeface="+mj-lt"/>
              </a:rPr>
              <a:t>The question is</a:t>
            </a:r>
            <a:endParaRPr lang="en-ZA" sz="1800" dirty="0">
              <a:solidFill>
                <a:srgbClr val="7030A0"/>
              </a:solidFill>
              <a:latin typeface="Courier New" panose="02070309020205020404" pitchFamily="49" charset="0"/>
              <a:cs typeface="Courier New" panose="02070309020205020404" pitchFamily="49" charset="0"/>
            </a:endParaRPr>
          </a:p>
          <a:p>
            <a:pPr marL="800100" lvl="1" indent="-342900">
              <a:buFont typeface="Lucida Sans Unicode" panose="020B0602030504020204" pitchFamily="34" charset="0"/>
              <a:buChar char="-"/>
              <a:defRPr/>
            </a:pPr>
            <a:r>
              <a:rPr lang="en-ZA" sz="1600" dirty="0">
                <a:solidFill>
                  <a:srgbClr val="7030A0"/>
                </a:solidFill>
                <a:latin typeface="+mj-lt"/>
              </a:rPr>
              <a:t>When </a:t>
            </a:r>
            <a:r>
              <a:rPr lang="en-ZA" sz="1600" dirty="0">
                <a:solidFill>
                  <a:srgbClr val="7030A0"/>
                </a:solidFill>
                <a:latin typeface="Courier New" panose="02070309020205020404" pitchFamily="49" charset="0"/>
                <a:cs typeface="Courier New" panose="02070309020205020404" pitchFamily="49" charset="0"/>
              </a:rPr>
              <a:t>sub2</a:t>
            </a:r>
            <a:r>
              <a:rPr lang="en-ZA" sz="1600" dirty="0">
                <a:solidFill>
                  <a:srgbClr val="7030A0"/>
                </a:solidFill>
                <a:latin typeface="+mj-lt"/>
              </a:rPr>
              <a:t> prints </a:t>
            </a:r>
            <a:r>
              <a:rPr lang="en-ZA" sz="1600" dirty="0">
                <a:solidFill>
                  <a:srgbClr val="7030A0"/>
                </a:solidFill>
                <a:latin typeface="Courier New" panose="02070309020205020404" pitchFamily="49" charset="0"/>
                <a:cs typeface="Courier New" panose="02070309020205020404" pitchFamily="49" charset="0"/>
              </a:rPr>
              <a:t>x</a:t>
            </a:r>
            <a:r>
              <a:rPr lang="en-ZA" sz="1600" dirty="0">
                <a:solidFill>
                  <a:srgbClr val="7030A0"/>
                </a:solidFill>
                <a:latin typeface="+mj-lt"/>
              </a:rPr>
              <a:t>, it refers to a variable outside its local scope</a:t>
            </a:r>
          </a:p>
          <a:p>
            <a:pPr marL="800100" lvl="1" indent="-342900">
              <a:buFont typeface="Lucida Sans Unicode" panose="020B0602030504020204" pitchFamily="34" charset="0"/>
              <a:buChar char="-"/>
              <a:defRPr/>
            </a:pPr>
            <a:r>
              <a:rPr lang="en-ZA" sz="1600" dirty="0">
                <a:solidFill>
                  <a:srgbClr val="7030A0"/>
                </a:solidFill>
                <a:latin typeface="+mj-lt"/>
                <a:cs typeface="Courier New" panose="02070309020205020404" pitchFamily="49" charset="0"/>
              </a:rPr>
              <a:t>Output depends on which </a:t>
            </a:r>
            <a:r>
              <a:rPr lang="en-ZA" sz="1600" dirty="0">
                <a:solidFill>
                  <a:srgbClr val="7030A0"/>
                </a:solidFill>
                <a:latin typeface="Courier New" panose="02070309020205020404" pitchFamily="49" charset="0"/>
                <a:cs typeface="Courier New" panose="02070309020205020404" pitchFamily="49" charset="0"/>
              </a:rPr>
              <a:t>x</a:t>
            </a:r>
            <a:r>
              <a:rPr lang="en-ZA" sz="1600" dirty="0">
                <a:solidFill>
                  <a:srgbClr val="7030A0"/>
                </a:solidFill>
                <a:latin typeface="+mj-lt"/>
                <a:cs typeface="Courier New" panose="02070309020205020404" pitchFamily="49" charset="0"/>
              </a:rPr>
              <a:t> it is referring to</a:t>
            </a:r>
          </a:p>
          <a:p>
            <a:pPr marL="800100" lvl="1" indent="-342900">
              <a:buFont typeface="Lucida Sans Unicode" panose="020B0602030504020204" pitchFamily="34" charset="0"/>
              <a:buChar char="-"/>
              <a:defRPr/>
            </a:pPr>
            <a:r>
              <a:rPr lang="en-ZA" sz="1600" dirty="0">
                <a:solidFill>
                  <a:srgbClr val="7030A0"/>
                </a:solidFill>
                <a:latin typeface="+mj-lt"/>
                <a:cs typeface="Courier New" panose="02070309020205020404" pitchFamily="49" charset="0"/>
              </a:rPr>
              <a:t>Dictated </a:t>
            </a:r>
            <a:r>
              <a:rPr lang="en-ZA" sz="1600" dirty="0" smtClean="0">
                <a:solidFill>
                  <a:srgbClr val="7030A0"/>
                </a:solidFill>
                <a:latin typeface="+mj-lt"/>
                <a:cs typeface="Courier New" panose="02070309020205020404" pitchFamily="49" charset="0"/>
              </a:rPr>
              <a:t>by </a:t>
            </a:r>
            <a:r>
              <a:rPr lang="en-ZA" sz="1600" u="sng" dirty="0">
                <a:solidFill>
                  <a:srgbClr val="7030A0"/>
                </a:solidFill>
                <a:latin typeface="+mj-lt"/>
                <a:cs typeface="Courier New" panose="02070309020205020404" pitchFamily="49" charset="0"/>
              </a:rPr>
              <a:t>referencing </a:t>
            </a:r>
            <a:r>
              <a:rPr lang="en-ZA" sz="1600" u="sng" dirty="0" smtClean="0">
                <a:solidFill>
                  <a:srgbClr val="7030A0"/>
                </a:solidFill>
                <a:latin typeface="+mj-lt"/>
                <a:cs typeface="Courier New" panose="02070309020205020404" pitchFamily="49" charset="0"/>
              </a:rPr>
              <a:t>environment of </a:t>
            </a:r>
            <a:r>
              <a:rPr lang="en-ZA" sz="1600" u="sng" dirty="0" smtClean="0">
                <a:solidFill>
                  <a:srgbClr val="7030A0"/>
                </a:solidFill>
                <a:latin typeface="Courier New" panose="02070309020205020404" pitchFamily="49" charset="0"/>
                <a:cs typeface="Courier New" panose="02070309020205020404" pitchFamily="49" charset="0"/>
              </a:rPr>
              <a:t>sub2</a:t>
            </a:r>
            <a:endParaRPr lang="en-ZA" sz="1600" u="sng" dirty="0">
              <a:solidFill>
                <a:srgbClr val="7030A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defRPr/>
            </a:pPr>
            <a:endParaRPr lang="en-ZA" sz="1800" dirty="0">
              <a:solidFill>
                <a:srgbClr val="7030A0"/>
              </a:solidFill>
              <a:latin typeface="Lucida Sans Unicode"/>
            </a:endParaRPr>
          </a:p>
          <a:p>
            <a:pPr marL="342900" indent="-342900">
              <a:buFont typeface="Arial" panose="020B0604020202020204" pitchFamily="34" charset="0"/>
              <a:buChar char="•"/>
              <a:defRPr/>
            </a:pPr>
            <a:r>
              <a:rPr lang="en-ZA" sz="1800" dirty="0">
                <a:solidFill>
                  <a:srgbClr val="7030A0"/>
                </a:solidFill>
                <a:latin typeface="Lucida Sans Unicode"/>
              </a:rPr>
              <a:t>Three possible approaches</a:t>
            </a:r>
            <a:endParaRPr lang="en-ZA" sz="1800" dirty="0">
              <a:solidFill>
                <a:srgbClr val="7030A0"/>
              </a:solidFill>
              <a:latin typeface="Courier New" panose="02070309020205020404" pitchFamily="49" charset="0"/>
              <a:cs typeface="Courier New" panose="02070309020205020404" pitchFamily="49" charset="0"/>
            </a:endParaRPr>
          </a:p>
          <a:p>
            <a:pPr marL="800100" lvl="1" indent="-342900">
              <a:buFont typeface="Lucida Sans Unicode" panose="020B0602030504020204" pitchFamily="34" charset="0"/>
              <a:buChar char="-"/>
              <a:defRPr/>
            </a:pPr>
            <a:r>
              <a:rPr lang="en-ZA" sz="1600" dirty="0">
                <a:solidFill>
                  <a:srgbClr val="7030A0"/>
                </a:solidFill>
                <a:latin typeface="Lucida Sans Unicode"/>
              </a:rPr>
              <a:t>Shallow binding</a:t>
            </a:r>
          </a:p>
          <a:p>
            <a:pPr marL="800100" lvl="1" indent="-342900">
              <a:buFont typeface="Lucida Sans Unicode" panose="020B0602030504020204" pitchFamily="34" charset="0"/>
              <a:buChar char="-"/>
              <a:defRPr/>
            </a:pPr>
            <a:r>
              <a:rPr lang="en-ZA" sz="1600" dirty="0">
                <a:solidFill>
                  <a:srgbClr val="7030A0"/>
                </a:solidFill>
                <a:latin typeface="Lucida Sans Unicode"/>
                <a:cs typeface="Courier New" panose="02070309020205020404" pitchFamily="49" charset="0"/>
              </a:rPr>
              <a:t>Deep binding</a:t>
            </a:r>
          </a:p>
          <a:p>
            <a:pPr marL="800100" lvl="1" indent="-342900">
              <a:buFont typeface="Lucida Sans Unicode" panose="020B0602030504020204" pitchFamily="34" charset="0"/>
              <a:buChar char="-"/>
              <a:defRPr/>
            </a:pPr>
            <a:r>
              <a:rPr lang="en-ZA" sz="1600" dirty="0">
                <a:solidFill>
                  <a:srgbClr val="7030A0"/>
                </a:solidFill>
                <a:latin typeface="Lucida Sans Unicode"/>
                <a:cs typeface="Courier New" panose="02070309020205020404" pitchFamily="49" charset="0"/>
              </a:rPr>
              <a:t>Ad hoc binding</a:t>
            </a:r>
            <a:endParaRPr lang="en-ZA" sz="2000" u="sng" dirty="0">
              <a:solidFill>
                <a:srgbClr val="7030A0"/>
              </a:solidFill>
              <a:latin typeface="Lucida Sans Unicode"/>
              <a:cs typeface="Courier New" panose="02070309020205020404" pitchFamily="49" charset="0"/>
            </a:endParaRPr>
          </a:p>
          <a:p>
            <a:pPr marL="800100" lvl="1" indent="-342900">
              <a:buFont typeface="Lucida Sans Unicode" panose="020B0602030504020204" pitchFamily="34" charset="0"/>
              <a:buChar char="-"/>
              <a:defRPr/>
            </a:pPr>
            <a:endParaRPr lang="en-ZA" sz="2000" u="sng" dirty="0">
              <a:solidFill>
                <a:srgbClr val="7030A0"/>
              </a:solidFill>
              <a:latin typeface="+mj-lt"/>
              <a:cs typeface="Courier New" panose="02070309020205020404" pitchFamily="49" charset="0"/>
            </a:endParaRPr>
          </a:p>
        </p:txBody>
      </p:sp>
      <p:sp>
        <p:nvSpPr>
          <p:cNvPr id="7"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Content Placeholder 2"/>
          <p:cNvSpPr>
            <a:spLocks noGrp="1"/>
          </p:cNvSpPr>
          <p:nvPr>
            <p:ph idx="1"/>
          </p:nvPr>
        </p:nvSpPr>
        <p:spPr>
          <a:xfrm>
            <a:off x="533400" y="1600200"/>
            <a:ext cx="8153400" cy="4572000"/>
          </a:xfrm>
        </p:spPr>
        <p:txBody>
          <a:bodyPr/>
          <a:lstStyle/>
          <a:p>
            <a:pPr marL="0" indent="0">
              <a:buFontTx/>
              <a:buNone/>
            </a:pP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sub1()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1</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sub2()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print</a:t>
            </a:r>
            <a:r>
              <a:rPr lang="en-ZA" altLang="en-US" sz="1500" smtClean="0">
                <a:latin typeface="Courier New" panose="02070309020205020404" pitchFamily="49" charset="0"/>
                <a:cs typeface="Courier New" panose="02070309020205020404" pitchFamily="49" charset="0"/>
              </a:rPr>
              <a:t> x</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sub3()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3</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sub4(sub2)</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sub4(subx)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4</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subx()</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sub3()</a:t>
            </a:r>
          </a:p>
          <a:p>
            <a:pPr marL="0" indent="0">
              <a:buFontTx/>
              <a:buNone/>
            </a:pPr>
            <a:r>
              <a:rPr lang="en-ZA" altLang="en-US" sz="1500" smtClean="0">
                <a:latin typeface="Courier New" panose="02070309020205020404" pitchFamily="49" charset="0"/>
                <a:cs typeface="Courier New" panose="02070309020205020404" pitchFamily="49" charset="0"/>
              </a:rPr>
              <a:t>}</a:t>
            </a:r>
          </a:p>
        </p:txBody>
      </p:sp>
      <p:sp>
        <p:nvSpPr>
          <p:cNvPr id="5" name="Slide Number Placeholder 4"/>
          <p:cNvSpPr>
            <a:spLocks noGrp="1"/>
          </p:cNvSpPr>
          <p:nvPr>
            <p:ph type="sldNum" sz="quarter" idx="11"/>
          </p:nvPr>
        </p:nvSpPr>
        <p:spPr/>
        <p:txBody>
          <a:bodyPr/>
          <a:lstStyle/>
          <a:p>
            <a:pPr>
              <a:defRPr/>
            </a:pPr>
            <a:r>
              <a:rPr lang="en-US" altLang="en-US" smtClean="0"/>
              <a:t>1-</a:t>
            </a:r>
            <a:fld id="{88D0BA3D-89D2-429A-B85A-3501CC04CDB2}" type="slidenum">
              <a:rPr lang="en-US" altLang="en-US" smtClean="0"/>
              <a:pPr>
                <a:defRPr/>
              </a:pPr>
              <a:t>30</a:t>
            </a:fld>
            <a:endParaRPr lang="en-US" altLang="en-US"/>
          </a:p>
        </p:txBody>
      </p:sp>
      <p:sp>
        <p:nvSpPr>
          <p:cNvPr id="96261" name="Rectangle 2"/>
          <p:cNvSpPr>
            <a:spLocks noGrp="1" noChangeArrowheads="1"/>
          </p:cNvSpPr>
          <p:nvPr>
            <p:ph type="title"/>
          </p:nvPr>
        </p:nvSpPr>
        <p:spPr>
          <a:xfrm>
            <a:off x="609600" y="152400"/>
            <a:ext cx="8153400" cy="1143000"/>
          </a:xfrm>
        </p:spPr>
        <p:txBody>
          <a:bodyPr/>
          <a:lstStyle/>
          <a:p>
            <a:pPr eaLnBrk="1" hangingPunct="1"/>
            <a:r>
              <a:rPr lang="en-US" altLang="en-US" sz="2800" smtClean="0"/>
              <a:t>Parameters that are Subprogram Names: Referencing Environment</a:t>
            </a:r>
          </a:p>
        </p:txBody>
      </p:sp>
      <p:sp>
        <p:nvSpPr>
          <p:cNvPr id="8" name="TextBox 7"/>
          <p:cNvSpPr txBox="1"/>
          <p:nvPr/>
        </p:nvSpPr>
        <p:spPr>
          <a:xfrm>
            <a:off x="3352800" y="1547812"/>
            <a:ext cx="5562600" cy="2185988"/>
          </a:xfrm>
          <a:prstGeom prst="rect">
            <a:avLst/>
          </a:prstGeom>
          <a:noFill/>
          <a:ln>
            <a:noFill/>
          </a:ln>
        </p:spPr>
        <p:txBody>
          <a:bodyPr>
            <a:spAutoFit/>
          </a:bodyPr>
          <a:lstStyle/>
          <a:p>
            <a:pPr>
              <a:defRPr/>
            </a:pPr>
            <a:r>
              <a:rPr lang="en-ZA" sz="2000" u="sng" dirty="0">
                <a:solidFill>
                  <a:srgbClr val="7030A0"/>
                </a:solidFill>
                <a:latin typeface="+mj-lt"/>
              </a:rPr>
              <a:t>Shallow binding</a:t>
            </a:r>
            <a:r>
              <a:rPr lang="en-ZA" sz="2000" dirty="0">
                <a:solidFill>
                  <a:srgbClr val="7030A0"/>
                </a:solidFill>
                <a:latin typeface="+mj-lt"/>
              </a:rPr>
              <a:t>:</a:t>
            </a:r>
          </a:p>
          <a:p>
            <a:pPr marL="342900" indent="-342900">
              <a:buFont typeface="Arial" panose="020B0604020202020204" pitchFamily="34" charset="0"/>
              <a:buChar char="•"/>
              <a:defRPr/>
            </a:pPr>
            <a:r>
              <a:rPr lang="en-ZA" sz="1800" dirty="0">
                <a:solidFill>
                  <a:srgbClr val="7030A0"/>
                </a:solidFill>
                <a:latin typeface="+mj-lt"/>
              </a:rPr>
              <a:t>Passed subprogram referencing environment</a:t>
            </a:r>
          </a:p>
          <a:p>
            <a:pPr marL="800100" lvl="1" indent="-342900">
              <a:buFont typeface="Lucida Sans Unicode" panose="020B0602030504020204" pitchFamily="34" charset="0"/>
              <a:buChar char="-"/>
              <a:defRPr/>
            </a:pPr>
            <a:r>
              <a:rPr lang="en-ZA" sz="1600" dirty="0">
                <a:solidFill>
                  <a:srgbClr val="7030A0"/>
                </a:solidFill>
                <a:latin typeface="+mj-lt"/>
              </a:rPr>
              <a:t>The call enacting the passed subprogram</a:t>
            </a:r>
          </a:p>
          <a:p>
            <a:pPr marL="800100" lvl="1" indent="-342900">
              <a:buFont typeface="Lucida Sans Unicode" panose="020B0602030504020204" pitchFamily="34" charset="0"/>
              <a:buChar char="-"/>
              <a:defRPr/>
            </a:pPr>
            <a:r>
              <a:rPr lang="en-ZA" sz="1600" dirty="0">
                <a:solidFill>
                  <a:srgbClr val="7030A0"/>
                </a:solidFill>
                <a:latin typeface="+mj-lt"/>
              </a:rPr>
              <a:t>Natural for dynamic-scoped languages</a:t>
            </a:r>
            <a:endParaRPr lang="en-ZA" sz="1800" dirty="0">
              <a:solidFill>
                <a:srgbClr val="7030A0"/>
              </a:solidFill>
              <a:latin typeface="+mj-lt"/>
            </a:endParaRPr>
          </a:p>
          <a:p>
            <a:pPr marL="342900" indent="-342900">
              <a:buFont typeface="Arial" panose="020B0604020202020204" pitchFamily="34" charset="0"/>
              <a:buChar char="•"/>
              <a:defRPr/>
            </a:pPr>
            <a:r>
              <a:rPr lang="en-ZA" sz="1800" dirty="0">
                <a:solidFill>
                  <a:srgbClr val="7030A0"/>
                </a:solidFill>
                <a:latin typeface="+mj-lt"/>
              </a:rPr>
              <a:t>In the example</a:t>
            </a:r>
            <a:endParaRPr lang="en-ZA" sz="1800" dirty="0">
              <a:solidFill>
                <a:srgbClr val="7030A0"/>
              </a:solidFill>
              <a:latin typeface="Courier New" panose="02070309020205020404" pitchFamily="49" charset="0"/>
              <a:cs typeface="Courier New" panose="02070309020205020404" pitchFamily="49" charset="0"/>
            </a:endParaRPr>
          </a:p>
          <a:p>
            <a:pPr marL="800100" lvl="1" indent="-342900">
              <a:buFont typeface="Lucida Sans Unicode" panose="020B0602030504020204" pitchFamily="34" charset="0"/>
              <a:buChar char="-"/>
              <a:defRPr/>
            </a:pPr>
            <a:r>
              <a:rPr lang="en-ZA" sz="1600" dirty="0">
                <a:solidFill>
                  <a:srgbClr val="7030A0"/>
                </a:solidFill>
                <a:latin typeface="+mj-lt"/>
              </a:rPr>
              <a:t>The referencing environment of the </a:t>
            </a:r>
            <a:r>
              <a:rPr lang="en-ZA" sz="1600" dirty="0" err="1">
                <a:solidFill>
                  <a:srgbClr val="7030A0"/>
                </a:solidFill>
                <a:latin typeface="Courier New" panose="02070309020205020404" pitchFamily="49" charset="0"/>
                <a:cs typeface="Courier New" panose="02070309020205020404" pitchFamily="49" charset="0"/>
              </a:rPr>
              <a:t>subx</a:t>
            </a:r>
            <a:r>
              <a:rPr lang="en-ZA" sz="1600" dirty="0">
                <a:solidFill>
                  <a:srgbClr val="7030A0"/>
                </a:solidFill>
                <a:latin typeface="+mj-lt"/>
              </a:rPr>
              <a:t> call</a:t>
            </a:r>
          </a:p>
          <a:p>
            <a:pPr marL="800100" lvl="1" indent="-342900">
              <a:buFont typeface="Lucida Sans Unicode" panose="020B0602030504020204" pitchFamily="34" charset="0"/>
              <a:buChar char="-"/>
              <a:defRPr/>
            </a:pPr>
            <a:r>
              <a:rPr lang="en-ZA" sz="1600" dirty="0">
                <a:solidFill>
                  <a:srgbClr val="7030A0"/>
                </a:solidFill>
                <a:latin typeface="+mj-lt"/>
              </a:rPr>
              <a:t>Therefore, the </a:t>
            </a:r>
            <a:r>
              <a:rPr lang="en-ZA" sz="1600" dirty="0">
                <a:solidFill>
                  <a:srgbClr val="7030A0"/>
                </a:solidFill>
                <a:latin typeface="Courier New" panose="02070309020205020404" pitchFamily="49" charset="0"/>
                <a:cs typeface="Courier New" panose="02070309020205020404" pitchFamily="49" charset="0"/>
              </a:rPr>
              <a:t>x</a:t>
            </a:r>
            <a:r>
              <a:rPr lang="en-ZA" sz="1600" dirty="0">
                <a:solidFill>
                  <a:srgbClr val="7030A0"/>
                </a:solidFill>
                <a:latin typeface="+mj-lt"/>
              </a:rPr>
              <a:t> in </a:t>
            </a:r>
            <a:r>
              <a:rPr lang="en-ZA" sz="1600" dirty="0">
                <a:solidFill>
                  <a:srgbClr val="7030A0"/>
                </a:solidFill>
                <a:latin typeface="Courier New" panose="02070309020205020404" pitchFamily="49" charset="0"/>
                <a:cs typeface="Courier New" panose="02070309020205020404" pitchFamily="49" charset="0"/>
              </a:rPr>
              <a:t>sub4</a:t>
            </a:r>
            <a:r>
              <a:rPr lang="en-ZA" sz="1600" dirty="0">
                <a:solidFill>
                  <a:srgbClr val="7030A0"/>
                </a:solidFill>
                <a:latin typeface="+mj-lt"/>
                <a:cs typeface="Courier New" panose="02070309020205020404" pitchFamily="49" charset="0"/>
              </a:rPr>
              <a:t> is referenced</a:t>
            </a:r>
          </a:p>
          <a:p>
            <a:pPr marL="800100" lvl="1" indent="-342900">
              <a:buFont typeface="Lucida Sans Unicode" panose="020B0602030504020204" pitchFamily="34" charset="0"/>
              <a:buChar char="-"/>
              <a:defRPr/>
            </a:pPr>
            <a:r>
              <a:rPr lang="en-ZA" sz="1600" dirty="0">
                <a:solidFill>
                  <a:srgbClr val="7030A0"/>
                </a:solidFill>
                <a:latin typeface="+mj-lt"/>
              </a:rPr>
              <a:t>The output is </a:t>
            </a:r>
            <a:r>
              <a:rPr lang="en-ZA" sz="1600" dirty="0">
                <a:solidFill>
                  <a:srgbClr val="7030A0"/>
                </a:solidFill>
                <a:latin typeface="Courier New" panose="02070309020205020404" pitchFamily="49" charset="0"/>
                <a:cs typeface="Courier New" panose="02070309020205020404" pitchFamily="49" charset="0"/>
              </a:rPr>
              <a:t>4</a:t>
            </a:r>
            <a:endParaRPr lang="en-ZA" sz="2000" dirty="0">
              <a:solidFill>
                <a:srgbClr val="7030A0"/>
              </a:solidFill>
              <a:latin typeface="+mj-lt"/>
              <a:cs typeface="Courier New" panose="02070309020205020404" pitchFamily="49" charset="0"/>
            </a:endParaRPr>
          </a:p>
        </p:txBody>
      </p:sp>
      <p:sp>
        <p:nvSpPr>
          <p:cNvPr id="7"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Content Placeholder 2"/>
          <p:cNvSpPr>
            <a:spLocks noGrp="1"/>
          </p:cNvSpPr>
          <p:nvPr>
            <p:ph idx="1"/>
          </p:nvPr>
        </p:nvSpPr>
        <p:spPr>
          <a:xfrm>
            <a:off x="533400" y="1600200"/>
            <a:ext cx="8153400" cy="4572000"/>
          </a:xfrm>
        </p:spPr>
        <p:txBody>
          <a:bodyPr/>
          <a:lstStyle/>
          <a:p>
            <a:pPr marL="0" indent="0">
              <a:buFontTx/>
              <a:buNone/>
            </a:pP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sub1()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1</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sub2()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print</a:t>
            </a:r>
            <a:r>
              <a:rPr lang="en-ZA" altLang="en-US" sz="1500" smtClean="0">
                <a:latin typeface="Courier New" panose="02070309020205020404" pitchFamily="49" charset="0"/>
                <a:cs typeface="Courier New" panose="02070309020205020404" pitchFamily="49" charset="0"/>
              </a:rPr>
              <a:t> x</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sub3()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3</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sub4(sub2)</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sub4(subx)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4</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subx()</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sub3()</a:t>
            </a:r>
          </a:p>
          <a:p>
            <a:pPr marL="0" indent="0">
              <a:buFontTx/>
              <a:buNone/>
            </a:pPr>
            <a:r>
              <a:rPr lang="en-ZA" altLang="en-US" sz="1500" smtClean="0">
                <a:latin typeface="Courier New" panose="02070309020205020404" pitchFamily="49" charset="0"/>
                <a:cs typeface="Courier New" panose="02070309020205020404" pitchFamily="49" charset="0"/>
              </a:rPr>
              <a:t>}</a:t>
            </a:r>
          </a:p>
        </p:txBody>
      </p:sp>
      <p:sp>
        <p:nvSpPr>
          <p:cNvPr id="5" name="Slide Number Placeholder 4"/>
          <p:cNvSpPr>
            <a:spLocks noGrp="1"/>
          </p:cNvSpPr>
          <p:nvPr>
            <p:ph type="sldNum" sz="quarter" idx="11"/>
          </p:nvPr>
        </p:nvSpPr>
        <p:spPr/>
        <p:txBody>
          <a:bodyPr/>
          <a:lstStyle/>
          <a:p>
            <a:pPr>
              <a:defRPr/>
            </a:pPr>
            <a:r>
              <a:rPr lang="en-US" altLang="en-US" smtClean="0"/>
              <a:t>1-</a:t>
            </a:r>
            <a:fld id="{14F449A8-9785-4562-BCAE-C559CE057B3B}" type="slidenum">
              <a:rPr lang="en-US" altLang="en-US" smtClean="0"/>
              <a:pPr>
                <a:defRPr/>
              </a:pPr>
              <a:t>31</a:t>
            </a:fld>
            <a:endParaRPr lang="en-US" altLang="en-US"/>
          </a:p>
        </p:txBody>
      </p:sp>
      <p:sp>
        <p:nvSpPr>
          <p:cNvPr id="98309" name="Rectangle 2"/>
          <p:cNvSpPr>
            <a:spLocks noGrp="1" noChangeArrowheads="1"/>
          </p:cNvSpPr>
          <p:nvPr>
            <p:ph type="title"/>
          </p:nvPr>
        </p:nvSpPr>
        <p:spPr>
          <a:xfrm>
            <a:off x="609600" y="152400"/>
            <a:ext cx="8153400" cy="1143000"/>
          </a:xfrm>
        </p:spPr>
        <p:txBody>
          <a:bodyPr/>
          <a:lstStyle/>
          <a:p>
            <a:pPr eaLnBrk="1" hangingPunct="1"/>
            <a:r>
              <a:rPr lang="en-US" altLang="en-US" sz="2800" smtClean="0"/>
              <a:t>Parameters that are Subprogram Names: Referencing Environment</a:t>
            </a:r>
          </a:p>
        </p:txBody>
      </p:sp>
      <p:sp>
        <p:nvSpPr>
          <p:cNvPr id="8" name="TextBox 7"/>
          <p:cNvSpPr txBox="1"/>
          <p:nvPr/>
        </p:nvSpPr>
        <p:spPr>
          <a:xfrm>
            <a:off x="3352800" y="1547812"/>
            <a:ext cx="5562600" cy="2431435"/>
          </a:xfrm>
          <a:prstGeom prst="rect">
            <a:avLst/>
          </a:prstGeom>
          <a:noFill/>
          <a:ln>
            <a:noFill/>
          </a:ln>
        </p:spPr>
        <p:txBody>
          <a:bodyPr>
            <a:spAutoFit/>
          </a:bodyPr>
          <a:lstStyle/>
          <a:p>
            <a:pPr>
              <a:defRPr/>
            </a:pPr>
            <a:r>
              <a:rPr lang="en-ZA" sz="2000" u="sng" dirty="0">
                <a:solidFill>
                  <a:srgbClr val="7030A0"/>
                </a:solidFill>
                <a:latin typeface="+mj-lt"/>
              </a:rPr>
              <a:t>Deep binding</a:t>
            </a:r>
            <a:r>
              <a:rPr lang="en-ZA" sz="2000" dirty="0">
                <a:solidFill>
                  <a:srgbClr val="7030A0"/>
                </a:solidFill>
                <a:latin typeface="+mj-lt"/>
              </a:rPr>
              <a:t>:</a:t>
            </a:r>
          </a:p>
          <a:p>
            <a:pPr marL="342900" indent="-342900">
              <a:buFont typeface="Arial" panose="020B0604020202020204" pitchFamily="34" charset="0"/>
              <a:buChar char="•"/>
              <a:defRPr/>
            </a:pPr>
            <a:r>
              <a:rPr lang="en-ZA" sz="1800" dirty="0">
                <a:solidFill>
                  <a:srgbClr val="7030A0"/>
                </a:solidFill>
                <a:latin typeface="+mj-lt"/>
              </a:rPr>
              <a:t>Passed subprogram referencing environment</a:t>
            </a:r>
          </a:p>
          <a:p>
            <a:pPr marL="800100" lvl="1" indent="-342900">
              <a:buFont typeface="Lucida Sans Unicode" panose="020B0602030504020204" pitchFamily="34" charset="0"/>
              <a:buChar char="-"/>
              <a:defRPr/>
            </a:pPr>
            <a:r>
              <a:rPr lang="en-ZA" sz="1600" dirty="0">
                <a:solidFill>
                  <a:srgbClr val="7030A0"/>
                </a:solidFill>
                <a:latin typeface="+mj-lt"/>
              </a:rPr>
              <a:t>The passed subprogram definition</a:t>
            </a:r>
          </a:p>
          <a:p>
            <a:pPr marL="800100" lvl="1" indent="-342900">
              <a:buFont typeface="Lucida Sans Unicode" panose="020B0602030504020204" pitchFamily="34" charset="0"/>
              <a:buChar char="-"/>
              <a:defRPr/>
            </a:pPr>
            <a:r>
              <a:rPr lang="en-ZA" sz="1600" dirty="0">
                <a:solidFill>
                  <a:srgbClr val="7030A0"/>
                </a:solidFill>
                <a:latin typeface="+mj-lt"/>
              </a:rPr>
              <a:t>Natural for static-scoped languages</a:t>
            </a:r>
            <a:endParaRPr lang="en-ZA" sz="1800" dirty="0">
              <a:solidFill>
                <a:srgbClr val="7030A0"/>
              </a:solidFill>
              <a:latin typeface="+mj-lt"/>
            </a:endParaRPr>
          </a:p>
          <a:p>
            <a:pPr marL="342900" indent="-342900">
              <a:buFont typeface="Arial" panose="020B0604020202020204" pitchFamily="34" charset="0"/>
              <a:buChar char="•"/>
              <a:defRPr/>
            </a:pPr>
            <a:r>
              <a:rPr lang="en-ZA" sz="1800" dirty="0">
                <a:solidFill>
                  <a:srgbClr val="7030A0"/>
                </a:solidFill>
                <a:latin typeface="+mj-lt"/>
              </a:rPr>
              <a:t>In the example</a:t>
            </a:r>
            <a:endParaRPr lang="en-ZA" sz="1800" dirty="0">
              <a:solidFill>
                <a:srgbClr val="7030A0"/>
              </a:solidFill>
              <a:latin typeface="Courier New" panose="02070309020205020404" pitchFamily="49" charset="0"/>
              <a:cs typeface="Courier New" panose="02070309020205020404" pitchFamily="49" charset="0"/>
            </a:endParaRPr>
          </a:p>
          <a:p>
            <a:pPr marL="800100" lvl="1" indent="-342900">
              <a:buFont typeface="Lucida Sans Unicode" panose="020B0602030504020204" pitchFamily="34" charset="0"/>
              <a:buChar char="-"/>
              <a:defRPr/>
            </a:pPr>
            <a:r>
              <a:rPr lang="en-ZA" sz="1600" dirty="0">
                <a:solidFill>
                  <a:srgbClr val="7030A0"/>
                </a:solidFill>
                <a:latin typeface="+mj-lt"/>
              </a:rPr>
              <a:t>Referencing environment of </a:t>
            </a:r>
            <a:r>
              <a:rPr lang="en-ZA" sz="1600" dirty="0">
                <a:solidFill>
                  <a:srgbClr val="7030A0"/>
                </a:solidFill>
                <a:latin typeface="Courier New" panose="02070309020205020404" pitchFamily="49" charset="0"/>
                <a:cs typeface="Courier New" panose="02070309020205020404" pitchFamily="49" charset="0"/>
              </a:rPr>
              <a:t>sub2</a:t>
            </a:r>
            <a:r>
              <a:rPr lang="en-ZA" sz="1600" dirty="0">
                <a:solidFill>
                  <a:srgbClr val="7030A0"/>
                </a:solidFill>
                <a:latin typeface="+mj-lt"/>
              </a:rPr>
              <a:t> definition</a:t>
            </a:r>
          </a:p>
          <a:p>
            <a:pPr marL="800100" lvl="1" indent="-342900">
              <a:buFont typeface="Lucida Sans Unicode" panose="020B0602030504020204" pitchFamily="34" charset="0"/>
              <a:buChar char="-"/>
              <a:defRPr/>
            </a:pPr>
            <a:r>
              <a:rPr lang="en-ZA" sz="1600" dirty="0" smtClean="0">
                <a:solidFill>
                  <a:srgbClr val="7030A0"/>
                </a:solidFill>
                <a:latin typeface="+mj-lt"/>
              </a:rPr>
              <a:t>We’re</a:t>
            </a:r>
            <a:r>
              <a:rPr lang="en-ZA" sz="1600" dirty="0" smtClean="0">
                <a:solidFill>
                  <a:srgbClr val="7030A0"/>
                </a:solidFill>
                <a:latin typeface="+mj-lt"/>
              </a:rPr>
              <a:t> assuming </a:t>
            </a:r>
            <a:r>
              <a:rPr lang="en-ZA" sz="1600" dirty="0" smtClean="0">
                <a:solidFill>
                  <a:srgbClr val="7030A0"/>
                </a:solidFill>
                <a:latin typeface="+mj-lt"/>
              </a:rPr>
              <a:t>that static scoping is used</a:t>
            </a:r>
          </a:p>
          <a:p>
            <a:pPr marL="800100" lvl="1" indent="-342900">
              <a:buFont typeface="Lucida Sans Unicode" panose="020B0602030504020204" pitchFamily="34" charset="0"/>
              <a:buChar char="-"/>
              <a:defRPr/>
            </a:pPr>
            <a:r>
              <a:rPr lang="en-ZA" sz="1600" dirty="0" smtClean="0">
                <a:solidFill>
                  <a:srgbClr val="7030A0"/>
                </a:solidFill>
                <a:latin typeface="+mj-lt"/>
              </a:rPr>
              <a:t>Therefore</a:t>
            </a:r>
            <a:r>
              <a:rPr lang="en-ZA" sz="1600" dirty="0">
                <a:solidFill>
                  <a:srgbClr val="7030A0"/>
                </a:solidFill>
                <a:latin typeface="+mj-lt"/>
              </a:rPr>
              <a:t>, the </a:t>
            </a:r>
            <a:r>
              <a:rPr lang="en-ZA" sz="1600" dirty="0">
                <a:solidFill>
                  <a:srgbClr val="7030A0"/>
                </a:solidFill>
                <a:latin typeface="Courier New" panose="02070309020205020404" pitchFamily="49" charset="0"/>
                <a:cs typeface="Courier New" panose="02070309020205020404" pitchFamily="49" charset="0"/>
              </a:rPr>
              <a:t>x</a:t>
            </a:r>
            <a:r>
              <a:rPr lang="en-ZA" sz="1600" dirty="0">
                <a:solidFill>
                  <a:srgbClr val="7030A0"/>
                </a:solidFill>
                <a:latin typeface="+mj-lt"/>
              </a:rPr>
              <a:t> in </a:t>
            </a:r>
            <a:r>
              <a:rPr lang="en-ZA" sz="1600" dirty="0" smtClean="0">
                <a:solidFill>
                  <a:srgbClr val="7030A0"/>
                </a:solidFill>
                <a:latin typeface="Courier New" panose="02070309020205020404" pitchFamily="49" charset="0"/>
                <a:cs typeface="Courier New" panose="02070309020205020404" pitchFamily="49" charset="0"/>
              </a:rPr>
              <a:t>sub1</a:t>
            </a:r>
            <a:r>
              <a:rPr lang="en-ZA" sz="1600" dirty="0" smtClean="0">
                <a:solidFill>
                  <a:srgbClr val="7030A0"/>
                </a:solidFill>
                <a:latin typeface="+mj-lt"/>
                <a:cs typeface="Courier New" panose="02070309020205020404" pitchFamily="49" charset="0"/>
              </a:rPr>
              <a:t> </a:t>
            </a:r>
            <a:r>
              <a:rPr lang="en-ZA" sz="1600" dirty="0">
                <a:solidFill>
                  <a:srgbClr val="7030A0"/>
                </a:solidFill>
                <a:latin typeface="+mj-lt"/>
                <a:cs typeface="Courier New" panose="02070309020205020404" pitchFamily="49" charset="0"/>
              </a:rPr>
              <a:t>is referenced</a:t>
            </a:r>
          </a:p>
          <a:p>
            <a:pPr marL="800100" lvl="1" indent="-342900">
              <a:buFont typeface="Lucida Sans Unicode" panose="020B0602030504020204" pitchFamily="34" charset="0"/>
              <a:buChar char="-"/>
              <a:defRPr/>
            </a:pPr>
            <a:r>
              <a:rPr lang="en-ZA" sz="1600" dirty="0">
                <a:solidFill>
                  <a:srgbClr val="7030A0"/>
                </a:solidFill>
                <a:latin typeface="+mj-lt"/>
              </a:rPr>
              <a:t>The output is </a:t>
            </a:r>
            <a:r>
              <a:rPr lang="en-ZA" sz="1600" dirty="0">
                <a:solidFill>
                  <a:srgbClr val="7030A0"/>
                </a:solidFill>
                <a:latin typeface="Courier New" panose="02070309020205020404" pitchFamily="49" charset="0"/>
                <a:cs typeface="Courier New" panose="02070309020205020404" pitchFamily="49" charset="0"/>
              </a:rPr>
              <a:t>1</a:t>
            </a:r>
            <a:r>
              <a:rPr lang="en-ZA" sz="1600" dirty="0">
                <a:solidFill>
                  <a:srgbClr val="7030A0"/>
                </a:solidFill>
                <a:latin typeface="+mj-lt"/>
                <a:cs typeface="Courier New" panose="02070309020205020404" pitchFamily="49" charset="0"/>
              </a:rPr>
              <a:t> (assuming static scoping)</a:t>
            </a:r>
            <a:endParaRPr lang="en-ZA" sz="2000" dirty="0">
              <a:solidFill>
                <a:srgbClr val="7030A0"/>
              </a:solidFill>
              <a:latin typeface="+mj-lt"/>
              <a:cs typeface="Courier New" panose="02070309020205020404" pitchFamily="49" charset="0"/>
            </a:endParaRPr>
          </a:p>
        </p:txBody>
      </p:sp>
      <p:sp>
        <p:nvSpPr>
          <p:cNvPr id="7"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ntent Placeholder 2"/>
          <p:cNvSpPr>
            <a:spLocks noGrp="1"/>
          </p:cNvSpPr>
          <p:nvPr>
            <p:ph idx="1"/>
          </p:nvPr>
        </p:nvSpPr>
        <p:spPr>
          <a:xfrm>
            <a:off x="533400" y="1600200"/>
            <a:ext cx="8153400" cy="4572000"/>
          </a:xfrm>
        </p:spPr>
        <p:txBody>
          <a:bodyPr/>
          <a:lstStyle/>
          <a:p>
            <a:pPr marL="0" indent="0">
              <a:buFontTx/>
              <a:buNone/>
            </a:pP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sub1()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1</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sub2()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print</a:t>
            </a:r>
            <a:r>
              <a:rPr lang="en-ZA" altLang="en-US" sz="1500" smtClean="0">
                <a:latin typeface="Courier New" panose="02070309020205020404" pitchFamily="49" charset="0"/>
                <a:cs typeface="Courier New" panose="02070309020205020404" pitchFamily="49" charset="0"/>
              </a:rPr>
              <a:t> x</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sub3()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3</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sub4(sub2)</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fun</a:t>
            </a:r>
            <a:r>
              <a:rPr lang="en-ZA" altLang="en-US" sz="1500" smtClean="0">
                <a:latin typeface="Courier New" panose="02070309020205020404" pitchFamily="49" charset="0"/>
                <a:cs typeface="Courier New" panose="02070309020205020404" pitchFamily="49" charset="0"/>
              </a:rPr>
              <a:t> sub4(subx) {</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var</a:t>
            </a:r>
            <a:r>
              <a:rPr lang="en-ZA" altLang="en-US" sz="1500" smtClean="0">
                <a:latin typeface="Courier New" panose="02070309020205020404" pitchFamily="49" charset="0"/>
                <a:cs typeface="Courier New" panose="02070309020205020404" pitchFamily="49" charset="0"/>
              </a:rPr>
              <a:t> x = 4</a:t>
            </a: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subx()</a:t>
            </a:r>
          </a:p>
          <a:p>
            <a:pPr marL="0" indent="0">
              <a:buFontTx/>
              <a:buNone/>
            </a:pPr>
            <a:r>
              <a:rPr lang="en-ZA" altLang="en-US" sz="1500" smtClean="0">
                <a:latin typeface="Courier New" panose="02070309020205020404" pitchFamily="49" charset="0"/>
                <a:cs typeface="Courier New" panose="02070309020205020404" pitchFamily="49" charset="0"/>
              </a:rPr>
              <a:t>   }</a:t>
            </a:r>
          </a:p>
          <a:p>
            <a:pPr marL="0" indent="0">
              <a:buFontTx/>
              <a:buNone/>
            </a:pPr>
            <a:endParaRPr lang="en-ZA" altLang="en-US" sz="500" smtClean="0">
              <a:latin typeface="Courier New" panose="02070309020205020404" pitchFamily="49" charset="0"/>
              <a:cs typeface="Courier New" panose="02070309020205020404" pitchFamily="49" charset="0"/>
            </a:endParaRPr>
          </a:p>
          <a:p>
            <a:pPr marL="0" indent="0">
              <a:buFontTx/>
              <a:buNone/>
            </a:pPr>
            <a:r>
              <a:rPr lang="en-ZA" altLang="en-US" sz="1500" smtClean="0">
                <a:latin typeface="Courier New" panose="02070309020205020404" pitchFamily="49" charset="0"/>
                <a:cs typeface="Courier New" panose="02070309020205020404" pitchFamily="49" charset="0"/>
              </a:rPr>
              <a:t>   </a:t>
            </a:r>
            <a:r>
              <a:rPr lang="en-ZA" altLang="en-US" sz="1500" b="1" smtClean="0">
                <a:latin typeface="Courier New" panose="02070309020205020404" pitchFamily="49" charset="0"/>
                <a:cs typeface="Courier New" panose="02070309020205020404" pitchFamily="49" charset="0"/>
              </a:rPr>
              <a:t>call</a:t>
            </a:r>
            <a:r>
              <a:rPr lang="en-ZA" altLang="en-US" sz="1500" smtClean="0">
                <a:latin typeface="Courier New" panose="02070309020205020404" pitchFamily="49" charset="0"/>
                <a:cs typeface="Courier New" panose="02070309020205020404" pitchFamily="49" charset="0"/>
              </a:rPr>
              <a:t> sub3()</a:t>
            </a:r>
          </a:p>
          <a:p>
            <a:pPr marL="0" indent="0">
              <a:buFontTx/>
              <a:buNone/>
            </a:pPr>
            <a:r>
              <a:rPr lang="en-ZA" altLang="en-US" sz="1500" smtClean="0">
                <a:latin typeface="Courier New" panose="02070309020205020404" pitchFamily="49" charset="0"/>
                <a:cs typeface="Courier New" panose="02070309020205020404" pitchFamily="49" charset="0"/>
              </a:rPr>
              <a:t>}</a:t>
            </a:r>
          </a:p>
        </p:txBody>
      </p:sp>
      <p:sp>
        <p:nvSpPr>
          <p:cNvPr id="5" name="Slide Number Placeholder 4"/>
          <p:cNvSpPr>
            <a:spLocks noGrp="1"/>
          </p:cNvSpPr>
          <p:nvPr>
            <p:ph type="sldNum" sz="quarter" idx="11"/>
          </p:nvPr>
        </p:nvSpPr>
        <p:spPr/>
        <p:txBody>
          <a:bodyPr/>
          <a:lstStyle/>
          <a:p>
            <a:pPr>
              <a:defRPr/>
            </a:pPr>
            <a:r>
              <a:rPr lang="en-US" altLang="en-US" smtClean="0"/>
              <a:t>1-</a:t>
            </a:r>
            <a:fld id="{19E970D1-EDF9-413A-BCF9-261ED12B7DFF}" type="slidenum">
              <a:rPr lang="en-US" altLang="en-US" smtClean="0"/>
              <a:pPr>
                <a:defRPr/>
              </a:pPr>
              <a:t>32</a:t>
            </a:fld>
            <a:endParaRPr lang="en-US" altLang="en-US"/>
          </a:p>
        </p:txBody>
      </p:sp>
      <p:sp>
        <p:nvSpPr>
          <p:cNvPr id="100357" name="Rectangle 2"/>
          <p:cNvSpPr>
            <a:spLocks noGrp="1" noChangeArrowheads="1"/>
          </p:cNvSpPr>
          <p:nvPr>
            <p:ph type="title"/>
          </p:nvPr>
        </p:nvSpPr>
        <p:spPr>
          <a:xfrm>
            <a:off x="609600" y="152400"/>
            <a:ext cx="8153400" cy="1143000"/>
          </a:xfrm>
        </p:spPr>
        <p:txBody>
          <a:bodyPr/>
          <a:lstStyle/>
          <a:p>
            <a:pPr eaLnBrk="1" hangingPunct="1"/>
            <a:r>
              <a:rPr lang="en-US" altLang="en-US" sz="2800" smtClean="0"/>
              <a:t>Parameters that are Subprogram Names: Referencing Environment</a:t>
            </a:r>
          </a:p>
        </p:txBody>
      </p:sp>
      <p:sp>
        <p:nvSpPr>
          <p:cNvPr id="8" name="TextBox 7"/>
          <p:cNvSpPr txBox="1"/>
          <p:nvPr/>
        </p:nvSpPr>
        <p:spPr>
          <a:xfrm>
            <a:off x="3352800" y="1566862"/>
            <a:ext cx="5562600" cy="1938338"/>
          </a:xfrm>
          <a:prstGeom prst="rect">
            <a:avLst/>
          </a:prstGeom>
          <a:noFill/>
          <a:ln>
            <a:noFill/>
          </a:ln>
        </p:spPr>
        <p:txBody>
          <a:bodyPr>
            <a:spAutoFit/>
          </a:bodyPr>
          <a:lstStyle/>
          <a:p>
            <a:pPr>
              <a:defRPr/>
            </a:pPr>
            <a:r>
              <a:rPr lang="en-ZA" sz="2000" u="sng" dirty="0">
                <a:solidFill>
                  <a:srgbClr val="7030A0"/>
                </a:solidFill>
                <a:latin typeface="+mj-lt"/>
              </a:rPr>
              <a:t>Ad-hoc binding</a:t>
            </a:r>
            <a:r>
              <a:rPr lang="en-ZA" sz="2000" dirty="0">
                <a:solidFill>
                  <a:srgbClr val="7030A0"/>
                </a:solidFill>
                <a:latin typeface="+mj-lt"/>
              </a:rPr>
              <a:t>:</a:t>
            </a:r>
          </a:p>
          <a:p>
            <a:pPr marL="342900" indent="-342900">
              <a:buFont typeface="Arial" panose="020B0604020202020204" pitchFamily="34" charset="0"/>
              <a:buChar char="•"/>
              <a:defRPr/>
            </a:pPr>
            <a:r>
              <a:rPr lang="en-ZA" sz="1800" dirty="0">
                <a:solidFill>
                  <a:srgbClr val="7030A0"/>
                </a:solidFill>
                <a:latin typeface="+mj-lt"/>
              </a:rPr>
              <a:t>Passed subprogram referencing environment</a:t>
            </a:r>
          </a:p>
          <a:p>
            <a:pPr marL="800100" lvl="1" indent="-342900">
              <a:buFont typeface="Lucida Sans Unicode" panose="020B0602030504020204" pitchFamily="34" charset="0"/>
              <a:buChar char="-"/>
              <a:defRPr/>
            </a:pPr>
            <a:r>
              <a:rPr lang="en-ZA" sz="1600" dirty="0">
                <a:solidFill>
                  <a:srgbClr val="7030A0"/>
                </a:solidFill>
                <a:latin typeface="+mj-lt"/>
              </a:rPr>
              <a:t>Call statement that passed the subprogram</a:t>
            </a:r>
          </a:p>
          <a:p>
            <a:pPr marL="342900" indent="-342900">
              <a:buFont typeface="Arial" panose="020B0604020202020204" pitchFamily="34" charset="0"/>
              <a:buChar char="•"/>
              <a:defRPr/>
            </a:pPr>
            <a:r>
              <a:rPr lang="en-ZA" sz="1800" dirty="0">
                <a:solidFill>
                  <a:srgbClr val="7030A0"/>
                </a:solidFill>
                <a:latin typeface="+mj-lt"/>
              </a:rPr>
              <a:t>In the example</a:t>
            </a:r>
            <a:endParaRPr lang="en-ZA" sz="1800" dirty="0">
              <a:solidFill>
                <a:srgbClr val="7030A0"/>
              </a:solidFill>
              <a:latin typeface="Courier New" panose="02070309020205020404" pitchFamily="49" charset="0"/>
              <a:cs typeface="Courier New" panose="02070309020205020404" pitchFamily="49" charset="0"/>
            </a:endParaRPr>
          </a:p>
          <a:p>
            <a:pPr marL="800100" lvl="1" indent="-342900">
              <a:buFont typeface="Lucida Sans Unicode" panose="020B0602030504020204" pitchFamily="34" charset="0"/>
              <a:buChar char="-"/>
              <a:defRPr/>
            </a:pPr>
            <a:r>
              <a:rPr lang="en-ZA" sz="1600" dirty="0">
                <a:solidFill>
                  <a:srgbClr val="7030A0"/>
                </a:solidFill>
                <a:latin typeface="+mj-lt"/>
              </a:rPr>
              <a:t>Referencing environment of the </a:t>
            </a:r>
            <a:r>
              <a:rPr lang="en-ZA" sz="1600" dirty="0">
                <a:solidFill>
                  <a:srgbClr val="7030A0"/>
                </a:solidFill>
                <a:latin typeface="Courier New" panose="02070309020205020404" pitchFamily="49" charset="0"/>
                <a:cs typeface="Courier New" panose="02070309020205020404" pitchFamily="49" charset="0"/>
              </a:rPr>
              <a:t>sub4</a:t>
            </a:r>
            <a:r>
              <a:rPr lang="en-ZA" sz="1600" dirty="0">
                <a:solidFill>
                  <a:srgbClr val="7030A0"/>
                </a:solidFill>
                <a:latin typeface="+mj-lt"/>
              </a:rPr>
              <a:t> call</a:t>
            </a:r>
          </a:p>
          <a:p>
            <a:pPr marL="800100" lvl="1" indent="-342900">
              <a:buFont typeface="Lucida Sans Unicode" panose="020B0602030504020204" pitchFamily="34" charset="0"/>
              <a:buChar char="-"/>
              <a:defRPr/>
            </a:pPr>
            <a:r>
              <a:rPr lang="en-ZA" sz="1600" dirty="0">
                <a:solidFill>
                  <a:srgbClr val="7030A0"/>
                </a:solidFill>
                <a:latin typeface="+mj-lt"/>
              </a:rPr>
              <a:t>Therefore, the </a:t>
            </a:r>
            <a:r>
              <a:rPr lang="en-ZA" sz="1600" dirty="0">
                <a:solidFill>
                  <a:srgbClr val="7030A0"/>
                </a:solidFill>
                <a:latin typeface="Courier New" panose="02070309020205020404" pitchFamily="49" charset="0"/>
                <a:cs typeface="Courier New" panose="02070309020205020404" pitchFamily="49" charset="0"/>
              </a:rPr>
              <a:t>x</a:t>
            </a:r>
            <a:r>
              <a:rPr lang="en-ZA" sz="1600" dirty="0">
                <a:solidFill>
                  <a:srgbClr val="7030A0"/>
                </a:solidFill>
                <a:latin typeface="+mj-lt"/>
              </a:rPr>
              <a:t> in </a:t>
            </a:r>
            <a:r>
              <a:rPr lang="en-ZA" sz="1600" dirty="0">
                <a:solidFill>
                  <a:srgbClr val="7030A0"/>
                </a:solidFill>
                <a:latin typeface="Courier New" panose="02070309020205020404" pitchFamily="49" charset="0"/>
                <a:cs typeface="Courier New" panose="02070309020205020404" pitchFamily="49" charset="0"/>
              </a:rPr>
              <a:t>sub3</a:t>
            </a:r>
            <a:r>
              <a:rPr lang="en-ZA" sz="1600" dirty="0">
                <a:solidFill>
                  <a:srgbClr val="7030A0"/>
                </a:solidFill>
                <a:latin typeface="+mj-lt"/>
                <a:cs typeface="Courier New" panose="02070309020205020404" pitchFamily="49" charset="0"/>
              </a:rPr>
              <a:t> is referenced</a:t>
            </a:r>
          </a:p>
          <a:p>
            <a:pPr marL="800100" lvl="1" indent="-342900">
              <a:buFont typeface="Lucida Sans Unicode" panose="020B0602030504020204" pitchFamily="34" charset="0"/>
              <a:buChar char="-"/>
              <a:defRPr/>
            </a:pPr>
            <a:r>
              <a:rPr lang="en-ZA" sz="1600" dirty="0">
                <a:solidFill>
                  <a:srgbClr val="7030A0"/>
                </a:solidFill>
                <a:latin typeface="+mj-lt"/>
              </a:rPr>
              <a:t>The output is </a:t>
            </a:r>
            <a:r>
              <a:rPr lang="en-ZA" sz="1600" dirty="0">
                <a:solidFill>
                  <a:srgbClr val="7030A0"/>
                </a:solidFill>
                <a:latin typeface="Courier New" panose="02070309020205020404" pitchFamily="49" charset="0"/>
                <a:cs typeface="Courier New" panose="02070309020205020404" pitchFamily="49" charset="0"/>
              </a:rPr>
              <a:t>3</a:t>
            </a:r>
            <a:endParaRPr lang="en-ZA" sz="2000" dirty="0">
              <a:solidFill>
                <a:srgbClr val="7030A0"/>
              </a:solidFill>
              <a:latin typeface="+mj-lt"/>
              <a:cs typeface="Courier New" panose="02070309020205020404" pitchFamily="49" charset="0"/>
            </a:endParaRPr>
          </a:p>
        </p:txBody>
      </p:sp>
      <p:sp>
        <p:nvSpPr>
          <p:cNvPr id="7" name="Footer Placeholder 3"/>
          <p:cNvSpPr>
            <a:spLocks noGrp="1"/>
          </p:cNvSpPr>
          <p:nvPr>
            <p:ph type="ftr" sz="quarter" idx="10"/>
          </p:nvPr>
        </p:nvSpPr>
        <p:spPr>
          <a:xfrm>
            <a:off x="685800" y="6248400"/>
            <a:ext cx="4191000" cy="457200"/>
          </a:xfrm>
        </p:spPr>
        <p:txBody>
          <a:bodyPr/>
          <a:lstStyle/>
          <a:p>
            <a:pPr>
              <a:defRPr/>
            </a:pPr>
            <a:r>
              <a:rPr lang="en-US" dirty="0"/>
              <a:t>Copyright © </a:t>
            </a:r>
            <a:r>
              <a:rPr lang="en-US" dirty="0" smtClean="0"/>
              <a:t>2023 </a:t>
            </a:r>
            <a:r>
              <a:rPr lang="en-US" dirty="0"/>
              <a:t>Addison-Wesley. All rights reserved.</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12199</TotalTime>
  <Words>3652</Words>
  <Application>Microsoft Office PowerPoint</Application>
  <PresentationFormat>On-screen Show (4:3)</PresentationFormat>
  <Paragraphs>614</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Courier New</vt:lpstr>
      <vt:lpstr>Lucida Sans Unicode</vt:lpstr>
      <vt:lpstr>Times</vt:lpstr>
      <vt:lpstr>1_sebesta</vt:lpstr>
      <vt:lpstr>Chapter 9 Part 2</vt:lpstr>
      <vt:lpstr>Chapter 9 Topics</vt:lpstr>
      <vt:lpstr>Semantic Models of Parameter Passing</vt:lpstr>
      <vt:lpstr>Conceptual Models of Transfer</vt:lpstr>
      <vt:lpstr>Pass-by-Value (In Mode)</vt:lpstr>
      <vt:lpstr>Pass-by-Value (In Mode)</vt:lpstr>
      <vt:lpstr>Pass-by-Result (Out Mode)</vt:lpstr>
      <vt:lpstr>Pass-by-Result (Out Mode)</vt:lpstr>
      <vt:lpstr>Pass-by-Value-Result (inout Mode)</vt:lpstr>
      <vt:lpstr>Pass-by-Reference (Inout Mode)</vt:lpstr>
      <vt:lpstr>Pass-by-Reference (Inout Mode)</vt:lpstr>
      <vt:lpstr>Pass-by-Reference (Inout Mode)</vt:lpstr>
      <vt:lpstr>Pass-by-Name (Inout Mode)</vt:lpstr>
      <vt:lpstr>Pass-by-Name (Inout Mode)</vt:lpstr>
      <vt:lpstr>Pass-by-Name (Inout Mode)</vt:lpstr>
      <vt:lpstr>Parameter Passing Method Examples</vt:lpstr>
      <vt:lpstr>Parameter Passing Method Examples</vt:lpstr>
      <vt:lpstr>Parameter Passing Method Examples</vt:lpstr>
      <vt:lpstr>Type Checking Parameters</vt:lpstr>
      <vt:lpstr>Type Checking Parameters</vt:lpstr>
      <vt:lpstr>Multidimensional Arrays as Parameters</vt:lpstr>
      <vt:lpstr>Multidimensional Arrays as Parameters</vt:lpstr>
      <vt:lpstr>Multidimensional Arrays as Parameters</vt:lpstr>
      <vt:lpstr>Calling Subprograms Indirectly</vt:lpstr>
      <vt:lpstr>Calling Subprograms Indirectly</vt:lpstr>
      <vt:lpstr>Parameters that are Subprogram Names</vt:lpstr>
      <vt:lpstr>Parameters that are Subprogram Names: Parameter Type Checking</vt:lpstr>
      <vt:lpstr>Parameters that are Subprogram Names: Referencing Environment</vt:lpstr>
      <vt:lpstr>Parameters that are Subprogram Names: Referencing Environment</vt:lpstr>
      <vt:lpstr>Parameters that are Subprogram Names: Referencing Environment</vt:lpstr>
      <vt:lpstr>Parameters that are Subprogram Names: Referencing Environment</vt:lpstr>
      <vt:lpstr>Parameters that are Subprogram Names: Referencing Environment</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725</cp:revision>
  <dcterms:created xsi:type="dcterms:W3CDTF">2003-08-01T12:29:19Z</dcterms:created>
  <dcterms:modified xsi:type="dcterms:W3CDTF">2026-05-14T23:29:29Z</dcterms:modified>
</cp:coreProperties>
</file>