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7"/>
  </p:notesMasterIdLst>
  <p:sldIdLst>
    <p:sldId id="345" r:id="rId2"/>
    <p:sldId id="413" r:id="rId3"/>
    <p:sldId id="378" r:id="rId4"/>
    <p:sldId id="415" r:id="rId5"/>
    <p:sldId id="379" r:id="rId6"/>
    <p:sldId id="380" r:id="rId7"/>
    <p:sldId id="403" r:id="rId8"/>
    <p:sldId id="416" r:id="rId9"/>
    <p:sldId id="404" r:id="rId10"/>
    <p:sldId id="405" r:id="rId11"/>
    <p:sldId id="406" r:id="rId12"/>
    <p:sldId id="407" r:id="rId13"/>
    <p:sldId id="408" r:id="rId14"/>
    <p:sldId id="382" r:id="rId15"/>
    <p:sldId id="418" r:id="rId16"/>
    <p:sldId id="419" r:id="rId17"/>
    <p:sldId id="420" r:id="rId18"/>
    <p:sldId id="387" r:id="rId19"/>
    <p:sldId id="410" r:id="rId20"/>
    <p:sldId id="411" r:id="rId21"/>
    <p:sldId id="421" r:id="rId22"/>
    <p:sldId id="389" r:id="rId23"/>
    <p:sldId id="422" r:id="rId24"/>
    <p:sldId id="318" r:id="rId25"/>
    <p:sldId id="320" r:id="rId2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3333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91" autoAdjust="0"/>
    <p:restoredTop sz="86424" autoAdjust="0"/>
  </p:normalViewPr>
  <p:slideViewPr>
    <p:cSldViewPr>
      <p:cViewPr varScale="1">
        <p:scale>
          <a:sx n="73" d="100"/>
          <a:sy n="73" d="100"/>
        </p:scale>
        <p:origin x="11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D0214BAA-F996-4E66-846E-74E1335CBF9F}" type="slidenum">
              <a:rPr lang="en-US" altLang="en-US"/>
              <a:pPr>
                <a:defRPr/>
              </a:pPr>
              <a:t>‹#›</a:t>
            </a:fld>
            <a:endParaRPr lang="en-US" altLang="en-US"/>
          </a:p>
        </p:txBody>
      </p:sp>
    </p:spTree>
    <p:extLst>
      <p:ext uri="{BB962C8B-B14F-4D97-AF65-F5344CB8AC3E}">
        <p14:creationId xmlns:p14="http://schemas.microsoft.com/office/powerpoint/2010/main" val="15830790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EB19A44-522D-425B-9B29-8152FA1D96C9}"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932033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226CF7-001B-4F15-85EC-C0DBB46FD30E}" type="slidenum">
              <a:rPr lang="en-US" altLang="en-US" sz="1200" smtClean="0"/>
              <a:pPr/>
              <a:t>2</a:t>
            </a:fld>
            <a:endParaRPr lang="en-US" altLang="en-US" sz="1200" smtClean="0"/>
          </a:p>
        </p:txBody>
      </p:sp>
      <p:sp>
        <p:nvSpPr>
          <p:cNvPr id="8195" name="Rectangle 2"/>
          <p:cNvSpPr>
            <a:spLocks noGrp="1" noRot="1" noChangeAspect="1" noChangeArrowheads="1" noTextEdit="1"/>
          </p:cNvSpPr>
          <p:nvPr>
            <p:ph type="sldImg"/>
          </p:nvPr>
        </p:nvSpPr>
        <p:spPr>
          <a:solidFill>
            <a:srgbClr val="FFFFFF"/>
          </a:solidFill>
          <a:ln/>
        </p:spPr>
      </p:sp>
      <p:sp>
        <p:nvSpPr>
          <p:cNvPr id="8196"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3644250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5086B4B-413E-4F18-8BB9-84165341A7D4}" type="slidenum">
              <a:rPr lang="en-US" altLang="en-US" sz="1300" smtClean="0"/>
              <a:pPr/>
              <a:t>3</a:t>
            </a:fld>
            <a:endParaRPr lang="en-US" altLang="en-US" sz="1300" smtClean="0"/>
          </a:p>
        </p:txBody>
      </p:sp>
      <p:sp>
        <p:nvSpPr>
          <p:cNvPr id="103427" name="Rectangle 2"/>
          <p:cNvSpPr>
            <a:spLocks noGrp="1" noRot="1" noChangeAspect="1" noChangeArrowheads="1" noTextEdit="1"/>
          </p:cNvSpPr>
          <p:nvPr>
            <p:ph type="sldImg"/>
          </p:nvPr>
        </p:nvSpPr>
        <p:spPr>
          <a:xfrm>
            <a:off x="992188" y="768350"/>
            <a:ext cx="5114925" cy="3836988"/>
          </a:xfrm>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2275397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5086B4B-413E-4F18-8BB9-84165341A7D4}" type="slidenum">
              <a:rPr lang="en-US" altLang="en-US" sz="1300" smtClean="0"/>
              <a:pPr/>
              <a:t>4</a:t>
            </a:fld>
            <a:endParaRPr lang="en-US" altLang="en-US" sz="1300" smtClean="0"/>
          </a:p>
        </p:txBody>
      </p:sp>
      <p:sp>
        <p:nvSpPr>
          <p:cNvPr id="103427" name="Rectangle 2"/>
          <p:cNvSpPr>
            <a:spLocks noGrp="1" noRot="1" noChangeAspect="1" noChangeArrowheads="1" noTextEdit="1"/>
          </p:cNvSpPr>
          <p:nvPr>
            <p:ph type="sldImg"/>
          </p:nvPr>
        </p:nvSpPr>
        <p:spPr>
          <a:xfrm>
            <a:off x="992188" y="768350"/>
            <a:ext cx="5114925" cy="3836988"/>
          </a:xfrm>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Can you explain why type coercion complicates the mapping process for overloaded subprograms in languages like C++, Java, and C#?</a:t>
            </a:r>
          </a:p>
          <a:p>
            <a:pPr eaLnBrk="1" hangingPunct="1"/>
            <a:endParaRPr lang="en-GB" altLang="en-US" dirty="0" smtClean="0"/>
          </a:p>
          <a:p>
            <a:pPr eaLnBrk="1" hangingPunct="1"/>
            <a:r>
              <a:rPr lang="en-GB" altLang="en-US" dirty="0" smtClean="0"/>
              <a:t>Try to answer the question under the last point.</a:t>
            </a:r>
          </a:p>
        </p:txBody>
      </p:sp>
    </p:spTree>
    <p:extLst>
      <p:ext uri="{BB962C8B-B14F-4D97-AF65-F5344CB8AC3E}">
        <p14:creationId xmlns:p14="http://schemas.microsoft.com/office/powerpoint/2010/main" val="1605312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064C74-307D-4CDC-8BDA-BC8B1ED1C2E2}" type="slidenum">
              <a:rPr lang="en-US" altLang="en-US" sz="1300" smtClean="0"/>
              <a:pPr/>
              <a:t>5</a:t>
            </a:fld>
            <a:endParaRPr lang="en-US" altLang="en-US" sz="1300" smtClean="0"/>
          </a:p>
        </p:txBody>
      </p:sp>
      <p:sp>
        <p:nvSpPr>
          <p:cNvPr id="105475" name="Rectangle 2"/>
          <p:cNvSpPr>
            <a:spLocks noGrp="1" noRot="1" noChangeAspect="1" noChangeArrowheads="1" noTextEdit="1"/>
          </p:cNvSpPr>
          <p:nvPr>
            <p:ph type="sldImg"/>
          </p:nvPr>
        </p:nvSpPr>
        <p:spPr>
          <a:xfrm>
            <a:off x="992188" y="768350"/>
            <a:ext cx="5114925" cy="3836988"/>
          </a:xfrm>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686351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It is also possible to specify multiple generic parameters for a C++ generic subprogram.</a:t>
            </a:r>
            <a:endParaRPr lang="en-ZA" dirty="0"/>
          </a:p>
        </p:txBody>
      </p:sp>
      <p:sp>
        <p:nvSpPr>
          <p:cNvPr id="4" name="Slide Number Placeholder 3"/>
          <p:cNvSpPr>
            <a:spLocks noGrp="1"/>
          </p:cNvSpPr>
          <p:nvPr>
            <p:ph type="sldNum" sz="quarter" idx="10"/>
          </p:nvPr>
        </p:nvSpPr>
        <p:spPr/>
        <p:txBody>
          <a:bodyPr/>
          <a:lstStyle/>
          <a:p>
            <a:pPr>
              <a:defRPr/>
            </a:pPr>
            <a:fld id="{D0214BAA-F996-4E66-846E-74E1335CBF9F}" type="slidenum">
              <a:rPr lang="en-US" altLang="en-US" smtClean="0"/>
              <a:pPr>
                <a:defRPr/>
              </a:pPr>
              <a:t>6</a:t>
            </a:fld>
            <a:endParaRPr lang="en-US" altLang="en-US"/>
          </a:p>
        </p:txBody>
      </p:sp>
    </p:spTree>
    <p:extLst>
      <p:ext uri="{BB962C8B-B14F-4D97-AF65-F5344CB8AC3E}">
        <p14:creationId xmlns:p14="http://schemas.microsoft.com/office/powerpoint/2010/main" val="3334147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smtClean="0"/>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30E8AAB-6701-42AA-AACC-71A4F1F34A77}" type="slidenum">
              <a:rPr lang="en-US" altLang="en-US" sz="1200" smtClean="0"/>
              <a:pPr/>
              <a:t>7</a:t>
            </a:fld>
            <a:endParaRPr lang="en-US" altLang="en-US" sz="1200" smtClean="0"/>
          </a:p>
        </p:txBody>
      </p:sp>
    </p:spTree>
    <p:extLst>
      <p:ext uri="{BB962C8B-B14F-4D97-AF65-F5344CB8AC3E}">
        <p14:creationId xmlns:p14="http://schemas.microsoft.com/office/powerpoint/2010/main" val="1638418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smtClean="0"/>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30E8AAB-6701-42AA-AACC-71A4F1F34A77}" type="slidenum">
              <a:rPr lang="en-US" altLang="en-US" sz="1200" smtClean="0"/>
              <a:pPr/>
              <a:t>8</a:t>
            </a:fld>
            <a:endParaRPr lang="en-US" altLang="en-US" sz="1200" smtClean="0"/>
          </a:p>
        </p:txBody>
      </p:sp>
    </p:spTree>
    <p:extLst>
      <p:ext uri="{BB962C8B-B14F-4D97-AF65-F5344CB8AC3E}">
        <p14:creationId xmlns:p14="http://schemas.microsoft.com/office/powerpoint/2010/main" val="1381560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The discussion on this slide and the next two is the most important part of understanding how generics in Java differ from generics in C++, and is important for the exam.</a:t>
            </a:r>
          </a:p>
          <a:p>
            <a:endParaRPr lang="en-ZA" altLang="en-US" dirty="0" smtClean="0"/>
          </a:p>
          <a:p>
            <a:r>
              <a:rPr lang="en-GB" altLang="en-US" dirty="0" smtClean="0"/>
              <a:t>Generics in Java are not strictly required (and weren’t included in earlier versions of Java). They increase the reliability of programs by detecting type errors at compile time, rather than runtime.</a:t>
            </a:r>
            <a:endParaRPr lang="en-ZA" altLang="en-US" dirty="0" smtClean="0"/>
          </a:p>
        </p:txBody>
      </p:sp>
      <p:sp>
        <p:nvSpPr>
          <p:cNvPr id="110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48E64BE-94E2-4474-BFF6-E6DBD3876C52}" type="slidenum">
              <a:rPr lang="en-US" altLang="en-US" sz="1200" smtClean="0"/>
              <a:pPr/>
              <a:t>9</a:t>
            </a:fld>
            <a:endParaRPr lang="en-US" altLang="en-US" sz="1200" smtClean="0"/>
          </a:p>
        </p:txBody>
      </p:sp>
    </p:spTree>
    <p:extLst>
      <p:ext uri="{BB962C8B-B14F-4D97-AF65-F5344CB8AC3E}">
        <p14:creationId xmlns:p14="http://schemas.microsoft.com/office/powerpoint/2010/main" val="1186419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smtClean="0"/>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41AA0B6-5D42-4AD5-A820-9A14E4439AD8}" type="slidenum">
              <a:rPr lang="en-US" altLang="en-US" sz="1200" smtClean="0"/>
              <a:pPr/>
              <a:t>10</a:t>
            </a:fld>
            <a:endParaRPr lang="en-US" altLang="en-US" sz="1200" smtClean="0"/>
          </a:p>
        </p:txBody>
      </p:sp>
    </p:spTree>
    <p:extLst>
      <p:ext uri="{BB962C8B-B14F-4D97-AF65-F5344CB8AC3E}">
        <p14:creationId xmlns:p14="http://schemas.microsoft.com/office/powerpoint/2010/main" val="1182073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smtClean="0"/>
              <a:t>If the casts were not automatically inserted, any type errors would only be detected at runtime. This would work, but would make it more difficult to debug generic methods. As an example, imagine if we implemented doIt to simply received an Object array, and returned an Object. Then we send a String array as the parameter, but cast the returned value to a Student object. Of course, the return will be a String, but this can’t be detected at compile time. Only at runtime will it become clear that the return type doesn’t match with the variable you’re assigning to.</a:t>
            </a:r>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59AD95E-FD73-4AAF-B148-BA98205AD9AA}" type="slidenum">
              <a:rPr lang="en-US" altLang="en-US" sz="1200" smtClean="0"/>
              <a:pPr/>
              <a:t>11</a:t>
            </a:fld>
            <a:endParaRPr lang="en-US" altLang="en-US" sz="1200" smtClean="0"/>
          </a:p>
        </p:txBody>
      </p:sp>
    </p:spTree>
    <p:extLst>
      <p:ext uri="{BB962C8B-B14F-4D97-AF65-F5344CB8AC3E}">
        <p14:creationId xmlns:p14="http://schemas.microsoft.com/office/powerpoint/2010/main" val="2543756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smtClean="0"/>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7D1BAA0-4B56-4BC3-948D-71D704CAA0A0}" type="slidenum">
              <a:rPr lang="en-US" altLang="en-US" sz="1200" smtClean="0"/>
              <a:pPr/>
              <a:t>12</a:t>
            </a:fld>
            <a:endParaRPr lang="en-US" altLang="en-US" sz="1200" smtClean="0"/>
          </a:p>
        </p:txBody>
      </p:sp>
    </p:spTree>
    <p:extLst>
      <p:ext uri="{BB962C8B-B14F-4D97-AF65-F5344CB8AC3E}">
        <p14:creationId xmlns:p14="http://schemas.microsoft.com/office/powerpoint/2010/main" val="2214472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smtClean="0"/>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E3135E6-3D73-4994-8E08-C4FCA6E0E720}" type="slidenum">
              <a:rPr lang="en-US" altLang="en-US" sz="1200" smtClean="0"/>
              <a:pPr/>
              <a:t>13</a:t>
            </a:fld>
            <a:endParaRPr lang="en-US" altLang="en-US" sz="1200" smtClean="0"/>
          </a:p>
        </p:txBody>
      </p:sp>
    </p:spTree>
    <p:extLst>
      <p:ext uri="{BB962C8B-B14F-4D97-AF65-F5344CB8AC3E}">
        <p14:creationId xmlns:p14="http://schemas.microsoft.com/office/powerpoint/2010/main" val="28061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CCE01D8-2055-4895-A087-ACCB9B8DDB31}" type="slidenum">
              <a:rPr lang="en-US" altLang="en-US" sz="1300" smtClean="0"/>
              <a:pPr/>
              <a:t>14</a:t>
            </a:fld>
            <a:endParaRPr lang="en-US" altLang="en-US" sz="1300" smtClean="0"/>
          </a:p>
        </p:txBody>
      </p:sp>
      <p:sp>
        <p:nvSpPr>
          <p:cNvPr id="120835" name="Rectangle 2"/>
          <p:cNvSpPr>
            <a:spLocks noGrp="1" noRot="1" noChangeAspect="1" noChangeArrowheads="1" noTextEdit="1"/>
          </p:cNvSpPr>
          <p:nvPr>
            <p:ph type="sldImg"/>
          </p:nvPr>
        </p:nvSpPr>
        <p:spPr>
          <a:xfrm>
            <a:off x="992188" y="768350"/>
            <a:ext cx="5114925" cy="3836988"/>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More specifically, if a generic method is used with a primitive type, a new version of the method for the specified type is created at runtime. If the same generic method is used for any kind of object type, a new version of the method for</a:t>
            </a:r>
            <a:r>
              <a:rPr lang="en-GB" altLang="en-US" baseline="0" dirty="0" smtClean="0"/>
              <a:t> an object is created. Any future use of the generic method with a different object type will reuse the already created version of the method that works with objects.</a:t>
            </a:r>
          </a:p>
          <a:p>
            <a:pPr eaLnBrk="1" hangingPunct="1"/>
            <a:endParaRPr lang="en-GB" altLang="en-US" baseline="0" dirty="0" smtClean="0"/>
          </a:p>
          <a:p>
            <a:pPr eaLnBrk="1" hangingPunct="1"/>
            <a:r>
              <a:rPr lang="en-GB" altLang="en-US" baseline="0" dirty="0" smtClean="0"/>
              <a:t>So, essentially, C# uses Java’s approach when the generic type is an object. If the generic type is a primitive type, C# works more like C++ by creating different versions of the generic method. However, these different versions are created at runtime, not compile time.</a:t>
            </a:r>
            <a:endParaRPr lang="en-GB" altLang="en-US" dirty="0" smtClean="0"/>
          </a:p>
        </p:txBody>
      </p:sp>
    </p:spTree>
    <p:extLst>
      <p:ext uri="{BB962C8B-B14F-4D97-AF65-F5344CB8AC3E}">
        <p14:creationId xmlns:p14="http://schemas.microsoft.com/office/powerpoint/2010/main" val="3621353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CCE01D8-2055-4895-A087-ACCB9B8DDB31}" type="slidenum">
              <a:rPr lang="en-US" altLang="en-US" sz="1300" smtClean="0"/>
              <a:pPr/>
              <a:t>15</a:t>
            </a:fld>
            <a:endParaRPr lang="en-US" altLang="en-US" sz="1300" smtClean="0"/>
          </a:p>
        </p:txBody>
      </p:sp>
      <p:sp>
        <p:nvSpPr>
          <p:cNvPr id="120835" name="Rectangle 2"/>
          <p:cNvSpPr>
            <a:spLocks noGrp="1" noRot="1" noChangeAspect="1" noChangeArrowheads="1" noTextEdit="1"/>
          </p:cNvSpPr>
          <p:nvPr>
            <p:ph type="sldImg"/>
          </p:nvPr>
        </p:nvSpPr>
        <p:spPr>
          <a:xfrm>
            <a:off x="992188" y="768350"/>
            <a:ext cx="5114925" cy="3836988"/>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606452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CCE01D8-2055-4895-A087-ACCB9B8DDB31}" type="slidenum">
              <a:rPr lang="en-US" altLang="en-US" sz="1300" smtClean="0"/>
              <a:pPr/>
              <a:t>16</a:t>
            </a:fld>
            <a:endParaRPr lang="en-US" altLang="en-US" sz="1300" smtClean="0"/>
          </a:p>
        </p:txBody>
      </p:sp>
      <p:sp>
        <p:nvSpPr>
          <p:cNvPr id="120835" name="Rectangle 2"/>
          <p:cNvSpPr>
            <a:spLocks noGrp="1" noRot="1" noChangeAspect="1" noChangeArrowheads="1" noTextEdit="1"/>
          </p:cNvSpPr>
          <p:nvPr>
            <p:ph type="sldImg"/>
          </p:nvPr>
        </p:nvSpPr>
        <p:spPr>
          <a:xfrm>
            <a:off x="992188" y="768350"/>
            <a:ext cx="5114925" cy="3836988"/>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Ruby, multiple returned values are actually packaged in an Array. You can assign such a returned array to multiple variables. Therefore, for the Ruby example on this slide, you can do</a:t>
            </a:r>
            <a:r>
              <a:rPr lang="en-GB" altLang="en-US" baseline="0" dirty="0" smtClean="0"/>
              <a:t> the following:</a:t>
            </a:r>
          </a:p>
          <a:p>
            <a:pPr eaLnBrk="1" hangingPunct="1"/>
            <a:endParaRPr lang="en-GB" altLang="en-US" baseline="0" dirty="0" smtClean="0"/>
          </a:p>
          <a:p>
            <a:pPr eaLnBrk="1" hangingPunct="1"/>
            <a:r>
              <a:rPr lang="en-GB" altLang="en-US" dirty="0" smtClean="0"/>
              <a:t>a, b, c, d = </a:t>
            </a:r>
            <a:r>
              <a:rPr lang="en-GB" altLang="en-US" dirty="0" err="1" smtClean="0"/>
              <a:t>multiple_values</a:t>
            </a:r>
            <a:endParaRPr lang="en-GB" altLang="en-US" dirty="0" smtClean="0"/>
          </a:p>
          <a:p>
            <a:pPr eaLnBrk="1" hangingPunct="1"/>
            <a:endParaRPr lang="en-GB" altLang="en-US" dirty="0" smtClean="0"/>
          </a:p>
          <a:p>
            <a:pPr eaLnBrk="1" hangingPunct="1"/>
            <a:r>
              <a:rPr lang="en-GB" altLang="en-US" dirty="0" smtClean="0"/>
              <a:t>This will assign 1 to a, 2 to b, 3 to c, and 4 to d. Behind the scenes, the values are actually extracted from a returned array.</a:t>
            </a:r>
          </a:p>
        </p:txBody>
      </p:sp>
    </p:spTree>
    <p:extLst>
      <p:ext uri="{BB962C8B-B14F-4D97-AF65-F5344CB8AC3E}">
        <p14:creationId xmlns:p14="http://schemas.microsoft.com/office/powerpoint/2010/main" val="3485495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CCE01D8-2055-4895-A087-ACCB9B8DDB31}" type="slidenum">
              <a:rPr lang="en-US" altLang="en-US" sz="1300" smtClean="0"/>
              <a:pPr/>
              <a:t>17</a:t>
            </a:fld>
            <a:endParaRPr lang="en-US" altLang="en-US" sz="1300" smtClean="0"/>
          </a:p>
        </p:txBody>
      </p:sp>
      <p:sp>
        <p:nvSpPr>
          <p:cNvPr id="120835" name="Rectangle 2"/>
          <p:cNvSpPr>
            <a:spLocks noGrp="1" noRot="1" noChangeAspect="1" noChangeArrowheads="1" noTextEdit="1"/>
          </p:cNvSpPr>
          <p:nvPr>
            <p:ph type="sldImg"/>
          </p:nvPr>
        </p:nvSpPr>
        <p:spPr>
          <a:xfrm>
            <a:off x="992188" y="768350"/>
            <a:ext cx="5114925" cy="3836988"/>
          </a:xfrm>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C++, however, it is possible</a:t>
            </a:r>
            <a:r>
              <a:rPr lang="en-GB" altLang="en-US" baseline="0" dirty="0" smtClean="0"/>
              <a:t> to return a pointer (which refers to the start of an array), or a function pointer (however, you must use a </a:t>
            </a:r>
            <a:r>
              <a:rPr lang="en-GB" altLang="en-US" baseline="0" dirty="0" err="1" smtClean="0"/>
              <a:t>typedef</a:t>
            </a:r>
            <a:r>
              <a:rPr lang="en-GB" altLang="en-US" baseline="0" dirty="0" smtClean="0"/>
              <a:t> to </a:t>
            </a:r>
            <a:r>
              <a:rPr lang="en-GB" altLang="en-US" baseline="0" smtClean="0"/>
              <a:t>do this).</a:t>
            </a:r>
            <a:endParaRPr lang="en-GB" altLang="en-US" dirty="0" smtClean="0"/>
          </a:p>
        </p:txBody>
      </p:sp>
    </p:spTree>
    <p:extLst>
      <p:ext uri="{BB962C8B-B14F-4D97-AF65-F5344CB8AC3E}">
        <p14:creationId xmlns:p14="http://schemas.microsoft.com/office/powerpoint/2010/main" val="1093276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12C12BE-4AAD-4D82-8FE1-6BE3C9A54DA8}" type="slidenum">
              <a:rPr lang="en-US" altLang="en-US" sz="1200" smtClean="0"/>
              <a:pPr/>
              <a:t>19</a:t>
            </a:fld>
            <a:endParaRPr lang="en-US" altLang="en-US" sz="1200" smtClean="0"/>
          </a:p>
        </p:txBody>
      </p:sp>
    </p:spTree>
    <p:extLst>
      <p:ext uri="{BB962C8B-B14F-4D97-AF65-F5344CB8AC3E}">
        <p14:creationId xmlns:p14="http://schemas.microsoft.com/office/powerpoint/2010/main" val="954980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Of course, the call to add10(20) passes 20 as the parameter to the anonymous function</a:t>
            </a:r>
          </a:p>
          <a:p>
            <a:endParaRPr lang="en-ZA" altLang="en-US" dirty="0" smtClean="0"/>
          </a:p>
          <a:p>
            <a:r>
              <a:rPr lang="en-ZA" altLang="en-US" dirty="0" smtClean="0"/>
              <a:t>function(y) { return 10 + y; }</a:t>
            </a:r>
          </a:p>
          <a:p>
            <a:endParaRPr lang="en-ZA" altLang="en-US" dirty="0" smtClean="0"/>
          </a:p>
          <a:p>
            <a:r>
              <a:rPr lang="en-ZA" altLang="en-US" dirty="0" smtClean="0"/>
              <a:t>which will return 30, and this result will be printed. Similarly, the call add5(20) will pass 20 as the parameter to the anonymous function</a:t>
            </a:r>
          </a:p>
          <a:p>
            <a:endParaRPr lang="en-ZA" altLang="en-US" dirty="0" smtClean="0"/>
          </a:p>
          <a:p>
            <a:r>
              <a:rPr lang="en-ZA" altLang="en-US" dirty="0" smtClean="0"/>
              <a:t>function(y) { return 5 + y; }</a:t>
            </a:r>
          </a:p>
          <a:p>
            <a:endParaRPr lang="en-ZA" altLang="en-US" dirty="0" smtClean="0"/>
          </a:p>
          <a:p>
            <a:r>
              <a:rPr lang="en-ZA" altLang="en-US" dirty="0" smtClean="0"/>
              <a:t>which will return 25, and this result will be printed.</a:t>
            </a:r>
          </a:p>
          <a:p>
            <a:endParaRPr lang="en-ZA" altLang="en-US" dirty="0" smtClean="0"/>
          </a:p>
          <a:p>
            <a:r>
              <a:rPr lang="en-ZA" altLang="en-US" dirty="0" smtClean="0"/>
              <a:t>The important thing to understand, however, is not what</a:t>
            </a:r>
            <a:r>
              <a:rPr lang="en-ZA" altLang="en-US" baseline="0" dirty="0" smtClean="0"/>
              <a:t> is printed, but what add10 and add5 are, and how they are created.</a:t>
            </a:r>
            <a:endParaRPr lang="en-ZA" altLang="en-US" dirty="0" smtClean="0"/>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12C12BE-4AAD-4D82-8FE1-6BE3C9A54DA8}" type="slidenum">
              <a:rPr lang="en-US" altLang="en-US" sz="1200" smtClean="0"/>
              <a:pPr/>
              <a:t>20</a:t>
            </a:fld>
            <a:endParaRPr lang="en-US" altLang="en-US" sz="1200" smtClean="0"/>
          </a:p>
        </p:txBody>
      </p:sp>
    </p:spTree>
    <p:extLst>
      <p:ext uri="{BB962C8B-B14F-4D97-AF65-F5344CB8AC3E}">
        <p14:creationId xmlns:p14="http://schemas.microsoft.com/office/powerpoint/2010/main" val="2149544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12C12BE-4AAD-4D82-8FE1-6BE3C9A54DA8}" type="slidenum">
              <a:rPr lang="en-US" altLang="en-US" sz="1200" smtClean="0"/>
              <a:pPr/>
              <a:t>21</a:t>
            </a:fld>
            <a:endParaRPr lang="en-US" altLang="en-US" sz="1200" smtClean="0"/>
          </a:p>
        </p:txBody>
      </p:sp>
    </p:spTree>
    <p:extLst>
      <p:ext uri="{BB962C8B-B14F-4D97-AF65-F5344CB8AC3E}">
        <p14:creationId xmlns:p14="http://schemas.microsoft.com/office/powerpoint/2010/main" val="3802224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C1D7195-D3A0-4456-8F41-EB24CF1D4FF4}" type="slidenum">
              <a:rPr lang="en-US" altLang="en-US" sz="1300" smtClean="0"/>
              <a:pPr/>
              <a:t>22</a:t>
            </a:fld>
            <a:endParaRPr lang="en-US" altLang="en-US" sz="1300" smtClean="0"/>
          </a:p>
        </p:txBody>
      </p:sp>
      <p:sp>
        <p:nvSpPr>
          <p:cNvPr id="134147" name="Rectangle 2"/>
          <p:cNvSpPr>
            <a:spLocks noGrp="1" noRot="1" noChangeAspect="1" noChangeArrowheads="1" noTextEdit="1"/>
          </p:cNvSpPr>
          <p:nvPr>
            <p:ph type="sldImg"/>
          </p:nvPr>
        </p:nvSpPr>
        <p:spPr>
          <a:xfrm>
            <a:off x="992188" y="768350"/>
            <a:ext cx="5114925" cy="3836988"/>
          </a:xfrm>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This work is easy and will probably come up during </a:t>
            </a:r>
            <a:r>
              <a:rPr lang="en-GB" altLang="en-US" smtClean="0"/>
              <a:t>the exam</a:t>
            </a:r>
            <a:r>
              <a:rPr lang="en-GB" altLang="en-US" dirty="0" smtClean="0"/>
              <a:t>.</a:t>
            </a:r>
          </a:p>
        </p:txBody>
      </p:sp>
    </p:spTree>
    <p:extLst>
      <p:ext uri="{BB962C8B-B14F-4D97-AF65-F5344CB8AC3E}">
        <p14:creationId xmlns:p14="http://schemas.microsoft.com/office/powerpoint/2010/main" val="1112589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C1D7195-D3A0-4456-8F41-EB24CF1D4FF4}" type="slidenum">
              <a:rPr lang="en-US" altLang="en-US" sz="1300" smtClean="0"/>
              <a:pPr/>
              <a:t>23</a:t>
            </a:fld>
            <a:endParaRPr lang="en-US" altLang="en-US" sz="1300" smtClean="0"/>
          </a:p>
        </p:txBody>
      </p:sp>
      <p:sp>
        <p:nvSpPr>
          <p:cNvPr id="134147" name="Rectangle 2"/>
          <p:cNvSpPr>
            <a:spLocks noGrp="1" noRot="1" noChangeAspect="1" noChangeArrowheads="1" noTextEdit="1"/>
          </p:cNvSpPr>
          <p:nvPr>
            <p:ph type="sldImg"/>
          </p:nvPr>
        </p:nvSpPr>
        <p:spPr>
          <a:xfrm>
            <a:off x="992188" y="768350"/>
            <a:ext cx="5114925" cy="3836988"/>
          </a:xfrm>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874544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96A1D83-5F8B-428E-BACD-20DBC37048B5}" type="slidenum">
              <a:rPr lang="en-US" altLang="en-US" sz="1200" smtClean="0"/>
              <a:pPr/>
              <a:t>24</a:t>
            </a:fld>
            <a:endParaRPr lang="en-US" altLang="en-US" sz="1200" smtClean="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84386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52DD3A3-C5AF-4F73-AFE9-ED53D897DE2F}" type="slidenum">
              <a:rPr lang="en-US" altLang="en-US" sz="1200" smtClean="0"/>
              <a:pPr/>
              <a:t>25</a:t>
            </a:fld>
            <a:endParaRPr lang="en-US" altLang="en-US" sz="1200" smtClean="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018879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643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8397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8397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9"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2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068C4D9B-DB09-48CF-815F-00FF9F53859C}" type="slidenum">
              <a:rPr lang="en-US" altLang="en-US"/>
              <a:pPr>
                <a:defRPr/>
              </a:pPr>
              <a:t>‹#›</a:t>
            </a:fld>
            <a:endParaRPr lang="en-US" altLang="en-US"/>
          </a:p>
        </p:txBody>
      </p:sp>
    </p:spTree>
    <p:extLst>
      <p:ext uri="{BB962C8B-B14F-4D97-AF65-F5344CB8AC3E}">
        <p14:creationId xmlns:p14="http://schemas.microsoft.com/office/powerpoint/2010/main" val="231232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489262AE-3C96-4FFE-994C-452D80FA3E03}" type="slidenum">
              <a:rPr lang="en-US" altLang="en-US"/>
              <a:pPr>
                <a:defRPr/>
              </a:pPr>
              <a:t>‹#›</a:t>
            </a:fld>
            <a:endParaRPr lang="en-US" altLang="en-US"/>
          </a:p>
        </p:txBody>
      </p:sp>
    </p:spTree>
    <p:extLst>
      <p:ext uri="{BB962C8B-B14F-4D97-AF65-F5344CB8AC3E}">
        <p14:creationId xmlns:p14="http://schemas.microsoft.com/office/powerpoint/2010/main" val="24405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9A223ED-7D3C-4F0D-B765-C9BE7A86837A}" type="slidenum">
              <a:rPr lang="en-US" altLang="en-US"/>
              <a:pPr>
                <a:defRPr/>
              </a:pPr>
              <a:t>‹#›</a:t>
            </a:fld>
            <a:endParaRPr lang="en-US" altLang="en-US"/>
          </a:p>
        </p:txBody>
      </p:sp>
    </p:spTree>
    <p:extLst>
      <p:ext uri="{BB962C8B-B14F-4D97-AF65-F5344CB8AC3E}">
        <p14:creationId xmlns:p14="http://schemas.microsoft.com/office/powerpoint/2010/main" val="3659882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659ACCDB-D07C-4876-AC2C-0CB04706E068}" type="slidenum">
              <a:rPr lang="en-US" altLang="en-US"/>
              <a:pPr>
                <a:defRPr/>
              </a:pPr>
              <a:t>‹#›</a:t>
            </a:fld>
            <a:endParaRPr lang="en-US" altLang="en-US"/>
          </a:p>
        </p:txBody>
      </p:sp>
    </p:spTree>
    <p:extLst>
      <p:ext uri="{BB962C8B-B14F-4D97-AF65-F5344CB8AC3E}">
        <p14:creationId xmlns:p14="http://schemas.microsoft.com/office/powerpoint/2010/main" val="130646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A752000E-1525-4E24-BDEE-767765A8E3D8}" type="slidenum">
              <a:rPr lang="en-US" altLang="en-US"/>
              <a:pPr>
                <a:defRPr/>
              </a:pPr>
              <a:t>‹#›</a:t>
            </a:fld>
            <a:endParaRPr lang="en-US" altLang="en-US"/>
          </a:p>
        </p:txBody>
      </p:sp>
    </p:spTree>
    <p:extLst>
      <p:ext uri="{BB962C8B-B14F-4D97-AF65-F5344CB8AC3E}">
        <p14:creationId xmlns:p14="http://schemas.microsoft.com/office/powerpoint/2010/main" val="124024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534002DE-FA59-4308-93C4-619F77775D6D}" type="slidenum">
              <a:rPr lang="en-US" altLang="en-US"/>
              <a:pPr>
                <a:defRPr/>
              </a:pPr>
              <a:t>‹#›</a:t>
            </a:fld>
            <a:endParaRPr lang="en-US" altLang="en-US"/>
          </a:p>
        </p:txBody>
      </p:sp>
    </p:spTree>
    <p:extLst>
      <p:ext uri="{BB962C8B-B14F-4D97-AF65-F5344CB8AC3E}">
        <p14:creationId xmlns:p14="http://schemas.microsoft.com/office/powerpoint/2010/main" val="233116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4981DA1A-192D-4062-9CA2-CCAB6D3628BC}" type="slidenum">
              <a:rPr lang="en-US" altLang="en-US"/>
              <a:pPr>
                <a:defRPr/>
              </a:pPr>
              <a:t>‹#›</a:t>
            </a:fld>
            <a:endParaRPr lang="en-US" altLang="en-US"/>
          </a:p>
        </p:txBody>
      </p:sp>
    </p:spTree>
    <p:extLst>
      <p:ext uri="{BB962C8B-B14F-4D97-AF65-F5344CB8AC3E}">
        <p14:creationId xmlns:p14="http://schemas.microsoft.com/office/powerpoint/2010/main" val="221020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E41EBA1-68BC-4645-AD98-44FCE51F4EA2}" type="slidenum">
              <a:rPr lang="en-US" altLang="en-US"/>
              <a:pPr>
                <a:defRPr/>
              </a:pPr>
              <a:t>‹#›</a:t>
            </a:fld>
            <a:endParaRPr lang="en-US" altLang="en-US"/>
          </a:p>
        </p:txBody>
      </p:sp>
    </p:spTree>
    <p:extLst>
      <p:ext uri="{BB962C8B-B14F-4D97-AF65-F5344CB8AC3E}">
        <p14:creationId xmlns:p14="http://schemas.microsoft.com/office/powerpoint/2010/main" val="284248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A8646B4-39F1-43BD-B18E-C983E4BEB336}" type="slidenum">
              <a:rPr lang="en-US" altLang="en-US"/>
              <a:pPr>
                <a:defRPr/>
              </a:pPr>
              <a:t>‹#›</a:t>
            </a:fld>
            <a:endParaRPr lang="en-US" altLang="en-US"/>
          </a:p>
        </p:txBody>
      </p:sp>
    </p:spTree>
    <p:extLst>
      <p:ext uri="{BB962C8B-B14F-4D97-AF65-F5344CB8AC3E}">
        <p14:creationId xmlns:p14="http://schemas.microsoft.com/office/powerpoint/2010/main" val="2189282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24AF519-D3AD-4F4F-AA28-7F22C9FB7820}" type="slidenum">
              <a:rPr lang="en-US" altLang="en-US"/>
              <a:pPr>
                <a:defRPr/>
              </a:pPr>
              <a:t>‹#›</a:t>
            </a:fld>
            <a:endParaRPr lang="en-US" altLang="en-US"/>
          </a:p>
        </p:txBody>
      </p:sp>
    </p:spTree>
    <p:extLst>
      <p:ext uri="{BB962C8B-B14F-4D97-AF65-F5344CB8AC3E}">
        <p14:creationId xmlns:p14="http://schemas.microsoft.com/office/powerpoint/2010/main" val="1103872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8294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8294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A1705EE6-6E16-4451-A57D-3C93458E74C4}"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9</a:t>
            </a:r>
            <a:br>
              <a:rPr lang="en-US" altLang="en-US" dirty="0" smtClean="0"/>
            </a:br>
            <a:r>
              <a:rPr lang="en-US" altLang="en-US" sz="2800" dirty="0" smtClean="0"/>
              <a:t>Part 3</a:t>
            </a:r>
          </a:p>
        </p:txBody>
      </p:sp>
      <p:sp>
        <p:nvSpPr>
          <p:cNvPr id="4099" name="Rectangle 5"/>
          <p:cNvSpPr>
            <a:spLocks noGrp="1" noChangeArrowheads="1"/>
          </p:cNvSpPr>
          <p:nvPr>
            <p:ph type="subTitle" idx="1"/>
          </p:nvPr>
        </p:nvSpPr>
        <p:spPr/>
        <p:txBody>
          <a:bodyPr/>
          <a:lstStyle/>
          <a:p>
            <a:pPr eaLnBrk="1" hangingPunct="1"/>
            <a:r>
              <a:rPr lang="en-US" altLang="en-US" smtClean="0"/>
              <a:t>Subprograms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D3D09AB-A1B9-49B9-B5F2-DBCF88BB4E1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2" name="Rectangle 2"/>
          <p:cNvSpPr>
            <a:spLocks noGrp="1" noChangeArrowheads="1"/>
          </p:cNvSpPr>
          <p:nvPr>
            <p:ph type="title"/>
          </p:nvPr>
        </p:nvSpPr>
        <p:spPr/>
        <p:txBody>
          <a:bodyPr/>
          <a:lstStyle/>
          <a:p>
            <a:pPr eaLnBrk="1" hangingPunct="1"/>
            <a:r>
              <a:rPr lang="en-US" altLang="en-US" dirty="0" smtClean="0"/>
              <a:t>Chapter </a:t>
            </a:r>
            <a:r>
              <a:rPr lang="en-US" altLang="en-US" dirty="0"/>
              <a:t>9</a:t>
            </a:r>
            <a:r>
              <a:rPr lang="en-US" altLang="en-US" dirty="0" smtClean="0"/>
              <a:t> Topics</a:t>
            </a:r>
          </a:p>
        </p:txBody>
      </p:sp>
      <p:sp>
        <p:nvSpPr>
          <p:cNvPr id="7173" name="Rectangle 3"/>
          <p:cNvSpPr>
            <a:spLocks noGrp="1" noChangeArrowheads="1"/>
          </p:cNvSpPr>
          <p:nvPr>
            <p:ph type="body" idx="1"/>
          </p:nvPr>
        </p:nvSpPr>
        <p:spPr/>
        <p:txBody>
          <a:bodyPr/>
          <a:lstStyle/>
          <a:p>
            <a:pPr eaLnBrk="1" hangingPunct="1"/>
            <a:r>
              <a:rPr lang="en-US" altLang="en-US" dirty="0" smtClean="0"/>
              <a:t>Overloaded Subprograms</a:t>
            </a:r>
          </a:p>
          <a:p>
            <a:pPr eaLnBrk="1" hangingPunct="1"/>
            <a:r>
              <a:rPr lang="en-US" altLang="en-US" dirty="0" smtClean="0"/>
              <a:t>Generic Subprograms</a:t>
            </a:r>
          </a:p>
          <a:p>
            <a:pPr eaLnBrk="1" hangingPunct="1"/>
            <a:r>
              <a:rPr lang="en-US" altLang="en-US" dirty="0" smtClean="0"/>
              <a:t>Design Issues for Functions</a:t>
            </a:r>
          </a:p>
          <a:p>
            <a:pPr eaLnBrk="1" hangingPunct="1"/>
            <a:r>
              <a:rPr lang="en-US" altLang="en-US" dirty="0" smtClean="0"/>
              <a:t>User-Defined Overloaded Operators</a:t>
            </a:r>
          </a:p>
          <a:p>
            <a:pPr eaLnBrk="1" hangingPunct="1"/>
            <a:r>
              <a:rPr lang="en-US" altLang="en-US" dirty="0" smtClean="0"/>
              <a:t>Closures</a:t>
            </a:r>
          </a:p>
          <a:p>
            <a:pPr eaLnBrk="1" hangingPunct="1"/>
            <a:r>
              <a:rPr lang="en-US" altLang="en-US" dirty="0" smtClean="0"/>
              <a:t>Coroutines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136387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29CFCF0-87FF-431C-98DD-2211BAA3E39B}"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102404" name="Rectangle 2"/>
          <p:cNvSpPr>
            <a:spLocks noGrp="1" noChangeArrowheads="1"/>
          </p:cNvSpPr>
          <p:nvPr>
            <p:ph type="title"/>
          </p:nvPr>
        </p:nvSpPr>
        <p:spPr/>
        <p:txBody>
          <a:bodyPr/>
          <a:lstStyle/>
          <a:p>
            <a:pPr eaLnBrk="1" hangingPunct="1"/>
            <a:r>
              <a:rPr lang="en-US" altLang="en-US" smtClean="0"/>
              <a:t>Overloaded Subprograms</a:t>
            </a:r>
          </a:p>
        </p:txBody>
      </p:sp>
      <p:sp>
        <p:nvSpPr>
          <p:cNvPr id="102405"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An </a:t>
            </a:r>
            <a:r>
              <a:rPr lang="en-US" altLang="en-US" u="sng" dirty="0" smtClean="0"/>
              <a:t>overloaded subprogram</a:t>
            </a:r>
          </a:p>
          <a:p>
            <a:pPr lvl="1" eaLnBrk="1" hangingPunct="1"/>
            <a:r>
              <a:rPr lang="en-US" altLang="en-US" dirty="0" smtClean="0"/>
              <a:t>Has the same name as another subprogram in the same referencing environment</a:t>
            </a:r>
          </a:p>
          <a:p>
            <a:pPr lvl="1" eaLnBrk="1" hangingPunct="1"/>
            <a:r>
              <a:rPr lang="en-US" altLang="en-US" dirty="0" smtClean="0"/>
              <a:t>Every overloaded subprogram has unique protocol</a:t>
            </a:r>
          </a:p>
          <a:p>
            <a:pPr lvl="2" eaLnBrk="1" hangingPunct="1"/>
            <a:r>
              <a:rPr lang="en-US" altLang="en-US" dirty="0" smtClean="0"/>
              <a:t>Subprogram protocol is parameter and return types</a:t>
            </a:r>
          </a:p>
          <a:p>
            <a:pPr lvl="2" eaLnBrk="1" hangingPunct="1"/>
            <a:r>
              <a:rPr lang="en-US" altLang="en-US" dirty="0" smtClean="0"/>
              <a:t>Some languages restrict this to just parameter profile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29CFCF0-87FF-431C-98DD-2211BAA3E39B}"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02404" name="Rectangle 2"/>
          <p:cNvSpPr>
            <a:spLocks noGrp="1" noChangeArrowheads="1"/>
          </p:cNvSpPr>
          <p:nvPr>
            <p:ph type="title"/>
          </p:nvPr>
        </p:nvSpPr>
        <p:spPr/>
        <p:txBody>
          <a:bodyPr/>
          <a:lstStyle/>
          <a:p>
            <a:pPr eaLnBrk="1" hangingPunct="1"/>
            <a:r>
              <a:rPr lang="en-US" altLang="en-US" smtClean="0"/>
              <a:t>Overloaded Subprograms</a:t>
            </a:r>
          </a:p>
        </p:txBody>
      </p:sp>
      <p:sp>
        <p:nvSpPr>
          <p:cNvPr id="102405"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Examples</a:t>
            </a:r>
          </a:p>
          <a:p>
            <a:pPr lvl="1" eaLnBrk="1" hangingPunct="1"/>
            <a:r>
              <a:rPr lang="en-US" altLang="en-US" dirty="0" smtClean="0"/>
              <a:t>In C++, Java, and C#</a:t>
            </a:r>
            <a:endParaRPr lang="en-US" altLang="en-US" sz="2000" dirty="0" smtClean="0"/>
          </a:p>
          <a:p>
            <a:pPr lvl="2" eaLnBrk="1" hangingPunct="1"/>
            <a:r>
              <a:rPr lang="en-US" altLang="en-US" dirty="0" smtClean="0"/>
              <a:t>Disambiguation based on parameter profile</a:t>
            </a:r>
          </a:p>
          <a:p>
            <a:pPr lvl="2" eaLnBrk="1" hangingPunct="1"/>
            <a:r>
              <a:rPr lang="en-US" altLang="en-US" dirty="0" smtClean="0"/>
              <a:t>Type coercion complicates the mapping process (why?)</a:t>
            </a:r>
          </a:p>
          <a:p>
            <a:pPr lvl="1" eaLnBrk="1" hangingPunct="1"/>
            <a:r>
              <a:rPr lang="en-US" altLang="en-US" dirty="0" smtClean="0"/>
              <a:t>In some languages (e.g. Ada)</a:t>
            </a:r>
          </a:p>
          <a:p>
            <a:pPr lvl="2" eaLnBrk="1" hangingPunct="1"/>
            <a:r>
              <a:rPr lang="en-US" altLang="en-US" dirty="0" smtClean="0"/>
              <a:t>Return type can disambiguate function calls</a:t>
            </a:r>
          </a:p>
          <a:p>
            <a:pPr lvl="3" eaLnBrk="1" hangingPunct="1"/>
            <a:r>
              <a:rPr lang="en-US" altLang="en-US" dirty="0" smtClean="0"/>
              <a:t>So, overloaded functions can have same parameters</a:t>
            </a:r>
          </a:p>
          <a:p>
            <a:pPr lvl="3" eaLnBrk="1" hangingPunct="1"/>
            <a:r>
              <a:rPr lang="en-US" altLang="en-US" dirty="0" smtClean="0"/>
              <a:t>Why can this not work in languages like C++?</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41996601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2179769-C579-4E53-87D7-ED0AB619681D}"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04452" name="Rectangle 2"/>
          <p:cNvSpPr>
            <a:spLocks noGrp="1" noChangeArrowheads="1"/>
          </p:cNvSpPr>
          <p:nvPr>
            <p:ph type="title"/>
          </p:nvPr>
        </p:nvSpPr>
        <p:spPr/>
        <p:txBody>
          <a:bodyPr/>
          <a:lstStyle/>
          <a:p>
            <a:pPr eaLnBrk="1" hangingPunct="1"/>
            <a:r>
              <a:rPr lang="en-US" altLang="en-US" smtClean="0"/>
              <a:t>Generic Subprograms</a:t>
            </a:r>
          </a:p>
        </p:txBody>
      </p:sp>
      <p:sp>
        <p:nvSpPr>
          <p:cNvPr id="104453"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Generic or polymorphic subprogram</a:t>
            </a:r>
          </a:p>
          <a:p>
            <a:pPr lvl="1" eaLnBrk="1" hangingPunct="1"/>
            <a:r>
              <a:rPr lang="en-US" altLang="en-US" dirty="0"/>
              <a:t>T</a:t>
            </a:r>
            <a:r>
              <a:rPr lang="en-US" altLang="en-US" dirty="0" smtClean="0"/>
              <a:t>ake different parameter types in different calls</a:t>
            </a:r>
          </a:p>
          <a:p>
            <a:pPr eaLnBrk="1" hangingPunct="1"/>
            <a:r>
              <a:rPr lang="en-US" altLang="en-US" dirty="0" smtClean="0">
                <a:solidFill>
                  <a:srgbClr val="333399"/>
                </a:solidFill>
              </a:rPr>
              <a:t>Ad hoc polymorphism</a:t>
            </a:r>
            <a:endParaRPr lang="en-US" altLang="en-US" dirty="0" smtClean="0"/>
          </a:p>
          <a:p>
            <a:pPr lvl="1" eaLnBrk="1" hangingPunct="1"/>
            <a:r>
              <a:rPr lang="en-US" altLang="en-US" dirty="0" smtClean="0"/>
              <a:t>Provided by overloaded subprograms</a:t>
            </a:r>
          </a:p>
          <a:p>
            <a:pPr eaLnBrk="1" hangingPunct="1"/>
            <a:r>
              <a:rPr lang="en-US" altLang="en-US" dirty="0" smtClean="0">
                <a:solidFill>
                  <a:srgbClr val="333399"/>
                </a:solidFill>
              </a:rPr>
              <a:t>Parametric polymorphism</a:t>
            </a:r>
            <a:endParaRPr lang="en-US" altLang="en-US" dirty="0" smtClean="0"/>
          </a:p>
          <a:p>
            <a:pPr lvl="1" eaLnBrk="1" hangingPunct="1"/>
            <a:r>
              <a:rPr lang="en-US" altLang="en-US" dirty="0" smtClean="0"/>
              <a:t>Not provided in all languages</a:t>
            </a:r>
          </a:p>
          <a:p>
            <a:pPr lvl="1" eaLnBrk="1" hangingPunct="1"/>
            <a:r>
              <a:rPr lang="en-US" altLang="en-US" dirty="0" smtClean="0"/>
              <a:t>A subprogram takes a generic parameter</a:t>
            </a:r>
          </a:p>
          <a:p>
            <a:pPr lvl="1" eaLnBrk="1" hangingPunct="1"/>
            <a:r>
              <a:rPr lang="en-US" altLang="en-US" dirty="0" smtClean="0"/>
              <a:t>A generic parameter</a:t>
            </a:r>
          </a:p>
          <a:p>
            <a:pPr lvl="2" eaLnBrk="1" hangingPunct="1"/>
            <a:r>
              <a:rPr lang="en-US" altLang="en-US" dirty="0" smtClean="0"/>
              <a:t>Describes subprogram parameter and/or return types</a:t>
            </a:r>
          </a:p>
          <a:p>
            <a:pPr lvl="2" eaLnBrk="1" hangingPunct="1"/>
            <a:r>
              <a:rPr lang="en-US" altLang="en-US" dirty="0" smtClean="0"/>
              <a:t>Different instantiations of the same subprogram get different generic parameters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pPr eaLnBrk="1" hangingPunct="1"/>
            <a:r>
              <a:rPr lang="en-US" altLang="en-US" smtClean="0"/>
              <a:t>Generic Subprograms</a:t>
            </a:r>
          </a:p>
        </p:txBody>
      </p:sp>
      <p:sp>
        <p:nvSpPr>
          <p:cNvPr id="106499" name="Content Placeholder 2"/>
          <p:cNvSpPr>
            <a:spLocks noGrp="1"/>
          </p:cNvSpPr>
          <p:nvPr>
            <p:ph idx="1"/>
          </p:nvPr>
        </p:nvSpPr>
        <p:spPr>
          <a:xfrm>
            <a:off x="609600" y="1600200"/>
            <a:ext cx="8153400" cy="5105400"/>
          </a:xfrm>
        </p:spPr>
        <p:txBody>
          <a:bodyPr/>
          <a:lstStyle/>
          <a:p>
            <a:pPr eaLnBrk="1" hangingPunct="1"/>
            <a:r>
              <a:rPr lang="en-US" altLang="en-US" dirty="0" smtClean="0"/>
              <a:t>C++ supports generic subprograms</a:t>
            </a:r>
          </a:p>
          <a:p>
            <a:pPr lvl="1" eaLnBrk="1" hangingPunct="1"/>
            <a:r>
              <a:rPr lang="en-US" altLang="en-US" dirty="0" smtClean="0"/>
              <a:t>Are preceded by a </a:t>
            </a:r>
            <a:r>
              <a:rPr lang="en-US" altLang="en-US" b="1" dirty="0" smtClean="0">
                <a:latin typeface="Courier New" panose="02070309020205020404" pitchFamily="49" charset="0"/>
                <a:cs typeface="Courier New" panose="02070309020205020404" pitchFamily="49" charset="0"/>
              </a:rPr>
              <a:t>template</a:t>
            </a:r>
            <a:r>
              <a:rPr lang="en-US" altLang="en-US" dirty="0" smtClean="0"/>
              <a:t> clause</a:t>
            </a:r>
          </a:p>
          <a:p>
            <a:pPr lvl="2" eaLnBrk="1" hangingPunct="1"/>
            <a:r>
              <a:rPr lang="en-US" altLang="en-US" dirty="0" smtClean="0"/>
              <a:t>Lists the generic variables</a:t>
            </a:r>
          </a:p>
          <a:p>
            <a:pPr lvl="2" eaLnBrk="1" hangingPunct="1"/>
            <a:r>
              <a:rPr lang="en-US" altLang="en-US" dirty="0" smtClean="0"/>
              <a:t>Variables can take on type names or class names</a:t>
            </a:r>
          </a:p>
          <a:p>
            <a:pPr lvl="1" eaLnBrk="1" hangingPunct="1">
              <a:buFontTx/>
              <a:buNone/>
            </a:pPr>
            <a:endParaRPr lang="en-US" altLang="en-US" sz="4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template</a:t>
            </a:r>
            <a:r>
              <a:rPr lang="en-US" altLang="en-US" sz="1600" dirty="0" smtClean="0">
                <a:latin typeface="Courier New" panose="02070309020205020404" pitchFamily="49" charset="0"/>
              </a:rPr>
              <a:t> &lt;</a:t>
            </a:r>
            <a:r>
              <a:rPr lang="en-US" altLang="en-US" sz="1600" b="1" dirty="0" smtClean="0">
                <a:latin typeface="Courier New" panose="02070309020205020404" pitchFamily="49" charset="0"/>
              </a:rPr>
              <a:t>class</a:t>
            </a:r>
            <a:r>
              <a:rPr lang="en-US" altLang="en-US" sz="1600" dirty="0" smtClean="0">
                <a:latin typeface="Courier New" panose="02070309020205020404" pitchFamily="49" charset="0"/>
              </a:rPr>
              <a:t> T&gt;</a:t>
            </a:r>
          </a:p>
          <a:p>
            <a:pPr lvl="1" eaLnBrk="1" hangingPunct="1">
              <a:buFontTx/>
              <a:buNone/>
            </a:pPr>
            <a:r>
              <a:rPr lang="en-US" altLang="en-US" sz="1600" dirty="0" smtClean="0">
                <a:latin typeface="Courier New" panose="02070309020205020404" pitchFamily="49" charset="0"/>
              </a:rPr>
              <a:t>	      T max(T first, T second) {</a:t>
            </a: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return</a:t>
            </a:r>
            <a:r>
              <a:rPr lang="en-US" altLang="en-US" sz="1600" dirty="0" smtClean="0">
                <a:latin typeface="Courier New" panose="02070309020205020404" pitchFamily="49" charset="0"/>
              </a:rPr>
              <a:t> first &gt; second ? first : second;</a:t>
            </a:r>
          </a:p>
          <a:p>
            <a:pPr lvl="1" eaLnBrk="1" hangingPunct="1">
              <a:buFontTx/>
              <a:buNone/>
            </a:pPr>
            <a:r>
              <a:rPr lang="en-US" altLang="en-US" sz="1600" dirty="0" smtClean="0">
                <a:latin typeface="Courier New" panose="02070309020205020404" pitchFamily="49" charset="0"/>
              </a:rPr>
              <a:t>	      }</a:t>
            </a:r>
          </a:p>
          <a:p>
            <a:pPr lvl="1" eaLnBrk="1" hangingPunct="1">
              <a:buFontTx/>
              <a:buNone/>
            </a:pPr>
            <a:endParaRPr lang="en-US" altLang="en-US" sz="400" dirty="0" smtClean="0">
              <a:latin typeface="Courier New" panose="02070309020205020404" pitchFamily="49" charset="0"/>
            </a:endParaRPr>
          </a:p>
          <a:p>
            <a:pPr lvl="2" eaLnBrk="1" hangingPunct="1"/>
            <a:r>
              <a:rPr lang="en-US" altLang="en-US" dirty="0" smtClean="0"/>
              <a:t>Here </a:t>
            </a:r>
            <a:r>
              <a:rPr lang="en-US" altLang="en-US" dirty="0" smtClean="0">
                <a:latin typeface="Courier New" panose="02070309020205020404" pitchFamily="49" charset="0"/>
                <a:cs typeface="Courier New" panose="02070309020205020404" pitchFamily="49" charset="0"/>
              </a:rPr>
              <a:t>T</a:t>
            </a:r>
            <a:r>
              <a:rPr lang="en-US" altLang="en-US" dirty="0" smtClean="0"/>
              <a:t> is the generic parameter</a:t>
            </a:r>
          </a:p>
        </p:txBody>
      </p:sp>
      <p:sp>
        <p:nvSpPr>
          <p:cNvPr id="10650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BFBFFD5-595E-46B5-9E59-8D66BA9673F6}"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pPr eaLnBrk="1" hangingPunct="1"/>
            <a:r>
              <a:rPr lang="en-US" altLang="en-US" smtClean="0"/>
              <a:t>Generic Subprograms</a:t>
            </a:r>
          </a:p>
        </p:txBody>
      </p:sp>
      <p:sp>
        <p:nvSpPr>
          <p:cNvPr id="107523" name="Content Placeholder 2"/>
          <p:cNvSpPr>
            <a:spLocks noGrp="1"/>
          </p:cNvSpPr>
          <p:nvPr>
            <p:ph idx="1"/>
          </p:nvPr>
        </p:nvSpPr>
        <p:spPr>
          <a:xfrm>
            <a:off x="604838" y="1600200"/>
            <a:ext cx="8386762" cy="5105400"/>
          </a:xfrm>
        </p:spPr>
        <p:txBody>
          <a:bodyPr/>
          <a:lstStyle/>
          <a:p>
            <a:pPr eaLnBrk="1" hangingPunct="1"/>
            <a:r>
              <a:rPr lang="en-US" altLang="en-US" dirty="0" smtClean="0"/>
              <a:t>C++ supports generic subprograms</a:t>
            </a:r>
          </a:p>
          <a:p>
            <a:pPr lvl="1" eaLnBrk="1" hangingPunct="1"/>
            <a:r>
              <a:rPr lang="en-US" altLang="en-US" dirty="0" smtClean="0"/>
              <a:t>Assuming the previous template function</a:t>
            </a:r>
            <a:endParaRPr lang="en-US" altLang="en-US" sz="2000" dirty="0" smtClean="0"/>
          </a:p>
          <a:p>
            <a:pPr lvl="1" eaLnBrk="1" hangingPunct="1">
              <a:buFontTx/>
              <a:buNone/>
            </a:pPr>
            <a:endParaRPr lang="en-US" altLang="en-US" sz="2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template</a:t>
            </a:r>
            <a:r>
              <a:rPr lang="en-US" altLang="en-US" sz="1600" dirty="0" smtClean="0">
                <a:latin typeface="Courier New" panose="02070309020205020404" pitchFamily="49" charset="0"/>
              </a:rPr>
              <a:t> &lt;</a:t>
            </a:r>
            <a:r>
              <a:rPr lang="en-US" altLang="en-US" sz="1600" b="1" dirty="0" smtClean="0">
                <a:latin typeface="Courier New" panose="02070309020205020404" pitchFamily="49" charset="0"/>
              </a:rPr>
              <a:t>class</a:t>
            </a:r>
            <a:r>
              <a:rPr lang="en-US" altLang="en-US" sz="1600" dirty="0" smtClean="0">
                <a:latin typeface="Courier New" panose="02070309020205020404" pitchFamily="49" charset="0"/>
              </a:rPr>
              <a:t> T&gt;</a:t>
            </a:r>
          </a:p>
          <a:p>
            <a:pPr lvl="1" eaLnBrk="1" hangingPunct="1">
              <a:buFontTx/>
              <a:buNone/>
            </a:pPr>
            <a:r>
              <a:rPr lang="en-US" altLang="en-US" sz="1600" dirty="0" smtClean="0">
                <a:latin typeface="Courier New" panose="02070309020205020404" pitchFamily="49" charset="0"/>
              </a:rPr>
              <a:t>	      T max(T first, T second) {</a:t>
            </a: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return</a:t>
            </a:r>
            <a:r>
              <a:rPr lang="en-US" altLang="en-US" sz="1600" dirty="0" smtClean="0">
                <a:latin typeface="Courier New" panose="02070309020205020404" pitchFamily="49" charset="0"/>
              </a:rPr>
              <a:t> first &gt; second ? first : second;</a:t>
            </a:r>
          </a:p>
          <a:p>
            <a:pPr lvl="1" eaLnBrk="1" hangingPunct="1">
              <a:buFontTx/>
              <a:buNone/>
            </a:pPr>
            <a:r>
              <a:rPr lang="en-US" altLang="en-US" sz="1600" dirty="0" smtClean="0">
                <a:latin typeface="Courier New" panose="02070309020205020404" pitchFamily="49" charset="0"/>
              </a:rPr>
              <a:t>	      }</a:t>
            </a:r>
          </a:p>
          <a:p>
            <a:pPr lvl="1" eaLnBrk="1" hangingPunct="1">
              <a:buFontTx/>
              <a:buNone/>
            </a:pPr>
            <a:endParaRPr lang="en-US" altLang="en-US" sz="200" dirty="0" smtClean="0">
              <a:latin typeface="Courier New" panose="02070309020205020404" pitchFamily="49" charset="0"/>
            </a:endParaRPr>
          </a:p>
          <a:p>
            <a:pPr lvl="1" eaLnBrk="1" hangingPunct="1"/>
            <a:r>
              <a:rPr lang="en-US" altLang="en-US" dirty="0" smtClean="0"/>
              <a:t>Subprogram </a:t>
            </a:r>
            <a:r>
              <a:rPr lang="en-US" altLang="en-US" u="sng" dirty="0" smtClean="0"/>
              <a:t>versions</a:t>
            </a:r>
            <a:r>
              <a:rPr lang="en-US" altLang="en-US" dirty="0" smtClean="0"/>
              <a:t> are created at </a:t>
            </a:r>
            <a:r>
              <a:rPr lang="en-US" altLang="en-US" u="sng" dirty="0" smtClean="0"/>
              <a:t>compile time</a:t>
            </a:r>
          </a:p>
          <a:p>
            <a:pPr lvl="2" eaLnBrk="1" hangingPunct="1"/>
            <a:r>
              <a:rPr lang="en-US" altLang="en-US" sz="2400" dirty="0" smtClean="0"/>
              <a:t>Happens whenever new types are used when</a:t>
            </a:r>
          </a:p>
          <a:p>
            <a:pPr lvl="3" eaLnBrk="1" hangingPunct="1">
              <a:buFont typeface="Lucida Sans Unicode" panose="020B0602030504020204" pitchFamily="34" charset="0"/>
              <a:buChar char="-"/>
            </a:pPr>
            <a:r>
              <a:rPr lang="en-US" altLang="en-US" sz="2100" dirty="0"/>
              <a:t>S</a:t>
            </a:r>
            <a:r>
              <a:rPr lang="en-US" altLang="en-US" sz="2100" dirty="0" smtClean="0"/>
              <a:t>ubprogram is called</a:t>
            </a:r>
          </a:p>
          <a:p>
            <a:pPr lvl="3" eaLnBrk="1" hangingPunct="1">
              <a:buFont typeface="Lucida Sans Unicode" panose="020B0602030504020204" pitchFamily="34" charset="0"/>
              <a:buChar char="-"/>
            </a:pPr>
            <a:r>
              <a:rPr lang="en-US" altLang="en-US" sz="2100" dirty="0" smtClean="0"/>
              <a:t>Subprogram address is taken with the </a:t>
            </a:r>
            <a:r>
              <a:rPr lang="en-US" altLang="en-US" sz="2100" dirty="0" smtClean="0">
                <a:latin typeface="Courier New" panose="02070309020205020404" pitchFamily="49" charset="0"/>
              </a:rPr>
              <a:t>&amp;</a:t>
            </a:r>
            <a:r>
              <a:rPr lang="en-US" altLang="en-US" sz="2100" dirty="0" smtClean="0"/>
              <a:t> operator</a:t>
            </a:r>
          </a:p>
        </p:txBody>
      </p:sp>
      <p:sp>
        <p:nvSpPr>
          <p:cNvPr id="10752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8A016F5-A82B-4381-8288-4CBAF88AAB57}"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pPr eaLnBrk="1" hangingPunct="1"/>
            <a:r>
              <a:rPr lang="en-US" altLang="en-US" smtClean="0"/>
              <a:t>Generic Subprograms</a:t>
            </a:r>
          </a:p>
        </p:txBody>
      </p:sp>
      <p:sp>
        <p:nvSpPr>
          <p:cNvPr id="107523" name="Content Placeholder 2"/>
          <p:cNvSpPr>
            <a:spLocks noGrp="1"/>
          </p:cNvSpPr>
          <p:nvPr>
            <p:ph idx="1"/>
          </p:nvPr>
        </p:nvSpPr>
        <p:spPr>
          <a:xfrm>
            <a:off x="604838" y="1600200"/>
            <a:ext cx="8386762" cy="5105400"/>
          </a:xfrm>
        </p:spPr>
        <p:txBody>
          <a:bodyPr/>
          <a:lstStyle/>
          <a:p>
            <a:pPr eaLnBrk="1" hangingPunct="1"/>
            <a:r>
              <a:rPr lang="en-US" altLang="en-US" dirty="0" smtClean="0"/>
              <a:t>C++ supports generic subprograms</a:t>
            </a:r>
          </a:p>
          <a:p>
            <a:pPr lvl="1" eaLnBrk="1" hangingPunct="1"/>
            <a:r>
              <a:rPr lang="en-US" altLang="en-US" dirty="0" smtClean="0"/>
              <a:t>Continuing with our previous example</a:t>
            </a:r>
            <a:endParaRPr lang="en-US" altLang="en-US" sz="2000" dirty="0" smtClean="0"/>
          </a:p>
          <a:p>
            <a:pPr lvl="1" eaLnBrk="1" hangingPunct="1">
              <a:buFontTx/>
              <a:buNone/>
            </a:pPr>
            <a:endParaRPr lang="en-US" altLang="en-US" sz="2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template</a:t>
            </a:r>
            <a:r>
              <a:rPr lang="en-US" altLang="en-US" sz="1600" dirty="0" smtClean="0">
                <a:latin typeface="Courier New" panose="02070309020205020404" pitchFamily="49" charset="0"/>
              </a:rPr>
              <a:t> &lt;</a:t>
            </a:r>
            <a:r>
              <a:rPr lang="en-US" altLang="en-US" sz="1600" b="1" dirty="0" smtClean="0">
                <a:latin typeface="Courier New" panose="02070309020205020404" pitchFamily="49" charset="0"/>
              </a:rPr>
              <a:t>class</a:t>
            </a:r>
            <a:r>
              <a:rPr lang="en-US" altLang="en-US" sz="1600" dirty="0" smtClean="0">
                <a:latin typeface="Courier New" panose="02070309020205020404" pitchFamily="49" charset="0"/>
              </a:rPr>
              <a:t> T&gt;</a:t>
            </a:r>
          </a:p>
          <a:p>
            <a:pPr lvl="1" eaLnBrk="1" hangingPunct="1">
              <a:buFontTx/>
              <a:buNone/>
            </a:pPr>
            <a:r>
              <a:rPr lang="en-US" altLang="en-US" sz="1600" dirty="0" smtClean="0">
                <a:latin typeface="Courier New" panose="02070309020205020404" pitchFamily="49" charset="0"/>
              </a:rPr>
              <a:t>	      T max(T first, T second) {</a:t>
            </a: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return</a:t>
            </a:r>
            <a:r>
              <a:rPr lang="en-US" altLang="en-US" sz="1600" dirty="0" smtClean="0">
                <a:latin typeface="Courier New" panose="02070309020205020404" pitchFamily="49" charset="0"/>
              </a:rPr>
              <a:t> first &gt; second ? first : second;</a:t>
            </a:r>
          </a:p>
          <a:p>
            <a:pPr lvl="1" eaLnBrk="1" hangingPunct="1">
              <a:buFontTx/>
              <a:buNone/>
            </a:pPr>
            <a:r>
              <a:rPr lang="en-US" altLang="en-US" sz="1600" dirty="0" smtClean="0">
                <a:latin typeface="Courier New" panose="02070309020205020404" pitchFamily="49" charset="0"/>
              </a:rPr>
              <a:t>	      }</a:t>
            </a:r>
          </a:p>
          <a:p>
            <a:pPr lvl="1" eaLnBrk="1" hangingPunct="1">
              <a:buFontTx/>
              <a:buNone/>
            </a:pPr>
            <a:endParaRPr lang="en-US" altLang="en-US" sz="200" dirty="0" smtClean="0">
              <a:latin typeface="Courier New" panose="02070309020205020404" pitchFamily="49" charset="0"/>
            </a:endParaRPr>
          </a:p>
          <a:p>
            <a:pPr lvl="1" eaLnBrk="1" hangingPunct="1"/>
            <a:r>
              <a:rPr lang="en-US" altLang="en-US" dirty="0" smtClean="0"/>
              <a:t>Subprogram </a:t>
            </a:r>
            <a:r>
              <a:rPr lang="en-US" altLang="en-US" u="sng" dirty="0" smtClean="0"/>
              <a:t>versions</a:t>
            </a:r>
            <a:r>
              <a:rPr lang="en-US" altLang="en-US" dirty="0" smtClean="0"/>
              <a:t> are created at </a:t>
            </a:r>
            <a:r>
              <a:rPr lang="en-US" altLang="en-US" u="sng" dirty="0" smtClean="0"/>
              <a:t>compile time</a:t>
            </a:r>
          </a:p>
          <a:p>
            <a:pPr lvl="2" eaLnBrk="1" hangingPunct="1">
              <a:buFont typeface="Lucida Sans Unicode" panose="020B0602030504020204" pitchFamily="34" charset="0"/>
              <a:buChar char="-"/>
            </a:pPr>
            <a:r>
              <a:rPr lang="en-US" altLang="en-US" sz="2400" dirty="0" smtClean="0"/>
              <a:t>For example, if </a:t>
            </a:r>
            <a:r>
              <a:rPr lang="en-US" altLang="en-US" sz="2400" dirty="0" smtClean="0">
                <a:latin typeface="Courier New" panose="02070309020205020404" pitchFamily="49" charset="0"/>
                <a:cs typeface="Courier New" panose="02070309020205020404" pitchFamily="49" charset="0"/>
              </a:rPr>
              <a:t>max</a:t>
            </a:r>
            <a:r>
              <a:rPr lang="en-US" altLang="en-US" sz="2400" dirty="0" smtClean="0"/>
              <a:t> function is used as follows</a:t>
            </a:r>
            <a:endParaRPr lang="en-US" altLang="en-US" sz="2000" dirty="0" smtClean="0"/>
          </a:p>
          <a:p>
            <a:pPr lvl="1" eaLnBrk="1" hangingPunct="1">
              <a:buFontTx/>
              <a:buNone/>
            </a:pPr>
            <a:r>
              <a:rPr lang="en-US" altLang="en-US" sz="1600" dirty="0" smtClean="0">
                <a:latin typeface="Courier New" panose="02070309020205020404" pitchFamily="49" charset="0"/>
              </a:rPr>
              <a:t>	          </a:t>
            </a:r>
            <a:r>
              <a:rPr lang="en-US" altLang="en-US" sz="1600" b="1" dirty="0" err="1" smtClean="0">
                <a:latin typeface="Courier New" panose="02070309020205020404" pitchFamily="49" charset="0"/>
              </a:rPr>
              <a:t>int</a:t>
            </a:r>
            <a:r>
              <a:rPr lang="en-US" altLang="en-US" sz="1600" dirty="0" smtClean="0">
                <a:latin typeface="Courier New" panose="02070309020205020404" pitchFamily="49" charset="0"/>
              </a:rPr>
              <a:t> a, b, c;</a:t>
            </a:r>
          </a:p>
          <a:p>
            <a:pPr lvl="1" eaLnBrk="1" hangingPunct="1">
              <a:buFontTx/>
              <a:buNone/>
            </a:pPr>
            <a:r>
              <a:rPr lang="en-US" altLang="en-US" sz="1600" dirty="0" smtClean="0">
                <a:latin typeface="Courier New" panose="02070309020205020404" pitchFamily="49" charset="0"/>
              </a:rPr>
              <a:t>	          c = max(a, b);</a:t>
            </a:r>
            <a:endParaRPr lang="en-US" altLang="en-US" sz="1600" dirty="0" smtClean="0"/>
          </a:p>
          <a:p>
            <a:pPr lvl="3" eaLnBrk="1" hangingPunct="1">
              <a:buFont typeface="Lucida Sans Unicode" panose="020B0602030504020204" pitchFamily="34" charset="0"/>
              <a:buChar char="-"/>
            </a:pPr>
            <a:r>
              <a:rPr lang="en-US" altLang="en-US" sz="2100" u="sng" dirty="0" smtClean="0"/>
              <a:t>Compiler</a:t>
            </a:r>
            <a:r>
              <a:rPr lang="en-US" altLang="en-US" sz="2100" dirty="0" smtClean="0"/>
              <a:t> generates </a:t>
            </a:r>
            <a:r>
              <a:rPr lang="en-US" altLang="en-US" sz="2100" u="sng" dirty="0" smtClean="0"/>
              <a:t>new version</a:t>
            </a:r>
            <a:r>
              <a:rPr lang="en-US" altLang="en-US" sz="2100" dirty="0" smtClean="0"/>
              <a:t> of </a:t>
            </a:r>
            <a:r>
              <a:rPr lang="en-US" altLang="en-US" sz="2100" dirty="0" smtClean="0">
                <a:latin typeface="Courier New" panose="02070309020205020404" pitchFamily="49" charset="0"/>
                <a:cs typeface="Courier New" panose="02070309020205020404" pitchFamily="49" charset="0"/>
              </a:rPr>
              <a:t>max</a:t>
            </a:r>
            <a:r>
              <a:rPr lang="en-US" altLang="en-US" sz="2100" dirty="0" smtClean="0"/>
              <a:t> function</a:t>
            </a:r>
          </a:p>
          <a:p>
            <a:pPr lvl="3" eaLnBrk="1" hangingPunct="1">
              <a:buFont typeface="Lucida Sans Unicode" panose="020B0602030504020204" pitchFamily="34" charset="0"/>
              <a:buChar char="-"/>
            </a:pPr>
            <a:r>
              <a:rPr lang="en-US" altLang="en-US" sz="2100" dirty="0" smtClean="0"/>
              <a:t>The new version has every </a:t>
            </a:r>
            <a:r>
              <a:rPr lang="en-US" altLang="en-US" sz="2100" dirty="0" smtClean="0">
                <a:latin typeface="Courier New" panose="02070309020205020404" pitchFamily="49" charset="0"/>
                <a:cs typeface="Courier New" panose="02070309020205020404" pitchFamily="49" charset="0"/>
              </a:rPr>
              <a:t>T</a:t>
            </a:r>
            <a:r>
              <a:rPr lang="en-US" altLang="en-US" sz="2100" dirty="0" smtClean="0"/>
              <a:t> replaced with </a:t>
            </a:r>
            <a:r>
              <a:rPr lang="en-US" altLang="en-US" sz="2100" dirty="0" err="1" smtClean="0">
                <a:latin typeface="Courier New" panose="02070309020205020404" pitchFamily="49" charset="0"/>
                <a:cs typeface="Courier New" panose="02070309020205020404" pitchFamily="49" charset="0"/>
              </a:rPr>
              <a:t>int</a:t>
            </a:r>
            <a:endParaRPr lang="en-US" altLang="en-US" sz="2100" dirty="0" smtClean="0">
              <a:latin typeface="Courier New" panose="02070309020205020404" pitchFamily="49" charset="0"/>
              <a:cs typeface="Courier New" panose="02070309020205020404" pitchFamily="49" charset="0"/>
            </a:endParaRPr>
          </a:p>
        </p:txBody>
      </p:sp>
      <p:sp>
        <p:nvSpPr>
          <p:cNvPr id="10752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8A016F5-A82B-4381-8288-4CBAF88AAB57}"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213049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pPr eaLnBrk="1" hangingPunct="1"/>
            <a:r>
              <a:rPr lang="en-US" altLang="en-US" smtClean="0"/>
              <a:t>Generic Subprograms</a:t>
            </a:r>
          </a:p>
        </p:txBody>
      </p:sp>
      <p:sp>
        <p:nvSpPr>
          <p:cNvPr id="109571" name="Content Placeholder 2"/>
          <p:cNvSpPr>
            <a:spLocks noGrp="1"/>
          </p:cNvSpPr>
          <p:nvPr>
            <p:ph idx="1"/>
          </p:nvPr>
        </p:nvSpPr>
        <p:spPr>
          <a:xfrm>
            <a:off x="604838" y="1600200"/>
            <a:ext cx="8153400" cy="5105400"/>
          </a:xfrm>
        </p:spPr>
        <p:txBody>
          <a:bodyPr/>
          <a:lstStyle/>
          <a:p>
            <a:pPr eaLnBrk="1" hangingPunct="1"/>
            <a:r>
              <a:rPr lang="en-US" altLang="en-US" dirty="0" smtClean="0"/>
              <a:t>Java 5.0 generics differ from C++</a:t>
            </a:r>
          </a:p>
          <a:p>
            <a:pPr lvl="1" eaLnBrk="1" hangingPunct="1"/>
            <a:r>
              <a:rPr lang="en-US" altLang="en-US" dirty="0" smtClean="0"/>
              <a:t>Generic parameters must be classes</a:t>
            </a:r>
          </a:p>
          <a:p>
            <a:pPr lvl="1" eaLnBrk="1" hangingPunct="1"/>
            <a:r>
              <a:rPr lang="en-US" altLang="en-US" dirty="0" smtClean="0"/>
              <a:t>Consider this </a:t>
            </a:r>
            <a:r>
              <a:rPr lang="en-US" altLang="en-US" dirty="0" err="1" smtClean="0">
                <a:latin typeface="Courier New" panose="02070309020205020404" pitchFamily="49" charset="0"/>
                <a:cs typeface="Courier New" panose="02070309020205020404" pitchFamily="49" charset="0"/>
              </a:rPr>
              <a:t>doIt</a:t>
            </a:r>
            <a:r>
              <a:rPr lang="en-US" altLang="en-US" dirty="0" smtClean="0"/>
              <a:t> method and call to </a:t>
            </a:r>
            <a:r>
              <a:rPr lang="en-US" altLang="en-US" dirty="0" err="1" smtClean="0">
                <a:latin typeface="Courier New" panose="02070309020205020404" pitchFamily="49" charset="0"/>
                <a:cs typeface="Courier New" panose="02070309020205020404" pitchFamily="49" charset="0"/>
              </a:rPr>
              <a:t>doIt</a:t>
            </a:r>
            <a:endParaRPr lang="en-US" altLang="en-US" dirty="0" smtClean="0">
              <a:latin typeface="Courier New" panose="02070309020205020404" pitchFamily="49" charset="0"/>
              <a:cs typeface="Courier New" panose="02070309020205020404" pitchFamily="49" charset="0"/>
            </a:endParaRPr>
          </a:p>
          <a:p>
            <a:pPr lvl="1" eaLnBrk="1" hangingPunct="1">
              <a:buFontTx/>
              <a:buNone/>
            </a:pPr>
            <a:endParaRPr lang="en-US" altLang="en-US" sz="2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public static</a:t>
            </a:r>
            <a:r>
              <a:rPr lang="en-US" altLang="en-US" sz="1600" dirty="0" smtClean="0">
                <a:latin typeface="Courier New" panose="02070309020205020404" pitchFamily="49" charset="0"/>
              </a:rPr>
              <a:t> &lt;T&gt; 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(T[] list) { ... }</a:t>
            </a:r>
          </a:p>
          <a:p>
            <a:pPr lvl="1" eaLnBrk="1" hangingPunct="1">
              <a:buFontTx/>
              <a:buNone/>
            </a:pPr>
            <a:endParaRPr lang="en-US" altLang="en-US" sz="5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String[] </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 = new String[10];</a:t>
            </a:r>
          </a:p>
          <a:p>
            <a:pPr lvl="1" eaLnBrk="1" hangingPunct="1">
              <a:buFontTx/>
              <a:buNone/>
            </a:pP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&lt;String&gt;(</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a:t>
            </a:r>
          </a:p>
          <a:p>
            <a:pPr lvl="1" eaLnBrk="1" hangingPunct="1">
              <a:buFontTx/>
              <a:buNone/>
            </a:pPr>
            <a:endParaRPr lang="en-US" altLang="en-US" sz="500" dirty="0" smtClean="0">
              <a:latin typeface="Courier New" panose="02070309020205020404" pitchFamily="49" charset="0"/>
            </a:endParaRPr>
          </a:p>
          <a:p>
            <a:pPr lvl="1" eaLnBrk="1" hangingPunct="1"/>
            <a:r>
              <a:rPr lang="en-US" altLang="en-US" dirty="0" smtClean="0"/>
              <a:t>The above is legal because </a:t>
            </a:r>
            <a:r>
              <a:rPr lang="en-US" altLang="en-US" dirty="0" smtClean="0">
                <a:latin typeface="Courier New" panose="02070309020205020404" pitchFamily="49" charset="0"/>
                <a:cs typeface="Courier New" panose="02070309020205020404" pitchFamily="49" charset="0"/>
              </a:rPr>
              <a:t>String</a:t>
            </a:r>
            <a:r>
              <a:rPr lang="en-US" altLang="en-US" dirty="0" smtClean="0"/>
              <a:t> is a class</a:t>
            </a:r>
          </a:p>
          <a:p>
            <a:pPr lvl="1" eaLnBrk="1" hangingPunct="1"/>
            <a:r>
              <a:rPr lang="en-US" altLang="en-US" dirty="0" smtClean="0"/>
              <a:t>Illegal to use primitive types like </a:t>
            </a:r>
            <a:r>
              <a:rPr lang="en-US" altLang="en-US" b="1" dirty="0" err="1" smtClean="0">
                <a:latin typeface="Courier New" panose="02070309020205020404" pitchFamily="49" charset="0"/>
                <a:cs typeface="Courier New" panose="02070309020205020404" pitchFamily="49" charset="0"/>
              </a:rPr>
              <a:t>int</a:t>
            </a:r>
            <a:r>
              <a:rPr lang="en-US" altLang="en-US" dirty="0" smtClean="0"/>
              <a:t> or </a:t>
            </a:r>
            <a:r>
              <a:rPr lang="en-US" altLang="en-US" b="1" dirty="0" smtClean="0">
                <a:latin typeface="Courier New" panose="02070309020205020404" pitchFamily="49" charset="0"/>
                <a:cs typeface="Courier New" panose="02070309020205020404" pitchFamily="49" charset="0"/>
              </a:rPr>
              <a:t>float</a:t>
            </a:r>
          </a:p>
        </p:txBody>
      </p:sp>
      <p:sp>
        <p:nvSpPr>
          <p:cNvPr id="10957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A14BA50-C8A9-4DFF-95A5-9968A13C57EC}"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p:txBody>
          <a:bodyPr/>
          <a:lstStyle/>
          <a:p>
            <a:pPr eaLnBrk="1" hangingPunct="1"/>
            <a:r>
              <a:rPr lang="en-US" altLang="en-US" smtClean="0"/>
              <a:t>Generic Subprograms</a:t>
            </a:r>
          </a:p>
        </p:txBody>
      </p:sp>
      <p:sp>
        <p:nvSpPr>
          <p:cNvPr id="111619" name="Content Placeholder 2"/>
          <p:cNvSpPr>
            <a:spLocks noGrp="1"/>
          </p:cNvSpPr>
          <p:nvPr>
            <p:ph idx="1"/>
          </p:nvPr>
        </p:nvSpPr>
        <p:spPr>
          <a:xfrm>
            <a:off x="604838" y="1600200"/>
            <a:ext cx="8386762" cy="5105400"/>
          </a:xfrm>
        </p:spPr>
        <p:txBody>
          <a:bodyPr/>
          <a:lstStyle/>
          <a:p>
            <a:pPr eaLnBrk="1" hangingPunct="1"/>
            <a:r>
              <a:rPr lang="en-US" altLang="en-US" dirty="0" smtClean="0"/>
              <a:t>Java 5.0 generics differ from C++</a:t>
            </a:r>
          </a:p>
          <a:p>
            <a:pPr lvl="1" eaLnBrk="1" hangingPunct="1"/>
            <a:r>
              <a:rPr lang="en-US" altLang="en-US" dirty="0" smtClean="0"/>
              <a:t>Continuing with out previous example</a:t>
            </a:r>
          </a:p>
          <a:p>
            <a:pPr lvl="1" eaLnBrk="1" hangingPunct="1">
              <a:buFontTx/>
              <a:buNone/>
            </a:pPr>
            <a:endParaRPr lang="en-US" altLang="en-US" sz="2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public static</a:t>
            </a:r>
            <a:r>
              <a:rPr lang="en-US" altLang="en-US" sz="1600" dirty="0" smtClean="0">
                <a:latin typeface="Courier New" panose="02070309020205020404" pitchFamily="49" charset="0"/>
              </a:rPr>
              <a:t> &lt;T&gt; 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(T[] list) { ... }</a:t>
            </a:r>
          </a:p>
          <a:p>
            <a:pPr lvl="1" eaLnBrk="1" hangingPunct="1">
              <a:buFontTx/>
              <a:buNone/>
            </a:pPr>
            <a:endParaRPr lang="en-US" altLang="en-US" sz="5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String[] </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 = </a:t>
            </a:r>
            <a:r>
              <a:rPr lang="en-US" altLang="en-US" sz="1600" b="1" dirty="0" smtClean="0">
                <a:latin typeface="Courier New" panose="02070309020205020404" pitchFamily="49" charset="0"/>
              </a:rPr>
              <a:t>new</a:t>
            </a:r>
            <a:r>
              <a:rPr lang="en-US" altLang="en-US" sz="1600" dirty="0" smtClean="0">
                <a:latin typeface="Courier New" panose="02070309020205020404" pitchFamily="49" charset="0"/>
              </a:rPr>
              <a:t> String[10];</a:t>
            </a:r>
          </a:p>
          <a:p>
            <a:pPr lvl="1" eaLnBrk="1" hangingPunct="1">
              <a:buFontTx/>
              <a:buNone/>
            </a:pP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&lt;String&gt;(</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a:t>
            </a:r>
          </a:p>
          <a:p>
            <a:pPr lvl="1" eaLnBrk="1" hangingPunct="1">
              <a:buFontTx/>
              <a:buNone/>
            </a:pPr>
            <a:endParaRPr lang="en-US" altLang="en-US" sz="500" dirty="0" smtClean="0">
              <a:latin typeface="Courier New" panose="02070309020205020404" pitchFamily="49" charset="0"/>
            </a:endParaRPr>
          </a:p>
          <a:p>
            <a:pPr lvl="1" eaLnBrk="1" hangingPunct="1"/>
            <a:r>
              <a:rPr lang="en-US" altLang="en-US" dirty="0" smtClean="0"/>
              <a:t>Generic methods are instantiated </a:t>
            </a:r>
            <a:r>
              <a:rPr lang="en-US" altLang="en-US" u="sng" dirty="0" smtClean="0"/>
              <a:t>once</a:t>
            </a:r>
            <a:r>
              <a:rPr lang="en-US" altLang="en-US" dirty="0" smtClean="0"/>
              <a:t> at </a:t>
            </a:r>
            <a:r>
              <a:rPr lang="en-US" altLang="en-US" u="sng" dirty="0" smtClean="0"/>
              <a:t>run time</a:t>
            </a:r>
          </a:p>
          <a:p>
            <a:pPr lvl="2" eaLnBrk="1" hangingPunct="1"/>
            <a:r>
              <a:rPr lang="en-US" altLang="en-US" sz="2400" dirty="0" smtClean="0"/>
              <a:t>Instances of </a:t>
            </a:r>
            <a:r>
              <a:rPr lang="en-US" altLang="en-US" sz="2400" dirty="0" smtClean="0">
                <a:latin typeface="Courier New" panose="02070309020205020404" pitchFamily="49" charset="0"/>
                <a:cs typeface="Courier New" panose="02070309020205020404" pitchFamily="49" charset="0"/>
              </a:rPr>
              <a:t>Object</a:t>
            </a:r>
            <a:r>
              <a:rPr lang="en-US" altLang="en-US" sz="2400" dirty="0" smtClean="0"/>
              <a:t> used wherever </a:t>
            </a:r>
            <a:r>
              <a:rPr lang="en-US" altLang="en-US" sz="2400" dirty="0" smtClean="0">
                <a:latin typeface="Courier New" panose="02070309020205020404" pitchFamily="49" charset="0"/>
                <a:cs typeface="Courier New" panose="02070309020205020404" pitchFamily="49" charset="0"/>
              </a:rPr>
              <a:t>T</a:t>
            </a:r>
            <a:r>
              <a:rPr lang="en-US" altLang="en-US" sz="2400" dirty="0" smtClean="0"/>
              <a:t> appears</a:t>
            </a:r>
          </a:p>
          <a:p>
            <a:pPr lvl="2" eaLnBrk="1" hangingPunct="1"/>
            <a:r>
              <a:rPr lang="en-US" altLang="en-US" sz="2400" dirty="0" smtClean="0"/>
              <a:t>Therefore </a:t>
            </a:r>
            <a:r>
              <a:rPr lang="en-US" altLang="en-US" sz="2400" dirty="0" err="1" smtClean="0">
                <a:latin typeface="Courier New" panose="02070309020205020404" pitchFamily="49" charset="0"/>
                <a:cs typeface="Courier New" panose="02070309020205020404" pitchFamily="49" charset="0"/>
              </a:rPr>
              <a:t>doIt</a:t>
            </a:r>
            <a:r>
              <a:rPr lang="en-US" altLang="en-US" sz="2400" dirty="0" smtClean="0"/>
              <a:t> is represented internally as</a:t>
            </a:r>
          </a:p>
          <a:p>
            <a:pPr lvl="1" eaLnBrk="1" hangingPunct="1">
              <a:buFontTx/>
              <a:buNone/>
            </a:pPr>
            <a:endParaRPr lang="en-US" altLang="en-US" sz="500" dirty="0" smtClean="0">
              <a:solidFill>
                <a:srgbClr val="333399"/>
              </a:solidFill>
              <a:latin typeface="Courier New" panose="02070309020205020404" pitchFamily="49" charset="0"/>
            </a:endParaRPr>
          </a:p>
          <a:p>
            <a:pPr lvl="1" eaLnBrk="1" hangingPunct="1">
              <a:buFontTx/>
              <a:buNone/>
            </a:pPr>
            <a:r>
              <a:rPr lang="en-US" altLang="en-US" sz="1600" dirty="0" smtClean="0">
                <a:solidFill>
                  <a:srgbClr val="333399"/>
                </a:solidFill>
                <a:latin typeface="Courier New" panose="02070309020205020404" pitchFamily="49" charset="0"/>
              </a:rPr>
              <a:t>	      </a:t>
            </a:r>
            <a:r>
              <a:rPr lang="en-US" altLang="en-US" sz="1600" b="1" dirty="0" smtClean="0">
                <a:solidFill>
                  <a:srgbClr val="333399"/>
                </a:solidFill>
                <a:latin typeface="Courier New" panose="02070309020205020404" pitchFamily="49" charset="0"/>
              </a:rPr>
              <a:t>public static</a:t>
            </a:r>
            <a:r>
              <a:rPr lang="en-US" altLang="en-US" sz="1600" dirty="0" smtClean="0">
                <a:solidFill>
                  <a:srgbClr val="333399"/>
                </a:solidFill>
                <a:latin typeface="Courier New" panose="02070309020205020404" pitchFamily="49" charset="0"/>
              </a:rPr>
              <a:t> Object </a:t>
            </a:r>
            <a:r>
              <a:rPr lang="en-US" altLang="en-US" sz="1600" dirty="0" err="1" smtClean="0">
                <a:solidFill>
                  <a:srgbClr val="333399"/>
                </a:solidFill>
                <a:latin typeface="Courier New" panose="02070309020205020404" pitchFamily="49" charset="0"/>
              </a:rPr>
              <a:t>doIt</a:t>
            </a:r>
            <a:r>
              <a:rPr lang="en-US" altLang="en-US" sz="1600" dirty="0" smtClean="0">
                <a:solidFill>
                  <a:srgbClr val="333399"/>
                </a:solidFill>
                <a:latin typeface="Courier New" panose="02070309020205020404" pitchFamily="49" charset="0"/>
              </a:rPr>
              <a:t>(Object[] list) { ... }</a:t>
            </a:r>
          </a:p>
          <a:p>
            <a:pPr lvl="1" eaLnBrk="1" hangingPunct="1">
              <a:buFontTx/>
              <a:buNone/>
            </a:pPr>
            <a:endParaRPr lang="en-US" altLang="en-US" sz="500" dirty="0" smtClean="0">
              <a:latin typeface="Courier New" panose="02070309020205020404" pitchFamily="49" charset="0"/>
              <a:cs typeface="Courier New" panose="02070309020205020404" pitchFamily="49" charset="0"/>
            </a:endParaRPr>
          </a:p>
          <a:p>
            <a:pPr lvl="2" eaLnBrk="1" hangingPunct="1"/>
            <a:r>
              <a:rPr lang="en-US" altLang="en-US" sz="2400" dirty="0" smtClean="0"/>
              <a:t>This means that </a:t>
            </a:r>
            <a:r>
              <a:rPr lang="en-US" altLang="en-US" sz="2400" dirty="0" err="1" smtClean="0">
                <a:latin typeface="Courier New" panose="02070309020205020404" pitchFamily="49" charset="0"/>
                <a:cs typeface="Courier New" panose="02070309020205020404" pitchFamily="49" charset="0"/>
              </a:rPr>
              <a:t>doIt</a:t>
            </a:r>
            <a:r>
              <a:rPr lang="en-US" altLang="en-US" sz="2400" dirty="0" smtClean="0"/>
              <a:t> can work with any object</a:t>
            </a:r>
          </a:p>
          <a:p>
            <a:pPr lvl="3" eaLnBrk="1" hangingPunct="1"/>
            <a:r>
              <a:rPr lang="en-US" altLang="en-US" sz="2100" dirty="0" smtClean="0"/>
              <a:t>Because all objects inherit from the </a:t>
            </a:r>
            <a:r>
              <a:rPr lang="en-US" altLang="en-US" sz="2100" dirty="0" smtClean="0">
                <a:latin typeface="Courier New" panose="02070309020205020404" pitchFamily="49" charset="0"/>
                <a:cs typeface="Courier New" panose="02070309020205020404" pitchFamily="49" charset="0"/>
              </a:rPr>
              <a:t>Object</a:t>
            </a:r>
            <a:r>
              <a:rPr lang="en-US" altLang="en-US" sz="2100" dirty="0" smtClean="0"/>
              <a:t> class</a:t>
            </a:r>
          </a:p>
        </p:txBody>
      </p:sp>
      <p:sp>
        <p:nvSpPr>
          <p:cNvPr id="11162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97D2B32-8E20-4EFE-B9C0-C6DE7095F7DD}"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pPr eaLnBrk="1" hangingPunct="1"/>
            <a:r>
              <a:rPr lang="en-US" altLang="en-US" smtClean="0"/>
              <a:t>Generic Subprograms</a:t>
            </a:r>
          </a:p>
        </p:txBody>
      </p:sp>
      <p:sp>
        <p:nvSpPr>
          <p:cNvPr id="113667" name="Content Placeholder 2"/>
          <p:cNvSpPr>
            <a:spLocks noGrp="1"/>
          </p:cNvSpPr>
          <p:nvPr>
            <p:ph idx="1"/>
          </p:nvPr>
        </p:nvSpPr>
        <p:spPr>
          <a:xfrm>
            <a:off x="604838" y="1600200"/>
            <a:ext cx="8386762" cy="5105400"/>
          </a:xfrm>
        </p:spPr>
        <p:txBody>
          <a:bodyPr/>
          <a:lstStyle/>
          <a:p>
            <a:pPr eaLnBrk="1" hangingPunct="1"/>
            <a:r>
              <a:rPr lang="en-US" altLang="en-US" dirty="0" smtClean="0"/>
              <a:t>Java 5.0 generics differ from C++</a:t>
            </a:r>
          </a:p>
          <a:p>
            <a:pPr lvl="1" eaLnBrk="1" hangingPunct="1"/>
            <a:r>
              <a:rPr lang="en-US" altLang="en-US" dirty="0" smtClean="0"/>
              <a:t>Continuing with our previous example</a:t>
            </a:r>
          </a:p>
          <a:p>
            <a:pPr lvl="1" eaLnBrk="1" hangingPunct="1">
              <a:buFontTx/>
              <a:buNone/>
            </a:pPr>
            <a:endParaRPr lang="en-US" altLang="en-US" sz="2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public static</a:t>
            </a:r>
            <a:r>
              <a:rPr lang="en-US" altLang="en-US" sz="1600" dirty="0" smtClean="0">
                <a:latin typeface="Courier New" panose="02070309020205020404" pitchFamily="49" charset="0"/>
              </a:rPr>
              <a:t> &lt;T&gt; 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(T[] list) { ... }</a:t>
            </a:r>
          </a:p>
          <a:p>
            <a:pPr lvl="1" eaLnBrk="1" hangingPunct="1">
              <a:buFontTx/>
              <a:buNone/>
            </a:pPr>
            <a:endParaRPr lang="en-US" altLang="en-US" sz="500" dirty="0" smtClean="0">
              <a:latin typeface="Courier New" panose="02070309020205020404" pitchFamily="49" charset="0"/>
            </a:endParaRPr>
          </a:p>
          <a:p>
            <a:pPr lvl="1" eaLnBrk="1" hangingPunct="1">
              <a:buFontTx/>
              <a:buNone/>
            </a:pPr>
            <a:r>
              <a:rPr lang="en-US" altLang="en-US" sz="1600" dirty="0" smtClean="0">
                <a:latin typeface="Courier New" panose="02070309020205020404" pitchFamily="49" charset="0"/>
              </a:rPr>
              <a:t>	      String[] </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 = </a:t>
            </a:r>
            <a:r>
              <a:rPr lang="en-US" altLang="en-US" sz="1600" b="1" dirty="0" smtClean="0">
                <a:latin typeface="Courier New" panose="02070309020205020404" pitchFamily="49" charset="0"/>
              </a:rPr>
              <a:t>new</a:t>
            </a:r>
            <a:r>
              <a:rPr lang="en-US" altLang="en-US" sz="1600" dirty="0" smtClean="0">
                <a:latin typeface="Courier New" panose="02070309020205020404" pitchFamily="49" charset="0"/>
              </a:rPr>
              <a:t> String[10];</a:t>
            </a:r>
          </a:p>
          <a:p>
            <a:pPr lvl="1" eaLnBrk="1" hangingPunct="1">
              <a:buFontTx/>
              <a:buNone/>
            </a:pP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&lt;String&gt;(</a:t>
            </a:r>
            <a:r>
              <a:rPr lang="en-US" altLang="en-US" sz="1600" dirty="0" err="1" smtClean="0">
                <a:latin typeface="Courier New" panose="02070309020205020404" pitchFamily="49" charset="0"/>
              </a:rPr>
              <a:t>myList</a:t>
            </a:r>
            <a:r>
              <a:rPr lang="en-US" altLang="en-US" sz="1600" dirty="0" smtClean="0">
                <a:latin typeface="Courier New" panose="02070309020205020404" pitchFamily="49" charset="0"/>
              </a:rPr>
              <a:t>);</a:t>
            </a:r>
          </a:p>
          <a:p>
            <a:pPr lvl="1" eaLnBrk="1" hangingPunct="1">
              <a:buFontTx/>
              <a:buNone/>
            </a:pPr>
            <a:endParaRPr lang="en-US" altLang="en-US" sz="500" dirty="0" smtClean="0">
              <a:latin typeface="Courier New" panose="02070309020205020404" pitchFamily="49" charset="0"/>
            </a:endParaRPr>
          </a:p>
          <a:p>
            <a:pPr lvl="1" eaLnBrk="1" hangingPunct="1"/>
            <a:r>
              <a:rPr lang="en-US" altLang="en-US" dirty="0" smtClean="0"/>
              <a:t>Which is represented internally as</a:t>
            </a:r>
          </a:p>
          <a:p>
            <a:pPr lvl="1" eaLnBrk="1" hangingPunct="1">
              <a:buFontTx/>
              <a:buNone/>
            </a:pPr>
            <a:endParaRPr lang="en-US" altLang="en-US" sz="500" dirty="0" smtClean="0">
              <a:solidFill>
                <a:srgbClr val="333399"/>
              </a:solidFill>
              <a:latin typeface="Courier New" panose="02070309020205020404" pitchFamily="49" charset="0"/>
            </a:endParaRPr>
          </a:p>
          <a:p>
            <a:pPr lvl="1" eaLnBrk="1" hangingPunct="1">
              <a:buFontTx/>
              <a:buNone/>
            </a:pPr>
            <a:r>
              <a:rPr lang="en-US" altLang="en-US" sz="1600" dirty="0" smtClean="0">
                <a:solidFill>
                  <a:srgbClr val="333399"/>
                </a:solidFill>
                <a:latin typeface="Courier New" panose="02070309020205020404" pitchFamily="49" charset="0"/>
              </a:rPr>
              <a:t>	      </a:t>
            </a:r>
            <a:r>
              <a:rPr lang="en-US" altLang="en-US" sz="1600" b="1" dirty="0" smtClean="0">
                <a:solidFill>
                  <a:srgbClr val="333399"/>
                </a:solidFill>
                <a:latin typeface="Courier New" panose="02070309020205020404" pitchFamily="49" charset="0"/>
              </a:rPr>
              <a:t>public static</a:t>
            </a:r>
            <a:r>
              <a:rPr lang="en-US" altLang="en-US" sz="1600" dirty="0" smtClean="0">
                <a:solidFill>
                  <a:srgbClr val="333399"/>
                </a:solidFill>
                <a:latin typeface="Courier New" panose="02070309020205020404" pitchFamily="49" charset="0"/>
              </a:rPr>
              <a:t> Object </a:t>
            </a:r>
            <a:r>
              <a:rPr lang="en-US" altLang="en-US" sz="1600" dirty="0" err="1" smtClean="0">
                <a:solidFill>
                  <a:srgbClr val="333399"/>
                </a:solidFill>
                <a:latin typeface="Courier New" panose="02070309020205020404" pitchFamily="49" charset="0"/>
              </a:rPr>
              <a:t>doIt</a:t>
            </a:r>
            <a:r>
              <a:rPr lang="en-US" altLang="en-US" sz="1600" dirty="0" smtClean="0">
                <a:solidFill>
                  <a:srgbClr val="333399"/>
                </a:solidFill>
                <a:latin typeface="Courier New" panose="02070309020205020404" pitchFamily="49" charset="0"/>
              </a:rPr>
              <a:t>(Object[] list) { ... }</a:t>
            </a:r>
          </a:p>
          <a:p>
            <a:pPr lvl="1" eaLnBrk="1" hangingPunct="1">
              <a:buFontTx/>
              <a:buNone/>
            </a:pPr>
            <a:endParaRPr lang="en-US" altLang="en-US" sz="500" dirty="0" smtClean="0">
              <a:solidFill>
                <a:srgbClr val="333399"/>
              </a:solidFill>
              <a:latin typeface="Courier New" panose="02070309020205020404" pitchFamily="49" charset="0"/>
            </a:endParaRPr>
          </a:p>
          <a:p>
            <a:pPr lvl="2" eaLnBrk="1" hangingPunct="1"/>
            <a:r>
              <a:rPr lang="en-US" altLang="en-US" sz="2400" dirty="0"/>
              <a:t>C</a:t>
            </a:r>
            <a:r>
              <a:rPr lang="en-US" altLang="en-US" sz="2400" dirty="0" smtClean="0"/>
              <a:t>ompiler inserts casts to the appropriate type</a:t>
            </a:r>
          </a:p>
          <a:p>
            <a:pPr lvl="3" eaLnBrk="1" hangingPunct="1"/>
            <a:r>
              <a:rPr lang="en-US" altLang="en-US" sz="2100" dirty="0" smtClean="0"/>
              <a:t>A cast for the parameter to </a:t>
            </a:r>
            <a:r>
              <a:rPr lang="en-US" altLang="en-US" sz="2100" dirty="0" smtClean="0">
                <a:latin typeface="Courier New" panose="02070309020205020404" pitchFamily="49" charset="0"/>
                <a:cs typeface="Courier New" panose="02070309020205020404" pitchFamily="49" charset="0"/>
              </a:rPr>
              <a:t>String[]</a:t>
            </a:r>
          </a:p>
          <a:p>
            <a:pPr lvl="3" eaLnBrk="1" hangingPunct="1"/>
            <a:r>
              <a:rPr lang="en-US" altLang="en-US" sz="2100" dirty="0" smtClean="0"/>
              <a:t>A cast for the returned value to </a:t>
            </a:r>
            <a:r>
              <a:rPr lang="en-US" altLang="en-US" sz="2100" dirty="0" smtClean="0">
                <a:latin typeface="Courier New" panose="02070309020205020404" pitchFamily="49" charset="0"/>
                <a:cs typeface="Courier New" panose="02070309020205020404" pitchFamily="49" charset="0"/>
              </a:rPr>
              <a:t>String</a:t>
            </a:r>
          </a:p>
          <a:p>
            <a:pPr lvl="3" eaLnBrk="1" hangingPunct="1"/>
            <a:r>
              <a:rPr lang="en-US" altLang="en-US" sz="2100" dirty="0" smtClean="0"/>
              <a:t>Ensures that any type misuses by a user of </a:t>
            </a:r>
            <a:r>
              <a:rPr lang="en-US" altLang="en-US" sz="2100" dirty="0" err="1" smtClean="0">
                <a:latin typeface="Courier New" panose="02070309020205020404" pitchFamily="49" charset="0"/>
                <a:cs typeface="Courier New" panose="02070309020205020404" pitchFamily="49" charset="0"/>
              </a:rPr>
              <a:t>doIt</a:t>
            </a:r>
            <a:r>
              <a:rPr lang="en-US" altLang="en-US" sz="2100" dirty="0" smtClean="0"/>
              <a:t> are picked up at </a:t>
            </a:r>
            <a:r>
              <a:rPr lang="en-US" altLang="en-US" sz="2100" u="sng" dirty="0" smtClean="0"/>
              <a:t>compile time</a:t>
            </a:r>
            <a:r>
              <a:rPr lang="en-US" altLang="en-US" sz="2100" dirty="0" smtClean="0"/>
              <a:t>, rather than runtime</a:t>
            </a:r>
          </a:p>
        </p:txBody>
      </p:sp>
      <p:sp>
        <p:nvSpPr>
          <p:cNvPr id="11366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210BFA5-3847-48B8-B0C6-A4C61DC1ADA5}"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p:nvPr>
        </p:nvSpPr>
        <p:spPr/>
        <p:txBody>
          <a:bodyPr/>
          <a:lstStyle/>
          <a:p>
            <a:pPr eaLnBrk="1" hangingPunct="1"/>
            <a:r>
              <a:rPr lang="en-US" altLang="en-US" smtClean="0"/>
              <a:t>Generic Subprograms</a:t>
            </a:r>
          </a:p>
        </p:txBody>
      </p:sp>
      <p:sp>
        <p:nvSpPr>
          <p:cNvPr id="81923" name="Content Placeholder 2"/>
          <p:cNvSpPr>
            <a:spLocks noGrp="1"/>
          </p:cNvSpPr>
          <p:nvPr>
            <p:ph idx="1"/>
          </p:nvPr>
        </p:nvSpPr>
        <p:spPr>
          <a:xfrm>
            <a:off x="604838" y="1600200"/>
            <a:ext cx="8153400" cy="5105400"/>
          </a:xfrm>
        </p:spPr>
        <p:txBody>
          <a:bodyPr/>
          <a:lstStyle/>
          <a:p>
            <a:pPr eaLnBrk="1" hangingPunct="1">
              <a:defRPr/>
            </a:pPr>
            <a:r>
              <a:rPr lang="en-US" altLang="en-US" dirty="0" smtClean="0"/>
              <a:t>Java 5.0 generics differ from C++</a:t>
            </a:r>
          </a:p>
          <a:p>
            <a:pPr lvl="1" eaLnBrk="1" hangingPunct="1">
              <a:defRPr/>
            </a:pPr>
            <a:r>
              <a:rPr lang="en-US" altLang="en-US" dirty="0" smtClean="0"/>
              <a:t>Can restrict class ranges for generic parameters</a:t>
            </a:r>
          </a:p>
          <a:p>
            <a:pPr lvl="1" eaLnBrk="1" hangingPunct="1">
              <a:buFontTx/>
              <a:buNone/>
              <a:defRPr/>
            </a:pPr>
            <a:endParaRPr lang="en-US" altLang="en-US" sz="200" dirty="0" smtClean="0">
              <a:latin typeface="Courier New" panose="02070309020205020404" pitchFamily="49" charset="0"/>
            </a:endParaRPr>
          </a:p>
          <a:p>
            <a:pPr marL="914400" lvl="1" indent="-457200" eaLnBrk="1" hangingPunct="1">
              <a:lnSpc>
                <a:spcPct val="90000"/>
              </a:lnSpc>
              <a:buFontTx/>
              <a:buNone/>
              <a:defRPr/>
            </a:pPr>
            <a:r>
              <a:rPr lang="en-US" altLang="en-US" sz="1600" dirty="0" smtClean="0">
                <a:latin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public</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a:solidFill>
                  <a:srgbClr val="333399"/>
                </a:solidFill>
                <a:latin typeface="Courier New" panose="02070309020205020404" pitchFamily="49" charset="0"/>
                <a:cs typeface="Courier New" panose="02070309020205020404" pitchFamily="49" charset="0"/>
              </a:rPr>
              <a:t>static</a:t>
            </a:r>
            <a:r>
              <a:rPr lang="en-US" altLang="en-US" sz="1600" dirty="0">
                <a:solidFill>
                  <a:srgbClr val="333399"/>
                </a:solidFill>
                <a:latin typeface="Courier New" panose="02070309020205020404" pitchFamily="49" charset="0"/>
                <a:cs typeface="Courier New" panose="02070309020205020404" pitchFamily="49" charset="0"/>
              </a:rPr>
              <a:t> &lt;T </a:t>
            </a:r>
            <a:r>
              <a:rPr lang="en-US" altLang="en-US" sz="1600" b="1" dirty="0">
                <a:solidFill>
                  <a:srgbClr val="333399"/>
                </a:solidFill>
                <a:latin typeface="Courier New" panose="02070309020205020404" pitchFamily="49" charset="0"/>
                <a:cs typeface="Courier New" panose="02070309020205020404" pitchFamily="49" charset="0"/>
              </a:rPr>
              <a:t>extends</a:t>
            </a:r>
            <a:r>
              <a:rPr lang="en-US" altLang="en-US" sz="1600" dirty="0">
                <a:solidFill>
                  <a:srgbClr val="333399"/>
                </a:solidFill>
                <a:latin typeface="Courier New" panose="02070309020205020404" pitchFamily="49" charset="0"/>
                <a:cs typeface="Courier New" panose="02070309020205020404" pitchFamily="49" charset="0"/>
              </a:rPr>
              <a:t> Comparable&gt; T </a:t>
            </a:r>
            <a:r>
              <a:rPr lang="en-US" altLang="en-US" sz="1600" dirty="0" err="1">
                <a:solidFill>
                  <a:srgbClr val="333399"/>
                </a:solidFill>
                <a:latin typeface="Courier New" panose="02070309020205020404" pitchFamily="49" charset="0"/>
                <a:cs typeface="Courier New" panose="02070309020205020404" pitchFamily="49" charset="0"/>
              </a:rPr>
              <a:t>doIt</a:t>
            </a:r>
            <a:r>
              <a:rPr lang="en-US" altLang="en-US" sz="1600" dirty="0">
                <a:solidFill>
                  <a:srgbClr val="333399"/>
                </a:solidFill>
                <a:latin typeface="Courier New" panose="02070309020205020404" pitchFamily="49" charset="0"/>
                <a:cs typeface="Courier New" panose="02070309020205020404" pitchFamily="49" charset="0"/>
              </a:rPr>
              <a:t>(T[] list) </a:t>
            </a:r>
          </a:p>
          <a:p>
            <a:pPr marL="914400" lvl="1" indent="-457200" eaLnBrk="1" hangingPunct="1">
              <a:lnSpc>
                <a:spcPct val="90000"/>
              </a:lnSpc>
              <a:buFontTx/>
              <a:buNone/>
              <a:defRPr/>
            </a:pPr>
            <a:r>
              <a:rPr lang="en-US" altLang="en-US" sz="1600" dirty="0" smtClean="0">
                <a:solidFill>
                  <a:srgbClr val="333399"/>
                </a:solidFill>
                <a:latin typeface="Courier New" panose="02070309020205020404" pitchFamily="49" charset="0"/>
                <a:cs typeface="Courier New" panose="02070309020205020404" pitchFamily="49" charset="0"/>
              </a:rPr>
              <a:t>	    { </a:t>
            </a:r>
            <a:r>
              <a:rPr lang="en-US" altLang="en-US" sz="1600" dirty="0">
                <a:solidFill>
                  <a:srgbClr val="333399"/>
                </a:solidFill>
                <a:latin typeface="Courier New" panose="02070309020205020404" pitchFamily="49" charset="0"/>
                <a:cs typeface="Courier New" panose="02070309020205020404" pitchFamily="49" charset="0"/>
              </a:rPr>
              <a:t>... </a:t>
            </a:r>
            <a:r>
              <a:rPr lang="en-US" altLang="en-US" sz="1600" dirty="0" smtClean="0">
                <a:solidFill>
                  <a:srgbClr val="333399"/>
                </a:solidFill>
                <a:latin typeface="Courier New" panose="02070309020205020404" pitchFamily="49" charset="0"/>
                <a:cs typeface="Courier New" panose="02070309020205020404" pitchFamily="49" charset="0"/>
              </a:rPr>
              <a:t>}</a:t>
            </a:r>
            <a:endParaRPr lang="en-US" altLang="en-US" sz="1600" dirty="0" smtClean="0">
              <a:latin typeface="Courier New" panose="02070309020205020404" pitchFamily="49" charset="0"/>
            </a:endParaRPr>
          </a:p>
          <a:p>
            <a:pPr lvl="1" eaLnBrk="1" hangingPunct="1">
              <a:buFontTx/>
              <a:buNone/>
              <a:defRPr/>
            </a:pPr>
            <a:endParaRPr lang="en-US" altLang="en-US" sz="500" dirty="0" smtClean="0">
              <a:latin typeface="Courier New" panose="02070309020205020404" pitchFamily="49" charset="0"/>
            </a:endParaRPr>
          </a:p>
          <a:p>
            <a:pPr lvl="1" eaLnBrk="1" hangingPunct="1">
              <a:defRPr/>
            </a:pPr>
            <a:r>
              <a:rPr lang="en-US" altLang="en-US" dirty="0" smtClean="0"/>
              <a:t>Ensures that </a:t>
            </a:r>
            <a:r>
              <a:rPr lang="en-US" altLang="en-US" dirty="0" smtClean="0">
                <a:latin typeface="Courier New" panose="02070309020205020404" pitchFamily="49" charset="0"/>
                <a:cs typeface="Courier New" panose="02070309020205020404" pitchFamily="49" charset="0"/>
              </a:rPr>
              <a:t>T</a:t>
            </a:r>
            <a:r>
              <a:rPr lang="en-US" altLang="en-US" dirty="0" smtClean="0"/>
              <a:t> is a subtype of </a:t>
            </a:r>
            <a:r>
              <a:rPr lang="en-US" altLang="en-US" dirty="0" smtClean="0">
                <a:latin typeface="Courier New" panose="02070309020205020404" pitchFamily="49" charset="0"/>
                <a:cs typeface="Courier New" panose="02070309020205020404" pitchFamily="49" charset="0"/>
              </a:rPr>
              <a:t>Comparable</a:t>
            </a:r>
          </a:p>
          <a:p>
            <a:pPr lvl="2" eaLnBrk="1" hangingPunct="1">
              <a:defRPr/>
            </a:pPr>
            <a:r>
              <a:rPr lang="en-US" altLang="en-US" dirty="0" smtClean="0"/>
              <a:t>This means </a:t>
            </a:r>
            <a:r>
              <a:rPr lang="en-US" altLang="en-US" dirty="0" smtClean="0">
                <a:latin typeface="Courier New" panose="02070309020205020404" pitchFamily="49" charset="0"/>
                <a:cs typeface="Courier New" panose="02070309020205020404" pitchFamily="49" charset="0"/>
              </a:rPr>
              <a:t>T</a:t>
            </a:r>
            <a:r>
              <a:rPr lang="en-US" altLang="en-US" dirty="0" smtClean="0"/>
              <a:t> must be a class that either</a:t>
            </a:r>
          </a:p>
          <a:p>
            <a:pPr lvl="3" eaLnBrk="1" hangingPunct="1">
              <a:defRPr/>
            </a:pPr>
            <a:r>
              <a:rPr lang="en-US" altLang="en-US" dirty="0"/>
              <a:t>I</a:t>
            </a:r>
            <a:r>
              <a:rPr lang="en-US" altLang="en-US" dirty="0" smtClean="0"/>
              <a:t>nherits from a </a:t>
            </a:r>
            <a:r>
              <a:rPr lang="en-US" altLang="en-US" u="sng" dirty="0" smtClean="0"/>
              <a:t>class</a:t>
            </a:r>
            <a:r>
              <a:rPr lang="en-US" altLang="en-US" dirty="0" smtClean="0"/>
              <a:t> called </a:t>
            </a:r>
            <a:r>
              <a:rPr lang="en-US" altLang="en-US" dirty="0" smtClean="0">
                <a:latin typeface="Courier New" panose="02070309020205020404" pitchFamily="49" charset="0"/>
                <a:cs typeface="Courier New" panose="02070309020205020404" pitchFamily="49" charset="0"/>
              </a:rPr>
              <a:t>Comparable</a:t>
            </a:r>
          </a:p>
          <a:p>
            <a:pPr lvl="3" eaLnBrk="1" hangingPunct="1">
              <a:defRPr/>
            </a:pPr>
            <a:r>
              <a:rPr lang="en-US" altLang="en-US" dirty="0" smtClean="0"/>
              <a:t>Implements an </a:t>
            </a:r>
            <a:r>
              <a:rPr lang="en-US" altLang="en-US" u="sng" dirty="0" smtClean="0"/>
              <a:t>interface</a:t>
            </a:r>
            <a:r>
              <a:rPr lang="en-US" altLang="en-US" dirty="0" smtClean="0"/>
              <a:t> called </a:t>
            </a:r>
            <a:r>
              <a:rPr lang="en-US" altLang="en-US" dirty="0" smtClean="0">
                <a:latin typeface="Courier New" panose="02070309020205020404" pitchFamily="49" charset="0"/>
                <a:cs typeface="Courier New" panose="02070309020205020404" pitchFamily="49" charset="0"/>
              </a:rPr>
              <a:t>Comparable</a:t>
            </a:r>
          </a:p>
          <a:p>
            <a:pPr lvl="2" eaLnBrk="1" hangingPunct="1">
              <a:defRPr/>
            </a:pPr>
            <a:r>
              <a:rPr lang="en-US" altLang="en-US" dirty="0" smtClean="0"/>
              <a:t>Here, </a:t>
            </a:r>
            <a:r>
              <a:rPr lang="en-US" altLang="en-US" dirty="0" smtClean="0">
                <a:latin typeface="Courier New" panose="02070309020205020404" pitchFamily="49" charset="0"/>
                <a:cs typeface="Courier New" panose="02070309020205020404" pitchFamily="49" charset="0"/>
              </a:rPr>
              <a:t>Comparable</a:t>
            </a:r>
            <a:r>
              <a:rPr lang="en-US" altLang="en-US" dirty="0" smtClean="0"/>
              <a:t> is an interface provided by Java</a:t>
            </a:r>
          </a:p>
        </p:txBody>
      </p:sp>
      <p:sp>
        <p:nvSpPr>
          <p:cNvPr id="11571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7A747FC-137B-4375-9FE0-871217EE5E28}"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p:txBody>
          <a:bodyPr/>
          <a:lstStyle/>
          <a:p>
            <a:pPr eaLnBrk="1" hangingPunct="1"/>
            <a:r>
              <a:rPr lang="en-US" altLang="en-US" smtClean="0"/>
              <a:t>Generic Subprograms</a:t>
            </a:r>
          </a:p>
        </p:txBody>
      </p:sp>
      <p:sp>
        <p:nvSpPr>
          <p:cNvPr id="81923" name="Content Placeholder 2"/>
          <p:cNvSpPr>
            <a:spLocks noGrp="1"/>
          </p:cNvSpPr>
          <p:nvPr>
            <p:ph idx="1"/>
          </p:nvPr>
        </p:nvSpPr>
        <p:spPr>
          <a:xfrm>
            <a:off x="604838" y="1600200"/>
            <a:ext cx="8153400" cy="5105400"/>
          </a:xfrm>
        </p:spPr>
        <p:txBody>
          <a:bodyPr/>
          <a:lstStyle/>
          <a:p>
            <a:pPr eaLnBrk="1" hangingPunct="1">
              <a:defRPr/>
            </a:pPr>
            <a:r>
              <a:rPr lang="en-US" altLang="en-US" dirty="0" smtClean="0"/>
              <a:t>Java 5.0 generics differ from C++</a:t>
            </a:r>
          </a:p>
          <a:p>
            <a:pPr lvl="1" eaLnBrk="1" hangingPunct="1">
              <a:defRPr/>
            </a:pPr>
            <a:r>
              <a:rPr lang="en-US" altLang="en-US" dirty="0" smtClean="0"/>
              <a:t>Wildcard types for generic parameters</a:t>
            </a:r>
          </a:p>
          <a:p>
            <a:pPr lvl="1" eaLnBrk="1" hangingPunct="1">
              <a:buFontTx/>
              <a:buNone/>
              <a:defRPr/>
            </a:pPr>
            <a:endParaRPr lang="en-US" altLang="en-US" sz="200" dirty="0" smtClean="0">
              <a:latin typeface="Courier New" panose="02070309020205020404" pitchFamily="49" charset="0"/>
            </a:endParaRPr>
          </a:p>
          <a:p>
            <a:pPr marL="914400" lvl="1" indent="-457200" eaLnBrk="1" hangingPunct="1">
              <a:lnSpc>
                <a:spcPct val="90000"/>
              </a:lnSpc>
              <a:buFontTx/>
              <a:buNone/>
              <a:defRPr/>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void</a:t>
            </a: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printCollection</a:t>
            </a:r>
            <a:r>
              <a:rPr lang="en-US" altLang="en-US" sz="1600" dirty="0" smtClean="0">
                <a:latin typeface="Courier New" panose="02070309020205020404" pitchFamily="49" charset="0"/>
              </a:rPr>
              <a:t>(Collection&lt;?&gt; c) { ... }</a:t>
            </a:r>
            <a:endParaRPr lang="en-US" altLang="en-US" sz="1600" dirty="0" smtClean="0">
              <a:solidFill>
                <a:srgbClr val="333399"/>
              </a:solidFill>
              <a:latin typeface="Courier New" panose="02070309020205020404" pitchFamily="49" charset="0"/>
              <a:cs typeface="Courier New" panose="02070309020205020404" pitchFamily="49" charset="0"/>
            </a:endParaRPr>
          </a:p>
          <a:p>
            <a:pPr lvl="1" eaLnBrk="1" hangingPunct="1">
              <a:buFontTx/>
              <a:buNone/>
              <a:defRPr/>
            </a:pPr>
            <a:endParaRPr lang="en-US" altLang="en-US" sz="500" dirty="0" smtClean="0">
              <a:latin typeface="Courier New" panose="02070309020205020404" pitchFamily="49" charset="0"/>
            </a:endParaRPr>
          </a:p>
          <a:p>
            <a:pPr lvl="1" eaLnBrk="1" hangingPunct="1">
              <a:defRPr/>
            </a:pPr>
            <a:r>
              <a:rPr lang="en-US" altLang="en-US" dirty="0" smtClean="0"/>
              <a:t>The wildcard is indicated by the question mark</a:t>
            </a:r>
            <a:endParaRPr lang="en-US" altLang="en-US" dirty="0" smtClean="0">
              <a:latin typeface="Courier New" panose="02070309020205020404" pitchFamily="49" charset="0"/>
              <a:cs typeface="Courier New" panose="02070309020205020404" pitchFamily="49" charset="0"/>
            </a:endParaRPr>
          </a:p>
          <a:p>
            <a:pPr lvl="2" eaLnBrk="1" hangingPunct="1">
              <a:defRPr/>
            </a:pPr>
            <a:r>
              <a:rPr lang="en-US" altLang="en-US" dirty="0" smtClean="0"/>
              <a:t>Means “any object”</a:t>
            </a:r>
          </a:p>
          <a:p>
            <a:pPr lvl="2" eaLnBrk="1" hangingPunct="1">
              <a:defRPr/>
            </a:pPr>
            <a:r>
              <a:rPr lang="en-US" altLang="en-US" dirty="0" smtClean="0"/>
              <a:t>Therefore, the </a:t>
            </a:r>
            <a:r>
              <a:rPr lang="en-US" altLang="en-US" dirty="0" err="1" smtClean="0">
                <a:latin typeface="Courier New" panose="02070309020205020404" pitchFamily="49" charset="0"/>
                <a:cs typeface="Courier New" panose="02070309020205020404" pitchFamily="49" charset="0"/>
              </a:rPr>
              <a:t>printCollection</a:t>
            </a:r>
            <a:r>
              <a:rPr lang="en-US" altLang="en-US" dirty="0" smtClean="0"/>
              <a:t> method can receive an instance of the </a:t>
            </a:r>
            <a:r>
              <a:rPr lang="en-US" altLang="en-US" dirty="0" smtClean="0">
                <a:latin typeface="Courier New" panose="02070309020205020404" pitchFamily="49" charset="0"/>
                <a:cs typeface="Courier New" panose="02070309020205020404" pitchFamily="49" charset="0"/>
              </a:rPr>
              <a:t>Collection</a:t>
            </a:r>
            <a:r>
              <a:rPr lang="en-US" altLang="en-US" dirty="0" smtClean="0"/>
              <a:t> class containing objects of any class</a:t>
            </a:r>
          </a:p>
          <a:p>
            <a:pPr lvl="2" eaLnBrk="1" hangingPunct="1">
              <a:defRPr/>
            </a:pPr>
            <a:r>
              <a:rPr lang="en-US" altLang="en-US" dirty="0" smtClean="0"/>
              <a:t>Also possible to restrict the wildcard using </a:t>
            </a:r>
            <a:r>
              <a:rPr lang="en-US" altLang="en-US" b="1" dirty="0" smtClean="0">
                <a:latin typeface="Courier New" panose="02070309020205020404" pitchFamily="49" charset="0"/>
                <a:cs typeface="Courier New" panose="02070309020205020404" pitchFamily="49" charset="0"/>
              </a:rPr>
              <a:t>extends</a:t>
            </a:r>
          </a:p>
        </p:txBody>
      </p:sp>
      <p:sp>
        <p:nvSpPr>
          <p:cNvPr id="11776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1EFBB0B-9CE6-4075-AA57-575BEC0C7789}"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5390528-ECE0-45FB-9754-B02F85D1DD9E}"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119812" name="Rectangle 2"/>
          <p:cNvSpPr>
            <a:spLocks noGrp="1" noChangeArrowheads="1"/>
          </p:cNvSpPr>
          <p:nvPr>
            <p:ph type="title"/>
          </p:nvPr>
        </p:nvSpPr>
        <p:spPr/>
        <p:txBody>
          <a:bodyPr/>
          <a:lstStyle/>
          <a:p>
            <a:pPr eaLnBrk="1" hangingPunct="1"/>
            <a:r>
              <a:rPr lang="en-US" altLang="en-US" smtClean="0"/>
              <a:t>Generic Subprograms</a:t>
            </a:r>
          </a:p>
        </p:txBody>
      </p:sp>
      <p:sp>
        <p:nvSpPr>
          <p:cNvPr id="119813"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In C# 2005</a:t>
            </a:r>
          </a:p>
          <a:p>
            <a:pPr lvl="1" eaLnBrk="1" hangingPunct="1"/>
            <a:r>
              <a:rPr lang="en-US" altLang="en-US" dirty="0" smtClean="0"/>
              <a:t>Creates subprogram </a:t>
            </a:r>
            <a:r>
              <a:rPr lang="en-US" altLang="en-US" u="sng" dirty="0" smtClean="0"/>
              <a:t>versions</a:t>
            </a:r>
            <a:r>
              <a:rPr lang="en-US" altLang="en-US" dirty="0" smtClean="0"/>
              <a:t> at </a:t>
            </a:r>
            <a:r>
              <a:rPr lang="en-US" altLang="en-US" u="sng" dirty="0" smtClean="0"/>
              <a:t>runtime</a:t>
            </a:r>
          </a:p>
          <a:p>
            <a:pPr lvl="2" eaLnBrk="1" hangingPunct="1"/>
            <a:r>
              <a:rPr lang="en-US" altLang="en-US" dirty="0" smtClean="0"/>
              <a:t>For </a:t>
            </a:r>
            <a:r>
              <a:rPr lang="en-US" altLang="en-US" u="sng" dirty="0" smtClean="0"/>
              <a:t>primitive types</a:t>
            </a:r>
            <a:r>
              <a:rPr lang="en-US" altLang="en-US" dirty="0" smtClean="0"/>
              <a:t>, this works Almost like C++ does</a:t>
            </a:r>
          </a:p>
          <a:p>
            <a:pPr lvl="2" eaLnBrk="1" hangingPunct="1"/>
            <a:r>
              <a:rPr lang="en-US" altLang="en-US" dirty="0" smtClean="0"/>
              <a:t>For </a:t>
            </a:r>
            <a:r>
              <a:rPr lang="en-US" altLang="en-US" u="sng" dirty="0" smtClean="0"/>
              <a:t>any object</a:t>
            </a:r>
            <a:r>
              <a:rPr lang="en-US" altLang="en-US" dirty="0" smtClean="0"/>
              <a:t>, a version for </a:t>
            </a:r>
            <a:r>
              <a:rPr lang="en-US" altLang="en-US" dirty="0" smtClean="0">
                <a:latin typeface="Courier New" panose="02070309020205020404" pitchFamily="49" charset="0"/>
                <a:cs typeface="Courier New" panose="02070309020205020404" pitchFamily="49" charset="0"/>
              </a:rPr>
              <a:t>Object</a:t>
            </a:r>
            <a:r>
              <a:rPr lang="en-US" altLang="en-US" dirty="0" smtClean="0"/>
              <a:t> class is created</a:t>
            </a:r>
          </a:p>
          <a:p>
            <a:pPr lvl="1" eaLnBrk="1" hangingPunct="1"/>
            <a:r>
              <a:rPr lang="en-US" altLang="en-US" dirty="0" smtClean="0"/>
              <a:t>Differences:</a:t>
            </a:r>
          </a:p>
          <a:p>
            <a:pPr lvl="2" eaLnBrk="1" hangingPunct="1"/>
            <a:r>
              <a:rPr lang="en-US" altLang="en-US" dirty="0" smtClean="0"/>
              <a:t>No support for wildcards</a:t>
            </a:r>
          </a:p>
          <a:p>
            <a:pPr lvl="2" eaLnBrk="1" hangingPunct="1"/>
            <a:r>
              <a:rPr lang="en-US" altLang="en-US" dirty="0" smtClean="0"/>
              <a:t>If the compiler can infer the unspecified type</a:t>
            </a:r>
          </a:p>
          <a:p>
            <a:pPr lvl="3" eaLnBrk="1" hangingPunct="1"/>
            <a:r>
              <a:rPr lang="en-US" altLang="en-US" dirty="0" smtClean="0"/>
              <a:t>Actual type parameters in a call can be omitted</a:t>
            </a:r>
          </a:p>
          <a:p>
            <a:pPr lvl="3" eaLnBrk="1" hangingPunct="1"/>
            <a:r>
              <a:rPr lang="en-US" altLang="en-US" dirty="0" smtClean="0"/>
              <a:t>For example:</a:t>
            </a:r>
          </a:p>
          <a:p>
            <a:pPr lvl="2" eaLnBrk="1" hangingPunct="1">
              <a:buFontTx/>
              <a:buNone/>
            </a:pPr>
            <a:endParaRPr lang="en-US" altLang="en-US" sz="500" dirty="0" smtClean="0">
              <a:latin typeface="Courier New" panose="02070309020205020404" pitchFamily="49" charset="0"/>
            </a:endParaRPr>
          </a:p>
          <a:p>
            <a:pPr lvl="2"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public</a:t>
            </a: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static</a:t>
            </a:r>
            <a:r>
              <a:rPr lang="en-US" altLang="en-US" sz="1600" dirty="0" smtClean="0">
                <a:latin typeface="Courier New" panose="02070309020205020404" pitchFamily="49" charset="0"/>
              </a:rPr>
              <a:t> T </a:t>
            </a:r>
            <a:r>
              <a:rPr lang="en-US" altLang="en-US" sz="1600" dirty="0" err="1" smtClean="0">
                <a:latin typeface="Courier New" panose="02070309020205020404" pitchFamily="49" charset="0"/>
              </a:rPr>
              <a:t>DoIt</a:t>
            </a:r>
            <a:r>
              <a:rPr lang="en-US" altLang="en-US" sz="1600" dirty="0" smtClean="0">
                <a:latin typeface="Courier New" panose="02070309020205020404" pitchFamily="49" charset="0"/>
              </a:rPr>
              <a:t>&lt;T&gt;(T p1) {...}</a:t>
            </a:r>
          </a:p>
          <a:p>
            <a:pPr lvl="2" eaLnBrk="1" hangingPunct="1">
              <a:buFontTx/>
              <a:buNone/>
            </a:pPr>
            <a:endParaRPr lang="en-US" altLang="en-US" sz="700" dirty="0" smtClean="0">
              <a:latin typeface="Courier New" panose="02070309020205020404" pitchFamily="49" charset="0"/>
            </a:endParaRPr>
          </a:p>
          <a:p>
            <a:pPr lvl="2" eaLnBrk="1" hangingPunct="1">
              <a:buFontTx/>
              <a:buNone/>
            </a:pPr>
            <a:r>
              <a:rPr lang="en-US" altLang="en-US" sz="1600" dirty="0" smtClean="0">
                <a:latin typeface="Courier New" panose="02070309020205020404" pitchFamily="49" charset="0"/>
              </a:rPr>
              <a:t>	     </a:t>
            </a:r>
            <a:r>
              <a:rPr lang="en-US" altLang="en-US" sz="1600" b="1" dirty="0" err="1" smtClean="0">
                <a:latin typeface="Courier New" panose="02070309020205020404" pitchFamily="49" charset="0"/>
              </a:rPr>
              <a:t>int</a:t>
            </a: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myInt</a:t>
            </a:r>
            <a:r>
              <a:rPr lang="en-US" altLang="en-US" sz="1600" dirty="0" smtClean="0">
                <a:latin typeface="Courier New" panose="02070309020205020404" pitchFamily="49" charset="0"/>
              </a:rPr>
              <a:t> = </a:t>
            </a:r>
            <a:r>
              <a:rPr lang="en-US" altLang="en-US" sz="1600" dirty="0" err="1" smtClean="0">
                <a:latin typeface="Courier New" panose="02070309020205020404" pitchFamily="49" charset="0"/>
              </a:rPr>
              <a:t>MyClass.DoIt</a:t>
            </a:r>
            <a:r>
              <a:rPr lang="en-US" altLang="en-US" sz="1600" dirty="0" smtClean="0">
                <a:latin typeface="Courier New" panose="02070309020205020404" pitchFamily="49" charset="0"/>
              </a:rPr>
              <a:t>(17);</a:t>
            </a:r>
          </a:p>
          <a:p>
            <a:pPr lvl="2" eaLnBrk="1" hangingPunct="1">
              <a:buFontTx/>
              <a:buNone/>
            </a:pPr>
            <a:r>
              <a:rPr lang="en-US" altLang="en-US" sz="1600" dirty="0" smtClean="0">
                <a:latin typeface="Courier New" panose="02070309020205020404" pitchFamily="49" charset="0"/>
              </a:rPr>
              <a:t>	     </a:t>
            </a:r>
            <a:r>
              <a:rPr lang="en-US" altLang="en-US" sz="1600" b="1" dirty="0" smtClean="0">
                <a:latin typeface="Courier New" panose="02070309020205020404" pitchFamily="49" charset="0"/>
              </a:rPr>
              <a:t>string</a:t>
            </a:r>
            <a:r>
              <a:rPr lang="en-US" altLang="en-US" sz="1600" dirty="0" smtClean="0">
                <a:latin typeface="Courier New" panose="02070309020205020404" pitchFamily="49" charset="0"/>
              </a:rPr>
              <a:t> </a:t>
            </a:r>
            <a:r>
              <a:rPr lang="en-US" altLang="en-US" sz="1600" dirty="0" err="1" smtClean="0">
                <a:latin typeface="Courier New" panose="02070309020205020404" pitchFamily="49" charset="0"/>
              </a:rPr>
              <a:t>myStr</a:t>
            </a:r>
            <a:r>
              <a:rPr lang="en-US" altLang="en-US" sz="1600" dirty="0" smtClean="0">
                <a:latin typeface="Courier New" panose="02070309020205020404" pitchFamily="49" charset="0"/>
              </a:rPr>
              <a:t> = </a:t>
            </a:r>
            <a:r>
              <a:rPr lang="en-US" altLang="en-US" sz="1600" dirty="0" err="1" smtClean="0">
                <a:latin typeface="Courier New" panose="02070309020205020404" pitchFamily="49" charset="0"/>
              </a:rPr>
              <a:t>MyClass.DoIt</a:t>
            </a:r>
            <a:r>
              <a:rPr lang="en-US" altLang="en-US" sz="1600" dirty="0" smtClean="0">
                <a:latin typeface="Courier New" panose="02070309020205020404" pitchFamily="49" charset="0"/>
              </a:rPr>
              <a:t>('apples');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5390528-ECE0-45FB-9754-B02F85D1DD9E}"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119812" name="Rectangle 2"/>
          <p:cNvSpPr>
            <a:spLocks noGrp="1" noChangeArrowheads="1"/>
          </p:cNvSpPr>
          <p:nvPr>
            <p:ph type="title"/>
          </p:nvPr>
        </p:nvSpPr>
        <p:spPr/>
        <p:txBody>
          <a:bodyPr/>
          <a:lstStyle/>
          <a:p>
            <a:pPr eaLnBrk="1" hangingPunct="1"/>
            <a:r>
              <a:rPr lang="en-US" altLang="en-US" dirty="0" smtClean="0"/>
              <a:t>Design Issues for Functions</a:t>
            </a:r>
          </a:p>
        </p:txBody>
      </p:sp>
      <p:sp>
        <p:nvSpPr>
          <p:cNvPr id="119813"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Are side effects allowed?</a:t>
            </a:r>
          </a:p>
          <a:p>
            <a:pPr lvl="1" eaLnBrk="1" hangingPunct="1"/>
            <a:r>
              <a:rPr lang="en-US" altLang="en-US" dirty="0" smtClean="0"/>
              <a:t>We’ve spoken about side effects in Chapter 15</a:t>
            </a:r>
          </a:p>
          <a:p>
            <a:pPr lvl="1" eaLnBrk="1" hangingPunct="1"/>
            <a:r>
              <a:rPr lang="en-US" altLang="en-US" dirty="0" smtClean="0"/>
              <a:t>To reduce side effects</a:t>
            </a:r>
          </a:p>
          <a:p>
            <a:pPr lvl="2" eaLnBrk="1" hangingPunct="1"/>
            <a:r>
              <a:rPr lang="en-US" altLang="en-US" dirty="0" smtClean="0"/>
              <a:t>Parameters should ideally be in-mode</a:t>
            </a:r>
          </a:p>
          <a:p>
            <a:pPr lvl="2" eaLnBrk="1" hangingPunct="1"/>
            <a:r>
              <a:rPr lang="en-US" altLang="en-US" dirty="0" smtClean="0"/>
              <a:t>Purely functional languages enforce this, but most other languages don’t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452270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5390528-ECE0-45FB-9754-B02F85D1DD9E}"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119812" name="Rectangle 2"/>
          <p:cNvSpPr>
            <a:spLocks noGrp="1" noChangeArrowheads="1"/>
          </p:cNvSpPr>
          <p:nvPr>
            <p:ph type="title"/>
          </p:nvPr>
        </p:nvSpPr>
        <p:spPr/>
        <p:txBody>
          <a:bodyPr/>
          <a:lstStyle/>
          <a:p>
            <a:pPr eaLnBrk="1" hangingPunct="1"/>
            <a:r>
              <a:rPr lang="en-US" altLang="en-US" dirty="0" smtClean="0"/>
              <a:t>Design Issues for Functions</a:t>
            </a:r>
          </a:p>
        </p:txBody>
      </p:sp>
      <p:sp>
        <p:nvSpPr>
          <p:cNvPr id="119813"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How many values can be returned?</a:t>
            </a:r>
          </a:p>
          <a:p>
            <a:pPr lvl="1" eaLnBrk="1" hangingPunct="1"/>
            <a:r>
              <a:rPr lang="en-US" altLang="en-US" dirty="0" smtClean="0"/>
              <a:t>Most languages only allow one return value</a:t>
            </a:r>
          </a:p>
          <a:p>
            <a:pPr lvl="1" eaLnBrk="1" hangingPunct="1"/>
            <a:r>
              <a:rPr lang="en-US" altLang="en-US" dirty="0" smtClean="0"/>
              <a:t>Ruby methods</a:t>
            </a:r>
          </a:p>
          <a:p>
            <a:pPr lvl="2" eaLnBrk="1" hangingPunct="1"/>
            <a:r>
              <a:rPr lang="en-US" altLang="en-US" dirty="0" smtClean="0"/>
              <a:t>Multiple returns allowed through an array of values</a:t>
            </a:r>
          </a:p>
          <a:p>
            <a:pPr marL="914400" lvl="2" indent="0" eaLnBrk="1" hangingPunct="1">
              <a:buNone/>
            </a:pPr>
            <a:endParaRPr lang="en-ZA" altLang="en-US" sz="500" dirty="0" smtClean="0">
              <a:latin typeface="Courier New" panose="02070309020205020404" pitchFamily="49" charset="0"/>
              <a:cs typeface="Courier New" panose="02070309020205020404" pitchFamily="49" charset="0"/>
            </a:endParaRPr>
          </a:p>
          <a:p>
            <a:pPr marL="914400" lvl="2" indent="0" eaLnBrk="1" hangingPunct="1">
              <a:buNone/>
            </a:pPr>
            <a:r>
              <a:rPr lang="en-ZA" altLang="en-US" sz="2000" dirty="0" smtClean="0">
                <a:latin typeface="Courier New" panose="02070309020205020404" pitchFamily="49" charset="0"/>
                <a:cs typeface="Courier New" panose="02070309020205020404" pitchFamily="49" charset="0"/>
              </a:rPr>
              <a:t>     </a:t>
            </a:r>
            <a:r>
              <a:rPr lang="en-ZA" altLang="en-US" sz="2000" b="1" dirty="0" err="1" smtClean="0">
                <a:latin typeface="Courier New" panose="02070309020205020404" pitchFamily="49" charset="0"/>
                <a:cs typeface="Courier New" panose="02070309020205020404" pitchFamily="49" charset="0"/>
              </a:rPr>
              <a:t>def</a:t>
            </a:r>
            <a:r>
              <a:rPr lang="en-ZA" altLang="en-US" sz="2000" dirty="0" smtClean="0">
                <a:latin typeface="Courier New" panose="02070309020205020404" pitchFamily="49" charset="0"/>
                <a:cs typeface="Courier New" panose="02070309020205020404" pitchFamily="49" charset="0"/>
              </a:rPr>
              <a:t> </a:t>
            </a:r>
            <a:r>
              <a:rPr lang="en-ZA" altLang="en-US" sz="2000" dirty="0" err="1">
                <a:latin typeface="Courier New" panose="02070309020205020404" pitchFamily="49" charset="0"/>
                <a:cs typeface="Courier New" panose="02070309020205020404" pitchFamily="49" charset="0"/>
              </a:rPr>
              <a:t>multiple_values</a:t>
            </a:r>
            <a:endParaRPr lang="en-ZA" altLang="en-US" sz="2000" dirty="0">
              <a:latin typeface="Courier New" panose="02070309020205020404" pitchFamily="49" charset="0"/>
              <a:cs typeface="Courier New" panose="02070309020205020404" pitchFamily="49" charset="0"/>
            </a:endParaRPr>
          </a:p>
          <a:p>
            <a:pPr marL="914400" lvl="2" indent="0" eaLnBrk="1" hangingPunct="1">
              <a:buNone/>
            </a:pPr>
            <a:r>
              <a:rPr lang="en-ZA" altLang="en-US" sz="2000" dirty="0">
                <a:latin typeface="Courier New" panose="02070309020205020404" pitchFamily="49" charset="0"/>
                <a:cs typeface="Courier New" panose="02070309020205020404" pitchFamily="49" charset="0"/>
              </a:rPr>
              <a:t>  </a:t>
            </a:r>
            <a:r>
              <a:rPr lang="en-ZA" altLang="en-US" sz="2000" dirty="0" smtClean="0">
                <a:latin typeface="Courier New" panose="02070309020205020404" pitchFamily="49" charset="0"/>
                <a:cs typeface="Courier New" panose="02070309020205020404" pitchFamily="49" charset="0"/>
              </a:rPr>
              <a:t>      </a:t>
            </a:r>
            <a:r>
              <a:rPr lang="en-ZA" altLang="en-US" sz="2000" b="1" dirty="0" smtClean="0">
                <a:latin typeface="Courier New" panose="02070309020205020404" pitchFamily="49" charset="0"/>
                <a:cs typeface="Courier New" panose="02070309020205020404" pitchFamily="49" charset="0"/>
              </a:rPr>
              <a:t>return</a:t>
            </a:r>
            <a:r>
              <a:rPr lang="en-ZA" altLang="en-US" sz="2000" dirty="0" smtClean="0">
                <a:latin typeface="Courier New" panose="02070309020205020404" pitchFamily="49" charset="0"/>
                <a:cs typeface="Courier New" panose="02070309020205020404" pitchFamily="49" charset="0"/>
              </a:rPr>
              <a:t> </a:t>
            </a:r>
            <a:r>
              <a:rPr lang="en-ZA" altLang="en-US" sz="2000" dirty="0">
                <a:latin typeface="Courier New" panose="02070309020205020404" pitchFamily="49" charset="0"/>
                <a:cs typeface="Courier New" panose="02070309020205020404" pitchFamily="49" charset="0"/>
              </a:rPr>
              <a:t>1, 2, 3, 4</a:t>
            </a:r>
          </a:p>
          <a:p>
            <a:pPr marL="914400" lvl="2" indent="0" eaLnBrk="1" hangingPunct="1">
              <a:buNone/>
            </a:pPr>
            <a:r>
              <a:rPr lang="en-ZA" altLang="en-US" sz="2000" dirty="0" smtClean="0">
                <a:latin typeface="Courier New" panose="02070309020205020404" pitchFamily="49" charset="0"/>
                <a:cs typeface="Courier New" panose="02070309020205020404" pitchFamily="49" charset="0"/>
              </a:rPr>
              <a:t>     </a:t>
            </a:r>
            <a:r>
              <a:rPr lang="en-ZA" altLang="en-US" sz="2000" b="1" dirty="0" smtClean="0">
                <a:latin typeface="Courier New" panose="02070309020205020404" pitchFamily="49" charset="0"/>
                <a:cs typeface="Courier New" panose="02070309020205020404" pitchFamily="49" charset="0"/>
              </a:rPr>
              <a:t>end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142612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5390528-ECE0-45FB-9754-B02F85D1DD9E}"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119812" name="Rectangle 2"/>
          <p:cNvSpPr>
            <a:spLocks noGrp="1" noChangeArrowheads="1"/>
          </p:cNvSpPr>
          <p:nvPr>
            <p:ph type="title"/>
          </p:nvPr>
        </p:nvSpPr>
        <p:spPr/>
        <p:txBody>
          <a:bodyPr/>
          <a:lstStyle/>
          <a:p>
            <a:pPr eaLnBrk="1" hangingPunct="1"/>
            <a:r>
              <a:rPr lang="en-US" altLang="en-US" dirty="0" smtClean="0"/>
              <a:t>Design Issues for Functions</a:t>
            </a:r>
          </a:p>
        </p:txBody>
      </p:sp>
      <p:sp>
        <p:nvSpPr>
          <p:cNvPr id="119813"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What types of return values are allowed?</a:t>
            </a:r>
          </a:p>
          <a:p>
            <a:pPr lvl="1" eaLnBrk="1" hangingPunct="1"/>
            <a:r>
              <a:rPr lang="en-US" altLang="en-US" dirty="0" smtClean="0"/>
              <a:t>Functions in C and C++</a:t>
            </a:r>
          </a:p>
          <a:p>
            <a:pPr lvl="2" eaLnBrk="1" hangingPunct="1"/>
            <a:r>
              <a:rPr lang="en-US" altLang="en-US" dirty="0" smtClean="0"/>
              <a:t>Any type can be returned</a:t>
            </a:r>
          </a:p>
          <a:p>
            <a:pPr lvl="3" eaLnBrk="1" hangingPunct="1"/>
            <a:r>
              <a:rPr lang="en-US" altLang="en-US" dirty="0" smtClean="0"/>
              <a:t>Except arrays and functions</a:t>
            </a:r>
          </a:p>
          <a:p>
            <a:pPr lvl="3" eaLnBrk="1" hangingPunct="1"/>
            <a:r>
              <a:rPr lang="en-US" altLang="en-US" dirty="0" smtClean="0"/>
              <a:t>How can these returns be simulated?</a:t>
            </a:r>
          </a:p>
          <a:p>
            <a:pPr lvl="2" eaLnBrk="1" hangingPunct="1"/>
            <a:r>
              <a:rPr lang="en-US" altLang="en-US" dirty="0" smtClean="0"/>
              <a:t>C++ also allows user-defined types to be returned</a:t>
            </a:r>
          </a:p>
          <a:p>
            <a:pPr lvl="1" eaLnBrk="1" hangingPunct="1"/>
            <a:r>
              <a:rPr lang="en-US" altLang="en-US" dirty="0" smtClean="0"/>
              <a:t>Java and C# methods</a:t>
            </a:r>
          </a:p>
          <a:p>
            <a:pPr lvl="2" eaLnBrk="1" hangingPunct="1"/>
            <a:r>
              <a:rPr lang="en-US" altLang="en-US" dirty="0" smtClean="0"/>
              <a:t>Can return any type (but methods are not types)</a:t>
            </a:r>
          </a:p>
          <a:p>
            <a:pPr lvl="1" eaLnBrk="1" hangingPunct="1"/>
            <a:r>
              <a:rPr lang="en-US" altLang="en-US" dirty="0" smtClean="0"/>
              <a:t>Python and Ruby</a:t>
            </a:r>
          </a:p>
          <a:p>
            <a:pPr lvl="2" eaLnBrk="1" hangingPunct="1"/>
            <a:r>
              <a:rPr lang="en-US" altLang="en-US" dirty="0" smtClean="0"/>
              <a:t>Any class can be returned</a:t>
            </a:r>
          </a:p>
          <a:p>
            <a:pPr lvl="2" eaLnBrk="1" hangingPunct="1"/>
            <a:r>
              <a:rPr lang="en-US" altLang="en-US" dirty="0" smtClean="0"/>
              <a:t>Methods are first-class objects, so can be returned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5544215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p:cNvSpPr>
            <a:spLocks noGrp="1"/>
          </p:cNvSpPr>
          <p:nvPr>
            <p:ph type="title"/>
          </p:nvPr>
        </p:nvSpPr>
        <p:spPr/>
        <p:txBody>
          <a:bodyPr/>
          <a:lstStyle/>
          <a:p>
            <a:r>
              <a:rPr lang="en-ZA" altLang="en-US" sz="3200" smtClean="0"/>
              <a:t>User-Defined Overloaded Operators</a:t>
            </a:r>
          </a:p>
        </p:txBody>
      </p:sp>
      <p:sp>
        <p:nvSpPr>
          <p:cNvPr id="3" name="Content Placeholder 2"/>
          <p:cNvSpPr>
            <a:spLocks noGrp="1"/>
          </p:cNvSpPr>
          <p:nvPr>
            <p:ph idx="1"/>
          </p:nvPr>
        </p:nvSpPr>
        <p:spPr>
          <a:xfrm>
            <a:off x="609600" y="1600200"/>
            <a:ext cx="8229600" cy="4572000"/>
          </a:xfrm>
        </p:spPr>
        <p:txBody>
          <a:bodyPr/>
          <a:lstStyle/>
          <a:p>
            <a:pPr>
              <a:defRPr/>
            </a:pPr>
            <a:r>
              <a:rPr lang="en-ZA" dirty="0" smtClean="0"/>
              <a:t>Supported in C++, Python, and Ruby</a:t>
            </a:r>
          </a:p>
          <a:p>
            <a:pPr lvl="1">
              <a:defRPr/>
            </a:pPr>
            <a:r>
              <a:rPr lang="en-ZA" dirty="0" smtClean="0"/>
              <a:t>For example, in the</a:t>
            </a:r>
            <a:r>
              <a:rPr lang="en-ZA" dirty="0" smtClean="0">
                <a:latin typeface="+mj-lt"/>
                <a:cs typeface="Courier New" panose="02070309020205020404" pitchFamily="49" charset="0"/>
              </a:rPr>
              <a:t> </a:t>
            </a:r>
            <a:r>
              <a:rPr lang="en-ZA" dirty="0" smtClean="0">
                <a:latin typeface="Courier New" panose="02070309020205020404" pitchFamily="49" charset="0"/>
                <a:cs typeface="Courier New" panose="02070309020205020404" pitchFamily="49" charset="0"/>
              </a:rPr>
              <a:t>Complex</a:t>
            </a:r>
            <a:r>
              <a:rPr lang="en-ZA" dirty="0" smtClean="0">
                <a:latin typeface="+mj-lt"/>
                <a:cs typeface="Courier New" panose="02070309020205020404" pitchFamily="49" charset="0"/>
              </a:rPr>
              <a:t> </a:t>
            </a:r>
            <a:r>
              <a:rPr lang="en-ZA" dirty="0" smtClean="0"/>
              <a:t>class of Python:</a:t>
            </a:r>
          </a:p>
          <a:p>
            <a:pPr marL="0" indent="0">
              <a:buFontTx/>
              <a:buNone/>
              <a:defRPr/>
            </a:pPr>
            <a:endParaRPr lang="en-ZA" sz="900" dirty="0" smtClean="0">
              <a:latin typeface="Courier New" panose="02070309020205020404" pitchFamily="49" charset="0"/>
              <a:cs typeface="Courier New" panose="02070309020205020404" pitchFamily="49" charset="0"/>
            </a:endParaRPr>
          </a:p>
          <a:p>
            <a:pPr marL="0" indent="0">
              <a:buFontTx/>
              <a:buNone/>
              <a:defRPr/>
            </a:pPr>
            <a:r>
              <a:rPr lang="en-ZA" sz="1800" dirty="0" smtClean="0">
                <a:latin typeface="Courier New" panose="02070309020205020404" pitchFamily="49" charset="0"/>
                <a:cs typeface="Courier New" panose="02070309020205020404" pitchFamily="49" charset="0"/>
              </a:rPr>
              <a:t>        </a:t>
            </a:r>
            <a:r>
              <a:rPr lang="en-ZA" sz="1800" b="1" dirty="0" err="1" smtClean="0">
                <a:latin typeface="Courier New" panose="02070309020205020404" pitchFamily="49" charset="0"/>
                <a:cs typeface="Courier New" panose="02070309020205020404" pitchFamily="49" charset="0"/>
              </a:rPr>
              <a:t>def</a:t>
            </a:r>
            <a:r>
              <a:rPr lang="en-ZA" sz="1800" dirty="0" smtClean="0">
                <a:latin typeface="Courier New" panose="02070309020205020404" pitchFamily="49" charset="0"/>
                <a:cs typeface="Courier New" panose="02070309020205020404" pitchFamily="49" charset="0"/>
              </a:rPr>
              <a:t> __add__ (self, second) :</a:t>
            </a:r>
          </a:p>
          <a:p>
            <a:pPr marL="0" indent="0">
              <a:buFontTx/>
              <a:buNone/>
              <a:defRPr/>
            </a:pPr>
            <a:r>
              <a:rPr lang="en-ZA" sz="1800" dirty="0" smtClean="0">
                <a:latin typeface="Courier New" panose="02070309020205020404" pitchFamily="49" charset="0"/>
                <a:cs typeface="Courier New" panose="02070309020205020404" pitchFamily="49" charset="0"/>
              </a:rPr>
              <a:t>           </a:t>
            </a:r>
            <a:r>
              <a:rPr lang="en-ZA" sz="1800" b="1" dirty="0" smtClean="0">
                <a:latin typeface="Courier New" panose="02070309020205020404" pitchFamily="49" charset="0"/>
                <a:cs typeface="Courier New" panose="02070309020205020404" pitchFamily="49" charset="0"/>
              </a:rPr>
              <a:t>return</a:t>
            </a:r>
            <a:r>
              <a:rPr lang="en-ZA" sz="1800" dirty="0" smtClean="0">
                <a:latin typeface="Courier New" panose="02070309020205020404" pitchFamily="49" charset="0"/>
                <a:cs typeface="Courier New" panose="02070309020205020404" pitchFamily="49" charset="0"/>
              </a:rPr>
              <a:t> Complex(</a:t>
            </a:r>
            <a:r>
              <a:rPr lang="en-ZA" sz="1800" dirty="0" err="1" smtClean="0">
                <a:latin typeface="Courier New" panose="02070309020205020404" pitchFamily="49" charset="0"/>
                <a:cs typeface="Courier New" panose="02070309020205020404" pitchFamily="49" charset="0"/>
              </a:rPr>
              <a:t>self.real</a:t>
            </a:r>
            <a:r>
              <a:rPr lang="en-ZA" sz="1800" dirty="0" smtClean="0">
                <a:latin typeface="Courier New" panose="02070309020205020404" pitchFamily="49" charset="0"/>
                <a:cs typeface="Courier New" panose="02070309020205020404" pitchFamily="49" charset="0"/>
              </a:rPr>
              <a:t> + </a:t>
            </a:r>
            <a:r>
              <a:rPr lang="en-ZA" sz="1800" dirty="0" err="1" smtClean="0">
                <a:latin typeface="Courier New" panose="02070309020205020404" pitchFamily="49" charset="0"/>
                <a:cs typeface="Courier New" panose="02070309020205020404" pitchFamily="49" charset="0"/>
              </a:rPr>
              <a:t>second.real</a:t>
            </a:r>
            <a:r>
              <a:rPr lang="en-ZA" sz="1800" dirty="0" smtClean="0">
                <a:latin typeface="Courier New" panose="02070309020205020404" pitchFamily="49" charset="0"/>
                <a:cs typeface="Courier New" panose="02070309020205020404" pitchFamily="49" charset="0"/>
              </a:rPr>
              <a:t>, </a:t>
            </a:r>
          </a:p>
          <a:p>
            <a:pPr marL="0" indent="0">
              <a:buFontTx/>
              <a:buNone/>
              <a:defRPr/>
            </a:pPr>
            <a:r>
              <a:rPr lang="en-ZA" sz="1800" dirty="0" smtClean="0">
                <a:latin typeface="Courier New" panose="02070309020205020404" pitchFamily="49" charset="0"/>
                <a:cs typeface="Courier New" panose="02070309020205020404" pitchFamily="49" charset="0"/>
              </a:rPr>
              <a:t>                          </a:t>
            </a:r>
            <a:r>
              <a:rPr lang="en-ZA" sz="1800" dirty="0" err="1" smtClean="0">
                <a:latin typeface="Courier New" panose="02070309020205020404" pitchFamily="49" charset="0"/>
                <a:cs typeface="Courier New" panose="02070309020205020404" pitchFamily="49" charset="0"/>
              </a:rPr>
              <a:t>self.imag</a:t>
            </a:r>
            <a:r>
              <a:rPr lang="en-ZA" sz="1800" dirty="0" smtClean="0">
                <a:latin typeface="Courier New" panose="02070309020205020404" pitchFamily="49" charset="0"/>
                <a:cs typeface="Courier New" panose="02070309020205020404" pitchFamily="49" charset="0"/>
              </a:rPr>
              <a:t> + </a:t>
            </a:r>
            <a:r>
              <a:rPr lang="en-ZA" sz="1800" dirty="0" err="1" smtClean="0">
                <a:latin typeface="Courier New" panose="02070309020205020404" pitchFamily="49" charset="0"/>
                <a:cs typeface="Courier New" panose="02070309020205020404" pitchFamily="49" charset="0"/>
              </a:rPr>
              <a:t>second.imag</a:t>
            </a:r>
            <a:r>
              <a:rPr lang="en-ZA" sz="1800" dirty="0" smtClean="0">
                <a:latin typeface="Courier New" panose="02070309020205020404" pitchFamily="49" charset="0"/>
                <a:cs typeface="Courier New" panose="02070309020205020404" pitchFamily="49" charset="0"/>
              </a:rPr>
              <a:t>)</a:t>
            </a:r>
          </a:p>
          <a:p>
            <a:pPr marL="0" indent="0">
              <a:buFontTx/>
              <a:buNone/>
              <a:defRPr/>
            </a:pPr>
            <a:endParaRPr lang="en-ZA" sz="900" dirty="0" smtClean="0">
              <a:latin typeface="Courier New" panose="02070309020205020404" pitchFamily="49" charset="0"/>
              <a:cs typeface="Courier New" panose="02070309020205020404" pitchFamily="49" charset="0"/>
            </a:endParaRPr>
          </a:p>
          <a:p>
            <a:pPr lvl="1">
              <a:defRPr/>
            </a:pPr>
            <a:r>
              <a:rPr lang="en-ZA" dirty="0" smtClean="0"/>
              <a:t>An addition operator for two </a:t>
            </a:r>
            <a:r>
              <a:rPr lang="en-ZA" dirty="0" smtClean="0">
                <a:latin typeface="Courier New" panose="02070309020205020404" pitchFamily="49" charset="0"/>
                <a:cs typeface="Courier New" panose="02070309020205020404" pitchFamily="49" charset="0"/>
              </a:rPr>
              <a:t>Complex</a:t>
            </a:r>
            <a:r>
              <a:rPr lang="en-ZA" dirty="0" smtClean="0"/>
              <a:t> objects</a:t>
            </a:r>
          </a:p>
          <a:p>
            <a:pPr lvl="1">
              <a:defRPr/>
            </a:pPr>
            <a:r>
              <a:rPr lang="en-ZA" dirty="0" smtClean="0"/>
              <a:t>Used in two ways, if </a:t>
            </a:r>
            <a:r>
              <a:rPr lang="en-ZA" dirty="0" smtClean="0">
                <a:latin typeface="Courier New" panose="02070309020205020404" pitchFamily="49" charset="0"/>
                <a:cs typeface="Courier New" panose="02070309020205020404" pitchFamily="49" charset="0"/>
              </a:rPr>
              <a:t>x</a:t>
            </a:r>
            <a:r>
              <a:rPr lang="en-ZA" dirty="0" smtClean="0"/>
              <a:t> and </a:t>
            </a:r>
            <a:r>
              <a:rPr lang="en-ZA" dirty="0" smtClean="0">
                <a:latin typeface="Courier New" panose="02070309020205020404" pitchFamily="49" charset="0"/>
                <a:cs typeface="Courier New" panose="02070309020205020404" pitchFamily="49" charset="0"/>
              </a:rPr>
              <a:t>y</a:t>
            </a:r>
            <a:r>
              <a:rPr lang="en-ZA" dirty="0" smtClean="0"/>
              <a:t> are </a:t>
            </a:r>
            <a:r>
              <a:rPr lang="en-ZA" dirty="0" smtClean="0">
                <a:latin typeface="Courier New" panose="02070309020205020404" pitchFamily="49" charset="0"/>
                <a:cs typeface="Courier New" panose="02070309020205020404" pitchFamily="49" charset="0"/>
              </a:rPr>
              <a:t>Complex</a:t>
            </a:r>
            <a:r>
              <a:rPr lang="en-ZA" dirty="0" smtClean="0"/>
              <a:t> objects</a:t>
            </a:r>
          </a:p>
          <a:p>
            <a:pPr marL="0" indent="0">
              <a:buFontTx/>
              <a:buNone/>
              <a:defRPr/>
            </a:pPr>
            <a:endParaRPr lang="en-ZA" sz="400" dirty="0" smtClean="0">
              <a:latin typeface="Courier New" panose="02070309020205020404" pitchFamily="49" charset="0"/>
              <a:cs typeface="Courier New" panose="02070309020205020404" pitchFamily="49" charset="0"/>
            </a:endParaRPr>
          </a:p>
          <a:p>
            <a:pPr marL="914400" lvl="2" indent="0">
              <a:buNone/>
              <a:defRPr/>
            </a:pPr>
            <a:r>
              <a:rPr lang="en-ZA" sz="1800" dirty="0" smtClean="0">
                <a:latin typeface="Courier New" panose="02070309020205020404" pitchFamily="49" charset="0"/>
                <a:cs typeface="Courier New" panose="02070309020205020404" pitchFamily="49" charset="0"/>
              </a:rPr>
              <a:t>  x + y</a:t>
            </a:r>
          </a:p>
          <a:p>
            <a:pPr marL="914400" lvl="2" indent="0">
              <a:buNone/>
              <a:defRPr/>
            </a:pPr>
            <a:r>
              <a:rPr lang="en-ZA" sz="1800" dirty="0" smtClean="0">
                <a:latin typeface="Courier New" panose="02070309020205020404" pitchFamily="49" charset="0"/>
                <a:cs typeface="Courier New" panose="02070309020205020404" pitchFamily="49" charset="0"/>
              </a:rPr>
              <a:t>  </a:t>
            </a:r>
            <a:r>
              <a:rPr lang="en-ZA" sz="1800" dirty="0" err="1" smtClean="0">
                <a:latin typeface="Courier New" panose="02070309020205020404" pitchFamily="49" charset="0"/>
                <a:cs typeface="Courier New" panose="02070309020205020404" pitchFamily="49" charset="0"/>
              </a:rPr>
              <a:t>x.__add</a:t>
            </a:r>
            <a:r>
              <a:rPr lang="en-ZA" sz="1800" dirty="0" smtClean="0">
                <a:latin typeface="Courier New" panose="02070309020205020404" pitchFamily="49" charset="0"/>
                <a:cs typeface="Courier New" panose="02070309020205020404" pitchFamily="49" charset="0"/>
              </a:rPr>
              <a:t>__(y)</a:t>
            </a:r>
          </a:p>
        </p:txBody>
      </p:sp>
      <p:sp>
        <p:nvSpPr>
          <p:cNvPr id="5" name="Slide Number Placeholder 4"/>
          <p:cNvSpPr>
            <a:spLocks noGrp="1"/>
          </p:cNvSpPr>
          <p:nvPr>
            <p:ph type="sldNum" sz="quarter" idx="11"/>
          </p:nvPr>
        </p:nvSpPr>
        <p:spPr/>
        <p:txBody>
          <a:bodyPr/>
          <a:lstStyle/>
          <a:p>
            <a:pPr>
              <a:defRPr/>
            </a:pPr>
            <a:r>
              <a:rPr lang="en-US" altLang="en-US" smtClean="0"/>
              <a:t>1-</a:t>
            </a:r>
            <a:fld id="{8C5AD4E2-93F6-4667-8957-6E733C6AF6FA}" type="slidenum">
              <a:rPr lang="en-US" altLang="en-US" smtClean="0"/>
              <a:pPr>
                <a:defRPr/>
              </a:pPr>
              <a:t>18</a:t>
            </a:fld>
            <a:endParaRPr lang="en-US" altLang="en-US"/>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a:lstStyle/>
          <a:p>
            <a:r>
              <a:rPr lang="en-US" altLang="en-US" smtClean="0"/>
              <a:t>Closures</a:t>
            </a:r>
            <a:endParaRPr lang="en-US" altLang="en-US" sz="2800" smtClean="0"/>
          </a:p>
        </p:txBody>
      </p:sp>
      <p:sp>
        <p:nvSpPr>
          <p:cNvPr id="130051" name="Content Placeholder 2"/>
          <p:cNvSpPr>
            <a:spLocks noGrp="1"/>
          </p:cNvSpPr>
          <p:nvPr>
            <p:ph idx="1"/>
          </p:nvPr>
        </p:nvSpPr>
        <p:spPr>
          <a:xfrm>
            <a:off x="609600" y="1600200"/>
            <a:ext cx="8382000" cy="5029200"/>
          </a:xfrm>
        </p:spPr>
        <p:txBody>
          <a:bodyPr/>
          <a:lstStyle/>
          <a:p>
            <a:r>
              <a:rPr lang="en-US" altLang="en-US" dirty="0" smtClean="0"/>
              <a:t>A JavaScript closure</a:t>
            </a:r>
          </a:p>
          <a:p>
            <a:pPr>
              <a:buFontTx/>
              <a:buNone/>
            </a:pPr>
            <a:endParaRPr lang="en-US" altLang="en-US" sz="5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function</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(x) {</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function(y) </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smtClean="0">
                <a:solidFill>
                  <a:srgbClr val="333399"/>
                </a:solidFill>
                <a:latin typeface="Courier New" panose="02070309020205020404" pitchFamily="49" charset="0"/>
                <a:cs typeface="Courier New" panose="02070309020205020404" pitchFamily="49" charset="0"/>
              </a:rPr>
              <a:t>y + </a:t>
            </a:r>
            <a:r>
              <a:rPr lang="en-US" altLang="en-US" sz="1600" dirty="0">
                <a:solidFill>
                  <a:srgbClr val="333399"/>
                </a:solidFill>
                <a:latin typeface="Courier New" panose="02070309020205020404" pitchFamily="49" charset="0"/>
                <a:cs typeface="Courier New" panose="02070309020205020404" pitchFamily="49" charset="0"/>
              </a:rPr>
              <a:t>x</a:t>
            </a:r>
            <a:r>
              <a:rPr lang="en-US" altLang="en-US" sz="1600" dirty="0" smtClean="0">
                <a:solidFill>
                  <a:srgbClr val="333399"/>
                </a:solidFill>
                <a:latin typeface="Courier New" panose="02070309020205020404" pitchFamily="49" charset="0"/>
                <a:cs typeface="Courier New" panose="02070309020205020404" pitchFamily="49" charset="0"/>
              </a:rPr>
              <a:t>; }</a:t>
            </a:r>
            <a:endParaRPr lang="en-US" altLang="en-US" sz="16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p>
          <a:p>
            <a:pPr>
              <a:buFontTx/>
              <a:buNone/>
            </a:pPr>
            <a:endParaRPr lang="en-US" altLang="en-US" sz="700" dirty="0" smtClean="0">
              <a:latin typeface="Courier New" panose="02070309020205020404" pitchFamily="49" charset="0"/>
              <a:cs typeface="Courier New" panose="02070309020205020404" pitchFamily="49" charset="0"/>
            </a:endParaRPr>
          </a:p>
          <a:p>
            <a:pPr lvl="1"/>
            <a:r>
              <a:rPr lang="en-US" altLang="en-US" dirty="0" smtClean="0">
                <a:cs typeface="Courier New" panose="02070309020205020404" pitchFamily="49" charset="0"/>
              </a:rPr>
              <a:t>The </a:t>
            </a:r>
            <a:r>
              <a:rPr lang="en-US" altLang="en-US" dirty="0" err="1" smtClean="0">
                <a:latin typeface="Courier New" panose="02070309020205020404" pitchFamily="49" charset="0"/>
                <a:cs typeface="Courier New" panose="02070309020205020404" pitchFamily="49" charset="0"/>
              </a:rPr>
              <a:t>makeAdder</a:t>
            </a:r>
            <a:r>
              <a:rPr lang="en-US" altLang="en-US" dirty="0" smtClean="0">
                <a:cs typeface="Courier New" panose="02070309020205020404" pitchFamily="49" charset="0"/>
              </a:rPr>
              <a:t> function</a:t>
            </a:r>
          </a:p>
          <a:p>
            <a:pPr lvl="2"/>
            <a:r>
              <a:rPr lang="en-US" altLang="en-US" dirty="0" smtClean="0">
                <a:cs typeface="Courier New" panose="02070309020205020404" pitchFamily="49" charset="0"/>
              </a:rPr>
              <a:t>Creates and returns a new anonymous function</a:t>
            </a:r>
          </a:p>
          <a:p>
            <a:pPr lvl="2"/>
            <a:r>
              <a:rPr lang="en-US" altLang="en-US" dirty="0">
                <a:cs typeface="Courier New" panose="02070309020205020404" pitchFamily="49" charset="0"/>
              </a:rPr>
              <a:t>A</a:t>
            </a:r>
            <a:r>
              <a:rPr lang="en-US" altLang="en-US" dirty="0" smtClean="0">
                <a:cs typeface="Courier New" panose="02070309020205020404" pitchFamily="49" charset="0"/>
              </a:rPr>
              <a:t>nonymous function is called a </a:t>
            </a:r>
            <a:r>
              <a:rPr lang="en-US" altLang="en-US" u="sng" dirty="0" smtClean="0">
                <a:cs typeface="Courier New" panose="02070309020205020404" pitchFamily="49" charset="0"/>
              </a:rPr>
              <a:t>closure</a:t>
            </a:r>
          </a:p>
          <a:p>
            <a:pPr lvl="3"/>
            <a:r>
              <a:rPr lang="en-US" altLang="en-US" dirty="0" smtClean="0">
                <a:cs typeface="Courier New" panose="02070309020205020404" pitchFamily="49" charset="0"/>
              </a:rPr>
              <a:t>It receives a numeric parameter </a:t>
            </a:r>
            <a:r>
              <a:rPr lang="en-US" altLang="en-US" dirty="0" smtClean="0">
                <a:latin typeface="Courier New" panose="02070309020205020404" pitchFamily="49" charset="0"/>
                <a:cs typeface="Courier New" panose="02070309020205020404" pitchFamily="49" charset="0"/>
              </a:rPr>
              <a:t>y</a:t>
            </a:r>
          </a:p>
          <a:p>
            <a:pPr lvl="3"/>
            <a:r>
              <a:rPr lang="en-US" altLang="en-US" dirty="0" smtClean="0">
                <a:cs typeface="Courier New" panose="02070309020205020404" pitchFamily="49" charset="0"/>
              </a:rPr>
              <a:t>It returns sum of </a:t>
            </a:r>
            <a:r>
              <a:rPr lang="en-US" altLang="en-US" dirty="0" smtClean="0">
                <a:latin typeface="Courier New" panose="02070309020205020404" pitchFamily="49" charset="0"/>
                <a:cs typeface="Courier New" panose="02070309020205020404" pitchFamily="49" charset="0"/>
              </a:rPr>
              <a:t>y</a:t>
            </a:r>
            <a:r>
              <a:rPr lang="en-US" altLang="en-US" dirty="0" smtClean="0">
                <a:cs typeface="Courier New" panose="02070309020205020404" pitchFamily="49" charset="0"/>
              </a:rPr>
              <a:t> and a value</a:t>
            </a:r>
          </a:p>
          <a:p>
            <a:pPr lvl="3"/>
            <a:r>
              <a:rPr lang="en-US" altLang="en-US" dirty="0" smtClean="0">
                <a:cs typeface="Courier New" panose="02070309020205020404" pitchFamily="49" charset="0"/>
              </a:rPr>
              <a:t>Second value specified by </a:t>
            </a:r>
            <a:r>
              <a:rPr lang="en-US" altLang="en-US" dirty="0" smtClean="0">
                <a:latin typeface="Courier New" panose="02070309020205020404" pitchFamily="49" charset="0"/>
                <a:cs typeface="Courier New" panose="02070309020205020404" pitchFamily="49" charset="0"/>
              </a:rPr>
              <a:t>x</a:t>
            </a:r>
            <a:r>
              <a:rPr lang="en-US" altLang="en-US" dirty="0" smtClean="0">
                <a:cs typeface="Courier New" panose="02070309020205020404" pitchFamily="49" charset="0"/>
              </a:rPr>
              <a:t> parameter of </a:t>
            </a:r>
            <a:r>
              <a:rPr lang="en-US" altLang="en-US" dirty="0" err="1" smtClean="0">
                <a:latin typeface="Courier New" panose="02070309020205020404" pitchFamily="49" charset="0"/>
                <a:cs typeface="Courier New" panose="02070309020205020404" pitchFamily="49" charset="0"/>
              </a:rPr>
              <a:t>makeAdder</a:t>
            </a:r>
            <a:endParaRPr lang="en-US" altLang="en-US" dirty="0" smtClean="0">
              <a:latin typeface="Courier New" panose="02070309020205020404" pitchFamily="49" charset="0"/>
              <a:cs typeface="Courier New" panose="02070309020205020404" pitchFamily="49" charset="0"/>
            </a:endParaRPr>
          </a:p>
        </p:txBody>
      </p:sp>
      <p:sp>
        <p:nvSpPr>
          <p:cNvPr id="13005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EAE7E68-BD01-48DF-9DB7-516432C2AA99}"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4588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a:lstStyle/>
          <a:p>
            <a:r>
              <a:rPr lang="en-US" altLang="en-US" smtClean="0"/>
              <a:t>Closures</a:t>
            </a:r>
            <a:endParaRPr lang="en-US" altLang="en-US" sz="2800" smtClean="0"/>
          </a:p>
        </p:txBody>
      </p:sp>
      <p:sp>
        <p:nvSpPr>
          <p:cNvPr id="130051" name="Content Placeholder 2"/>
          <p:cNvSpPr>
            <a:spLocks noGrp="1"/>
          </p:cNvSpPr>
          <p:nvPr>
            <p:ph idx="1"/>
          </p:nvPr>
        </p:nvSpPr>
        <p:spPr>
          <a:xfrm>
            <a:off x="609600" y="1600200"/>
            <a:ext cx="8382000" cy="5029200"/>
          </a:xfrm>
        </p:spPr>
        <p:txBody>
          <a:bodyPr/>
          <a:lstStyle/>
          <a:p>
            <a:r>
              <a:rPr lang="en-US" altLang="en-US" dirty="0" smtClean="0"/>
              <a:t>A JavaScript closure</a:t>
            </a:r>
          </a:p>
          <a:p>
            <a:pPr>
              <a:buFontTx/>
              <a:buNone/>
            </a:pPr>
            <a:endParaRPr lang="en-US" altLang="en-US" sz="5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function</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(x) {</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function(y) </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smtClean="0">
                <a:solidFill>
                  <a:srgbClr val="333399"/>
                </a:solidFill>
                <a:latin typeface="Courier New" panose="02070309020205020404" pitchFamily="49" charset="0"/>
                <a:cs typeface="Courier New" panose="02070309020205020404" pitchFamily="49" charset="0"/>
              </a:rPr>
              <a:t>y + x</a:t>
            </a:r>
            <a:r>
              <a:rPr lang="en-US" altLang="en-US" sz="1600" dirty="0" smtClean="0">
                <a:solidFill>
                  <a:srgbClr val="333399"/>
                </a:solidFill>
                <a:latin typeface="Courier New" panose="02070309020205020404" pitchFamily="49" charset="0"/>
                <a:cs typeface="Courier New" panose="02070309020205020404" pitchFamily="49" charset="0"/>
              </a:rPr>
              <a:t>; }</a:t>
            </a:r>
            <a:endParaRPr lang="en-US" altLang="en-US" sz="16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p>
          <a:p>
            <a:pPr>
              <a:buFontTx/>
              <a:buNone/>
            </a:pPr>
            <a:endParaRPr lang="en-US" altLang="en-US" sz="5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err="1" smtClean="0">
                <a:solidFill>
                  <a:srgbClr val="333399"/>
                </a:solidFill>
                <a:latin typeface="Courier New" panose="02070309020205020404" pitchFamily="49" charset="0"/>
                <a:cs typeface="Courier New" panose="02070309020205020404" pitchFamily="49" charset="0"/>
              </a:rPr>
              <a:t>var</a:t>
            </a:r>
            <a:r>
              <a:rPr lang="en-US" altLang="en-US" sz="1600" dirty="0" smtClean="0">
                <a:solidFill>
                  <a:srgbClr val="333399"/>
                </a:solidFill>
                <a:latin typeface="Courier New" panose="02070309020205020404" pitchFamily="49" charset="0"/>
                <a:cs typeface="Courier New" panose="02070309020205020404" pitchFamily="49" charset="0"/>
              </a:rPr>
              <a:t> add10 =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(10);</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err="1" smtClean="0">
                <a:solidFill>
                  <a:srgbClr val="333399"/>
                </a:solidFill>
                <a:latin typeface="Courier New" panose="02070309020205020404" pitchFamily="49" charset="0"/>
                <a:cs typeface="Courier New" panose="02070309020205020404" pitchFamily="49" charset="0"/>
              </a:rPr>
              <a:t>var</a:t>
            </a:r>
            <a:r>
              <a:rPr lang="en-US" altLang="en-US" sz="1600" dirty="0" smtClean="0">
                <a:solidFill>
                  <a:srgbClr val="333399"/>
                </a:solidFill>
                <a:latin typeface="Courier New" panose="02070309020205020404" pitchFamily="49" charset="0"/>
                <a:cs typeface="Courier New" panose="02070309020205020404" pitchFamily="49" charset="0"/>
              </a:rPr>
              <a:t> add5 =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(5);</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document.write</a:t>
            </a:r>
            <a:r>
              <a:rPr lang="en-US" altLang="en-US" sz="1600" dirty="0" smtClean="0">
                <a:solidFill>
                  <a:srgbClr val="333399"/>
                </a:solidFill>
                <a:latin typeface="Courier New" panose="02070309020205020404" pitchFamily="49" charset="0"/>
                <a:cs typeface="Courier New" panose="02070309020205020404" pitchFamily="49" charset="0"/>
              </a:rPr>
              <a:t>(″add 10 to 20: ″ + add10(20) + ″&lt;</a:t>
            </a:r>
            <a:r>
              <a:rPr lang="en-US" altLang="en-US" sz="1600" dirty="0" err="1" smtClean="0">
                <a:solidFill>
                  <a:srgbClr val="333399"/>
                </a:solidFill>
                <a:latin typeface="Courier New" panose="02070309020205020404" pitchFamily="49" charset="0"/>
                <a:cs typeface="Courier New" panose="02070309020205020404" pitchFamily="49" charset="0"/>
              </a:rPr>
              <a:t>br</a:t>
            </a:r>
            <a:r>
              <a:rPr lang="en-US" altLang="en-US" sz="1600" dirty="0" smtClean="0">
                <a:solidFill>
                  <a:srgbClr val="333399"/>
                </a:solidFill>
                <a:latin typeface="Courier New" panose="02070309020205020404" pitchFamily="49" charset="0"/>
                <a:cs typeface="Courier New" panose="02070309020205020404" pitchFamily="49" charset="0"/>
              </a:rPr>
              <a:t> /&gt;″);</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document.write</a:t>
            </a:r>
            <a:r>
              <a:rPr lang="en-US" altLang="en-US" sz="1600" dirty="0" smtClean="0">
                <a:solidFill>
                  <a:srgbClr val="333399"/>
                </a:solidFill>
                <a:latin typeface="Courier New" panose="02070309020205020404" pitchFamily="49" charset="0"/>
                <a:cs typeface="Courier New" panose="02070309020205020404" pitchFamily="49" charset="0"/>
              </a:rPr>
              <a:t>(″add 5 to 20: ″ + add5(20) + ″&lt;</a:t>
            </a:r>
            <a:r>
              <a:rPr lang="en-US" altLang="en-US" sz="1600" dirty="0" err="1" smtClean="0">
                <a:solidFill>
                  <a:srgbClr val="333399"/>
                </a:solidFill>
                <a:latin typeface="Courier New" panose="02070309020205020404" pitchFamily="49" charset="0"/>
                <a:cs typeface="Courier New" panose="02070309020205020404" pitchFamily="49" charset="0"/>
              </a:rPr>
              <a:t>br</a:t>
            </a:r>
            <a:r>
              <a:rPr lang="en-US" altLang="en-US" sz="1600" dirty="0" smtClean="0">
                <a:solidFill>
                  <a:srgbClr val="333399"/>
                </a:solidFill>
                <a:latin typeface="Courier New" panose="02070309020205020404" pitchFamily="49" charset="0"/>
                <a:cs typeface="Courier New" panose="02070309020205020404" pitchFamily="49" charset="0"/>
              </a:rPr>
              <a:t> /&gt;″);</a:t>
            </a:r>
          </a:p>
          <a:p>
            <a:pPr>
              <a:buFontTx/>
              <a:buNone/>
            </a:pPr>
            <a:endParaRPr lang="en-US" altLang="en-US" sz="700" dirty="0" smtClean="0">
              <a:latin typeface="Courier New" panose="02070309020205020404" pitchFamily="49" charset="0"/>
              <a:cs typeface="Courier New" panose="02070309020205020404" pitchFamily="49" charset="0"/>
            </a:endParaRPr>
          </a:p>
          <a:p>
            <a:pPr lvl="1"/>
            <a:r>
              <a:rPr lang="en-US" altLang="en-US" dirty="0" smtClean="0">
                <a:cs typeface="Courier New" panose="02070309020205020404" pitchFamily="49" charset="0"/>
              </a:rPr>
              <a:t>Consider the calls to </a:t>
            </a:r>
            <a:r>
              <a:rPr lang="en-US" altLang="en-US" dirty="0" err="1" smtClean="0">
                <a:latin typeface="Courier New" panose="02070309020205020404" pitchFamily="49" charset="0"/>
                <a:cs typeface="Courier New" panose="02070309020205020404" pitchFamily="49" charset="0"/>
              </a:rPr>
              <a:t>makeAdder</a:t>
            </a:r>
            <a:endParaRPr lang="en-US" altLang="en-US" dirty="0" smtClean="0">
              <a:cs typeface="Courier New" panose="02070309020205020404" pitchFamily="49" charset="0"/>
            </a:endParaRPr>
          </a:p>
          <a:p>
            <a:pPr lvl="2"/>
            <a:r>
              <a:rPr lang="en-US" altLang="en-US" dirty="0" smtClean="0">
                <a:cs typeface="Courier New" panose="02070309020205020404" pitchFamily="49" charset="0"/>
              </a:rPr>
              <a:t>The variable </a:t>
            </a:r>
            <a:r>
              <a:rPr lang="en-US" altLang="en-US" dirty="0" smtClean="0">
                <a:latin typeface="Courier New" panose="02070309020205020404" pitchFamily="49" charset="0"/>
                <a:cs typeface="Courier New" panose="02070309020205020404" pitchFamily="49" charset="0"/>
              </a:rPr>
              <a:t>add10</a:t>
            </a:r>
            <a:r>
              <a:rPr lang="en-US" altLang="en-US" dirty="0" smtClean="0">
                <a:cs typeface="Courier New" panose="02070309020205020404" pitchFamily="49" charset="0"/>
              </a:rPr>
              <a:t> refers to anonymous function</a:t>
            </a:r>
          </a:p>
          <a:p>
            <a:pPr marL="457200" lvl="1" indent="0">
              <a:buNone/>
            </a:pPr>
            <a:endParaRPr lang="en-US" altLang="en-US" sz="100" dirty="0" smtClean="0">
              <a:latin typeface="Courier New" panose="02070309020205020404" pitchFamily="49" charset="0"/>
              <a:cs typeface="Courier New" panose="02070309020205020404" pitchFamily="49" charset="0"/>
            </a:endParaRPr>
          </a:p>
          <a:p>
            <a:pPr marL="457200" lvl="1" indent="0">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function(y) { </a:t>
            </a:r>
            <a:r>
              <a:rPr lang="en-US" altLang="en-US" sz="1600" b="1" dirty="0" smtClean="0">
                <a:latin typeface="Courier New" panose="02070309020205020404" pitchFamily="49" charset="0"/>
                <a:cs typeface="Courier New" panose="02070309020205020404" pitchFamily="49" charset="0"/>
              </a:rPr>
              <a:t>return</a:t>
            </a:r>
            <a:r>
              <a:rPr lang="en-US" altLang="en-US" sz="1600" dirty="0" smtClean="0">
                <a:latin typeface="Courier New" panose="02070309020205020404" pitchFamily="49" charset="0"/>
                <a:cs typeface="Courier New" panose="02070309020205020404" pitchFamily="49" charset="0"/>
              </a:rPr>
              <a:t> y + 10; }</a:t>
            </a:r>
          </a:p>
          <a:p>
            <a:pPr marL="457200" lvl="1" indent="0">
              <a:buNone/>
            </a:pPr>
            <a:endParaRPr lang="en-US" altLang="en-US" sz="100" dirty="0" smtClean="0">
              <a:latin typeface="Courier New" panose="02070309020205020404" pitchFamily="49" charset="0"/>
              <a:cs typeface="Courier New" panose="02070309020205020404" pitchFamily="49" charset="0"/>
            </a:endParaRPr>
          </a:p>
          <a:p>
            <a:pPr lvl="2"/>
            <a:r>
              <a:rPr lang="en-US" altLang="en-US" dirty="0" smtClean="0">
                <a:cs typeface="Courier New" panose="02070309020205020404" pitchFamily="49" charset="0"/>
              </a:rPr>
              <a:t>The variable </a:t>
            </a:r>
            <a:r>
              <a:rPr lang="en-US" altLang="en-US" dirty="0" smtClean="0">
                <a:latin typeface="Courier New" panose="02070309020205020404" pitchFamily="49" charset="0"/>
                <a:cs typeface="Courier New" panose="02070309020205020404" pitchFamily="49" charset="0"/>
              </a:rPr>
              <a:t>add5</a:t>
            </a:r>
            <a:r>
              <a:rPr lang="en-US" altLang="en-US" dirty="0" smtClean="0">
                <a:cs typeface="Courier New" panose="02070309020205020404" pitchFamily="49" charset="0"/>
              </a:rPr>
              <a:t> refers to anonymous function</a:t>
            </a:r>
          </a:p>
          <a:p>
            <a:pPr marL="457200" lvl="1" indent="0">
              <a:buNone/>
            </a:pPr>
            <a:endParaRPr lang="en-US" altLang="en-US" sz="100" dirty="0" smtClean="0">
              <a:latin typeface="Courier New" panose="02070309020205020404" pitchFamily="49" charset="0"/>
              <a:cs typeface="Courier New" panose="02070309020205020404" pitchFamily="49" charset="0"/>
            </a:endParaRPr>
          </a:p>
          <a:p>
            <a:pPr marL="457200" lvl="1" indent="0">
              <a:buNone/>
            </a:pPr>
            <a:r>
              <a:rPr lang="en-US" altLang="en-US" sz="1600" dirty="0" smtClean="0">
                <a:latin typeface="Courier New" panose="02070309020205020404" pitchFamily="49" charset="0"/>
                <a:cs typeface="Courier New" panose="02070309020205020404" pitchFamily="49" charset="0"/>
              </a:rPr>
              <a:t>	     function(y) { </a:t>
            </a:r>
            <a:r>
              <a:rPr lang="en-US" altLang="en-US" sz="1600" b="1" dirty="0" smtClean="0">
                <a:latin typeface="Courier New" panose="02070309020205020404" pitchFamily="49" charset="0"/>
                <a:cs typeface="Courier New" panose="02070309020205020404" pitchFamily="49" charset="0"/>
              </a:rPr>
              <a:t>return</a:t>
            </a:r>
            <a:r>
              <a:rPr lang="en-US" altLang="en-US" sz="1600" dirty="0" smtClean="0">
                <a:latin typeface="Courier New" panose="02070309020205020404" pitchFamily="49" charset="0"/>
                <a:cs typeface="Courier New" panose="02070309020205020404" pitchFamily="49" charset="0"/>
              </a:rPr>
              <a:t> y + 5; }</a:t>
            </a:r>
            <a:endParaRPr lang="en-US" altLang="en-US" sz="1600" dirty="0" smtClean="0">
              <a:cs typeface="Courier New" panose="02070309020205020404" pitchFamily="49" charset="0"/>
            </a:endParaRPr>
          </a:p>
        </p:txBody>
      </p:sp>
      <p:sp>
        <p:nvSpPr>
          <p:cNvPr id="13005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EAE7E68-BD01-48DF-9DB7-516432C2AA99}"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220606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a:lstStyle/>
          <a:p>
            <a:r>
              <a:rPr lang="en-US" altLang="en-US" smtClean="0"/>
              <a:t>Closures</a:t>
            </a:r>
            <a:endParaRPr lang="en-US" altLang="en-US" sz="2800" smtClean="0"/>
          </a:p>
        </p:txBody>
      </p:sp>
      <p:sp>
        <p:nvSpPr>
          <p:cNvPr id="130051" name="Content Placeholder 2"/>
          <p:cNvSpPr>
            <a:spLocks noGrp="1"/>
          </p:cNvSpPr>
          <p:nvPr>
            <p:ph idx="1"/>
          </p:nvPr>
        </p:nvSpPr>
        <p:spPr>
          <a:xfrm>
            <a:off x="609600" y="1600200"/>
            <a:ext cx="8382000" cy="5029200"/>
          </a:xfrm>
        </p:spPr>
        <p:txBody>
          <a:bodyPr/>
          <a:lstStyle/>
          <a:p>
            <a:r>
              <a:rPr lang="en-US" altLang="en-US" dirty="0" smtClean="0"/>
              <a:t>A JavaScript closure</a:t>
            </a:r>
          </a:p>
          <a:p>
            <a:pPr>
              <a:buFontTx/>
              <a:buNone/>
            </a:pPr>
            <a:endParaRPr lang="en-US" altLang="en-US" sz="5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function</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(x) {</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function(y) </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smtClean="0">
                <a:solidFill>
                  <a:srgbClr val="333399"/>
                </a:solidFill>
                <a:latin typeface="Courier New" panose="02070309020205020404" pitchFamily="49" charset="0"/>
                <a:cs typeface="Courier New" panose="02070309020205020404" pitchFamily="49" charset="0"/>
              </a:rPr>
              <a:t>return</a:t>
            </a:r>
            <a:r>
              <a:rPr lang="en-US" altLang="en-US" sz="1600" dirty="0" smtClean="0">
                <a:solidFill>
                  <a:srgbClr val="333399"/>
                </a:solidFill>
                <a:latin typeface="Courier New" panose="02070309020205020404" pitchFamily="49" charset="0"/>
                <a:cs typeface="Courier New" panose="02070309020205020404" pitchFamily="49" charset="0"/>
              </a:rPr>
              <a:t> y </a:t>
            </a: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smtClean="0">
                <a:solidFill>
                  <a:srgbClr val="333399"/>
                </a:solidFill>
                <a:latin typeface="Courier New" panose="02070309020205020404" pitchFamily="49" charset="0"/>
                <a:cs typeface="Courier New" panose="02070309020205020404" pitchFamily="49" charset="0"/>
              </a:rPr>
              <a:t>x; }</a:t>
            </a:r>
            <a:endParaRPr lang="en-US" altLang="en-US" sz="16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p>
          <a:p>
            <a:pPr>
              <a:buFontTx/>
              <a:buNone/>
            </a:pPr>
            <a:endParaRPr lang="en-US" altLang="en-US" sz="500" dirty="0" smtClean="0">
              <a:solidFill>
                <a:srgbClr val="333399"/>
              </a:solidFill>
              <a:latin typeface="Courier New" panose="02070309020205020404" pitchFamily="49" charset="0"/>
              <a:cs typeface="Courier New" panose="02070309020205020404" pitchFamily="49" charset="0"/>
            </a:endParaRP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err="1" smtClean="0">
                <a:solidFill>
                  <a:srgbClr val="333399"/>
                </a:solidFill>
                <a:latin typeface="Courier New" panose="02070309020205020404" pitchFamily="49" charset="0"/>
                <a:cs typeface="Courier New" panose="02070309020205020404" pitchFamily="49" charset="0"/>
              </a:rPr>
              <a:t>var</a:t>
            </a:r>
            <a:r>
              <a:rPr lang="en-US" altLang="en-US" sz="1600" dirty="0" smtClean="0">
                <a:solidFill>
                  <a:srgbClr val="333399"/>
                </a:solidFill>
                <a:latin typeface="Courier New" panose="02070309020205020404" pitchFamily="49" charset="0"/>
                <a:cs typeface="Courier New" panose="02070309020205020404" pitchFamily="49" charset="0"/>
              </a:rPr>
              <a:t> add10 =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(10);</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err="1" smtClean="0">
                <a:solidFill>
                  <a:srgbClr val="333399"/>
                </a:solidFill>
                <a:latin typeface="Courier New" panose="02070309020205020404" pitchFamily="49" charset="0"/>
                <a:cs typeface="Courier New" panose="02070309020205020404" pitchFamily="49" charset="0"/>
              </a:rPr>
              <a:t>var</a:t>
            </a:r>
            <a:r>
              <a:rPr lang="en-US" altLang="en-US" sz="1600" dirty="0" smtClean="0">
                <a:solidFill>
                  <a:srgbClr val="333399"/>
                </a:solidFill>
                <a:latin typeface="Courier New" panose="02070309020205020404" pitchFamily="49" charset="0"/>
                <a:cs typeface="Courier New" panose="02070309020205020404" pitchFamily="49" charset="0"/>
              </a:rPr>
              <a:t> add5 =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(5);</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document.write</a:t>
            </a:r>
            <a:r>
              <a:rPr lang="en-US" altLang="en-US" sz="1600" dirty="0" smtClean="0">
                <a:solidFill>
                  <a:srgbClr val="333399"/>
                </a:solidFill>
                <a:latin typeface="Courier New" panose="02070309020205020404" pitchFamily="49" charset="0"/>
                <a:cs typeface="Courier New" panose="02070309020205020404" pitchFamily="49" charset="0"/>
              </a:rPr>
              <a:t>(″add 10 to 20: ″ + add10(20) + ″&lt;</a:t>
            </a:r>
            <a:r>
              <a:rPr lang="en-US" altLang="en-US" sz="1600" dirty="0" err="1" smtClean="0">
                <a:solidFill>
                  <a:srgbClr val="333399"/>
                </a:solidFill>
                <a:latin typeface="Courier New" panose="02070309020205020404" pitchFamily="49" charset="0"/>
                <a:cs typeface="Courier New" panose="02070309020205020404" pitchFamily="49" charset="0"/>
              </a:rPr>
              <a:t>br</a:t>
            </a:r>
            <a:r>
              <a:rPr lang="en-US" altLang="en-US" sz="1600" dirty="0" smtClean="0">
                <a:solidFill>
                  <a:srgbClr val="333399"/>
                </a:solidFill>
                <a:latin typeface="Courier New" panose="02070309020205020404" pitchFamily="49" charset="0"/>
                <a:cs typeface="Courier New" panose="02070309020205020404" pitchFamily="49" charset="0"/>
              </a:rPr>
              <a:t> /&gt;″);</a:t>
            </a:r>
          </a:p>
          <a:p>
            <a:pPr>
              <a:buFontTx/>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document.write</a:t>
            </a:r>
            <a:r>
              <a:rPr lang="en-US" altLang="en-US" sz="1600" dirty="0" smtClean="0">
                <a:solidFill>
                  <a:srgbClr val="333399"/>
                </a:solidFill>
                <a:latin typeface="Courier New" panose="02070309020205020404" pitchFamily="49" charset="0"/>
                <a:cs typeface="Courier New" panose="02070309020205020404" pitchFamily="49" charset="0"/>
              </a:rPr>
              <a:t>(″add 5 to 20: ″ + add5(20) + ″&lt;</a:t>
            </a:r>
            <a:r>
              <a:rPr lang="en-US" altLang="en-US" sz="1600" dirty="0" err="1" smtClean="0">
                <a:solidFill>
                  <a:srgbClr val="333399"/>
                </a:solidFill>
                <a:latin typeface="Courier New" panose="02070309020205020404" pitchFamily="49" charset="0"/>
                <a:cs typeface="Courier New" panose="02070309020205020404" pitchFamily="49" charset="0"/>
              </a:rPr>
              <a:t>br</a:t>
            </a:r>
            <a:r>
              <a:rPr lang="en-US" altLang="en-US" sz="1600" dirty="0" smtClean="0">
                <a:solidFill>
                  <a:srgbClr val="333399"/>
                </a:solidFill>
                <a:latin typeface="Courier New" panose="02070309020205020404" pitchFamily="49" charset="0"/>
                <a:cs typeface="Courier New" panose="02070309020205020404" pitchFamily="49" charset="0"/>
              </a:rPr>
              <a:t> /&gt;″);</a:t>
            </a:r>
          </a:p>
          <a:p>
            <a:pPr>
              <a:buFontTx/>
              <a:buNone/>
            </a:pPr>
            <a:endParaRPr lang="en-US" altLang="en-US" sz="700" dirty="0" smtClean="0">
              <a:latin typeface="Courier New" panose="02070309020205020404" pitchFamily="49" charset="0"/>
              <a:cs typeface="Courier New" panose="02070309020205020404" pitchFamily="49" charset="0"/>
            </a:endParaRPr>
          </a:p>
          <a:p>
            <a:pPr lvl="1"/>
            <a:r>
              <a:rPr lang="en-US" altLang="en-US" dirty="0" smtClean="0">
                <a:cs typeface="Courier New" panose="02070309020205020404" pitchFamily="49" charset="0"/>
              </a:rPr>
              <a:t>Assume a variable is passed to </a:t>
            </a:r>
            <a:r>
              <a:rPr lang="en-US" altLang="en-US" dirty="0" err="1" smtClean="0">
                <a:latin typeface="Courier New" panose="02070309020205020404" pitchFamily="49" charset="0"/>
                <a:cs typeface="Courier New" panose="02070309020205020404" pitchFamily="49" charset="0"/>
              </a:rPr>
              <a:t>makeAdder</a:t>
            </a:r>
            <a:endParaRPr lang="en-US" altLang="en-US" dirty="0" smtClean="0">
              <a:cs typeface="Courier New" panose="02070309020205020404" pitchFamily="49" charset="0"/>
            </a:endParaRPr>
          </a:p>
          <a:p>
            <a:pPr marL="914400" lvl="2" indent="0">
              <a:buNone/>
            </a:pPr>
            <a:endParaRPr lang="en-US" altLang="en-US" sz="200" dirty="0" smtClean="0">
              <a:solidFill>
                <a:srgbClr val="333399"/>
              </a:solidFill>
              <a:latin typeface="Courier New" panose="02070309020205020404" pitchFamily="49" charset="0"/>
              <a:cs typeface="Courier New" panose="02070309020205020404" pitchFamily="49" charset="0"/>
            </a:endParaRPr>
          </a:p>
          <a:p>
            <a:pPr marL="914400" lvl="2" indent="0">
              <a:buNone/>
            </a:pPr>
            <a:r>
              <a:rPr lang="en-US" altLang="en-US" sz="1600" dirty="0" smtClean="0">
                <a:solidFill>
                  <a:srgbClr val="333399"/>
                </a:solidFill>
                <a:latin typeface="Courier New" panose="02070309020205020404" pitchFamily="49" charset="0"/>
                <a:cs typeface="Courier New" panose="02070309020205020404" pitchFamily="49" charset="0"/>
              </a:rPr>
              <a:t>    </a:t>
            </a:r>
            <a:r>
              <a:rPr lang="en-US" altLang="en-US" sz="1600" b="1" dirty="0" err="1" smtClean="0">
                <a:solidFill>
                  <a:srgbClr val="333399"/>
                </a:solidFill>
                <a:latin typeface="Courier New" panose="02070309020205020404" pitchFamily="49" charset="0"/>
                <a:cs typeface="Courier New" panose="02070309020205020404" pitchFamily="49" charset="0"/>
              </a:rPr>
              <a:t>var</a:t>
            </a:r>
            <a:r>
              <a:rPr lang="en-US" altLang="en-US" sz="1600" dirty="0" smtClean="0">
                <a:solidFill>
                  <a:srgbClr val="333399"/>
                </a:solidFill>
                <a:latin typeface="Courier New" panose="02070309020205020404" pitchFamily="49" charset="0"/>
                <a:cs typeface="Courier New" panose="02070309020205020404" pitchFamily="49" charset="0"/>
              </a:rPr>
              <a:t> add </a:t>
            </a:r>
            <a:r>
              <a:rPr lang="en-US" altLang="en-US" sz="1600" dirty="0">
                <a:solidFill>
                  <a:srgbClr val="333399"/>
                </a:solidFill>
                <a:latin typeface="Courier New" panose="02070309020205020404" pitchFamily="49" charset="0"/>
                <a:cs typeface="Courier New" panose="02070309020205020404" pitchFamily="49" charset="0"/>
              </a:rPr>
              <a:t>= </a:t>
            </a:r>
            <a:r>
              <a:rPr lang="en-US" altLang="en-US" sz="1600" dirty="0" err="1" smtClean="0">
                <a:solidFill>
                  <a:srgbClr val="333399"/>
                </a:solidFill>
                <a:latin typeface="Courier New" panose="02070309020205020404" pitchFamily="49" charset="0"/>
                <a:cs typeface="Courier New" panose="02070309020205020404" pitchFamily="49" charset="0"/>
              </a:rPr>
              <a:t>makeAdder</a:t>
            </a:r>
            <a:r>
              <a:rPr lang="en-US" altLang="en-US" sz="1600" dirty="0" smtClean="0">
                <a:solidFill>
                  <a:srgbClr val="333399"/>
                </a:solidFill>
                <a:latin typeface="Courier New" panose="02070309020205020404" pitchFamily="49" charset="0"/>
                <a:cs typeface="Courier New" panose="02070309020205020404" pitchFamily="49" charset="0"/>
              </a:rPr>
              <a:t>(</a:t>
            </a:r>
            <a:r>
              <a:rPr lang="en-US" altLang="en-US" sz="1600" dirty="0" err="1" smtClean="0">
                <a:solidFill>
                  <a:srgbClr val="333399"/>
                </a:solidFill>
                <a:latin typeface="Courier New" panose="02070309020205020404" pitchFamily="49" charset="0"/>
                <a:cs typeface="Courier New" panose="02070309020205020404" pitchFamily="49" charset="0"/>
              </a:rPr>
              <a:t>val</a:t>
            </a:r>
            <a:r>
              <a:rPr lang="en-US" altLang="en-US" sz="1600" dirty="0" smtClean="0">
                <a:solidFill>
                  <a:srgbClr val="333399"/>
                </a:solidFill>
                <a:latin typeface="Courier New" panose="02070309020205020404" pitchFamily="49" charset="0"/>
                <a:cs typeface="Courier New" panose="02070309020205020404" pitchFamily="49" charset="0"/>
              </a:rPr>
              <a:t>);</a:t>
            </a:r>
          </a:p>
          <a:p>
            <a:pPr marL="914400" lvl="2" indent="0">
              <a:buNone/>
            </a:pPr>
            <a:endParaRPr lang="en-US" altLang="en-US" sz="200" dirty="0" smtClean="0">
              <a:cs typeface="Courier New" panose="02070309020205020404" pitchFamily="49" charset="0"/>
            </a:endParaRPr>
          </a:p>
          <a:p>
            <a:pPr lvl="2"/>
            <a:r>
              <a:rPr lang="en-US" altLang="en-US" dirty="0" smtClean="0">
                <a:cs typeface="Courier New" panose="02070309020205020404" pitchFamily="49" charset="0"/>
              </a:rPr>
              <a:t>Can call </a:t>
            </a:r>
            <a:r>
              <a:rPr lang="en-US" altLang="en-US" dirty="0" smtClean="0">
                <a:latin typeface="Courier New" panose="02070309020205020404" pitchFamily="49" charset="0"/>
                <a:cs typeface="Courier New" panose="02070309020205020404" pitchFamily="49" charset="0"/>
              </a:rPr>
              <a:t>add</a:t>
            </a:r>
            <a:r>
              <a:rPr lang="en-US" altLang="en-US" dirty="0" smtClean="0">
                <a:cs typeface="Courier New" panose="02070309020205020404" pitchFamily="49" charset="0"/>
              </a:rPr>
              <a:t> anywhere, and </a:t>
            </a:r>
            <a:r>
              <a:rPr lang="en-US" altLang="en-US" dirty="0" err="1" smtClean="0">
                <a:latin typeface="Courier New" panose="02070309020205020404" pitchFamily="49" charset="0"/>
                <a:cs typeface="Courier New" panose="02070309020205020404" pitchFamily="49" charset="0"/>
              </a:rPr>
              <a:t>val</a:t>
            </a:r>
            <a:r>
              <a:rPr lang="en-US" altLang="en-US" dirty="0" smtClean="0">
                <a:cs typeface="Courier New" panose="02070309020205020404" pitchFamily="49" charset="0"/>
              </a:rPr>
              <a:t> may be out of scope</a:t>
            </a:r>
          </a:p>
          <a:p>
            <a:pPr lvl="2"/>
            <a:r>
              <a:rPr lang="en-US" altLang="en-US" dirty="0" smtClean="0">
                <a:cs typeface="Courier New" panose="02070309020205020404" pitchFamily="49" charset="0"/>
              </a:rPr>
              <a:t>So, </a:t>
            </a:r>
            <a:r>
              <a:rPr lang="en-US" altLang="en-US" dirty="0" err="1" smtClean="0">
                <a:latin typeface="Courier New" panose="02070309020205020404" pitchFamily="49" charset="0"/>
                <a:cs typeface="Courier New" panose="02070309020205020404" pitchFamily="49" charset="0"/>
              </a:rPr>
              <a:t>val</a:t>
            </a:r>
            <a:r>
              <a:rPr lang="en-US" altLang="en-US" dirty="0" smtClean="0">
                <a:cs typeface="Courier New" panose="02070309020205020404" pitchFamily="49" charset="0"/>
              </a:rPr>
              <a:t> lifetime must be over full program execution</a:t>
            </a:r>
          </a:p>
          <a:p>
            <a:pPr lvl="2"/>
            <a:r>
              <a:rPr lang="en-US" altLang="en-US" dirty="0" smtClean="0">
                <a:cs typeface="Courier New" panose="02070309020205020404" pitchFamily="49" charset="0"/>
              </a:rPr>
              <a:t>The variable </a:t>
            </a:r>
            <a:r>
              <a:rPr lang="en-US" altLang="en-US" dirty="0" err="1" smtClean="0">
                <a:latin typeface="Courier New" panose="02070309020205020404" pitchFamily="49" charset="0"/>
                <a:cs typeface="Courier New" panose="02070309020205020404" pitchFamily="49" charset="0"/>
              </a:rPr>
              <a:t>val</a:t>
            </a:r>
            <a:r>
              <a:rPr lang="en-US" altLang="en-US" dirty="0" smtClean="0">
                <a:cs typeface="Courier New" panose="02070309020205020404" pitchFamily="49" charset="0"/>
              </a:rPr>
              <a:t> is said to have </a:t>
            </a:r>
            <a:r>
              <a:rPr lang="en-US" altLang="en-US" u="sng" dirty="0" smtClean="0">
                <a:cs typeface="Courier New" panose="02070309020205020404" pitchFamily="49" charset="0"/>
              </a:rPr>
              <a:t>unlimited extent</a:t>
            </a:r>
          </a:p>
        </p:txBody>
      </p:sp>
      <p:sp>
        <p:nvSpPr>
          <p:cNvPr id="13005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EAE7E68-BD01-48DF-9DB7-516432C2AA99}"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538171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6D09FEC-0EEB-4E08-8B86-3C61826E919B}"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133124" name="Rectangle 2"/>
          <p:cNvSpPr>
            <a:spLocks noGrp="1" noChangeArrowheads="1"/>
          </p:cNvSpPr>
          <p:nvPr>
            <p:ph type="title"/>
          </p:nvPr>
        </p:nvSpPr>
        <p:spPr/>
        <p:txBody>
          <a:bodyPr/>
          <a:lstStyle/>
          <a:p>
            <a:pPr eaLnBrk="1" hangingPunct="1"/>
            <a:r>
              <a:rPr lang="en-US" altLang="en-US" dirty="0" smtClean="0"/>
              <a:t>Coroutines</a:t>
            </a:r>
          </a:p>
        </p:txBody>
      </p:sp>
      <p:sp>
        <p:nvSpPr>
          <p:cNvPr id="133125" name="Rectangle 3"/>
          <p:cNvSpPr>
            <a:spLocks noGrp="1" noChangeArrowheads="1"/>
          </p:cNvSpPr>
          <p:nvPr>
            <p:ph type="body" idx="1"/>
          </p:nvPr>
        </p:nvSpPr>
        <p:spPr>
          <a:xfrm>
            <a:off x="608614" y="1631730"/>
            <a:ext cx="8372475" cy="4953000"/>
          </a:xfrm>
        </p:spPr>
        <p:txBody>
          <a:bodyPr/>
          <a:lstStyle/>
          <a:p>
            <a:pPr eaLnBrk="1" hangingPunct="1">
              <a:lnSpc>
                <a:spcPct val="90000"/>
              </a:lnSpc>
            </a:pPr>
            <a:r>
              <a:rPr lang="en-US" altLang="en-US" dirty="0" smtClean="0"/>
              <a:t>A </a:t>
            </a:r>
            <a:r>
              <a:rPr lang="en-US" altLang="en-US" u="sng" dirty="0" err="1" smtClean="0"/>
              <a:t>coroutine</a:t>
            </a:r>
            <a:endParaRPr lang="en-US" altLang="en-US" dirty="0" smtClean="0"/>
          </a:p>
          <a:p>
            <a:pPr lvl="1" eaLnBrk="1" hangingPunct="1">
              <a:lnSpc>
                <a:spcPct val="90000"/>
              </a:lnSpc>
            </a:pPr>
            <a:r>
              <a:rPr lang="en-US" altLang="en-US" dirty="0" smtClean="0"/>
              <a:t>A subprogram with multiple entry points</a:t>
            </a:r>
          </a:p>
          <a:p>
            <a:pPr lvl="1" eaLnBrk="1" hangingPunct="1">
              <a:lnSpc>
                <a:spcPct val="90000"/>
              </a:lnSpc>
            </a:pPr>
            <a:r>
              <a:rPr lang="en-US" altLang="en-US" dirty="0" smtClean="0"/>
              <a:t>Controls entry points itself</a:t>
            </a:r>
          </a:p>
          <a:p>
            <a:pPr lvl="1" eaLnBrk="1" hangingPunct="1">
              <a:lnSpc>
                <a:spcPct val="90000"/>
              </a:lnSpc>
            </a:pPr>
            <a:r>
              <a:rPr lang="en-US" altLang="en-US" dirty="0" smtClean="0"/>
              <a:t>Introduced in </a:t>
            </a:r>
            <a:r>
              <a:rPr lang="en-US" altLang="en-US" dirty="0" err="1" smtClean="0"/>
              <a:t>Simula</a:t>
            </a:r>
            <a:r>
              <a:rPr lang="en-US" altLang="en-US" dirty="0" smtClean="0"/>
              <a:t> 67, supported in </a:t>
            </a:r>
            <a:r>
              <a:rPr lang="en-US" altLang="en-US" dirty="0" err="1" smtClean="0"/>
              <a:t>Lua</a:t>
            </a:r>
            <a:endParaRPr lang="en-US" altLang="en-US" sz="900" dirty="0" smtClean="0"/>
          </a:p>
          <a:p>
            <a:pPr eaLnBrk="1" hangingPunct="1">
              <a:lnSpc>
                <a:spcPct val="90000"/>
              </a:lnSpc>
            </a:pPr>
            <a:r>
              <a:rPr lang="en-US" altLang="en-US" dirty="0" smtClean="0"/>
              <a:t>Also called </a:t>
            </a:r>
            <a:r>
              <a:rPr lang="en-US" altLang="en-US" u="sng" dirty="0" smtClean="0"/>
              <a:t>symmetric control</a:t>
            </a:r>
          </a:p>
          <a:p>
            <a:pPr lvl="1" eaLnBrk="1" hangingPunct="1">
              <a:lnSpc>
                <a:spcPct val="90000"/>
              </a:lnSpc>
            </a:pPr>
            <a:r>
              <a:rPr lang="en-US" altLang="en-US" dirty="0" smtClean="0"/>
              <a:t>The caller and called </a:t>
            </a:r>
            <a:r>
              <a:rPr lang="en-US" altLang="en-US" dirty="0" err="1" smtClean="0"/>
              <a:t>coroutines</a:t>
            </a:r>
            <a:r>
              <a:rPr lang="en-US" altLang="en-US" dirty="0" smtClean="0"/>
              <a:t> exist on a more equal basis</a:t>
            </a:r>
            <a:endParaRPr lang="en-US" altLang="en-US" sz="90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6D09FEC-0EEB-4E08-8B86-3C61826E919B}"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133124" name="Rectangle 2"/>
          <p:cNvSpPr>
            <a:spLocks noGrp="1" noChangeArrowheads="1"/>
          </p:cNvSpPr>
          <p:nvPr>
            <p:ph type="title"/>
          </p:nvPr>
        </p:nvSpPr>
        <p:spPr/>
        <p:txBody>
          <a:bodyPr/>
          <a:lstStyle/>
          <a:p>
            <a:pPr eaLnBrk="1" hangingPunct="1"/>
            <a:r>
              <a:rPr lang="en-US" altLang="en-US" dirty="0" smtClean="0"/>
              <a:t>Coroutines</a:t>
            </a:r>
          </a:p>
        </p:txBody>
      </p:sp>
      <p:sp>
        <p:nvSpPr>
          <p:cNvPr id="133125" name="Rectangle 3"/>
          <p:cNvSpPr>
            <a:spLocks noGrp="1" noChangeArrowheads="1"/>
          </p:cNvSpPr>
          <p:nvPr>
            <p:ph type="body" idx="1"/>
          </p:nvPr>
        </p:nvSpPr>
        <p:spPr>
          <a:xfrm>
            <a:off x="608614" y="1631730"/>
            <a:ext cx="8372475" cy="4953000"/>
          </a:xfrm>
        </p:spPr>
        <p:txBody>
          <a:bodyPr/>
          <a:lstStyle/>
          <a:p>
            <a:pPr eaLnBrk="1" hangingPunct="1">
              <a:lnSpc>
                <a:spcPct val="90000"/>
              </a:lnSpc>
            </a:pPr>
            <a:r>
              <a:rPr lang="en-US" altLang="en-US" dirty="0" smtClean="0"/>
              <a:t>A </a:t>
            </a:r>
            <a:r>
              <a:rPr lang="en-US" altLang="en-US" dirty="0" err="1" smtClean="0"/>
              <a:t>coroutine</a:t>
            </a:r>
            <a:r>
              <a:rPr lang="en-US" altLang="en-US" dirty="0" smtClean="0"/>
              <a:t> call is named a </a:t>
            </a:r>
            <a:r>
              <a:rPr lang="en-US" altLang="en-US" u="sng" dirty="0" smtClean="0"/>
              <a:t>resume</a:t>
            </a:r>
          </a:p>
          <a:p>
            <a:pPr lvl="1" eaLnBrk="1" hangingPunct="1">
              <a:lnSpc>
                <a:spcPct val="90000"/>
              </a:lnSpc>
            </a:pPr>
            <a:r>
              <a:rPr lang="en-US" altLang="en-US" dirty="0" smtClean="0"/>
              <a:t>The first resume of a </a:t>
            </a:r>
            <a:r>
              <a:rPr lang="en-US" altLang="en-US" dirty="0" err="1" smtClean="0"/>
              <a:t>coroutine</a:t>
            </a:r>
            <a:r>
              <a:rPr lang="en-US" altLang="en-US" dirty="0" smtClean="0"/>
              <a:t> is to its beginning</a:t>
            </a:r>
          </a:p>
          <a:p>
            <a:pPr lvl="1" eaLnBrk="1" hangingPunct="1">
              <a:lnSpc>
                <a:spcPct val="90000"/>
              </a:lnSpc>
            </a:pPr>
            <a:r>
              <a:rPr lang="en-US" altLang="en-US" dirty="0" smtClean="0"/>
              <a:t>Later resumes enter after last executed statement</a:t>
            </a:r>
            <a:endParaRPr lang="en-US" altLang="en-US" sz="900" dirty="0" smtClean="0"/>
          </a:p>
          <a:p>
            <a:pPr eaLnBrk="1" hangingPunct="1">
              <a:lnSpc>
                <a:spcPct val="90000"/>
              </a:lnSpc>
            </a:pPr>
            <a:r>
              <a:rPr lang="en-US" altLang="en-US" dirty="0" smtClean="0"/>
              <a:t>Coroutines can resume each other forever</a:t>
            </a:r>
            <a:endParaRPr lang="en-US" altLang="en-US" sz="900" dirty="0" smtClean="0"/>
          </a:p>
          <a:p>
            <a:pPr eaLnBrk="1" hangingPunct="1">
              <a:lnSpc>
                <a:spcPct val="90000"/>
              </a:lnSpc>
            </a:pPr>
            <a:r>
              <a:rPr lang="en-US" altLang="en-US" dirty="0" smtClean="0"/>
              <a:t>Coroutines allow </a:t>
            </a:r>
            <a:r>
              <a:rPr lang="en-US" altLang="en-US" u="sng" dirty="0" smtClean="0"/>
              <a:t>quasi-concurrent execution</a:t>
            </a:r>
            <a:endParaRPr lang="en-US" altLang="en-US" dirty="0" smtClean="0"/>
          </a:p>
          <a:p>
            <a:pPr lvl="1" eaLnBrk="1" hangingPunct="1">
              <a:lnSpc>
                <a:spcPct val="90000"/>
              </a:lnSpc>
            </a:pPr>
            <a:r>
              <a:rPr lang="en-US" altLang="en-US" dirty="0" smtClean="0"/>
              <a:t>Their execution is interleaved, but not overlapped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7805660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9461"/>
          <a:stretch/>
        </p:blipFill>
        <p:spPr bwMode="auto">
          <a:xfrm>
            <a:off x="685800" y="14478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4BEEA2-141A-43D4-AD1C-6DAC0F143173}"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135173" name="Rectangle 5"/>
          <p:cNvSpPr>
            <a:spLocks noGrp="1" noChangeArrowheads="1"/>
          </p:cNvSpPr>
          <p:nvPr>
            <p:ph type="title"/>
          </p:nvPr>
        </p:nvSpPr>
        <p:spPr>
          <a:xfrm>
            <a:off x="609600" y="152400"/>
            <a:ext cx="8153400" cy="1143000"/>
          </a:xfrm>
        </p:spPr>
        <p:txBody>
          <a:bodyPr/>
          <a:lstStyle/>
          <a:p>
            <a:pPr eaLnBrk="1" hangingPunct="1"/>
            <a:r>
              <a:rPr lang="en-US" altLang="en-US" sz="3200" dirty="0" smtClean="0"/>
              <a:t>Coroutines Illustrated: Possible Execution Controls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8E1EE9E-B0AC-4525-80A4-D3D844FB07E3}" type="slidenum">
              <a:rPr lang="en-US" altLang="en-US" sz="1000" smtClean="0">
                <a:solidFill>
                  <a:schemeClr val="tx1"/>
                </a:solidFill>
                <a:latin typeface="Arial" panose="020B0604020202020204" pitchFamily="34" charset="0"/>
              </a:rPr>
              <a:pPr>
                <a:spcBef>
                  <a:spcPct val="0"/>
                </a:spcBef>
                <a:buFontTx/>
                <a:buNone/>
              </a:pPr>
              <a:t>25</a:t>
            </a:fld>
            <a:endParaRPr lang="en-US" altLang="en-US" sz="1000" smtClean="0">
              <a:solidFill>
                <a:schemeClr val="tx1"/>
              </a:solidFill>
              <a:latin typeface="Arial" panose="020B0604020202020204" pitchFamily="34" charset="0"/>
            </a:endParaRPr>
          </a:p>
        </p:txBody>
      </p:sp>
      <p:sp>
        <p:nvSpPr>
          <p:cNvPr id="139268" name="Rectangle 3"/>
          <p:cNvSpPr>
            <a:spLocks noGrp="1" noChangeArrowheads="1"/>
          </p:cNvSpPr>
          <p:nvPr>
            <p:ph type="title"/>
          </p:nvPr>
        </p:nvSpPr>
        <p:spPr>
          <a:xfrm>
            <a:off x="609600" y="152400"/>
            <a:ext cx="8153400" cy="1143000"/>
          </a:xfrm>
        </p:spPr>
        <p:txBody>
          <a:bodyPr/>
          <a:lstStyle/>
          <a:p>
            <a:pPr eaLnBrk="1" hangingPunct="1"/>
            <a:r>
              <a:rPr lang="en-US" altLang="en-US" sz="3200" dirty="0" smtClean="0"/>
              <a:t>Coroutines Illustrated: Possible Execution Controls with Loops</a:t>
            </a:r>
          </a:p>
        </p:txBody>
      </p:sp>
      <p:pic>
        <p:nvPicPr>
          <p:cNvPr id="1392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52600"/>
            <a:ext cx="7410450"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13886</TotalTime>
  <Words>1791</Words>
  <Application>Microsoft Office PowerPoint</Application>
  <PresentationFormat>On-screen Show (4:3)</PresentationFormat>
  <Paragraphs>367</Paragraphs>
  <Slides>25</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Courier New</vt:lpstr>
      <vt:lpstr>Lucida Sans Unicode</vt:lpstr>
      <vt:lpstr>Times</vt:lpstr>
      <vt:lpstr>1_sebesta</vt:lpstr>
      <vt:lpstr>Chapter 9 Part 3</vt:lpstr>
      <vt:lpstr>Chapter 9 Topics</vt:lpstr>
      <vt:lpstr>Overloaded Subprograms</vt:lpstr>
      <vt:lpstr>Overloaded Subprograms</vt:lpstr>
      <vt:lpstr>Generic Subprograms</vt:lpstr>
      <vt:lpstr>Generic Subprograms</vt:lpstr>
      <vt:lpstr>Generic Subprograms</vt:lpstr>
      <vt:lpstr>Generic Subprograms</vt:lpstr>
      <vt:lpstr>Generic Subprograms</vt:lpstr>
      <vt:lpstr>Generic Subprograms</vt:lpstr>
      <vt:lpstr>Generic Subprograms</vt:lpstr>
      <vt:lpstr>Generic Subprograms</vt:lpstr>
      <vt:lpstr>Generic Subprograms</vt:lpstr>
      <vt:lpstr>Generic Subprograms</vt:lpstr>
      <vt:lpstr>Design Issues for Functions</vt:lpstr>
      <vt:lpstr>Design Issues for Functions</vt:lpstr>
      <vt:lpstr>Design Issues for Functions</vt:lpstr>
      <vt:lpstr>User-Defined Overloaded Operators</vt:lpstr>
      <vt:lpstr>Closures</vt:lpstr>
      <vt:lpstr>Closures</vt:lpstr>
      <vt:lpstr>Closures</vt:lpstr>
      <vt:lpstr>Coroutines</vt:lpstr>
      <vt:lpstr>Coroutines</vt:lpstr>
      <vt:lpstr>Coroutines Illustrated: Possible Execution Controls</vt:lpstr>
      <vt:lpstr>Coroutines Illustrated: Possible Execution Controls with Loops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661</cp:revision>
  <dcterms:created xsi:type="dcterms:W3CDTF">2003-08-01T12:29:19Z</dcterms:created>
  <dcterms:modified xsi:type="dcterms:W3CDTF">2026-05-22T12:32:02Z</dcterms:modified>
</cp:coreProperties>
</file>