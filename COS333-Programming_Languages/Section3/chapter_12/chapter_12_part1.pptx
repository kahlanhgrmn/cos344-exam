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8"/>
  </p:notesMasterIdLst>
  <p:sldIdLst>
    <p:sldId id="348" r:id="rId2"/>
    <p:sldId id="258" r:id="rId3"/>
    <p:sldId id="349" r:id="rId4"/>
    <p:sldId id="401" r:id="rId5"/>
    <p:sldId id="350" r:id="rId6"/>
    <p:sldId id="351" r:id="rId7"/>
    <p:sldId id="352" r:id="rId8"/>
    <p:sldId id="353" r:id="rId9"/>
    <p:sldId id="354" r:id="rId10"/>
    <p:sldId id="355" r:id="rId11"/>
    <p:sldId id="356" r:id="rId12"/>
    <p:sldId id="357" r:id="rId13"/>
    <p:sldId id="358" r:id="rId14"/>
    <p:sldId id="359" r:id="rId15"/>
    <p:sldId id="394" r:id="rId16"/>
    <p:sldId id="360" r:id="rId17"/>
    <p:sldId id="361" r:id="rId18"/>
    <p:sldId id="395" r:id="rId19"/>
    <p:sldId id="362" r:id="rId20"/>
    <p:sldId id="363" r:id="rId21"/>
    <p:sldId id="364" r:id="rId22"/>
    <p:sldId id="365" r:id="rId23"/>
    <p:sldId id="396" r:id="rId24"/>
    <p:sldId id="397" r:id="rId25"/>
    <p:sldId id="399" r:id="rId26"/>
    <p:sldId id="400" r:id="rId2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38" autoAdjust="0"/>
    <p:restoredTop sz="86424" autoAdjust="0"/>
  </p:normalViewPr>
  <p:slideViewPr>
    <p:cSldViewPr>
      <p:cViewPr varScale="1">
        <p:scale>
          <a:sx n="73" d="100"/>
          <a:sy n="73" d="100"/>
        </p:scale>
        <p:origin x="11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28B867D4-3D5E-44EC-95F6-553D3B22CBF0}" type="slidenum">
              <a:rPr lang="en-US" altLang="en-US"/>
              <a:pPr>
                <a:defRPr/>
              </a:pPr>
              <a:t>‹#›</a:t>
            </a:fld>
            <a:endParaRPr lang="en-US" altLang="en-US"/>
          </a:p>
        </p:txBody>
      </p:sp>
    </p:spTree>
    <p:extLst>
      <p:ext uri="{BB962C8B-B14F-4D97-AF65-F5344CB8AC3E}">
        <p14:creationId xmlns:p14="http://schemas.microsoft.com/office/powerpoint/2010/main" val="32815458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CEA835B-E755-440F-9641-F2AA4F397C97}"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6590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6AEABED-08AB-4AD7-B95D-07BC2F763EEE}"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solidFill>
            <a:srgbClr val="FFFFFF"/>
          </a:solidFill>
          <a:ln/>
        </p:spPr>
      </p:sp>
      <p:sp>
        <p:nvSpPr>
          <p:cNvPr id="7172" name="Rectangle 3"/>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smtClean="0"/>
          </a:p>
        </p:txBody>
      </p:sp>
    </p:spTree>
    <p:extLst>
      <p:ext uri="{BB962C8B-B14F-4D97-AF65-F5344CB8AC3E}">
        <p14:creationId xmlns:p14="http://schemas.microsoft.com/office/powerpoint/2010/main" val="2453101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BACF5D9-B405-439C-B6FC-9A47D6132A47}" type="slidenum">
              <a:rPr lang="en-US" altLang="en-US" sz="1300" smtClean="0"/>
              <a:pPr/>
              <a:t>3</a:t>
            </a:fld>
            <a:endParaRPr lang="en-US" altLang="en-US" sz="1300" smtClean="0"/>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476172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CF52641-60E1-4560-BB32-2345D497D01E}" type="slidenum">
              <a:rPr lang="en-US" altLang="en-US" sz="1300" smtClean="0"/>
              <a:pPr/>
              <a:t>5</a:t>
            </a:fld>
            <a:endParaRPr lang="en-US" altLang="en-US" sz="1300" smtClean="0"/>
          </a:p>
        </p:txBody>
      </p:sp>
      <p:sp>
        <p:nvSpPr>
          <p:cNvPr id="11267" name="Rectangle 2"/>
          <p:cNvSpPr>
            <a:spLocks noGrp="1" noRot="1" noChangeAspect="1" noChangeArrowheads="1" noTextEdit="1"/>
          </p:cNvSpPr>
          <p:nvPr>
            <p:ph type="sldImg"/>
          </p:nvPr>
        </p:nvSpPr>
        <p:spPr>
          <a:xfrm>
            <a:off x="992188" y="768350"/>
            <a:ext cx="5114925"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247740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8E1D0C7-5BE0-4A93-BD16-B32D09B25ABC}" type="slidenum">
              <a:rPr lang="en-US" altLang="en-US" sz="1300" smtClean="0"/>
              <a:pPr/>
              <a:t>6</a:t>
            </a:fld>
            <a:endParaRPr lang="en-US" altLang="en-US" sz="1300" smtClean="0"/>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Basic ADTs are classes and structs that don’t support any form of inheritance or concepts related to inheritance (such as polymorphism). Object-Oriented Programming refers to ADTs with support for proper inheritance (and all the concepts related to inheritance).</a:t>
            </a:r>
          </a:p>
        </p:txBody>
      </p:sp>
    </p:spTree>
    <p:extLst>
      <p:ext uri="{BB962C8B-B14F-4D97-AF65-F5344CB8AC3E}">
        <p14:creationId xmlns:p14="http://schemas.microsoft.com/office/powerpoint/2010/main" val="1334950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CA87303-F3C1-47B9-A216-F58292E7A3C9}" type="slidenum">
              <a:rPr lang="en-US" altLang="en-US" sz="1300" smtClean="0"/>
              <a:pPr/>
              <a:t>7</a:t>
            </a:fld>
            <a:endParaRPr lang="en-US" altLang="en-US" sz="1300" smtClean="0"/>
          </a:p>
        </p:txBody>
      </p:sp>
      <p:sp>
        <p:nvSpPr>
          <p:cNvPr id="15363" name="Rectangle 2"/>
          <p:cNvSpPr>
            <a:spLocks noGrp="1" noRot="1" noChangeAspect="1" noChangeArrowheads="1" noTextEdit="1"/>
          </p:cNvSpPr>
          <p:nvPr>
            <p:ph type="sldImg"/>
          </p:nvPr>
        </p:nvSpPr>
        <p:spPr>
          <a:xfrm>
            <a:off x="992188" y="768350"/>
            <a:ext cx="5114925" cy="3836988"/>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The term “child class” is sometimes used to mean “subclass”.</a:t>
            </a:r>
          </a:p>
          <a:p>
            <a:pPr eaLnBrk="1" hangingPunct="1"/>
            <a:endParaRPr lang="en-GB" altLang="en-US" smtClean="0"/>
          </a:p>
          <a:p>
            <a:pPr eaLnBrk="1" hangingPunct="1"/>
            <a:r>
              <a:rPr lang="en-GB" altLang="en-US" smtClean="0"/>
              <a:t>C++ calls its methods “member functions”.</a:t>
            </a:r>
          </a:p>
        </p:txBody>
      </p:sp>
    </p:spTree>
    <p:extLst>
      <p:ext uri="{BB962C8B-B14F-4D97-AF65-F5344CB8AC3E}">
        <p14:creationId xmlns:p14="http://schemas.microsoft.com/office/powerpoint/2010/main" val="2248330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EC13CC3-9A3F-47E6-BBE6-8B399500623C}" type="slidenum">
              <a:rPr lang="en-US" altLang="en-US" sz="1300" smtClean="0"/>
              <a:pPr/>
              <a:t>8</a:t>
            </a:fld>
            <a:endParaRPr lang="en-US" altLang="en-US" sz="1300" smtClean="0"/>
          </a:p>
        </p:txBody>
      </p:sp>
      <p:sp>
        <p:nvSpPr>
          <p:cNvPr id="17411" name="Rectangle 2"/>
          <p:cNvSpPr>
            <a:spLocks noGrp="1" noRot="1" noChangeAspect="1" noChangeArrowheads="1" noTextEdit="1"/>
          </p:cNvSpPr>
          <p:nvPr>
            <p:ph type="sldImg"/>
          </p:nvPr>
        </p:nvSpPr>
        <p:spPr>
          <a:xfrm>
            <a:off x="992188" y="768350"/>
            <a:ext cx="5114925" cy="3836988"/>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a call such as:</a:t>
            </a:r>
          </a:p>
          <a:p>
            <a:pPr eaLnBrk="1" hangingPunct="1"/>
            <a:endParaRPr lang="en-GB" altLang="en-US" dirty="0" smtClean="0"/>
          </a:p>
          <a:p>
            <a:pPr eaLnBrk="1" hangingPunct="1"/>
            <a:r>
              <a:rPr lang="en-GB" altLang="en-US" dirty="0" err="1" smtClean="0"/>
              <a:t>myStudent.writeExam</a:t>
            </a:r>
            <a:r>
              <a:rPr lang="en-GB" altLang="en-US" dirty="0" smtClean="0"/>
              <a:t>();</a:t>
            </a:r>
          </a:p>
          <a:p>
            <a:pPr eaLnBrk="1" hangingPunct="1"/>
            <a:endParaRPr lang="en-GB" altLang="en-US" dirty="0" smtClean="0"/>
          </a:p>
          <a:p>
            <a:pPr eaLnBrk="1" hangingPunct="1"/>
            <a:r>
              <a:rPr lang="en-GB" altLang="en-US" dirty="0" smtClean="0"/>
              <a:t>the method name is </a:t>
            </a:r>
            <a:r>
              <a:rPr lang="en-GB" altLang="en-US" dirty="0" err="1" smtClean="0"/>
              <a:t>writeExam</a:t>
            </a:r>
            <a:r>
              <a:rPr lang="en-GB" altLang="en-US" dirty="0" smtClean="0"/>
              <a:t>, while the destination object is </a:t>
            </a:r>
            <a:r>
              <a:rPr lang="en-GB" altLang="en-US" dirty="0" err="1" smtClean="0"/>
              <a:t>myStudent</a:t>
            </a:r>
            <a:endParaRPr lang="en-GB" altLang="en-US" dirty="0" smtClean="0"/>
          </a:p>
          <a:p>
            <a:pPr eaLnBrk="1" hangingPunct="1"/>
            <a:endParaRPr lang="en-GB" altLang="en-US" dirty="0" smtClean="0"/>
          </a:p>
          <a:p>
            <a:pPr eaLnBrk="1" hangingPunct="1"/>
            <a:r>
              <a:rPr lang="en-GB" altLang="en-US" dirty="0" smtClean="0"/>
              <a:t>It is obviously possible for a class to inherit from a parent and not add any more entities (member variables or methods), but this is generally never done because the derived class is then redundant.</a:t>
            </a:r>
          </a:p>
        </p:txBody>
      </p:sp>
    </p:spTree>
    <p:extLst>
      <p:ext uri="{BB962C8B-B14F-4D97-AF65-F5344CB8AC3E}">
        <p14:creationId xmlns:p14="http://schemas.microsoft.com/office/powerpoint/2010/main" val="446990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12F093E-59C3-48FD-8A5D-997D17D3CCC7}" type="slidenum">
              <a:rPr lang="en-US" altLang="en-US" sz="1300" smtClean="0"/>
              <a:pPr/>
              <a:t>9</a:t>
            </a:fld>
            <a:endParaRPr lang="en-US" altLang="en-US" sz="1300" smtClean="0"/>
          </a:p>
        </p:txBody>
      </p:sp>
      <p:sp>
        <p:nvSpPr>
          <p:cNvPr id="19459" name="Rectangle 2"/>
          <p:cNvSpPr>
            <a:spLocks noGrp="1" noRot="1" noChangeAspect="1" noChangeArrowheads="1" noTextEdit="1"/>
          </p:cNvSpPr>
          <p:nvPr>
            <p:ph type="sldImg"/>
          </p:nvPr>
        </p:nvSpPr>
        <p:spPr>
          <a:xfrm>
            <a:off x="992188" y="768350"/>
            <a:ext cx="5114925" cy="3836988"/>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Private members are hidden from subclasses and clients. In the case of private member variables in the parent class, the derived class essentially has these members, but can only access them through public or protected methods in the parent class.</a:t>
            </a:r>
          </a:p>
          <a:p>
            <a:pPr eaLnBrk="1" hangingPunct="1"/>
            <a:endParaRPr lang="en-GB" altLang="en-US" dirty="0" smtClean="0"/>
          </a:p>
          <a:p>
            <a:pPr eaLnBrk="1" hangingPunct="1"/>
            <a:r>
              <a:rPr lang="en-GB" altLang="en-US" dirty="0" smtClean="0"/>
              <a:t>Protected members are accessible to derived classes, but not to clients. One would use protected methods to provide functionality that is commonly needed by derived classes, but should be hidden from client code. Protected access isn’t strictly speaking necessary (some OOP languages only support public and private access), but is very convenient. If protected access isn’t provided, the only way to access private members is via the public interface (which would be able to access the private members).</a:t>
            </a:r>
          </a:p>
        </p:txBody>
      </p:sp>
    </p:spTree>
    <p:extLst>
      <p:ext uri="{BB962C8B-B14F-4D97-AF65-F5344CB8AC3E}">
        <p14:creationId xmlns:p14="http://schemas.microsoft.com/office/powerpoint/2010/main" val="1906132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EFD9391-9DE2-4940-A443-863882CA712A}" type="slidenum">
              <a:rPr lang="en-US" altLang="en-US" sz="1300" smtClean="0"/>
              <a:pPr/>
              <a:t>10</a:t>
            </a:fld>
            <a:endParaRPr lang="en-US" altLang="en-US" sz="1300" smtClean="0"/>
          </a:p>
        </p:txBody>
      </p:sp>
      <p:sp>
        <p:nvSpPr>
          <p:cNvPr id="21507" name="Rectangle 2"/>
          <p:cNvSpPr>
            <a:spLocks noGrp="1" noRot="1" noChangeAspect="1" noChangeArrowheads="1" noTextEdit="1"/>
          </p:cNvSpPr>
          <p:nvPr>
            <p:ph type="sldImg"/>
          </p:nvPr>
        </p:nvSpPr>
        <p:spPr>
          <a:xfrm>
            <a:off x="992188" y="768350"/>
            <a:ext cx="5114925" cy="3836988"/>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the C++ derived languages class members are called “static members”. This is an unfortunate naming decision, because static local variables are a completely different concept. Static local variables (i.e. static variables in a function body) are variables that have scope only in their function, but have a lifetime that lasts through program execution (from the start to the end of the program run), and are also history sensitive. Static members are class-level members (static member variables have one copy shared by all objects of the class, while static methods are usually called on the class and work only with static member variables). For example, in C++:</a:t>
            </a:r>
          </a:p>
          <a:p>
            <a:pPr eaLnBrk="1" hangingPunct="1"/>
            <a:endParaRPr lang="en-GB" altLang="en-US" dirty="0" smtClean="0"/>
          </a:p>
          <a:p>
            <a:pPr eaLnBrk="1" hangingPunct="1"/>
            <a:r>
              <a:rPr lang="en-GB" altLang="en-US" dirty="0" smtClean="0"/>
              <a:t>class </a:t>
            </a:r>
            <a:r>
              <a:rPr lang="en-GB" altLang="en-US" dirty="0" err="1" smtClean="0"/>
              <a:t>BankAccount</a:t>
            </a:r>
            <a:r>
              <a:rPr lang="en-GB" altLang="en-US" dirty="0" smtClean="0"/>
              <a:t> {</a:t>
            </a:r>
          </a:p>
          <a:p>
            <a:pPr eaLnBrk="1" hangingPunct="1"/>
            <a:r>
              <a:rPr lang="en-GB" altLang="en-US" dirty="0" smtClean="0"/>
              <a:t>   private:</a:t>
            </a:r>
          </a:p>
          <a:p>
            <a:pPr eaLnBrk="1" hangingPunct="1"/>
            <a:r>
              <a:rPr lang="en-GB" altLang="en-US" dirty="0" smtClean="0"/>
              <a:t>      double balance;</a:t>
            </a:r>
          </a:p>
          <a:p>
            <a:pPr eaLnBrk="1" hangingPunct="1"/>
            <a:r>
              <a:rPr lang="en-GB" altLang="en-US" dirty="0" smtClean="0"/>
              <a:t>      static </a:t>
            </a:r>
            <a:r>
              <a:rPr lang="en-GB" altLang="en-US" dirty="0" err="1" smtClean="0"/>
              <a:t>int</a:t>
            </a:r>
            <a:r>
              <a:rPr lang="en-GB" altLang="en-US" dirty="0" smtClean="0"/>
              <a:t> </a:t>
            </a:r>
            <a:r>
              <a:rPr lang="en-GB" altLang="en-US" dirty="0" err="1" smtClean="0"/>
              <a:t>numberOfAccounts</a:t>
            </a:r>
            <a:r>
              <a:rPr lang="en-GB" altLang="en-US" dirty="0" smtClean="0"/>
              <a:t>;</a:t>
            </a:r>
          </a:p>
          <a:p>
            <a:pPr eaLnBrk="1" hangingPunct="1"/>
            <a:endParaRPr lang="en-GB" altLang="en-US" dirty="0" smtClean="0"/>
          </a:p>
          <a:p>
            <a:pPr eaLnBrk="1" hangingPunct="1"/>
            <a:r>
              <a:rPr lang="en-GB" altLang="en-US" dirty="0" smtClean="0"/>
              <a:t>   public:</a:t>
            </a:r>
          </a:p>
          <a:p>
            <a:pPr eaLnBrk="1" hangingPunct="1"/>
            <a:r>
              <a:rPr lang="en-GB" altLang="en-US" dirty="0" smtClean="0"/>
              <a:t>      double </a:t>
            </a:r>
            <a:r>
              <a:rPr lang="en-GB" altLang="en-US" dirty="0" err="1" smtClean="0"/>
              <a:t>getBalance</a:t>
            </a:r>
            <a:r>
              <a:rPr lang="en-GB" altLang="en-US" dirty="0" smtClean="0"/>
              <a:t>();</a:t>
            </a:r>
          </a:p>
          <a:p>
            <a:pPr eaLnBrk="1" hangingPunct="1"/>
            <a:r>
              <a:rPr lang="en-GB" altLang="en-US" dirty="0" smtClean="0"/>
              <a:t>      static </a:t>
            </a:r>
            <a:r>
              <a:rPr lang="en-GB" altLang="en-US" dirty="0" err="1" smtClean="0"/>
              <a:t>int</a:t>
            </a:r>
            <a:r>
              <a:rPr lang="en-GB" altLang="en-US" dirty="0" smtClean="0"/>
              <a:t> </a:t>
            </a:r>
            <a:r>
              <a:rPr lang="en-GB" altLang="en-US" dirty="0" err="1" smtClean="0"/>
              <a:t>getNumberOfAccounts</a:t>
            </a:r>
            <a:r>
              <a:rPr lang="en-GB" altLang="en-US" dirty="0" smtClean="0"/>
              <a:t>();</a:t>
            </a:r>
          </a:p>
          <a:p>
            <a:pPr eaLnBrk="1" hangingPunct="1"/>
            <a:r>
              <a:rPr lang="en-GB" altLang="en-US" dirty="0" smtClean="0"/>
              <a:t>}</a:t>
            </a:r>
          </a:p>
          <a:p>
            <a:pPr eaLnBrk="1" hangingPunct="1"/>
            <a:endParaRPr lang="en-GB" altLang="en-US" dirty="0" smtClean="0"/>
          </a:p>
          <a:p>
            <a:pPr eaLnBrk="1" hangingPunct="1"/>
            <a:r>
              <a:rPr lang="en-GB" altLang="en-US" dirty="0" smtClean="0"/>
              <a:t>Here balance is an instance variable, so every individual </a:t>
            </a:r>
            <a:r>
              <a:rPr lang="en-GB" altLang="en-US" dirty="0" err="1" smtClean="0"/>
              <a:t>BankAccount</a:t>
            </a:r>
            <a:r>
              <a:rPr lang="en-GB" altLang="en-US" dirty="0" smtClean="0"/>
              <a:t> object has its own balance, while </a:t>
            </a:r>
            <a:r>
              <a:rPr lang="en-GB" altLang="en-US" dirty="0" err="1" smtClean="0"/>
              <a:t>numberOfAccounts</a:t>
            </a:r>
            <a:r>
              <a:rPr lang="en-GB" altLang="en-US" dirty="0" smtClean="0"/>
              <a:t> is a class variable, meaning that there is a count of the number of accounts that is shared by all objects (i.e. there is only one </a:t>
            </a:r>
            <a:r>
              <a:rPr lang="en-GB" altLang="en-US" dirty="0" err="1" smtClean="0"/>
              <a:t>numberOfAccounts</a:t>
            </a:r>
            <a:r>
              <a:rPr lang="en-GB" altLang="en-US" dirty="0" smtClean="0"/>
              <a:t>). Similarly, every bank account has its own </a:t>
            </a:r>
            <a:r>
              <a:rPr lang="en-GB" altLang="en-US" dirty="0" err="1" smtClean="0"/>
              <a:t>getBalance</a:t>
            </a:r>
            <a:r>
              <a:rPr lang="en-GB" altLang="en-US" dirty="0" smtClean="0"/>
              <a:t> method (which would be called as follows: </a:t>
            </a:r>
            <a:r>
              <a:rPr lang="en-GB" altLang="en-US" dirty="0" err="1" smtClean="0"/>
              <a:t>myBankAccount.getBalance</a:t>
            </a:r>
            <a:r>
              <a:rPr lang="en-GB" altLang="en-US" dirty="0" smtClean="0"/>
              <a:t>() if we assume that </a:t>
            </a:r>
            <a:r>
              <a:rPr lang="en-GB" altLang="en-US" dirty="0" err="1" smtClean="0"/>
              <a:t>myBankAccount</a:t>
            </a:r>
            <a:r>
              <a:rPr lang="en-GB" altLang="en-US" dirty="0" smtClean="0"/>
              <a:t> is an object of class </a:t>
            </a:r>
            <a:r>
              <a:rPr lang="en-GB" altLang="en-US" dirty="0" err="1" smtClean="0"/>
              <a:t>BankAccount</a:t>
            </a:r>
            <a:r>
              <a:rPr lang="en-GB" altLang="en-US" dirty="0" smtClean="0"/>
              <a:t>). The static method exists for the whole class (it would usually be called as </a:t>
            </a:r>
            <a:r>
              <a:rPr lang="en-GB" altLang="en-US" dirty="0" err="1" smtClean="0"/>
              <a:t>BankAccount.getNumberOfAccounts</a:t>
            </a:r>
            <a:r>
              <a:rPr lang="en-GB" altLang="en-US" dirty="0" smtClean="0"/>
              <a:t>(), although some languages allow you to call it on an object as well). The main difference is that static methods can’t work with non-static member variables (because these variables are defined for objects, not the class as a whole).</a:t>
            </a:r>
          </a:p>
          <a:p>
            <a:pPr eaLnBrk="1" hangingPunct="1"/>
            <a:endParaRPr lang="en-GB" altLang="en-US" dirty="0" smtClean="0"/>
          </a:p>
          <a:p>
            <a:pPr eaLnBrk="1" hangingPunct="1"/>
            <a:r>
              <a:rPr lang="en-GB" altLang="en-US" dirty="0" smtClean="0"/>
              <a:t>Interdependencies between classes mean that modifications to a parent class often requires modification of the derived class. Obviously this can expand with a large number of derived classes, which causes a lot of headaches if you need to refactor code.</a:t>
            </a:r>
          </a:p>
        </p:txBody>
      </p:sp>
    </p:spTree>
    <p:extLst>
      <p:ext uri="{BB962C8B-B14F-4D97-AF65-F5344CB8AC3E}">
        <p14:creationId xmlns:p14="http://schemas.microsoft.com/office/powerpoint/2010/main" val="208907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4F02E94-A2DD-431C-92D6-8BE04A1AB6B7}" type="slidenum">
              <a:rPr lang="en-US" altLang="en-US" sz="1300" smtClean="0"/>
              <a:pPr/>
              <a:t>11</a:t>
            </a:fld>
            <a:endParaRPr lang="en-US" altLang="en-US" sz="1300" smtClean="0"/>
          </a:p>
        </p:txBody>
      </p:sp>
      <p:sp>
        <p:nvSpPr>
          <p:cNvPr id="23555" name="Rectangle 2"/>
          <p:cNvSpPr>
            <a:spLocks noGrp="1" noRot="1" noChangeAspect="1" noChangeArrowheads="1" noTextEdit="1"/>
          </p:cNvSpPr>
          <p:nvPr>
            <p:ph type="sldImg"/>
          </p:nvPr>
        </p:nvSpPr>
        <p:spPr>
          <a:xfrm>
            <a:off x="992188" y="768350"/>
            <a:ext cx="5114925" cy="3836988"/>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code example assumes that Person is the parent class from which Student is derived. Because a student is a specific example of a more general person, we can assign a Student to a Person pointer or reference (note that things work a bit differently if we’re talking about Student and Person objects – more on this a bit later). We can’t assign a Person to a Student, because Student is more specific.</a:t>
            </a:r>
          </a:p>
          <a:p>
            <a:pPr eaLnBrk="1" hangingPunct="1"/>
            <a:endParaRPr lang="en-GB" altLang="en-US" dirty="0" smtClean="0"/>
          </a:p>
          <a:p>
            <a:pPr eaLnBrk="1" hangingPunct="1"/>
            <a:r>
              <a:rPr lang="en-GB" altLang="en-US" dirty="0" smtClean="0"/>
              <a:t>Dynamic method binding requires that the variable to which the method is sent must be a pointer or a reference.</a:t>
            </a:r>
          </a:p>
        </p:txBody>
      </p:sp>
    </p:spTree>
    <p:extLst>
      <p:ext uri="{BB962C8B-B14F-4D97-AF65-F5344CB8AC3E}">
        <p14:creationId xmlns:p14="http://schemas.microsoft.com/office/powerpoint/2010/main" val="1915344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1D048C0-71BA-4551-99A1-115A568CBC8F}" type="slidenum">
              <a:rPr lang="en-US" altLang="en-US" sz="1300" smtClean="0"/>
              <a:pPr/>
              <a:t>12</a:t>
            </a:fld>
            <a:endParaRPr lang="en-US" altLang="en-US" sz="1300" smtClean="0"/>
          </a:p>
        </p:txBody>
      </p:sp>
      <p:sp>
        <p:nvSpPr>
          <p:cNvPr id="25603" name="Rectangle 2"/>
          <p:cNvSpPr>
            <a:spLocks noGrp="1" noRot="1" noChangeAspect="1" noChangeArrowheads="1" noTextEdit="1"/>
          </p:cNvSpPr>
          <p:nvPr>
            <p:ph type="sldImg"/>
          </p:nvPr>
        </p:nvSpPr>
        <p:spPr>
          <a:xfrm>
            <a:off x="992188" y="768350"/>
            <a:ext cx="5114925" cy="3836988"/>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C++ uses the term “pure virtual member function” to mean “abstract method”. An abstract method is used when you want to ensure that all derived classes must provide the method, but it doesn’t make sense to implement the method in the parent class. For example, in C++:</a:t>
            </a:r>
          </a:p>
          <a:p>
            <a:pPr eaLnBrk="1" hangingPunct="1"/>
            <a:endParaRPr lang="en-GB" altLang="en-US" dirty="0" smtClean="0"/>
          </a:p>
          <a:p>
            <a:pPr eaLnBrk="1" hangingPunct="1"/>
            <a:r>
              <a:rPr lang="en-GB" altLang="en-US" dirty="0" smtClean="0"/>
              <a:t>class Shape {</a:t>
            </a:r>
          </a:p>
          <a:p>
            <a:pPr eaLnBrk="1" hangingPunct="1"/>
            <a:r>
              <a:rPr lang="en-GB" altLang="en-US" dirty="0" smtClean="0"/>
              <a:t>   virtual draw() = 0;</a:t>
            </a:r>
          </a:p>
          <a:p>
            <a:pPr eaLnBrk="1" hangingPunct="1"/>
            <a:r>
              <a:rPr lang="en-GB" altLang="en-US" dirty="0" smtClean="0"/>
              <a:t>}</a:t>
            </a:r>
          </a:p>
          <a:p>
            <a:pPr eaLnBrk="1" hangingPunct="1"/>
            <a:endParaRPr lang="en-GB" altLang="en-US" dirty="0" smtClean="0"/>
          </a:p>
          <a:p>
            <a:pPr eaLnBrk="1" hangingPunct="1"/>
            <a:r>
              <a:rPr lang="en-GB" altLang="en-US" dirty="0" smtClean="0"/>
              <a:t>class Circle : public Shape {</a:t>
            </a:r>
          </a:p>
          <a:p>
            <a:pPr eaLnBrk="1" hangingPunct="1"/>
            <a:r>
              <a:rPr lang="en-GB" altLang="en-US" dirty="0" smtClean="0"/>
              <a:t>   virtual draw() { … };</a:t>
            </a:r>
          </a:p>
          <a:p>
            <a:pPr eaLnBrk="1" hangingPunct="1"/>
            <a:r>
              <a:rPr lang="en-GB" altLang="en-US" dirty="0" smtClean="0"/>
              <a:t>}</a:t>
            </a:r>
          </a:p>
          <a:p>
            <a:pPr eaLnBrk="1" hangingPunct="1"/>
            <a:endParaRPr lang="en-GB" altLang="en-US" dirty="0" smtClean="0"/>
          </a:p>
          <a:p>
            <a:pPr eaLnBrk="1" hangingPunct="1"/>
            <a:r>
              <a:rPr lang="en-GB" altLang="en-US" dirty="0" smtClean="0"/>
              <a:t>It doesn’t make sense to implement the draw method in Shape, because we have no idea how a shape should be drawn. By providing the draw() method as an abstract method, this ensures that Circle must implement a draw() method (which makes sense, because a circle has enough information to be able to draw itself). Because Shape has an abstract method, it means that Shape is also an abstract class. We can therefore only create an object of Circle (because it has no abstract methods after we’ve implemented the draw() method), but not of the Shape class.</a:t>
            </a:r>
          </a:p>
        </p:txBody>
      </p:sp>
    </p:spTree>
    <p:extLst>
      <p:ext uri="{BB962C8B-B14F-4D97-AF65-F5344CB8AC3E}">
        <p14:creationId xmlns:p14="http://schemas.microsoft.com/office/powerpoint/2010/main" val="3728340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2EB71BE-137D-4691-BB57-5692A15BD35A}" type="slidenum">
              <a:rPr lang="en-US" altLang="en-US" sz="1300" smtClean="0"/>
              <a:pPr/>
              <a:t>13</a:t>
            </a:fld>
            <a:endParaRPr lang="en-US" altLang="en-US" sz="1300" smtClean="0"/>
          </a:p>
        </p:txBody>
      </p:sp>
      <p:sp>
        <p:nvSpPr>
          <p:cNvPr id="27651" name="Rectangle 2"/>
          <p:cNvSpPr>
            <a:spLocks noGrp="1" noRot="1" noChangeAspect="1" noChangeArrowheads="1" noTextEdit="1"/>
          </p:cNvSpPr>
          <p:nvPr>
            <p:ph type="sldImg"/>
          </p:nvPr>
        </p:nvSpPr>
        <p:spPr>
          <a:xfrm>
            <a:off x="992188" y="768350"/>
            <a:ext cx="5114925" cy="3836988"/>
          </a:xfrm>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569030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A01971A-0725-408E-B007-F032641E6574}" type="slidenum">
              <a:rPr lang="en-US" altLang="en-US" sz="1300" smtClean="0"/>
              <a:pPr/>
              <a:t>14</a:t>
            </a:fld>
            <a:endParaRPr lang="en-US" altLang="en-US" sz="1300" smtClean="0"/>
          </a:p>
        </p:txBody>
      </p:sp>
      <p:sp>
        <p:nvSpPr>
          <p:cNvPr id="29699" name="Rectangle 2"/>
          <p:cNvSpPr>
            <a:spLocks noGrp="1" noRot="1" noChangeAspect="1" noChangeArrowheads="1" noTextEdit="1"/>
          </p:cNvSpPr>
          <p:nvPr>
            <p:ph type="sldImg"/>
          </p:nvPr>
        </p:nvSpPr>
        <p:spPr>
          <a:xfrm>
            <a:off x="992188" y="768350"/>
            <a:ext cx="5114925" cy="3836988"/>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Smalltalk everything is an object. What does </a:t>
            </a:r>
            <a:r>
              <a:rPr lang="en-GB" altLang="en-US" smtClean="0"/>
              <a:t>the uniformity </a:t>
            </a:r>
            <a:r>
              <a:rPr lang="en-GB" altLang="en-US" dirty="0" smtClean="0"/>
              <a:t>of this approach suggest in terms of the language evaluation criteria?</a:t>
            </a:r>
          </a:p>
          <a:p>
            <a:pPr eaLnBrk="1" hangingPunct="1"/>
            <a:endParaRPr lang="en-GB" altLang="en-US" dirty="0" smtClean="0"/>
          </a:p>
          <a:p>
            <a:pPr eaLnBrk="1" hangingPunct="1"/>
            <a:r>
              <a:rPr lang="en-GB" altLang="en-US" dirty="0" smtClean="0"/>
              <a:t>C++ adds objects to a complete type system (it has classes with inheritance, as well as things like </a:t>
            </a:r>
            <a:r>
              <a:rPr lang="en-GB" altLang="en-US" dirty="0" err="1" smtClean="0"/>
              <a:t>structs</a:t>
            </a:r>
            <a:r>
              <a:rPr lang="en-GB" altLang="en-US" dirty="0" smtClean="0"/>
              <a:t>, unions, arrays, and C-style strings, which don’t use objects).</a:t>
            </a:r>
          </a:p>
        </p:txBody>
      </p:sp>
    </p:spTree>
    <p:extLst>
      <p:ext uri="{BB962C8B-B14F-4D97-AF65-F5344CB8AC3E}">
        <p14:creationId xmlns:p14="http://schemas.microsoft.com/office/powerpoint/2010/main" val="2907842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A01971A-0725-408E-B007-F032641E6574}" type="slidenum">
              <a:rPr lang="en-US" altLang="en-US" sz="1300" smtClean="0"/>
              <a:pPr/>
              <a:t>15</a:t>
            </a:fld>
            <a:endParaRPr lang="en-US" altLang="en-US" sz="1300" smtClean="0"/>
          </a:p>
        </p:txBody>
      </p:sp>
      <p:sp>
        <p:nvSpPr>
          <p:cNvPr id="29699" name="Rectangle 2"/>
          <p:cNvSpPr>
            <a:spLocks noGrp="1" noRot="1" noChangeAspect="1" noChangeArrowheads="1" noTextEdit="1"/>
          </p:cNvSpPr>
          <p:nvPr>
            <p:ph type="sldImg"/>
          </p:nvPr>
        </p:nvSpPr>
        <p:spPr>
          <a:xfrm>
            <a:off x="992188" y="768350"/>
            <a:ext cx="5114925" cy="3836988"/>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Java uses an imperative type system for primitive types, while everything else is an object. The basic types (like </a:t>
            </a:r>
            <a:r>
              <a:rPr lang="en-GB" altLang="en-US" dirty="0" err="1" smtClean="0"/>
              <a:t>int</a:t>
            </a:r>
            <a:r>
              <a:rPr lang="en-GB" altLang="en-US" dirty="0" smtClean="0"/>
              <a:t>, float, and </a:t>
            </a:r>
            <a:r>
              <a:rPr lang="en-GB" altLang="en-US" dirty="0" err="1" smtClean="0"/>
              <a:t>boolean</a:t>
            </a:r>
            <a:r>
              <a:rPr lang="en-GB" altLang="en-US" dirty="0" smtClean="0"/>
              <a:t>) are not handled through objects (and are therefore fast), while all the more complex structures are all handled through objects.</a:t>
            </a:r>
          </a:p>
        </p:txBody>
      </p:sp>
    </p:spTree>
    <p:extLst>
      <p:ext uri="{BB962C8B-B14F-4D97-AF65-F5344CB8AC3E}">
        <p14:creationId xmlns:p14="http://schemas.microsoft.com/office/powerpoint/2010/main" val="1337059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3AA7C6B-5D5D-4FF7-8BD2-DEAB498EFCC5}" type="slidenum">
              <a:rPr lang="en-US" altLang="en-US" sz="1300" smtClean="0"/>
              <a:pPr/>
              <a:t>16</a:t>
            </a:fld>
            <a:endParaRPr lang="en-US" altLang="en-US" sz="1300" smtClean="0"/>
          </a:p>
        </p:txBody>
      </p:sp>
      <p:sp>
        <p:nvSpPr>
          <p:cNvPr id="31747" name="Rectangle 2"/>
          <p:cNvSpPr>
            <a:spLocks noGrp="1" noRot="1" noChangeAspect="1" noChangeArrowheads="1" noTextEdit="1"/>
          </p:cNvSpPr>
          <p:nvPr>
            <p:ph type="sldImg"/>
          </p:nvPr>
        </p:nvSpPr>
        <p:spPr>
          <a:xfrm>
            <a:off x="992188" y="768350"/>
            <a:ext cx="5114925" cy="3836988"/>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If a subclass can decide to not inherit methods or variables from a parent class, the derived class is not a subtype of the parent class. For example, using C++ syntax:</a:t>
            </a:r>
          </a:p>
          <a:p>
            <a:pPr eaLnBrk="1" hangingPunct="1"/>
            <a:endParaRPr lang="en-GB" altLang="en-US" dirty="0" smtClean="0"/>
          </a:p>
          <a:p>
            <a:pPr eaLnBrk="1" hangingPunct="1"/>
            <a:r>
              <a:rPr lang="en-GB" altLang="en-US" dirty="0" smtClean="0"/>
              <a:t>class Parent {</a:t>
            </a:r>
          </a:p>
          <a:p>
            <a:pPr eaLnBrk="1" hangingPunct="1"/>
            <a:r>
              <a:rPr lang="en-GB" altLang="en-US" dirty="0" smtClean="0"/>
              <a:t>   public:</a:t>
            </a:r>
          </a:p>
          <a:p>
            <a:pPr eaLnBrk="1" hangingPunct="1"/>
            <a:r>
              <a:rPr lang="en-GB" altLang="en-US" dirty="0" smtClean="0"/>
              <a:t>      </a:t>
            </a:r>
            <a:r>
              <a:rPr lang="en-GB" altLang="en-US" dirty="0" err="1" smtClean="0"/>
              <a:t>int</a:t>
            </a:r>
            <a:r>
              <a:rPr lang="en-GB" altLang="en-US" dirty="0" smtClean="0"/>
              <a:t> </a:t>
            </a:r>
            <a:r>
              <a:rPr lang="en-GB" altLang="en-US" dirty="0" err="1" smtClean="0"/>
              <a:t>getData</a:t>
            </a:r>
            <a:r>
              <a:rPr lang="en-GB" altLang="en-US" dirty="0" smtClean="0"/>
              <a:t>();</a:t>
            </a:r>
          </a:p>
          <a:p>
            <a:pPr eaLnBrk="1" hangingPunct="1"/>
            <a:r>
              <a:rPr lang="en-GB" altLang="en-US" dirty="0" smtClean="0"/>
              <a:t>}</a:t>
            </a:r>
          </a:p>
          <a:p>
            <a:pPr eaLnBrk="1" hangingPunct="1"/>
            <a:endParaRPr lang="en-GB" altLang="en-US" dirty="0" smtClean="0"/>
          </a:p>
          <a:p>
            <a:pPr eaLnBrk="1" hangingPunct="1"/>
            <a:r>
              <a:rPr lang="en-GB" altLang="en-US" dirty="0" smtClean="0"/>
              <a:t>class Child : public Parent {</a:t>
            </a:r>
          </a:p>
          <a:p>
            <a:pPr eaLnBrk="1" hangingPunct="1"/>
            <a:r>
              <a:rPr lang="en-GB" altLang="en-US" dirty="0" smtClean="0"/>
              <a:t>   private:</a:t>
            </a:r>
          </a:p>
          <a:p>
            <a:pPr eaLnBrk="1" hangingPunct="1"/>
            <a:r>
              <a:rPr lang="en-GB" altLang="en-US" dirty="0" smtClean="0"/>
              <a:t>      using Parent::</a:t>
            </a:r>
            <a:r>
              <a:rPr lang="en-GB" altLang="en-US" dirty="0" err="1" smtClean="0"/>
              <a:t>getData</a:t>
            </a:r>
            <a:r>
              <a:rPr lang="en-GB" altLang="en-US" dirty="0" smtClean="0"/>
              <a:t>;      // this changes the access of </a:t>
            </a:r>
            <a:r>
              <a:rPr lang="en-GB" altLang="en-US" dirty="0" err="1" smtClean="0"/>
              <a:t>getData</a:t>
            </a:r>
            <a:r>
              <a:rPr lang="en-GB" altLang="en-US" dirty="0" smtClean="0"/>
              <a:t>() to private</a:t>
            </a:r>
          </a:p>
          <a:p>
            <a:pPr eaLnBrk="1" hangingPunct="1"/>
            <a:r>
              <a:rPr lang="en-GB" altLang="en-US" dirty="0" smtClean="0"/>
              <a:t>}</a:t>
            </a:r>
          </a:p>
          <a:p>
            <a:pPr eaLnBrk="1" hangingPunct="1"/>
            <a:endParaRPr lang="en-GB" altLang="en-US" dirty="0" smtClean="0"/>
          </a:p>
          <a:p>
            <a:pPr eaLnBrk="1" hangingPunct="1"/>
            <a:r>
              <a:rPr lang="en-GB" altLang="en-US" dirty="0" smtClean="0"/>
              <a:t>In this case, Child is not a subtype of Parent because it no longer behaves the same way as Parent (i.e. it is not possible for a client program to call </a:t>
            </a:r>
            <a:r>
              <a:rPr lang="en-GB" altLang="en-US" dirty="0" err="1" smtClean="0"/>
              <a:t>getData</a:t>
            </a:r>
            <a:r>
              <a:rPr lang="en-GB" altLang="en-US" dirty="0" smtClean="0"/>
              <a:t>() on a Child object, but it is possible to call it on a Parent object). This also holds for member variables. Similarly, if Child could somehow change </a:t>
            </a:r>
            <a:r>
              <a:rPr lang="en-GB" altLang="en-US" dirty="0" err="1" smtClean="0"/>
              <a:t>getData</a:t>
            </a:r>
            <a:r>
              <a:rPr lang="en-GB" altLang="en-US" dirty="0" smtClean="0"/>
              <a:t>() to (for example) return nothing, Child will again not be a subtype of Parent.</a:t>
            </a:r>
          </a:p>
        </p:txBody>
      </p:sp>
    </p:spTree>
    <p:extLst>
      <p:ext uri="{BB962C8B-B14F-4D97-AF65-F5344CB8AC3E}">
        <p14:creationId xmlns:p14="http://schemas.microsoft.com/office/powerpoint/2010/main" val="2477444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247C6B2-5631-4486-9690-7D854195CBB5}" type="slidenum">
              <a:rPr lang="en-US" altLang="en-US" sz="1300" smtClean="0"/>
              <a:pPr/>
              <a:t>17</a:t>
            </a:fld>
            <a:endParaRPr lang="en-US" altLang="en-US" sz="1300" smtClean="0"/>
          </a:p>
        </p:txBody>
      </p:sp>
      <p:sp>
        <p:nvSpPr>
          <p:cNvPr id="35843" name="Rectangle 2"/>
          <p:cNvSpPr>
            <a:spLocks noGrp="1" noRot="1" noChangeAspect="1" noChangeArrowheads="1" noTextEdit="1"/>
          </p:cNvSpPr>
          <p:nvPr>
            <p:ph type="sldImg"/>
          </p:nvPr>
        </p:nvSpPr>
        <p:spPr>
          <a:xfrm>
            <a:off x="992188" y="768350"/>
            <a:ext cx="5114925"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1273152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247C6B2-5631-4486-9690-7D854195CBB5}" type="slidenum">
              <a:rPr lang="en-US" altLang="en-US" sz="1300" smtClean="0"/>
              <a:pPr/>
              <a:t>18</a:t>
            </a:fld>
            <a:endParaRPr lang="en-US" altLang="en-US" sz="1300" smtClean="0"/>
          </a:p>
        </p:txBody>
      </p:sp>
      <p:sp>
        <p:nvSpPr>
          <p:cNvPr id="35843" name="Rectangle 2"/>
          <p:cNvSpPr>
            <a:spLocks noGrp="1" noRot="1" noChangeAspect="1" noChangeArrowheads="1" noTextEdit="1"/>
          </p:cNvSpPr>
          <p:nvPr>
            <p:ph type="sldImg"/>
          </p:nvPr>
        </p:nvSpPr>
        <p:spPr>
          <a:xfrm>
            <a:off x="992188" y="768350"/>
            <a:ext cx="5114925"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Consider this example, in C++:</a:t>
            </a:r>
          </a:p>
          <a:p>
            <a:pPr eaLnBrk="1" hangingPunct="1"/>
            <a:endParaRPr lang="en-GB" altLang="en-US" smtClean="0"/>
          </a:p>
          <a:p>
            <a:pPr eaLnBrk="1" hangingPunct="1"/>
            <a:r>
              <a:rPr lang="en-GB" altLang="en-US" smtClean="0"/>
              <a:t>class P1 {</a:t>
            </a:r>
          </a:p>
          <a:p>
            <a:pPr eaLnBrk="1" hangingPunct="1"/>
            <a:r>
              <a:rPr lang="en-GB" altLang="en-US" smtClean="0"/>
              <a:t>   public:</a:t>
            </a:r>
          </a:p>
          <a:p>
            <a:pPr eaLnBrk="1" hangingPunct="1"/>
            <a:r>
              <a:rPr lang="en-GB" altLang="en-US" smtClean="0"/>
              <a:t>      void d();</a:t>
            </a:r>
          </a:p>
          <a:p>
            <a:pPr eaLnBrk="1" hangingPunct="1"/>
            <a:r>
              <a:rPr lang="en-GB" altLang="en-US" smtClean="0"/>
              <a:t>}</a:t>
            </a:r>
          </a:p>
          <a:p>
            <a:pPr eaLnBrk="1" hangingPunct="1"/>
            <a:endParaRPr lang="en-GB" altLang="en-US" smtClean="0"/>
          </a:p>
          <a:p>
            <a:pPr eaLnBrk="1" hangingPunct="1"/>
            <a:r>
              <a:rPr lang="en-GB" altLang="en-US" smtClean="0"/>
              <a:t>class P2 {</a:t>
            </a:r>
          </a:p>
          <a:p>
            <a:pPr eaLnBrk="1" hangingPunct="1"/>
            <a:r>
              <a:rPr lang="en-GB" altLang="en-US" smtClean="0"/>
              <a:t>   public:</a:t>
            </a:r>
          </a:p>
          <a:p>
            <a:pPr eaLnBrk="1" hangingPunct="1"/>
            <a:r>
              <a:rPr lang="en-GB" altLang="en-US" smtClean="0"/>
              <a:t>      void d();</a:t>
            </a:r>
          </a:p>
          <a:p>
            <a:pPr eaLnBrk="1" hangingPunct="1"/>
            <a:r>
              <a:rPr lang="en-GB" altLang="en-US" smtClean="0"/>
              <a:t>}</a:t>
            </a:r>
          </a:p>
          <a:p>
            <a:pPr eaLnBrk="1" hangingPunct="1"/>
            <a:endParaRPr lang="en-GB" altLang="en-US" smtClean="0"/>
          </a:p>
          <a:p>
            <a:pPr eaLnBrk="1" hangingPunct="1"/>
            <a:r>
              <a:rPr lang="en-GB" altLang="en-US" smtClean="0"/>
              <a:t>class C : public P1, public P2 {</a:t>
            </a:r>
          </a:p>
          <a:p>
            <a:pPr eaLnBrk="1" hangingPunct="1"/>
            <a:r>
              <a:rPr lang="en-GB" altLang="en-US" smtClean="0"/>
              <a:t>   // must use either P1::d() or P2::d() to disambiguate the call</a:t>
            </a:r>
          </a:p>
          <a:p>
            <a:pPr eaLnBrk="1" hangingPunct="1"/>
            <a:r>
              <a:rPr lang="en-GB" altLang="en-US" smtClean="0"/>
              <a:t>}</a:t>
            </a:r>
          </a:p>
          <a:p>
            <a:pPr eaLnBrk="1" hangingPunct="1"/>
            <a:endParaRPr lang="en-GB" altLang="en-US" smtClean="0"/>
          </a:p>
          <a:p>
            <a:pPr eaLnBrk="1" hangingPunct="1"/>
            <a:r>
              <a:rPr lang="en-GB" altLang="en-US" smtClean="0"/>
              <a:t>In this case C inherits from both P1 and P2, both of which have a method called d. It is necessary to differentiate any reference to d (either from inside class C, or in client code that uses class C). We do this by using the scope resolution operator (the :: operator) to specify the class from which d() should be called.</a:t>
            </a:r>
          </a:p>
          <a:p>
            <a:pPr eaLnBrk="1" hangingPunct="1"/>
            <a:endParaRPr lang="en-GB" altLang="en-US" smtClean="0"/>
          </a:p>
          <a:p>
            <a:pPr eaLnBrk="1" hangingPunct="1"/>
            <a:r>
              <a:rPr lang="en-GB" altLang="en-US" smtClean="0"/>
              <a:t>Diamond inheritance always introduces this type of problem. For example:</a:t>
            </a:r>
          </a:p>
          <a:p>
            <a:pPr eaLnBrk="1" hangingPunct="1"/>
            <a:endParaRPr lang="en-GB" altLang="en-US" smtClean="0"/>
          </a:p>
          <a:p>
            <a:pPr eaLnBrk="1" hangingPunct="1"/>
            <a:r>
              <a:rPr lang="en-GB" altLang="en-US" smtClean="0"/>
              <a:t>class T {</a:t>
            </a:r>
          </a:p>
          <a:p>
            <a:pPr eaLnBrk="1" hangingPunct="1"/>
            <a:r>
              <a:rPr lang="en-GB" altLang="en-US" smtClean="0"/>
              <a:t>   public:</a:t>
            </a:r>
          </a:p>
          <a:p>
            <a:pPr eaLnBrk="1" hangingPunct="1"/>
            <a:r>
              <a:rPr lang="en-GB" altLang="en-US" smtClean="0"/>
              <a:t>      void d();</a:t>
            </a:r>
          </a:p>
          <a:p>
            <a:pPr eaLnBrk="1" hangingPunct="1"/>
            <a:r>
              <a:rPr lang="en-GB" altLang="en-US" smtClean="0"/>
              <a:t>}</a:t>
            </a:r>
          </a:p>
          <a:p>
            <a:pPr eaLnBrk="1" hangingPunct="1"/>
            <a:endParaRPr lang="en-GB" altLang="en-US" smtClean="0"/>
          </a:p>
          <a:p>
            <a:pPr eaLnBrk="1" hangingPunct="1"/>
            <a:r>
              <a:rPr lang="en-GB" altLang="en-US" smtClean="0"/>
              <a:t>class P1 : public T {</a:t>
            </a:r>
          </a:p>
          <a:p>
            <a:pPr eaLnBrk="1" hangingPunct="1"/>
            <a:r>
              <a:rPr lang="en-GB" altLang="en-US" smtClean="0"/>
              <a:t>   ;</a:t>
            </a:r>
          </a:p>
          <a:p>
            <a:pPr eaLnBrk="1" hangingPunct="1"/>
            <a:r>
              <a:rPr lang="en-GB" altLang="en-US" smtClean="0"/>
              <a:t>}</a:t>
            </a:r>
          </a:p>
          <a:p>
            <a:pPr eaLnBrk="1" hangingPunct="1"/>
            <a:endParaRPr lang="en-GB" altLang="en-US" smtClean="0"/>
          </a:p>
          <a:p>
            <a:pPr eaLnBrk="1" hangingPunct="1"/>
            <a:r>
              <a:rPr lang="en-GB" altLang="en-US" smtClean="0"/>
              <a:t>class P2 : public T {</a:t>
            </a:r>
          </a:p>
          <a:p>
            <a:pPr eaLnBrk="1" hangingPunct="1"/>
            <a:r>
              <a:rPr lang="en-GB" altLang="en-US" smtClean="0"/>
              <a:t>   ;</a:t>
            </a:r>
          </a:p>
          <a:p>
            <a:pPr eaLnBrk="1" hangingPunct="1"/>
            <a:r>
              <a:rPr lang="en-GB" altLang="en-US" smtClean="0"/>
              <a:t>}</a:t>
            </a:r>
          </a:p>
          <a:p>
            <a:pPr eaLnBrk="1" hangingPunct="1"/>
            <a:endParaRPr lang="en-GB" altLang="en-US" smtClean="0"/>
          </a:p>
          <a:p>
            <a:pPr eaLnBrk="1" hangingPunct="1"/>
            <a:r>
              <a:rPr lang="en-GB" altLang="en-US" smtClean="0"/>
              <a:t>class C : public P1, public P2 {</a:t>
            </a:r>
          </a:p>
          <a:p>
            <a:pPr eaLnBrk="1" hangingPunct="1"/>
            <a:r>
              <a:rPr lang="en-GB" altLang="en-US" smtClean="0"/>
              <a:t>   // must use either P1::d() or P2::d() to disambiguate the call</a:t>
            </a:r>
          </a:p>
          <a:p>
            <a:pPr eaLnBrk="1" hangingPunct="1"/>
            <a:r>
              <a:rPr lang="en-GB" altLang="en-US" smtClean="0"/>
              <a:t>}</a:t>
            </a:r>
          </a:p>
          <a:p>
            <a:pPr eaLnBrk="1" hangingPunct="1"/>
            <a:endParaRPr lang="en-GB" altLang="en-US" smtClean="0"/>
          </a:p>
          <a:p>
            <a:pPr eaLnBrk="1" hangingPunct="1"/>
            <a:r>
              <a:rPr lang="en-GB" altLang="en-US" smtClean="0"/>
              <a:t>In this example there is only one d() method, in the class T. However, both P1 and P2 inherit d() from T, meaning that each also has a d() method. This means that C is now unsure of which inherited method should be used. We can again solve this problem by explicitly using the scope resolution operator. Another way of dealing with this problem is to use virtual inheritance, but we won’t be going into that for this module.</a:t>
            </a:r>
          </a:p>
        </p:txBody>
      </p:sp>
    </p:spTree>
    <p:extLst>
      <p:ext uri="{BB962C8B-B14F-4D97-AF65-F5344CB8AC3E}">
        <p14:creationId xmlns:p14="http://schemas.microsoft.com/office/powerpoint/2010/main" val="108924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39FBC41-A094-478F-A078-58D3E6E26F1F}" type="slidenum">
              <a:rPr lang="en-US" altLang="en-US" sz="1300" smtClean="0"/>
              <a:pPr/>
              <a:t>19</a:t>
            </a:fld>
            <a:endParaRPr lang="en-US" altLang="en-US" sz="1300" smtClean="0"/>
          </a:p>
        </p:txBody>
      </p:sp>
      <p:sp>
        <p:nvSpPr>
          <p:cNvPr id="37891" name="Rectangle 2"/>
          <p:cNvSpPr>
            <a:spLocks noGrp="1" noRot="1" noChangeAspect="1" noChangeArrowheads="1" noTextEdit="1"/>
          </p:cNvSpPr>
          <p:nvPr>
            <p:ph type="sldImg"/>
          </p:nvPr>
        </p:nvSpPr>
        <p:spPr>
          <a:xfrm>
            <a:off x="992188" y="768350"/>
            <a:ext cx="5114925" cy="38369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Truncation is often referred to as object slicing. Consider the following example in C++:</a:t>
            </a:r>
          </a:p>
          <a:p>
            <a:pPr eaLnBrk="1" hangingPunct="1"/>
            <a:endParaRPr lang="en-GB" altLang="en-US" dirty="0" smtClean="0"/>
          </a:p>
          <a:p>
            <a:pPr eaLnBrk="1" hangingPunct="1"/>
            <a:r>
              <a:rPr lang="en-GB" altLang="en-US" dirty="0" smtClean="0"/>
              <a:t>class A {</a:t>
            </a:r>
          </a:p>
          <a:p>
            <a:pPr eaLnBrk="1" hangingPunct="1"/>
            <a:r>
              <a:rPr lang="en-GB" altLang="en-US" dirty="0" smtClean="0"/>
              <a:t>   public:</a:t>
            </a:r>
          </a:p>
          <a:p>
            <a:pPr eaLnBrk="1" hangingPunct="1"/>
            <a:r>
              <a:rPr lang="en-GB" altLang="en-US" dirty="0" smtClean="0"/>
              <a:t>      </a:t>
            </a:r>
            <a:r>
              <a:rPr lang="en-GB" altLang="en-US" dirty="0" err="1" smtClean="0"/>
              <a:t>int</a:t>
            </a:r>
            <a:r>
              <a:rPr lang="en-GB" altLang="en-US" dirty="0" smtClean="0"/>
              <a:t> a1;</a:t>
            </a:r>
          </a:p>
          <a:p>
            <a:pPr eaLnBrk="1" hangingPunct="1"/>
            <a:r>
              <a:rPr lang="en-GB" altLang="en-US" dirty="0" smtClean="0"/>
              <a:t>}</a:t>
            </a:r>
          </a:p>
          <a:p>
            <a:pPr eaLnBrk="1" hangingPunct="1"/>
            <a:endParaRPr lang="en-GB" altLang="en-US" dirty="0" smtClean="0"/>
          </a:p>
          <a:p>
            <a:pPr eaLnBrk="1" hangingPunct="1"/>
            <a:r>
              <a:rPr lang="en-GB" altLang="en-US" dirty="0" smtClean="0"/>
              <a:t>class B : public A {</a:t>
            </a:r>
          </a:p>
          <a:p>
            <a:pPr eaLnBrk="1" hangingPunct="1"/>
            <a:r>
              <a:rPr lang="en-GB" altLang="en-US" dirty="0" smtClean="0"/>
              <a:t>   public:</a:t>
            </a:r>
          </a:p>
          <a:p>
            <a:pPr eaLnBrk="1" hangingPunct="1"/>
            <a:r>
              <a:rPr lang="en-GB" altLang="en-US" dirty="0" smtClean="0"/>
              <a:t>      </a:t>
            </a:r>
            <a:r>
              <a:rPr lang="en-GB" altLang="en-US" dirty="0" err="1" smtClean="0"/>
              <a:t>int</a:t>
            </a:r>
            <a:r>
              <a:rPr lang="en-GB" altLang="en-US" dirty="0" smtClean="0"/>
              <a:t> b1;</a:t>
            </a:r>
          </a:p>
          <a:p>
            <a:pPr eaLnBrk="1" hangingPunct="1"/>
            <a:r>
              <a:rPr lang="en-GB" altLang="en-US" dirty="0" smtClean="0"/>
              <a:t>}</a:t>
            </a:r>
          </a:p>
          <a:p>
            <a:pPr eaLnBrk="1" hangingPunct="1"/>
            <a:endParaRPr lang="en-GB" altLang="en-US" dirty="0" smtClean="0"/>
          </a:p>
          <a:p>
            <a:pPr eaLnBrk="1" hangingPunct="1"/>
            <a:r>
              <a:rPr lang="en-GB" altLang="en-US" dirty="0" err="1" smtClean="0"/>
              <a:t>int</a:t>
            </a:r>
            <a:r>
              <a:rPr lang="en-GB" altLang="en-US" dirty="0" smtClean="0"/>
              <a:t> main() {</a:t>
            </a:r>
          </a:p>
          <a:p>
            <a:pPr eaLnBrk="1" hangingPunct="1"/>
            <a:r>
              <a:rPr lang="en-GB" altLang="en-US" dirty="0" smtClean="0"/>
              <a:t>   A </a:t>
            </a:r>
            <a:r>
              <a:rPr lang="en-GB" altLang="en-US" dirty="0" err="1" smtClean="0"/>
              <a:t>myA</a:t>
            </a:r>
            <a:r>
              <a:rPr lang="en-GB" altLang="en-US" dirty="0" smtClean="0"/>
              <a:t>;</a:t>
            </a:r>
          </a:p>
          <a:p>
            <a:pPr eaLnBrk="1" hangingPunct="1"/>
            <a:r>
              <a:rPr lang="en-GB" altLang="en-US" dirty="0" smtClean="0"/>
              <a:t>   B </a:t>
            </a:r>
            <a:r>
              <a:rPr lang="en-GB" altLang="en-US" dirty="0" err="1" smtClean="0"/>
              <a:t>myB</a:t>
            </a:r>
            <a:r>
              <a:rPr lang="en-GB" altLang="en-US" dirty="0" smtClean="0"/>
              <a:t>;</a:t>
            </a:r>
          </a:p>
          <a:p>
            <a:pPr eaLnBrk="1" hangingPunct="1"/>
            <a:r>
              <a:rPr lang="en-GB" altLang="en-US" dirty="0" smtClean="0"/>
              <a:t>   </a:t>
            </a:r>
            <a:r>
              <a:rPr lang="en-GB" altLang="en-US" dirty="0" err="1" smtClean="0"/>
              <a:t>myA</a:t>
            </a:r>
            <a:r>
              <a:rPr lang="en-GB" altLang="en-US" dirty="0" smtClean="0"/>
              <a:t> = </a:t>
            </a:r>
            <a:r>
              <a:rPr lang="en-GB" altLang="en-US" dirty="0" err="1" smtClean="0"/>
              <a:t>myB</a:t>
            </a:r>
            <a:r>
              <a:rPr lang="en-GB" altLang="en-US" dirty="0" smtClean="0"/>
              <a:t>;</a:t>
            </a:r>
          </a:p>
          <a:p>
            <a:pPr eaLnBrk="1" hangingPunct="1"/>
            <a:r>
              <a:rPr lang="en-GB" altLang="en-US" dirty="0" smtClean="0"/>
              <a:t>}</a:t>
            </a:r>
          </a:p>
          <a:p>
            <a:pPr eaLnBrk="1" hangingPunct="1"/>
            <a:endParaRPr lang="en-GB" altLang="en-US" dirty="0" smtClean="0"/>
          </a:p>
          <a:p>
            <a:pPr eaLnBrk="1" hangingPunct="1"/>
            <a:r>
              <a:rPr lang="en-GB" altLang="en-US" dirty="0" smtClean="0"/>
              <a:t>Note that we are using object variables, not pointers or references. Object variables are allocated on the stack, not the heap. In this case the assignment is valid, because B is a subtype of A. However, </a:t>
            </a:r>
            <a:r>
              <a:rPr lang="en-GB" altLang="en-US" dirty="0" err="1" smtClean="0"/>
              <a:t>myA</a:t>
            </a:r>
            <a:r>
              <a:rPr lang="en-GB" altLang="en-US" dirty="0" smtClean="0"/>
              <a:t> only has memory allocated to store its member variables. Therefore, when </a:t>
            </a:r>
            <a:r>
              <a:rPr lang="en-GB" altLang="en-US" dirty="0" err="1" smtClean="0"/>
              <a:t>myB</a:t>
            </a:r>
            <a:r>
              <a:rPr lang="en-GB" altLang="en-US" dirty="0" smtClean="0"/>
              <a:t> is assigned to </a:t>
            </a:r>
            <a:r>
              <a:rPr lang="en-GB" altLang="en-US" dirty="0" err="1" smtClean="0"/>
              <a:t>myA</a:t>
            </a:r>
            <a:r>
              <a:rPr lang="en-GB" altLang="en-US" dirty="0" smtClean="0"/>
              <a:t>, the b1 member variable is not copied, thus truncating the object. The a1 member variable is successfully copied, however.</a:t>
            </a:r>
          </a:p>
          <a:p>
            <a:pPr eaLnBrk="1" hangingPunct="1"/>
            <a:endParaRPr lang="en-GB" altLang="en-US" dirty="0" smtClean="0"/>
          </a:p>
          <a:p>
            <a:pPr eaLnBrk="1" hangingPunct="1"/>
            <a:r>
              <a:rPr lang="en-GB" altLang="en-US" dirty="0" smtClean="0"/>
              <a:t>Explicit heap deallocation happens when a keyword/reserved word (like “delete” in C++) is used to deallocate objects. Implicit heap deallocation happens if the language provides a garbage collector that automatically releases objects that are no longer needed.</a:t>
            </a:r>
          </a:p>
        </p:txBody>
      </p:sp>
    </p:spTree>
    <p:extLst>
      <p:ext uri="{BB962C8B-B14F-4D97-AF65-F5344CB8AC3E}">
        <p14:creationId xmlns:p14="http://schemas.microsoft.com/office/powerpoint/2010/main" val="24578490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AD0324E-8C00-453D-9B5D-7E2B9AE5E104}" type="slidenum">
              <a:rPr lang="en-US" altLang="en-US" sz="1300" smtClean="0"/>
              <a:pPr/>
              <a:t>20</a:t>
            </a:fld>
            <a:endParaRPr lang="en-US" altLang="en-US" sz="1300" smtClean="0"/>
          </a:p>
        </p:txBody>
      </p:sp>
      <p:sp>
        <p:nvSpPr>
          <p:cNvPr id="39939" name="Rectangle 2"/>
          <p:cNvSpPr>
            <a:spLocks noGrp="1" noRot="1" noChangeAspect="1" noChangeArrowheads="1" noTextEdit="1"/>
          </p:cNvSpPr>
          <p:nvPr>
            <p:ph type="sldImg"/>
          </p:nvPr>
        </p:nvSpPr>
        <p:spPr>
          <a:xfrm>
            <a:off x="992188" y="768350"/>
            <a:ext cx="5114925" cy="3836988"/>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Smalltalk uses only dynamic binding. What does this tell us in terms of the language evaluation criteria?</a:t>
            </a:r>
          </a:p>
          <a:p>
            <a:pPr eaLnBrk="1" hangingPunct="1"/>
            <a:endParaRPr lang="en-GB" altLang="en-US" dirty="0" smtClean="0"/>
          </a:p>
          <a:p>
            <a:pPr eaLnBrk="1" hangingPunct="1"/>
            <a:r>
              <a:rPr lang="en-GB" altLang="en-US" dirty="0" smtClean="0"/>
              <a:t>C++ allows the user to specify by using either virtual or non-virtual member functions.</a:t>
            </a:r>
          </a:p>
        </p:txBody>
      </p:sp>
    </p:spTree>
    <p:extLst>
      <p:ext uri="{BB962C8B-B14F-4D97-AF65-F5344CB8AC3E}">
        <p14:creationId xmlns:p14="http://schemas.microsoft.com/office/powerpoint/2010/main" val="3939610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2A9E4D3-F355-459E-B202-6DFFA84F0F2E}" type="slidenum">
              <a:rPr lang="en-US" altLang="en-US" sz="1300" smtClean="0"/>
              <a:pPr/>
              <a:t>21</a:t>
            </a:fld>
            <a:endParaRPr lang="en-US" altLang="en-US" sz="1300" smtClean="0"/>
          </a:p>
        </p:txBody>
      </p:sp>
      <p:sp>
        <p:nvSpPr>
          <p:cNvPr id="41987" name="Rectangle 2"/>
          <p:cNvSpPr>
            <a:spLocks noGrp="1" noRot="1" noChangeAspect="1" noChangeArrowheads="1" noTextEdit="1"/>
          </p:cNvSpPr>
          <p:nvPr>
            <p:ph type="sldImg"/>
          </p:nvPr>
        </p:nvSpPr>
        <p:spPr>
          <a:xfrm>
            <a:off x="992188" y="768350"/>
            <a:ext cx="5114925" cy="3836988"/>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2276532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Object initialisation is typically dealt with by means of constructors (Ruby is a notable exception). If some sort of default constructor mechanism is built in to the language, the object initialisation can be implicit. For implicit initialisation it is typically necessary to use modifiers (setter methods) to change the implicitly initialised member variable values.</a:t>
            </a:r>
          </a:p>
          <a:p>
            <a:endParaRPr lang="en-ZA" altLang="en-US" dirty="0" smtClean="0"/>
          </a:p>
          <a:p>
            <a:r>
              <a:rPr lang="en-ZA" altLang="en-US" dirty="0" smtClean="0"/>
              <a:t>Of more interest is the parent class initialisation. Explicit initialisation in this context requires that a derived class constructor call a parent class constructor. If some default mechanism is used, there is usually an assumption that the default constructor of the parent class is called by a derived class constructor.</a:t>
            </a:r>
            <a:endParaRPr lang="en-US" altLang="en-US" dirty="0" smtClean="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4A2C35C-D028-41B7-8B5A-B4428C8525C7}" type="slidenum">
              <a:rPr lang="en-US" altLang="en-US" sz="1200" smtClean="0"/>
              <a:pPr/>
              <a:t>22</a:t>
            </a:fld>
            <a:endParaRPr lang="en-US" altLang="en-US" sz="1200" smtClean="0"/>
          </a:p>
        </p:txBody>
      </p:sp>
    </p:spTree>
    <p:extLst>
      <p:ext uri="{BB962C8B-B14F-4D97-AF65-F5344CB8AC3E}">
        <p14:creationId xmlns:p14="http://schemas.microsoft.com/office/powerpoint/2010/main" val="1850619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01CA219-A745-4343-9340-7192E8AEE65D}" type="slidenum">
              <a:rPr lang="en-US" altLang="en-US" sz="1300" smtClean="0"/>
              <a:pPr/>
              <a:t>23</a:t>
            </a:fld>
            <a:endParaRPr lang="en-US" altLang="en-US" sz="1300" smtClean="0"/>
          </a:p>
        </p:txBody>
      </p:sp>
      <p:sp>
        <p:nvSpPr>
          <p:cNvPr id="46083" name="Rectangle 2"/>
          <p:cNvSpPr>
            <a:spLocks noGrp="1" noRot="1" noChangeAspect="1" noChangeArrowheads="1" noTextEdit="1"/>
          </p:cNvSpPr>
          <p:nvPr>
            <p:ph type="sldImg"/>
          </p:nvPr>
        </p:nvSpPr>
        <p:spPr>
          <a:xfrm>
            <a:off x="992188" y="768350"/>
            <a:ext cx="5114925" cy="3836988"/>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Try to answer the questions on this slide.</a:t>
            </a:r>
          </a:p>
          <a:p>
            <a:pPr eaLnBrk="1" hangingPunct="1"/>
            <a:endParaRPr lang="en-GB" altLang="en-US" dirty="0" smtClean="0"/>
          </a:p>
          <a:p>
            <a:pPr eaLnBrk="1" hangingPunct="1"/>
            <a:r>
              <a:rPr lang="en-GB" altLang="en-US" dirty="0" smtClean="0"/>
              <a:t>Consider the fact that everything (including all the “primitive” types) is an object in Smalltalk, and that all operations are messages between objects. How does this affect the language evaluation criteria?</a:t>
            </a:r>
          </a:p>
        </p:txBody>
      </p:sp>
    </p:spTree>
    <p:extLst>
      <p:ext uri="{BB962C8B-B14F-4D97-AF65-F5344CB8AC3E}">
        <p14:creationId xmlns:p14="http://schemas.microsoft.com/office/powerpoint/2010/main" val="4077638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01CA219-A745-4343-9340-7192E8AEE65D}" type="slidenum">
              <a:rPr lang="en-US" altLang="en-US" sz="1300" smtClean="0"/>
              <a:pPr/>
              <a:t>24</a:t>
            </a:fld>
            <a:endParaRPr lang="en-US" altLang="en-US" sz="1300" smtClean="0"/>
          </a:p>
        </p:txBody>
      </p:sp>
      <p:sp>
        <p:nvSpPr>
          <p:cNvPr id="46083" name="Rectangle 2"/>
          <p:cNvSpPr>
            <a:spLocks noGrp="1" noRot="1" noChangeAspect="1" noChangeArrowheads="1" noTextEdit="1"/>
          </p:cNvSpPr>
          <p:nvPr>
            <p:ph type="sldImg"/>
          </p:nvPr>
        </p:nvSpPr>
        <p:spPr>
          <a:xfrm>
            <a:off x="992188" y="768350"/>
            <a:ext cx="5114925" cy="3836988"/>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Smalltalk doesn’t use anything other than object references, which means that no object variables exist, and therefore object slicing is impossible.</a:t>
            </a:r>
          </a:p>
          <a:p>
            <a:pPr eaLnBrk="1" hangingPunct="1"/>
            <a:endParaRPr lang="en-GB" altLang="en-US" dirty="0" smtClean="0"/>
          </a:p>
          <a:p>
            <a:pPr eaLnBrk="1" hangingPunct="1"/>
            <a:r>
              <a:rPr lang="en-GB" altLang="en-US" dirty="0" smtClean="0"/>
              <a:t>Garbage collection is typically slow because the programmer can’t control when it clears memory (even in Java, one can use a method call to suggest that the garbage collector clean up memory, but it isn’t guaranteed that it will at that moment).</a:t>
            </a:r>
          </a:p>
        </p:txBody>
      </p:sp>
    </p:spTree>
    <p:extLst>
      <p:ext uri="{BB962C8B-B14F-4D97-AF65-F5344CB8AC3E}">
        <p14:creationId xmlns:p14="http://schemas.microsoft.com/office/powerpoint/2010/main" val="4021358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9D1BD6D-F2FB-43EE-9B50-E05F10403D2A}" type="slidenum">
              <a:rPr lang="en-US" altLang="en-US" sz="1300" smtClean="0"/>
              <a:pPr/>
              <a:t>25</a:t>
            </a:fld>
            <a:endParaRPr lang="en-US" altLang="en-US" sz="1300" smtClean="0"/>
          </a:p>
        </p:txBody>
      </p:sp>
      <p:sp>
        <p:nvSpPr>
          <p:cNvPr id="50179" name="Rectangle 2"/>
          <p:cNvSpPr>
            <a:spLocks noGrp="1" noRot="1" noChangeAspect="1" noChangeArrowheads="1" noTextEdit="1"/>
          </p:cNvSpPr>
          <p:nvPr>
            <p:ph type="sldImg"/>
          </p:nvPr>
        </p:nvSpPr>
        <p:spPr>
          <a:xfrm>
            <a:off x="992188" y="768350"/>
            <a:ext cx="5114925" cy="3836988"/>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Inheritance in Smalltalk also follows only one approach (compare this to how C++ handles different types of inheritance). What does this mean for the language evaluation criteria?</a:t>
            </a:r>
          </a:p>
          <a:p>
            <a:pPr eaLnBrk="1" hangingPunct="1"/>
            <a:endParaRPr lang="en-GB" altLang="en-US" smtClean="0"/>
          </a:p>
          <a:p>
            <a:pPr eaLnBrk="1" hangingPunct="1"/>
            <a:r>
              <a:rPr lang="en-GB" altLang="en-US" smtClean="0"/>
              <a:t>How does the lack of multiple inheritance affect the language evaluation criteria?</a:t>
            </a:r>
          </a:p>
        </p:txBody>
      </p:sp>
    </p:spTree>
    <p:extLst>
      <p:ext uri="{BB962C8B-B14F-4D97-AF65-F5344CB8AC3E}">
        <p14:creationId xmlns:p14="http://schemas.microsoft.com/office/powerpoint/2010/main" val="2066992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t>Consider the fact that all message binding is dynamic in Smalltalk. How does this affect the language evaluation criteria?</a:t>
            </a:r>
          </a:p>
        </p:txBody>
      </p:sp>
      <p:sp>
        <p:nvSpPr>
          <p:cNvPr id="4" name="Slide Number Placeholder 3"/>
          <p:cNvSpPr>
            <a:spLocks noGrp="1"/>
          </p:cNvSpPr>
          <p:nvPr>
            <p:ph type="sldNum" sz="quarter" idx="10"/>
          </p:nvPr>
        </p:nvSpPr>
        <p:spPr/>
        <p:txBody>
          <a:bodyPr/>
          <a:lstStyle/>
          <a:p>
            <a:pPr>
              <a:defRPr/>
            </a:pPr>
            <a:fld id="{28B867D4-3D5E-44EC-95F6-553D3B22CBF0}" type="slidenum">
              <a:rPr lang="en-US" altLang="en-US" smtClean="0"/>
              <a:pPr>
                <a:defRPr/>
              </a:pPr>
              <a:t>26</a:t>
            </a:fld>
            <a:endParaRPr lang="en-US" altLang="en-US"/>
          </a:p>
        </p:txBody>
      </p:sp>
    </p:spTree>
    <p:extLst>
      <p:ext uri="{BB962C8B-B14F-4D97-AF65-F5344CB8AC3E}">
        <p14:creationId xmlns:p14="http://schemas.microsoft.com/office/powerpoint/2010/main" val="21218640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42088"/>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p>
        </p:txBody>
      </p:sp>
      <p:sp>
        <p:nvSpPr>
          <p:cNvPr id="91138"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91139"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6" name="Picture 5"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0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B10AE17-2325-4DC3-881B-9D7888EA69CD}" type="slidenum">
              <a:rPr lang="en-US" altLang="en-US"/>
              <a:pPr>
                <a:defRPr/>
              </a:pPr>
              <a:t>‹#›</a:t>
            </a:fld>
            <a:endParaRPr lang="en-US" altLang="en-US"/>
          </a:p>
        </p:txBody>
      </p:sp>
    </p:spTree>
    <p:extLst>
      <p:ext uri="{BB962C8B-B14F-4D97-AF65-F5344CB8AC3E}">
        <p14:creationId xmlns:p14="http://schemas.microsoft.com/office/powerpoint/2010/main" val="1261475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FB3D2B2-EC8F-4C9E-ABD9-BDA091653D72}" type="slidenum">
              <a:rPr lang="en-US" altLang="en-US"/>
              <a:pPr>
                <a:defRPr/>
              </a:pPr>
              <a:t>‹#›</a:t>
            </a:fld>
            <a:endParaRPr lang="en-US" altLang="en-US"/>
          </a:p>
        </p:txBody>
      </p:sp>
    </p:spTree>
    <p:extLst>
      <p:ext uri="{BB962C8B-B14F-4D97-AF65-F5344CB8AC3E}">
        <p14:creationId xmlns:p14="http://schemas.microsoft.com/office/powerpoint/2010/main" val="164391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53A993CC-C9E0-4A46-A6C0-63BC335B565A}" type="slidenum">
              <a:rPr lang="en-US" altLang="en-US"/>
              <a:pPr>
                <a:defRPr/>
              </a:pPr>
              <a:t>‹#›</a:t>
            </a:fld>
            <a:endParaRPr lang="en-US" altLang="en-US"/>
          </a:p>
        </p:txBody>
      </p:sp>
    </p:spTree>
    <p:extLst>
      <p:ext uri="{BB962C8B-B14F-4D97-AF65-F5344CB8AC3E}">
        <p14:creationId xmlns:p14="http://schemas.microsoft.com/office/powerpoint/2010/main" val="45682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691326B1-3711-48EC-BD8E-2650C2AB4A1F}" type="slidenum">
              <a:rPr lang="en-US" altLang="en-US"/>
              <a:pPr>
                <a:defRPr/>
              </a:pPr>
              <a:t>‹#›</a:t>
            </a:fld>
            <a:endParaRPr lang="en-US" altLang="en-US"/>
          </a:p>
        </p:txBody>
      </p:sp>
    </p:spTree>
    <p:extLst>
      <p:ext uri="{BB962C8B-B14F-4D97-AF65-F5344CB8AC3E}">
        <p14:creationId xmlns:p14="http://schemas.microsoft.com/office/powerpoint/2010/main" val="1068312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75732CFA-F1D2-4587-8628-2C97A35D541A}" type="slidenum">
              <a:rPr lang="en-US" altLang="en-US"/>
              <a:pPr>
                <a:defRPr/>
              </a:pPr>
              <a:t>‹#›</a:t>
            </a:fld>
            <a:endParaRPr lang="en-US" altLang="en-US"/>
          </a:p>
        </p:txBody>
      </p:sp>
    </p:spTree>
    <p:extLst>
      <p:ext uri="{BB962C8B-B14F-4D97-AF65-F5344CB8AC3E}">
        <p14:creationId xmlns:p14="http://schemas.microsoft.com/office/powerpoint/2010/main" val="1399982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E0BF1E6F-D259-41A5-B8FD-9E9DDED46061}" type="slidenum">
              <a:rPr lang="en-US" altLang="en-US"/>
              <a:pPr>
                <a:defRPr/>
              </a:pPr>
              <a:t>‹#›</a:t>
            </a:fld>
            <a:endParaRPr lang="en-US" altLang="en-US"/>
          </a:p>
        </p:txBody>
      </p:sp>
    </p:spTree>
    <p:extLst>
      <p:ext uri="{BB962C8B-B14F-4D97-AF65-F5344CB8AC3E}">
        <p14:creationId xmlns:p14="http://schemas.microsoft.com/office/powerpoint/2010/main" val="258490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895E29FE-D406-4817-9044-C9C7FE8FA7EB}" type="slidenum">
              <a:rPr lang="en-US" altLang="en-US"/>
              <a:pPr>
                <a:defRPr/>
              </a:pPr>
              <a:t>‹#›</a:t>
            </a:fld>
            <a:endParaRPr lang="en-US" altLang="en-US"/>
          </a:p>
        </p:txBody>
      </p:sp>
    </p:spTree>
    <p:extLst>
      <p:ext uri="{BB962C8B-B14F-4D97-AF65-F5344CB8AC3E}">
        <p14:creationId xmlns:p14="http://schemas.microsoft.com/office/powerpoint/2010/main" val="145810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E224AC78-870A-4E1A-9307-D70B95280824}" type="slidenum">
              <a:rPr lang="en-US" altLang="en-US"/>
              <a:pPr>
                <a:defRPr/>
              </a:pPr>
              <a:t>‹#›</a:t>
            </a:fld>
            <a:endParaRPr lang="en-US" altLang="en-US"/>
          </a:p>
        </p:txBody>
      </p:sp>
    </p:spTree>
    <p:extLst>
      <p:ext uri="{BB962C8B-B14F-4D97-AF65-F5344CB8AC3E}">
        <p14:creationId xmlns:p14="http://schemas.microsoft.com/office/powerpoint/2010/main" val="1541211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8E0A1FA-5933-4182-A642-A6E24D90F545}" type="slidenum">
              <a:rPr lang="en-US" altLang="en-US"/>
              <a:pPr>
                <a:defRPr/>
              </a:pPr>
              <a:t>‹#›</a:t>
            </a:fld>
            <a:endParaRPr lang="en-US" altLang="en-US"/>
          </a:p>
        </p:txBody>
      </p:sp>
    </p:spTree>
    <p:extLst>
      <p:ext uri="{BB962C8B-B14F-4D97-AF65-F5344CB8AC3E}">
        <p14:creationId xmlns:p14="http://schemas.microsoft.com/office/powerpoint/2010/main" val="1714035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1264D2E7-8CE4-4AE7-BFA5-47F9FBA3DDB4}" type="slidenum">
              <a:rPr lang="en-US" altLang="en-US"/>
              <a:pPr>
                <a:defRPr/>
              </a:pPr>
              <a:t>‹#›</a:t>
            </a:fld>
            <a:endParaRPr lang="en-US" altLang="en-US"/>
          </a:p>
        </p:txBody>
      </p:sp>
    </p:spTree>
    <p:extLst>
      <p:ext uri="{BB962C8B-B14F-4D97-AF65-F5344CB8AC3E}">
        <p14:creationId xmlns:p14="http://schemas.microsoft.com/office/powerpoint/2010/main" val="2848894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90116"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90117"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BF5394A2-B980-44E9-ACD8-69577FDA479B}"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759"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a:xfrm>
            <a:off x="304800" y="1371600"/>
            <a:ext cx="3657600" cy="1143000"/>
          </a:xfrm>
        </p:spPr>
        <p:txBody>
          <a:bodyPr/>
          <a:lstStyle/>
          <a:p>
            <a:pPr eaLnBrk="1" hangingPunct="1"/>
            <a:r>
              <a:rPr lang="en-US" altLang="en-US" dirty="0" smtClean="0"/>
              <a:t>Chapter 12</a:t>
            </a:r>
            <a:br>
              <a:rPr lang="en-US" altLang="en-US" dirty="0" smtClean="0"/>
            </a:br>
            <a:r>
              <a:rPr lang="en-US" altLang="en-US" sz="2800" dirty="0" smtClean="0"/>
              <a:t>Part 1</a:t>
            </a:r>
            <a:endParaRPr lang="en-US" altLang="en-US" dirty="0" smtClean="0"/>
          </a:p>
        </p:txBody>
      </p:sp>
      <p:sp>
        <p:nvSpPr>
          <p:cNvPr id="4099" name="Rectangle 5"/>
          <p:cNvSpPr>
            <a:spLocks noGrp="1" noChangeArrowheads="1"/>
          </p:cNvSpPr>
          <p:nvPr>
            <p:ph type="subTitle" idx="1"/>
          </p:nvPr>
        </p:nvSpPr>
        <p:spPr/>
        <p:txBody>
          <a:bodyPr/>
          <a:lstStyle/>
          <a:p>
            <a:pPr eaLnBrk="1" hangingPunct="1"/>
            <a:r>
              <a:rPr lang="en-US" altLang="en-US" dirty="0" smtClean="0"/>
              <a:t>Support for</a:t>
            </a:r>
            <a:br>
              <a:rPr lang="en-US" altLang="en-US" dirty="0" smtClean="0"/>
            </a:br>
            <a:r>
              <a:rPr lang="en-US" altLang="en-US" dirty="0" smtClean="0"/>
              <a:t>Object-Oriented Programming</a:t>
            </a:r>
          </a:p>
          <a:p>
            <a:pPr eaLnBrk="1" hangingPunct="1"/>
            <a:endParaRPr lang="en-US"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6268AC7-B954-4144-B6D6-D1457CB0E1CF}"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smtClean="0"/>
              <a:t>Chapter 12 Topics</a:t>
            </a:r>
          </a:p>
        </p:txBody>
      </p:sp>
      <p:sp>
        <p:nvSpPr>
          <p:cNvPr id="6149" name="Rectangle 3"/>
          <p:cNvSpPr>
            <a:spLocks noGrp="1" noChangeArrowheads="1"/>
          </p:cNvSpPr>
          <p:nvPr>
            <p:ph type="body" idx="1"/>
          </p:nvPr>
        </p:nvSpPr>
        <p:spPr>
          <a:xfrm>
            <a:off x="609600" y="1600200"/>
            <a:ext cx="8229600" cy="4800600"/>
          </a:xfrm>
        </p:spPr>
        <p:txBody>
          <a:bodyPr/>
          <a:lstStyle/>
          <a:p>
            <a:pPr eaLnBrk="1" hangingPunct="1"/>
            <a:r>
              <a:rPr lang="en-US" altLang="en-US" dirty="0" smtClean="0"/>
              <a:t>Introduction</a:t>
            </a:r>
          </a:p>
          <a:p>
            <a:pPr eaLnBrk="1" hangingPunct="1"/>
            <a:r>
              <a:rPr lang="en-US" altLang="en-US" dirty="0" smtClean="0"/>
              <a:t>Object-Oriented Programming</a:t>
            </a:r>
          </a:p>
          <a:p>
            <a:pPr eaLnBrk="1" hangingPunct="1"/>
            <a:r>
              <a:rPr lang="en-US" altLang="en-US" dirty="0" smtClean="0"/>
              <a:t>Design Issues for OO Languages</a:t>
            </a:r>
          </a:p>
          <a:p>
            <a:pPr eaLnBrk="1" hangingPunct="1"/>
            <a:r>
              <a:rPr lang="en-US" altLang="en-US" dirty="0"/>
              <a:t>Support for OOP in Smalltalk</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62A1908-7F81-4917-9BCC-032718426E17}"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8195" name="Rectangle 2"/>
          <p:cNvSpPr>
            <a:spLocks noGrp="1" noChangeArrowheads="1"/>
          </p:cNvSpPr>
          <p:nvPr>
            <p:ph type="title"/>
          </p:nvPr>
        </p:nvSpPr>
        <p:spPr/>
        <p:txBody>
          <a:bodyPr/>
          <a:lstStyle/>
          <a:p>
            <a:pPr eaLnBrk="1" hangingPunct="1"/>
            <a:r>
              <a:rPr lang="en-US" altLang="en-US" smtClean="0"/>
              <a:t>Introduction</a:t>
            </a:r>
          </a:p>
        </p:txBody>
      </p:sp>
      <p:sp>
        <p:nvSpPr>
          <p:cNvPr id="8196"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There are many OOP languages</a:t>
            </a:r>
          </a:p>
          <a:p>
            <a:pPr lvl="1" eaLnBrk="1" hangingPunct="1"/>
            <a:r>
              <a:rPr lang="en-US" altLang="en-US" dirty="0" smtClean="0"/>
              <a:t>Some are procedural and data-oriented</a:t>
            </a:r>
          </a:p>
          <a:p>
            <a:pPr lvl="2" eaLnBrk="1" hangingPunct="1"/>
            <a:r>
              <a:rPr lang="en-US" altLang="en-US" dirty="0" smtClean="0"/>
              <a:t>For example, C++</a:t>
            </a:r>
          </a:p>
          <a:p>
            <a:pPr lvl="1" eaLnBrk="1" hangingPunct="1"/>
            <a:r>
              <a:rPr lang="en-US" altLang="en-US" dirty="0" smtClean="0"/>
              <a:t>Some support functional programming</a:t>
            </a:r>
          </a:p>
          <a:p>
            <a:pPr lvl="2" eaLnBrk="1" hangingPunct="1"/>
            <a:r>
              <a:rPr lang="en-US" altLang="en-US" dirty="0" smtClean="0"/>
              <a:t>For example, CLOS</a:t>
            </a:r>
          </a:p>
          <a:p>
            <a:pPr lvl="1" eaLnBrk="1" hangingPunct="1"/>
            <a:r>
              <a:rPr lang="en-US" altLang="en-US" dirty="0" smtClean="0"/>
              <a:t>Newer languages</a:t>
            </a:r>
          </a:p>
          <a:p>
            <a:pPr lvl="2" eaLnBrk="1" hangingPunct="1"/>
            <a:r>
              <a:rPr lang="en-US" altLang="en-US" dirty="0" smtClean="0"/>
              <a:t>Do not support other paradigms</a:t>
            </a:r>
          </a:p>
          <a:p>
            <a:pPr lvl="2" eaLnBrk="1" hangingPunct="1"/>
            <a:r>
              <a:rPr lang="en-US" altLang="en-US" dirty="0" smtClean="0"/>
              <a:t>But use some basic imperative structures</a:t>
            </a:r>
          </a:p>
          <a:p>
            <a:pPr lvl="2" eaLnBrk="1" hangingPunct="1"/>
            <a:r>
              <a:rPr lang="en-US" altLang="en-US" dirty="0" smtClean="0"/>
              <a:t>For example, Java and C#</a:t>
            </a:r>
          </a:p>
          <a:p>
            <a:pPr lvl="1" eaLnBrk="1" hangingPunct="1"/>
            <a:r>
              <a:rPr lang="en-US" altLang="en-US" dirty="0" smtClean="0"/>
              <a:t>Some are considered pure OOP language</a:t>
            </a:r>
          </a:p>
          <a:p>
            <a:pPr lvl="2" eaLnBrk="1" hangingPunct="1"/>
            <a:r>
              <a:rPr lang="en-US" altLang="en-US" dirty="0" smtClean="0"/>
              <a:t>For example, Smalltalk and Ruby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Abstract Data Types (ADTs)</a:t>
            </a:r>
            <a:endParaRPr lang="en-ZA" dirty="0"/>
          </a:p>
        </p:txBody>
      </p:sp>
      <p:sp>
        <p:nvSpPr>
          <p:cNvPr id="3" name="Content Placeholder 2"/>
          <p:cNvSpPr>
            <a:spLocks noGrp="1"/>
          </p:cNvSpPr>
          <p:nvPr>
            <p:ph idx="1"/>
          </p:nvPr>
        </p:nvSpPr>
        <p:spPr/>
        <p:txBody>
          <a:bodyPr/>
          <a:lstStyle/>
          <a:p>
            <a:r>
              <a:rPr lang="en-ZA" dirty="0" smtClean="0"/>
              <a:t>Abstract data types</a:t>
            </a:r>
          </a:p>
          <a:p>
            <a:pPr lvl="1"/>
            <a:r>
              <a:rPr lang="en-ZA" dirty="0" smtClean="0"/>
              <a:t>Chapter 11, but not explicitly examinable</a:t>
            </a:r>
          </a:p>
          <a:p>
            <a:pPr lvl="1"/>
            <a:r>
              <a:rPr lang="en-ZA" dirty="0" smtClean="0"/>
              <a:t>User defined data type, to create </a:t>
            </a:r>
            <a:r>
              <a:rPr lang="en-ZA" u="sng" dirty="0" smtClean="0"/>
              <a:t>objects</a:t>
            </a:r>
            <a:endParaRPr lang="en-ZA" dirty="0" smtClean="0"/>
          </a:p>
          <a:p>
            <a:pPr lvl="2"/>
            <a:r>
              <a:rPr lang="en-ZA" dirty="0" smtClean="0"/>
              <a:t>Defines </a:t>
            </a:r>
            <a:r>
              <a:rPr lang="en-ZA" u="sng" dirty="0" smtClean="0"/>
              <a:t>representation</a:t>
            </a:r>
            <a:r>
              <a:rPr lang="en-ZA" dirty="0" smtClean="0"/>
              <a:t> and </a:t>
            </a:r>
            <a:r>
              <a:rPr lang="en-ZA" u="sng" dirty="0" smtClean="0"/>
              <a:t>operations</a:t>
            </a:r>
          </a:p>
          <a:p>
            <a:pPr lvl="3"/>
            <a:r>
              <a:rPr lang="en-ZA" dirty="0" smtClean="0"/>
              <a:t>Use </a:t>
            </a:r>
            <a:r>
              <a:rPr lang="en-ZA" u="sng" dirty="0" smtClean="0"/>
              <a:t>variables</a:t>
            </a:r>
            <a:r>
              <a:rPr lang="en-ZA" dirty="0" smtClean="0"/>
              <a:t> and </a:t>
            </a:r>
            <a:r>
              <a:rPr lang="en-ZA" u="sng" dirty="0" smtClean="0"/>
              <a:t>subprograms</a:t>
            </a:r>
          </a:p>
          <a:p>
            <a:pPr lvl="3"/>
            <a:r>
              <a:rPr lang="en-ZA" dirty="0" smtClean="0"/>
              <a:t>Single syntactic unit (e.g. a </a:t>
            </a:r>
            <a:r>
              <a:rPr lang="en-ZA" dirty="0" err="1" smtClean="0"/>
              <a:t>struct</a:t>
            </a:r>
            <a:r>
              <a:rPr lang="en-ZA" dirty="0" smtClean="0"/>
              <a:t> or a class)</a:t>
            </a:r>
          </a:p>
          <a:p>
            <a:pPr lvl="2"/>
            <a:r>
              <a:rPr lang="en-ZA" dirty="0" smtClean="0"/>
              <a:t>Creates an abstraction</a:t>
            </a:r>
          </a:p>
          <a:p>
            <a:pPr lvl="3"/>
            <a:r>
              <a:rPr lang="en-ZA" dirty="0" smtClean="0"/>
              <a:t>Representation of objects hidden from user</a:t>
            </a:r>
          </a:p>
          <a:p>
            <a:pPr lvl="1"/>
            <a:r>
              <a:rPr lang="en-ZA" dirty="0" smtClean="0"/>
              <a:t>On their own, have no OOP concepts</a:t>
            </a:r>
          </a:p>
          <a:p>
            <a:pPr lvl="2"/>
            <a:r>
              <a:rPr lang="en-ZA" dirty="0" smtClean="0"/>
              <a:t>Inheritance</a:t>
            </a:r>
          </a:p>
          <a:p>
            <a:pPr lvl="2"/>
            <a:r>
              <a:rPr lang="en-ZA" dirty="0" smtClean="0"/>
              <a:t>Polymorphism</a:t>
            </a:r>
          </a:p>
          <a:p>
            <a:pPr lvl="2"/>
            <a:r>
              <a:rPr lang="en-ZA" dirty="0" smtClean="0"/>
              <a:t>Dynamic message binding</a:t>
            </a:r>
            <a:endParaRPr lang="en-ZA" dirty="0"/>
          </a:p>
        </p:txBody>
      </p:sp>
      <p:sp>
        <p:nvSpPr>
          <p:cNvPr id="4" name="Footer Placeholder 3"/>
          <p:cNvSpPr>
            <a:spLocks noGrp="1"/>
          </p:cNvSpPr>
          <p:nvPr>
            <p:ph type="ftr" sz="quarter" idx="10"/>
          </p:nvPr>
        </p:nvSpPr>
        <p:spPr/>
        <p:txBody>
          <a:bodyPr/>
          <a:lstStyle/>
          <a:p>
            <a:pPr>
              <a:defRPr/>
            </a:pPr>
            <a:r>
              <a:rPr lang="en-US" smtClean="0"/>
              <a:t>Copyright © 2012 Addison-Wesley. All rights reserved.</a:t>
            </a:r>
            <a:endParaRPr lang="en-US"/>
          </a:p>
        </p:txBody>
      </p:sp>
      <p:sp>
        <p:nvSpPr>
          <p:cNvPr id="5" name="Slide Number Placeholder 4"/>
          <p:cNvSpPr>
            <a:spLocks noGrp="1"/>
          </p:cNvSpPr>
          <p:nvPr>
            <p:ph type="sldNum" sz="quarter" idx="11"/>
          </p:nvPr>
        </p:nvSpPr>
        <p:spPr/>
        <p:txBody>
          <a:bodyPr/>
          <a:lstStyle/>
          <a:p>
            <a:pPr>
              <a:defRPr/>
            </a:pPr>
            <a:r>
              <a:rPr lang="en-US" altLang="en-US" smtClean="0"/>
              <a:t>1-</a:t>
            </a:r>
            <a:fld id="{EB10AE17-2325-4DC3-881B-9D7888EA69CD}" type="slidenum">
              <a:rPr lang="en-US" altLang="en-US" smtClean="0"/>
              <a:pPr>
                <a:defRPr/>
              </a:pPr>
              <a:t>4</a:t>
            </a:fld>
            <a:endParaRPr lang="en-US" altLang="en-US"/>
          </a:p>
        </p:txBody>
      </p:sp>
    </p:spTree>
    <p:extLst>
      <p:ext uri="{BB962C8B-B14F-4D97-AF65-F5344CB8AC3E}">
        <p14:creationId xmlns:p14="http://schemas.microsoft.com/office/powerpoint/2010/main" val="37528045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752E2CB-D737-4930-B74C-B934113412AC}"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0243" name="Rectangle 2"/>
          <p:cNvSpPr>
            <a:spLocks noGrp="1" noChangeArrowheads="1"/>
          </p:cNvSpPr>
          <p:nvPr>
            <p:ph type="title"/>
          </p:nvPr>
        </p:nvSpPr>
        <p:spPr/>
        <p:txBody>
          <a:bodyPr/>
          <a:lstStyle/>
          <a:p>
            <a:pPr eaLnBrk="1" hangingPunct="1"/>
            <a:r>
              <a:rPr lang="en-US" altLang="en-US" smtClean="0"/>
              <a:t>Object-Oriented Programming</a:t>
            </a:r>
          </a:p>
        </p:txBody>
      </p:sp>
      <p:sp>
        <p:nvSpPr>
          <p:cNvPr id="10244"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Any OOP language must support</a:t>
            </a:r>
          </a:p>
          <a:p>
            <a:pPr lvl="1" eaLnBrk="1" hangingPunct="1"/>
            <a:r>
              <a:rPr lang="en-US" altLang="en-US" dirty="0" smtClean="0"/>
              <a:t>Abstract data types</a:t>
            </a:r>
          </a:p>
          <a:p>
            <a:pPr lvl="2" eaLnBrk="1" hangingPunct="1"/>
            <a:r>
              <a:rPr lang="en-US" altLang="en-US" dirty="0" smtClean="0"/>
              <a:t>In an OOP context, these are classes</a:t>
            </a:r>
          </a:p>
          <a:p>
            <a:pPr lvl="1" eaLnBrk="1" hangingPunct="1"/>
            <a:r>
              <a:rPr lang="en-US" altLang="en-US" dirty="0" smtClean="0"/>
              <a:t>Inheritance</a:t>
            </a:r>
          </a:p>
          <a:p>
            <a:pPr lvl="2" eaLnBrk="1" hangingPunct="1"/>
            <a:r>
              <a:rPr lang="en-US" altLang="en-US" dirty="0" smtClean="0"/>
              <a:t>Inheritance is the central theme in OOP</a:t>
            </a:r>
          </a:p>
          <a:p>
            <a:pPr lvl="1" eaLnBrk="1" hangingPunct="1"/>
            <a:r>
              <a:rPr lang="en-US" altLang="en-US" dirty="0" smtClean="0"/>
              <a:t>Polymorphism</a:t>
            </a:r>
          </a:p>
          <a:p>
            <a:pPr lvl="2" eaLnBrk="1" hangingPunct="1"/>
            <a:r>
              <a:rPr lang="en-US" altLang="en-US" dirty="0" smtClean="0"/>
              <a:t>Dynamic binding of method calls to methods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667AD00-AC63-4C54-8183-14A753955142}"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12291" name="Rectangle 2"/>
          <p:cNvSpPr>
            <a:spLocks noGrp="1" noChangeArrowheads="1"/>
          </p:cNvSpPr>
          <p:nvPr>
            <p:ph type="title"/>
          </p:nvPr>
        </p:nvSpPr>
        <p:spPr/>
        <p:txBody>
          <a:bodyPr/>
          <a:lstStyle/>
          <a:p>
            <a:pPr eaLnBrk="1" hangingPunct="1"/>
            <a:r>
              <a:rPr lang="en-US" altLang="en-US" smtClean="0"/>
              <a:t>Inheritance</a:t>
            </a:r>
          </a:p>
        </p:txBody>
      </p:sp>
      <p:sp>
        <p:nvSpPr>
          <p:cNvPr id="12292"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Productivity increases can come from reuse</a:t>
            </a:r>
          </a:p>
          <a:p>
            <a:pPr eaLnBrk="1" hangingPunct="1"/>
            <a:r>
              <a:rPr lang="en-US" altLang="en-US" dirty="0" smtClean="0"/>
              <a:t>Problems with basic ADTs (classes)</a:t>
            </a:r>
          </a:p>
          <a:p>
            <a:pPr lvl="1" eaLnBrk="1" hangingPunct="1"/>
            <a:r>
              <a:rPr lang="en-US" altLang="en-US" dirty="0" smtClean="0"/>
              <a:t>Difficult to reuse without some changes</a:t>
            </a:r>
          </a:p>
          <a:p>
            <a:pPr lvl="1" eaLnBrk="1" hangingPunct="1"/>
            <a:r>
              <a:rPr lang="en-US" altLang="en-US" dirty="0" smtClean="0"/>
              <a:t>All are independent and at the same level</a:t>
            </a:r>
          </a:p>
          <a:p>
            <a:pPr eaLnBrk="1" hangingPunct="1"/>
            <a:r>
              <a:rPr lang="en-US" altLang="en-US" dirty="0" smtClean="0"/>
              <a:t>Inheritance</a:t>
            </a:r>
          </a:p>
          <a:p>
            <a:pPr lvl="1" eaLnBrk="1" hangingPunct="1"/>
            <a:r>
              <a:rPr lang="en-US" altLang="en-US" dirty="0" smtClean="0"/>
              <a:t>Allows new classes defined </a:t>
            </a:r>
            <a:r>
              <a:rPr lang="en-US" altLang="en-US" dirty="0" err="1" smtClean="0"/>
              <a:t>i.t.o</a:t>
            </a:r>
            <a:r>
              <a:rPr lang="en-US" altLang="en-US" dirty="0" smtClean="0"/>
              <a:t>. existing ones</a:t>
            </a:r>
          </a:p>
          <a:p>
            <a:pPr lvl="1" eaLnBrk="1" hangingPunct="1"/>
            <a:r>
              <a:rPr lang="en-US" altLang="en-US" dirty="0" smtClean="0"/>
              <a:t>In other words, they can inherit common parts</a:t>
            </a:r>
          </a:p>
          <a:p>
            <a:pPr eaLnBrk="1" hangingPunct="1"/>
            <a:r>
              <a:rPr lang="en-US" altLang="en-US" dirty="0" smtClean="0"/>
              <a:t>Inheritance addresses both concerns</a:t>
            </a:r>
          </a:p>
          <a:p>
            <a:pPr lvl="1" eaLnBrk="1" hangingPunct="1"/>
            <a:r>
              <a:rPr lang="en-US" altLang="en-US" dirty="0" smtClean="0"/>
              <a:t>Reuse ADTs after minor changes</a:t>
            </a:r>
          </a:p>
          <a:p>
            <a:pPr lvl="1" eaLnBrk="1" hangingPunct="1"/>
            <a:r>
              <a:rPr lang="en-US" altLang="en-US" dirty="0" smtClean="0"/>
              <a:t>Define classes in a hierarchy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10C52FD-730F-4D99-8662-9EE599F1E6DF}"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14339" name="Rectangle 2"/>
          <p:cNvSpPr>
            <a:spLocks noGrp="1" noChangeArrowheads="1"/>
          </p:cNvSpPr>
          <p:nvPr>
            <p:ph type="title"/>
          </p:nvPr>
        </p:nvSpPr>
        <p:spPr/>
        <p:txBody>
          <a:bodyPr/>
          <a:lstStyle/>
          <a:p>
            <a:pPr eaLnBrk="1" hangingPunct="1"/>
            <a:r>
              <a:rPr lang="en-US" altLang="en-US" smtClean="0"/>
              <a:t>Object-Oriented Concepts</a:t>
            </a:r>
          </a:p>
        </p:txBody>
      </p:sp>
      <p:sp>
        <p:nvSpPr>
          <p:cNvPr id="14340"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ADTs</a:t>
            </a:r>
          </a:p>
          <a:p>
            <a:pPr lvl="1" eaLnBrk="1" hangingPunct="1"/>
            <a:r>
              <a:rPr lang="en-US" altLang="en-US" dirty="0"/>
              <a:t>U</a:t>
            </a:r>
            <a:r>
              <a:rPr lang="en-US" altLang="en-US" dirty="0" smtClean="0"/>
              <a:t>sually called </a:t>
            </a:r>
            <a:r>
              <a:rPr lang="en-US" altLang="en-US" u="sng" dirty="0" smtClean="0"/>
              <a:t>classes</a:t>
            </a:r>
          </a:p>
          <a:p>
            <a:pPr eaLnBrk="1" hangingPunct="1"/>
            <a:r>
              <a:rPr lang="en-US" altLang="en-US" dirty="0" smtClean="0"/>
              <a:t>Class instances</a:t>
            </a:r>
          </a:p>
          <a:p>
            <a:pPr lvl="1" eaLnBrk="1" hangingPunct="1"/>
            <a:r>
              <a:rPr lang="en-US" altLang="en-US" dirty="0"/>
              <a:t>A</a:t>
            </a:r>
            <a:r>
              <a:rPr lang="en-US" altLang="en-US" dirty="0" smtClean="0"/>
              <a:t>re called </a:t>
            </a:r>
            <a:r>
              <a:rPr lang="en-US" altLang="en-US" u="sng" dirty="0" smtClean="0"/>
              <a:t>objects</a:t>
            </a:r>
          </a:p>
          <a:p>
            <a:pPr eaLnBrk="1" hangingPunct="1"/>
            <a:r>
              <a:rPr lang="en-US" altLang="en-US" dirty="0" smtClean="0"/>
              <a:t>A class that inherits</a:t>
            </a:r>
          </a:p>
          <a:p>
            <a:pPr lvl="1" eaLnBrk="1" hangingPunct="1"/>
            <a:r>
              <a:rPr lang="en-US" altLang="en-US" dirty="0" smtClean="0"/>
              <a:t>A </a:t>
            </a:r>
            <a:r>
              <a:rPr lang="en-US" altLang="en-US" u="sng" dirty="0" smtClean="0"/>
              <a:t>derived class</a:t>
            </a:r>
            <a:r>
              <a:rPr lang="en-US" altLang="en-US" dirty="0" smtClean="0"/>
              <a:t> or a </a:t>
            </a:r>
            <a:r>
              <a:rPr lang="en-US" altLang="en-US" u="sng" dirty="0" smtClean="0"/>
              <a:t>subclass</a:t>
            </a:r>
          </a:p>
          <a:p>
            <a:pPr eaLnBrk="1" hangingPunct="1"/>
            <a:r>
              <a:rPr lang="en-US" altLang="en-US" dirty="0" smtClean="0"/>
              <a:t>The class from which another class inherits</a:t>
            </a:r>
          </a:p>
          <a:p>
            <a:pPr lvl="1" eaLnBrk="1" hangingPunct="1"/>
            <a:r>
              <a:rPr lang="en-US" altLang="en-US" dirty="0" smtClean="0"/>
              <a:t>A </a:t>
            </a:r>
            <a:r>
              <a:rPr lang="en-US" altLang="en-US" u="sng" dirty="0" smtClean="0"/>
              <a:t>parent class</a:t>
            </a:r>
            <a:r>
              <a:rPr lang="en-US" altLang="en-US" dirty="0" smtClean="0"/>
              <a:t> or </a:t>
            </a:r>
            <a:r>
              <a:rPr lang="en-US" altLang="en-US" u="sng" dirty="0" smtClean="0"/>
              <a:t>superclass</a:t>
            </a:r>
          </a:p>
          <a:p>
            <a:pPr eaLnBrk="1" hangingPunct="1"/>
            <a:r>
              <a:rPr lang="en-US" altLang="en-US" dirty="0" smtClean="0"/>
              <a:t>Subprograms defining operations on objects</a:t>
            </a:r>
          </a:p>
          <a:p>
            <a:pPr lvl="1" eaLnBrk="1" hangingPunct="1"/>
            <a:r>
              <a:rPr lang="en-US" altLang="en-US" dirty="0" smtClean="0"/>
              <a:t>Are called </a:t>
            </a:r>
            <a:r>
              <a:rPr lang="en-US" altLang="en-US" u="sng" dirty="0" smtClean="0"/>
              <a:t>methods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2B7DC99-82AB-4248-8DA9-B75A3E17F100}"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16387"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Object-Oriented Concepts</a:t>
            </a:r>
          </a:p>
        </p:txBody>
      </p:sp>
      <p:sp>
        <p:nvSpPr>
          <p:cNvPr id="16388"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Calls to methods</a:t>
            </a:r>
          </a:p>
          <a:p>
            <a:pPr lvl="1" eaLnBrk="1" hangingPunct="1"/>
            <a:r>
              <a:rPr lang="en-US" altLang="en-US" dirty="0" smtClean="0"/>
              <a:t>Are called </a:t>
            </a:r>
            <a:r>
              <a:rPr lang="en-US" altLang="en-US" u="sng" dirty="0" smtClean="0"/>
              <a:t>messages</a:t>
            </a:r>
          </a:p>
          <a:p>
            <a:pPr eaLnBrk="1" hangingPunct="1"/>
            <a:r>
              <a:rPr lang="en-US" altLang="en-US" dirty="0" smtClean="0"/>
              <a:t>Entire collection of an object’s methods</a:t>
            </a:r>
          </a:p>
          <a:p>
            <a:pPr lvl="1" eaLnBrk="1" hangingPunct="1"/>
            <a:r>
              <a:rPr lang="en-US" altLang="en-US" u="sng" dirty="0" smtClean="0"/>
              <a:t>Message protocol</a:t>
            </a:r>
            <a:r>
              <a:rPr lang="en-US" altLang="en-US" dirty="0" smtClean="0"/>
              <a:t> or </a:t>
            </a:r>
            <a:r>
              <a:rPr lang="en-US" altLang="en-US" u="sng" dirty="0" smtClean="0"/>
              <a:t>message interface</a:t>
            </a:r>
          </a:p>
          <a:p>
            <a:pPr eaLnBrk="1" hangingPunct="1"/>
            <a:r>
              <a:rPr lang="en-US" altLang="en-US" dirty="0" smtClean="0"/>
              <a:t>Messages have two parts: </a:t>
            </a:r>
            <a:r>
              <a:rPr lang="en-US" altLang="en-US" dirty="0" err="1" smtClean="0">
                <a:latin typeface="Courier New" panose="02070309020205020404" pitchFamily="49" charset="0"/>
                <a:cs typeface="Courier New" panose="02070309020205020404" pitchFamily="49" charset="0"/>
              </a:rPr>
              <a:t>obj.meth</a:t>
            </a:r>
            <a:r>
              <a:rPr lang="en-US" altLang="en-US" dirty="0" smtClean="0">
                <a:latin typeface="Courier New" panose="02070309020205020404" pitchFamily="49" charset="0"/>
                <a:cs typeface="Courier New" panose="02070309020205020404" pitchFamily="49" charset="0"/>
              </a:rPr>
              <a:t>()</a:t>
            </a:r>
            <a:endParaRPr lang="en-US" altLang="en-US" dirty="0" smtClean="0"/>
          </a:p>
          <a:p>
            <a:pPr lvl="1" eaLnBrk="1" hangingPunct="1"/>
            <a:r>
              <a:rPr lang="en-US" altLang="en-US" dirty="0" smtClean="0"/>
              <a:t>Method name: </a:t>
            </a:r>
            <a:r>
              <a:rPr lang="en-US" altLang="en-US" dirty="0" smtClean="0">
                <a:latin typeface="Courier New" panose="02070309020205020404" pitchFamily="49" charset="0"/>
                <a:cs typeface="Courier New" panose="02070309020205020404" pitchFamily="49" charset="0"/>
              </a:rPr>
              <a:t>meth</a:t>
            </a:r>
          </a:p>
          <a:p>
            <a:pPr lvl="1" eaLnBrk="1" hangingPunct="1"/>
            <a:r>
              <a:rPr lang="en-US" altLang="en-US" dirty="0" smtClean="0"/>
              <a:t>Destination object: </a:t>
            </a:r>
            <a:r>
              <a:rPr lang="en-US" altLang="en-US" dirty="0" err="1" smtClean="0">
                <a:latin typeface="Courier New" panose="02070309020205020404" pitchFamily="49" charset="0"/>
                <a:cs typeface="Courier New" panose="02070309020205020404" pitchFamily="49" charset="0"/>
              </a:rPr>
              <a:t>obj</a:t>
            </a:r>
            <a:endParaRPr lang="en-US" altLang="en-US" dirty="0" smtClean="0">
              <a:latin typeface="Courier New" panose="02070309020205020404" pitchFamily="49" charset="0"/>
              <a:cs typeface="Courier New" panose="02070309020205020404" pitchFamily="49" charset="0"/>
            </a:endParaRPr>
          </a:p>
          <a:p>
            <a:pPr eaLnBrk="1" hangingPunct="1"/>
            <a:r>
              <a:rPr lang="en-US" altLang="en-US" dirty="0" smtClean="0"/>
              <a:t>The simplest case</a:t>
            </a:r>
          </a:p>
          <a:p>
            <a:pPr lvl="1" eaLnBrk="1" hangingPunct="1"/>
            <a:r>
              <a:rPr lang="en-US" altLang="en-US" dirty="0" smtClean="0"/>
              <a:t>Class inherits all the entities of its parent</a:t>
            </a:r>
          </a:p>
          <a:p>
            <a:pPr lvl="1" eaLnBrk="1" hangingPunct="1"/>
            <a:r>
              <a:rPr lang="en-US" altLang="en-US" dirty="0" smtClean="0"/>
              <a:t>Adds more entities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C341834-B735-4898-AF77-DCC6B2601FCF}"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18435"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Object-Oriented Concepts</a:t>
            </a:r>
          </a:p>
        </p:txBody>
      </p:sp>
      <p:sp>
        <p:nvSpPr>
          <p:cNvPr id="18436"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Inheritance can be more complicated</a:t>
            </a:r>
          </a:p>
          <a:p>
            <a:pPr lvl="1" eaLnBrk="1" hangingPunct="1"/>
            <a:r>
              <a:rPr lang="en-US" altLang="en-US" dirty="0" smtClean="0"/>
              <a:t>Access controls to encapsulated entities</a:t>
            </a:r>
          </a:p>
          <a:p>
            <a:pPr lvl="2" eaLnBrk="1" hangingPunct="1"/>
            <a:r>
              <a:rPr lang="en-US" altLang="en-US" dirty="0" smtClean="0"/>
              <a:t>A class can hide entities from its subclasses</a:t>
            </a:r>
          </a:p>
          <a:p>
            <a:pPr lvl="2" eaLnBrk="1" hangingPunct="1"/>
            <a:r>
              <a:rPr lang="en-US" altLang="en-US" dirty="0" smtClean="0"/>
              <a:t>A class can hide entities from its clients</a:t>
            </a:r>
          </a:p>
          <a:p>
            <a:pPr lvl="2" eaLnBrk="1" hangingPunct="1"/>
            <a:r>
              <a:rPr lang="en-US" altLang="en-US" dirty="0" smtClean="0"/>
              <a:t>A class can hide entities from its clients while allowing its subclasses to see them</a:t>
            </a:r>
          </a:p>
          <a:p>
            <a:pPr eaLnBrk="1" hangingPunct="1"/>
            <a:r>
              <a:rPr lang="en-US" altLang="en-US" dirty="0" smtClean="0"/>
              <a:t>Besides inheriting methods as is</a:t>
            </a:r>
          </a:p>
          <a:p>
            <a:pPr lvl="1" eaLnBrk="1" hangingPunct="1"/>
            <a:r>
              <a:rPr lang="en-US" altLang="en-US" dirty="0" smtClean="0"/>
              <a:t>A class can modify an inherited method</a:t>
            </a:r>
          </a:p>
          <a:p>
            <a:pPr lvl="2" eaLnBrk="1" hangingPunct="1"/>
            <a:r>
              <a:rPr lang="en-US" altLang="en-US" dirty="0" smtClean="0"/>
              <a:t>The new one </a:t>
            </a:r>
            <a:r>
              <a:rPr lang="en-US" altLang="en-US" u="sng" dirty="0" smtClean="0"/>
              <a:t>overrides</a:t>
            </a:r>
            <a:r>
              <a:rPr lang="en-US" altLang="en-US" dirty="0" smtClean="0"/>
              <a:t> the inherited one</a:t>
            </a:r>
          </a:p>
          <a:p>
            <a:pPr lvl="2" eaLnBrk="1" hangingPunct="1"/>
            <a:r>
              <a:rPr lang="en-US" altLang="en-US" dirty="0" smtClean="0"/>
              <a:t>The method in the parent is </a:t>
            </a:r>
            <a:r>
              <a:rPr lang="en-US" altLang="en-US" u="sng" dirty="0" err="1" smtClean="0"/>
              <a:t>overriden</a:t>
            </a:r>
            <a:endParaRPr lang="en-US" altLang="en-US" u="sng"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B855317-5B2B-4C15-BB28-89B388825CE8}"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20483"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Object-Oriented Concepts</a:t>
            </a:r>
          </a:p>
        </p:txBody>
      </p:sp>
      <p:sp>
        <p:nvSpPr>
          <p:cNvPr id="20484" name="Rectangle 3"/>
          <p:cNvSpPr>
            <a:spLocks noGrp="1" noChangeArrowheads="1"/>
          </p:cNvSpPr>
          <p:nvPr>
            <p:ph type="body" idx="1"/>
          </p:nvPr>
        </p:nvSpPr>
        <p:spPr>
          <a:xfrm>
            <a:off x="609600" y="1631730"/>
            <a:ext cx="8153400" cy="4572000"/>
          </a:xfrm>
        </p:spPr>
        <p:txBody>
          <a:bodyPr/>
          <a:lstStyle/>
          <a:p>
            <a:pPr eaLnBrk="1" hangingPunct="1">
              <a:lnSpc>
                <a:spcPct val="90000"/>
              </a:lnSpc>
            </a:pPr>
            <a:r>
              <a:rPr lang="en-US" altLang="en-US" dirty="0" smtClean="0"/>
              <a:t>There are two kinds of variables in a class</a:t>
            </a:r>
          </a:p>
          <a:p>
            <a:pPr lvl="1" eaLnBrk="1" hangingPunct="1">
              <a:lnSpc>
                <a:spcPct val="90000"/>
              </a:lnSpc>
            </a:pPr>
            <a:r>
              <a:rPr lang="en-US" altLang="en-US" u="sng" dirty="0" smtClean="0"/>
              <a:t>Class variables</a:t>
            </a:r>
            <a:r>
              <a:rPr lang="en-US" altLang="en-US" dirty="0" smtClean="0"/>
              <a:t>: One per class</a:t>
            </a:r>
          </a:p>
          <a:p>
            <a:pPr lvl="1" eaLnBrk="1" hangingPunct="1">
              <a:lnSpc>
                <a:spcPct val="90000"/>
              </a:lnSpc>
            </a:pPr>
            <a:r>
              <a:rPr lang="en-US" altLang="en-US" u="sng" dirty="0" smtClean="0"/>
              <a:t>Instance variables</a:t>
            </a:r>
            <a:r>
              <a:rPr lang="en-US" altLang="en-US" dirty="0" smtClean="0"/>
              <a:t>: One per object</a:t>
            </a:r>
          </a:p>
          <a:p>
            <a:pPr eaLnBrk="1" hangingPunct="1">
              <a:lnSpc>
                <a:spcPct val="90000"/>
              </a:lnSpc>
            </a:pPr>
            <a:r>
              <a:rPr lang="en-US" altLang="en-US" dirty="0" smtClean="0"/>
              <a:t>There are two kinds of methods in a class</a:t>
            </a:r>
          </a:p>
          <a:p>
            <a:pPr lvl="1" eaLnBrk="1" hangingPunct="1">
              <a:lnSpc>
                <a:spcPct val="90000"/>
              </a:lnSpc>
            </a:pPr>
            <a:r>
              <a:rPr lang="en-US" altLang="en-US" u="sng" dirty="0" smtClean="0"/>
              <a:t>Class methods</a:t>
            </a:r>
            <a:r>
              <a:rPr lang="en-US" altLang="en-US" dirty="0" smtClean="0"/>
              <a:t>: Accept messages to the class</a:t>
            </a:r>
          </a:p>
          <a:p>
            <a:pPr lvl="1" eaLnBrk="1" hangingPunct="1">
              <a:lnSpc>
                <a:spcPct val="90000"/>
              </a:lnSpc>
            </a:pPr>
            <a:r>
              <a:rPr lang="en-US" altLang="en-US" u="sng" dirty="0" smtClean="0"/>
              <a:t>Instance methods</a:t>
            </a:r>
            <a:r>
              <a:rPr lang="en-US" altLang="en-US" dirty="0" smtClean="0"/>
              <a:t>: Accept messages to objects</a:t>
            </a:r>
          </a:p>
          <a:p>
            <a:pPr eaLnBrk="1" hangingPunct="1">
              <a:lnSpc>
                <a:spcPct val="90000"/>
              </a:lnSpc>
            </a:pPr>
            <a:r>
              <a:rPr lang="en-US" altLang="en-US" dirty="0" smtClean="0"/>
              <a:t>Single inheritance vs. multiple inheritance</a:t>
            </a:r>
          </a:p>
          <a:p>
            <a:pPr eaLnBrk="1" hangingPunct="1">
              <a:lnSpc>
                <a:spcPct val="90000"/>
              </a:lnSpc>
            </a:pPr>
            <a:r>
              <a:rPr lang="en-US" altLang="en-US" dirty="0" smtClean="0"/>
              <a:t>One disadvantage of inheritance for reuse </a:t>
            </a:r>
          </a:p>
          <a:p>
            <a:pPr lvl="1" eaLnBrk="1" hangingPunct="1">
              <a:lnSpc>
                <a:spcPct val="90000"/>
              </a:lnSpc>
            </a:pPr>
            <a:r>
              <a:rPr lang="en-US" altLang="en-US" dirty="0" smtClean="0"/>
              <a:t>Creates interdependencies among classes</a:t>
            </a:r>
          </a:p>
          <a:p>
            <a:pPr lvl="1" eaLnBrk="1" hangingPunct="1">
              <a:lnSpc>
                <a:spcPct val="90000"/>
              </a:lnSpc>
            </a:pPr>
            <a:r>
              <a:rPr lang="en-US" altLang="en-US" dirty="0" smtClean="0"/>
              <a:t>May complicate maintenance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B870A92-37DE-4AD0-90A7-53DF4F604342}"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22531" name="Rectangle 2"/>
          <p:cNvSpPr>
            <a:spLocks noGrp="1" noChangeArrowheads="1"/>
          </p:cNvSpPr>
          <p:nvPr>
            <p:ph type="title"/>
          </p:nvPr>
        </p:nvSpPr>
        <p:spPr/>
        <p:txBody>
          <a:bodyPr/>
          <a:lstStyle/>
          <a:p>
            <a:pPr eaLnBrk="1" hangingPunct="1"/>
            <a:r>
              <a:rPr lang="en-US" altLang="en-US" dirty="0" smtClean="0"/>
              <a:t>Dynamic Binding</a:t>
            </a:r>
          </a:p>
        </p:txBody>
      </p:sp>
      <p:sp>
        <p:nvSpPr>
          <p:cNvPr id="22532" name="Rectangle 3"/>
          <p:cNvSpPr>
            <a:spLocks noGrp="1" noChangeArrowheads="1"/>
          </p:cNvSpPr>
          <p:nvPr>
            <p:ph type="body" idx="1"/>
          </p:nvPr>
        </p:nvSpPr>
        <p:spPr>
          <a:xfrm>
            <a:off x="609600" y="1600200"/>
            <a:ext cx="8153400" cy="4953000"/>
          </a:xfrm>
        </p:spPr>
        <p:txBody>
          <a:bodyPr/>
          <a:lstStyle/>
          <a:p>
            <a:pPr eaLnBrk="1" hangingPunct="1"/>
            <a:r>
              <a:rPr lang="en-US" altLang="en-US" dirty="0" smtClean="0"/>
              <a:t>A </a:t>
            </a:r>
            <a:r>
              <a:rPr lang="en-US" altLang="en-US" u="sng" dirty="0" smtClean="0"/>
              <a:t>polymorphic</a:t>
            </a:r>
            <a:r>
              <a:rPr lang="en-US" altLang="en-US" dirty="0" smtClean="0"/>
              <a:t> reference or pointer</a:t>
            </a:r>
          </a:p>
          <a:p>
            <a:pPr lvl="1" eaLnBrk="1" hangingPunct="1"/>
            <a:r>
              <a:rPr lang="en-US" altLang="en-US" dirty="0" smtClean="0"/>
              <a:t>Can refer to objects of either a class or any descendant of that class</a:t>
            </a:r>
          </a:p>
          <a:p>
            <a:pPr lvl="1" eaLnBrk="1" hangingPunct="1"/>
            <a:r>
              <a:rPr lang="en-US" altLang="en-US" dirty="0" smtClean="0">
                <a:latin typeface="+mj-lt"/>
              </a:rPr>
              <a:t>​</a:t>
            </a:r>
            <a:r>
              <a:rPr lang="en-US" altLang="en-US" dirty="0" smtClean="0">
                <a:latin typeface="Courier New" panose="02070309020205020404" pitchFamily="49" charset="0"/>
              </a:rPr>
              <a:t>Person* p;</a:t>
            </a:r>
            <a:br>
              <a:rPr lang="en-US" altLang="en-US" dirty="0" smtClean="0">
                <a:latin typeface="Courier New" panose="02070309020205020404" pitchFamily="49" charset="0"/>
              </a:rPr>
            </a:br>
            <a:r>
              <a:rPr lang="en-US" altLang="en-US" dirty="0" smtClean="0">
                <a:latin typeface="Courier New" panose="02070309020205020404" pitchFamily="49" charset="0"/>
              </a:rPr>
              <a:t>p = </a:t>
            </a:r>
            <a:r>
              <a:rPr lang="en-US" altLang="en-US" b="1" dirty="0" smtClean="0">
                <a:latin typeface="Courier New" panose="02070309020205020404" pitchFamily="49" charset="0"/>
              </a:rPr>
              <a:t>new</a:t>
            </a:r>
            <a:r>
              <a:rPr lang="en-US" altLang="en-US" dirty="0" smtClean="0">
                <a:latin typeface="Courier New" panose="02070309020205020404" pitchFamily="49" charset="0"/>
              </a:rPr>
              <a:t> Student();</a:t>
            </a:r>
          </a:p>
          <a:p>
            <a:pPr eaLnBrk="1" hangingPunct="1"/>
            <a:r>
              <a:rPr lang="en-US" altLang="en-US" dirty="0" smtClean="0"/>
              <a:t>When overridden methods are called through a polymorphic variable</a:t>
            </a:r>
          </a:p>
          <a:p>
            <a:pPr lvl="1" eaLnBrk="1" hangingPunct="1"/>
            <a:r>
              <a:rPr lang="en-US" altLang="en-US" dirty="0" smtClean="0"/>
              <a:t>Binding to the correct method will be </a:t>
            </a:r>
            <a:r>
              <a:rPr lang="en-US" altLang="en-US" u="sng" dirty="0" smtClean="0"/>
              <a:t>dynamic</a:t>
            </a:r>
          </a:p>
          <a:p>
            <a:pPr lvl="1" eaLnBrk="1" hangingPunct="1"/>
            <a:r>
              <a:rPr lang="en-US" altLang="en-US" dirty="0" smtClean="0"/>
              <a:t>For example, </a:t>
            </a:r>
            <a:r>
              <a:rPr lang="en-US" altLang="en-US" dirty="0" smtClean="0">
                <a:latin typeface="Courier New" panose="02070309020205020404" pitchFamily="49" charset="0"/>
                <a:cs typeface="Courier New" panose="02070309020205020404" pitchFamily="49" charset="0"/>
              </a:rPr>
              <a:t>p-&gt;print()</a:t>
            </a:r>
            <a:r>
              <a:rPr lang="en-US" altLang="en-US" dirty="0" smtClean="0"/>
              <a:t> must bind to </a:t>
            </a:r>
            <a:r>
              <a:rPr lang="en-US" altLang="en-US" dirty="0" smtClean="0">
                <a:latin typeface="Courier New" panose="02070309020205020404" pitchFamily="49" charset="0"/>
                <a:cs typeface="Courier New" panose="02070309020205020404" pitchFamily="49" charset="0"/>
              </a:rPr>
              <a:t>Student</a:t>
            </a:r>
          </a:p>
          <a:p>
            <a:pPr eaLnBrk="1" hangingPunct="1"/>
            <a:r>
              <a:rPr lang="en-US" altLang="en-US" dirty="0" smtClean="0"/>
              <a:t>Allows easy extensions to software systems</a:t>
            </a:r>
          </a:p>
          <a:p>
            <a:pPr lvl="1" eaLnBrk="1" hangingPunct="1"/>
            <a:r>
              <a:rPr lang="en-US" altLang="en-US" dirty="0" smtClean="0"/>
              <a:t>Both during development and maintenance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7C0D2D-EFB6-4D7B-8573-612DCCB1D9D9}"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24579" name="Rectangle 2"/>
          <p:cNvSpPr>
            <a:spLocks noGrp="1" noChangeArrowheads="1"/>
          </p:cNvSpPr>
          <p:nvPr>
            <p:ph type="title"/>
          </p:nvPr>
        </p:nvSpPr>
        <p:spPr/>
        <p:txBody>
          <a:bodyPr/>
          <a:lstStyle/>
          <a:p>
            <a:pPr eaLnBrk="1" hangingPunct="1"/>
            <a:r>
              <a:rPr lang="en-US" altLang="en-US" smtClean="0"/>
              <a:t>Dynamic Binding Concepts</a:t>
            </a:r>
          </a:p>
        </p:txBody>
      </p:sp>
      <p:sp>
        <p:nvSpPr>
          <p:cNvPr id="24580"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An </a:t>
            </a:r>
            <a:r>
              <a:rPr lang="en-US" altLang="en-US" u="sng" dirty="0" smtClean="0"/>
              <a:t>abstract method</a:t>
            </a:r>
          </a:p>
          <a:p>
            <a:pPr lvl="1" eaLnBrk="1" hangingPunct="1"/>
            <a:r>
              <a:rPr lang="en-US" altLang="en-US" dirty="0" smtClean="0"/>
              <a:t>Does not include a definition</a:t>
            </a:r>
          </a:p>
          <a:p>
            <a:pPr lvl="1" eaLnBrk="1" hangingPunct="1"/>
            <a:r>
              <a:rPr lang="en-US" altLang="en-US" dirty="0" smtClean="0"/>
              <a:t>Only defines a protocol</a:t>
            </a:r>
          </a:p>
          <a:p>
            <a:pPr eaLnBrk="1" hangingPunct="1"/>
            <a:r>
              <a:rPr lang="en-US" altLang="en-US" dirty="0" smtClean="0"/>
              <a:t>An </a:t>
            </a:r>
            <a:r>
              <a:rPr lang="en-US" altLang="en-US" u="sng" dirty="0" smtClean="0"/>
              <a:t>abstract class</a:t>
            </a:r>
            <a:endParaRPr lang="en-US" altLang="en-US" dirty="0" smtClean="0"/>
          </a:p>
          <a:p>
            <a:pPr lvl="1" eaLnBrk="1" hangingPunct="1"/>
            <a:r>
              <a:rPr lang="en-US" altLang="en-US" dirty="0" smtClean="0"/>
              <a:t>Includes at least one abstract method</a:t>
            </a:r>
          </a:p>
          <a:p>
            <a:pPr lvl="1" eaLnBrk="1" hangingPunct="1"/>
            <a:r>
              <a:rPr lang="en-US" altLang="en-US" dirty="0" smtClean="0"/>
              <a:t>Cannot be instantiated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490D0CA-FF76-4CC1-ABB0-F48C30735686}"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26627" name="Rectangle 2"/>
          <p:cNvSpPr>
            <a:spLocks noGrp="1" noChangeArrowheads="1"/>
          </p:cNvSpPr>
          <p:nvPr>
            <p:ph type="title"/>
          </p:nvPr>
        </p:nvSpPr>
        <p:spPr/>
        <p:txBody>
          <a:bodyPr/>
          <a:lstStyle/>
          <a:p>
            <a:pPr eaLnBrk="1" hangingPunct="1"/>
            <a:r>
              <a:rPr lang="en-US" altLang="en-US" smtClean="0"/>
              <a:t>Design Issues for OOP Languages</a:t>
            </a:r>
          </a:p>
        </p:txBody>
      </p:sp>
      <p:sp>
        <p:nvSpPr>
          <p:cNvPr id="26628"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The Exclusivity of Objects</a:t>
            </a:r>
          </a:p>
          <a:p>
            <a:pPr eaLnBrk="1" hangingPunct="1"/>
            <a:r>
              <a:rPr lang="en-US" altLang="en-US" dirty="0" smtClean="0"/>
              <a:t>Are Subclasses Subtypes?</a:t>
            </a:r>
          </a:p>
          <a:p>
            <a:pPr eaLnBrk="1" hangingPunct="1"/>
            <a:r>
              <a:rPr lang="en-US" altLang="en-US" dirty="0" smtClean="0"/>
              <a:t>Single and Multiple Inheritance</a:t>
            </a:r>
          </a:p>
          <a:p>
            <a:pPr eaLnBrk="1" hangingPunct="1"/>
            <a:r>
              <a:rPr lang="en-US" altLang="en-US" dirty="0" smtClean="0"/>
              <a:t>Object Allocation and Deallocation</a:t>
            </a:r>
          </a:p>
          <a:p>
            <a:pPr eaLnBrk="1" hangingPunct="1"/>
            <a:r>
              <a:rPr lang="en-US" altLang="en-US" dirty="0" smtClean="0"/>
              <a:t>Dynamic and Static Binding</a:t>
            </a:r>
          </a:p>
          <a:p>
            <a:pPr eaLnBrk="1" hangingPunct="1"/>
            <a:r>
              <a:rPr lang="en-US" altLang="en-US" dirty="0" smtClean="0"/>
              <a:t>Nested Classes</a:t>
            </a:r>
          </a:p>
          <a:p>
            <a:pPr eaLnBrk="1" hangingPunct="1"/>
            <a:r>
              <a:rPr lang="en-US" altLang="en-US" dirty="0" smtClean="0"/>
              <a:t>Initialization of Objects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40732E2-32A0-4FB4-AF45-C19E4C5157EF}"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28675" name="Rectangle 2"/>
          <p:cNvSpPr>
            <a:spLocks noGrp="1" noChangeArrowheads="1"/>
          </p:cNvSpPr>
          <p:nvPr>
            <p:ph type="title"/>
          </p:nvPr>
        </p:nvSpPr>
        <p:spPr/>
        <p:txBody>
          <a:bodyPr/>
          <a:lstStyle/>
          <a:p>
            <a:pPr eaLnBrk="1" hangingPunct="1"/>
            <a:r>
              <a:rPr lang="en-US" altLang="en-US" smtClean="0"/>
              <a:t>The Exclusivity of Objects</a:t>
            </a:r>
          </a:p>
        </p:txBody>
      </p:sp>
      <p:sp>
        <p:nvSpPr>
          <p:cNvPr id="28676"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Everything is an object</a:t>
            </a:r>
          </a:p>
          <a:p>
            <a:pPr lvl="1" eaLnBrk="1" hangingPunct="1"/>
            <a:r>
              <a:rPr lang="en-US" altLang="en-US" u="sng" dirty="0" smtClean="0"/>
              <a:t>Advantage</a:t>
            </a:r>
            <a:r>
              <a:rPr lang="en-US" altLang="en-US" dirty="0" smtClean="0"/>
              <a:t>: Elegance and pure uniformity</a:t>
            </a:r>
          </a:p>
          <a:p>
            <a:pPr lvl="1" eaLnBrk="1" hangingPunct="1"/>
            <a:r>
              <a:rPr lang="en-US" altLang="en-US" u="sng" dirty="0" smtClean="0"/>
              <a:t>Disadvantage</a:t>
            </a:r>
            <a:r>
              <a:rPr lang="en-US" altLang="en-US" dirty="0" smtClean="0"/>
              <a:t>: Simple operations are slow</a:t>
            </a:r>
          </a:p>
          <a:p>
            <a:pPr eaLnBrk="1" hangingPunct="1"/>
            <a:r>
              <a:rPr lang="en-US" altLang="en-US" dirty="0" smtClean="0"/>
              <a:t>Add objects to a complete typing system</a:t>
            </a:r>
          </a:p>
          <a:p>
            <a:pPr lvl="1" eaLnBrk="1" hangingPunct="1"/>
            <a:r>
              <a:rPr lang="en-US" altLang="en-US" u="sng" dirty="0" smtClean="0"/>
              <a:t>Advantage</a:t>
            </a:r>
            <a:r>
              <a:rPr lang="en-US" altLang="en-US" dirty="0" smtClean="0"/>
              <a:t>: Simple operations can be fast</a:t>
            </a:r>
          </a:p>
          <a:p>
            <a:pPr lvl="1" eaLnBrk="1" hangingPunct="1"/>
            <a:r>
              <a:rPr lang="en-US" altLang="en-US" u="sng" dirty="0" smtClean="0"/>
              <a:t>Disadvantage</a:t>
            </a:r>
            <a:r>
              <a:rPr lang="en-US" altLang="en-US" dirty="0" smtClean="0"/>
              <a:t>: Results in confusing type system</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40732E2-32A0-4FB4-AF45-C19E4C5157EF}"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28675" name="Rectangle 2"/>
          <p:cNvSpPr>
            <a:spLocks noGrp="1" noChangeArrowheads="1"/>
          </p:cNvSpPr>
          <p:nvPr>
            <p:ph type="title"/>
          </p:nvPr>
        </p:nvSpPr>
        <p:spPr/>
        <p:txBody>
          <a:bodyPr/>
          <a:lstStyle/>
          <a:p>
            <a:pPr eaLnBrk="1" hangingPunct="1"/>
            <a:r>
              <a:rPr lang="en-US" altLang="en-US" smtClean="0"/>
              <a:t>The Exclusivity of Objects</a:t>
            </a:r>
          </a:p>
        </p:txBody>
      </p:sp>
      <p:sp>
        <p:nvSpPr>
          <p:cNvPr id="28676" name="Rectangle 3"/>
          <p:cNvSpPr>
            <a:spLocks noGrp="1" noChangeArrowheads="1"/>
          </p:cNvSpPr>
          <p:nvPr>
            <p:ph type="body" idx="1"/>
          </p:nvPr>
        </p:nvSpPr>
        <p:spPr>
          <a:xfrm>
            <a:off x="609600" y="1600200"/>
            <a:ext cx="8229600" cy="4572000"/>
          </a:xfrm>
        </p:spPr>
        <p:txBody>
          <a:bodyPr/>
          <a:lstStyle/>
          <a:p>
            <a:pPr eaLnBrk="1" hangingPunct="1"/>
            <a:r>
              <a:rPr lang="en-US" altLang="en-US" dirty="0" smtClean="0"/>
              <a:t>Use an imperative typing system for primitives, make everything else objects</a:t>
            </a:r>
          </a:p>
          <a:p>
            <a:pPr lvl="1" eaLnBrk="1" hangingPunct="1"/>
            <a:r>
              <a:rPr lang="en-US" altLang="en-US" u="sng" dirty="0" smtClean="0"/>
              <a:t>Advantage</a:t>
            </a:r>
            <a:r>
              <a:rPr lang="en-US" altLang="en-US" dirty="0" smtClean="0"/>
              <a:t>: Simple operations can be fast, but the typing system remains relatively small</a:t>
            </a:r>
          </a:p>
          <a:p>
            <a:pPr lvl="1" eaLnBrk="1" hangingPunct="1"/>
            <a:r>
              <a:rPr lang="en-US" altLang="en-US" u="sng" dirty="0" smtClean="0"/>
              <a:t>Disadvantage</a:t>
            </a:r>
            <a:r>
              <a:rPr lang="en-US" altLang="en-US" dirty="0" smtClean="0"/>
              <a:t>: Two type systems still have to mix</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535777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0CD78C6-28D3-4FCF-961E-78A98BFF9F03}"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30723" name="Rectangle 2"/>
          <p:cNvSpPr>
            <a:spLocks noGrp="1" noChangeArrowheads="1"/>
          </p:cNvSpPr>
          <p:nvPr>
            <p:ph type="title"/>
          </p:nvPr>
        </p:nvSpPr>
        <p:spPr/>
        <p:txBody>
          <a:bodyPr/>
          <a:lstStyle/>
          <a:p>
            <a:pPr eaLnBrk="1" hangingPunct="1"/>
            <a:r>
              <a:rPr lang="en-US" altLang="en-US" smtClean="0"/>
              <a:t>Are Subclasses Subtypes?</a:t>
            </a:r>
          </a:p>
        </p:txBody>
      </p:sp>
      <p:sp>
        <p:nvSpPr>
          <p:cNvPr id="30724"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Does an </a:t>
            </a:r>
            <a:r>
              <a:rPr lang="en-US" altLang="en-US" u="sng" dirty="0" smtClean="0">
                <a:solidFill>
                  <a:srgbClr val="333399"/>
                </a:solidFill>
              </a:rPr>
              <a:t>“is-a” relationship</a:t>
            </a:r>
            <a:r>
              <a:rPr lang="en-US" altLang="en-US" dirty="0" smtClean="0"/>
              <a:t> hold between a subclass object and a parent class object?</a:t>
            </a:r>
          </a:p>
          <a:p>
            <a:pPr eaLnBrk="1" hangingPunct="1"/>
            <a:r>
              <a:rPr lang="en-US" altLang="en-US" dirty="0" smtClean="0"/>
              <a:t>If so, derived class is a </a:t>
            </a:r>
            <a:r>
              <a:rPr lang="en-US" altLang="en-US" u="sng" dirty="0" smtClean="0"/>
              <a:t>subtype</a:t>
            </a:r>
            <a:r>
              <a:rPr lang="en-US" altLang="en-US" dirty="0" smtClean="0"/>
              <a:t> of the parent</a:t>
            </a:r>
          </a:p>
          <a:p>
            <a:pPr lvl="1" eaLnBrk="1" hangingPunct="1"/>
            <a:r>
              <a:rPr lang="en-US" altLang="en-US" dirty="0" smtClean="0"/>
              <a:t>Derived class objects behave like parent objects</a:t>
            </a:r>
            <a:endParaRPr lang="en-US" altLang="en-US" dirty="0"/>
          </a:p>
          <a:p>
            <a:pPr lvl="1" eaLnBrk="1" hangingPunct="1"/>
            <a:r>
              <a:rPr lang="en-US" altLang="en-US" dirty="0" smtClean="0"/>
              <a:t>Practically, this means</a:t>
            </a:r>
          </a:p>
          <a:p>
            <a:pPr lvl="2" eaLnBrk="1" hangingPunct="1"/>
            <a:r>
              <a:rPr lang="en-US" altLang="en-US" dirty="0" smtClean="0"/>
              <a:t>Subclass can only add variables and methods</a:t>
            </a:r>
          </a:p>
          <a:p>
            <a:pPr lvl="2" eaLnBrk="1" hangingPunct="1"/>
            <a:r>
              <a:rPr lang="en-US" altLang="en-US" dirty="0" smtClean="0"/>
              <a:t>Methods can only be </a:t>
            </a:r>
            <a:r>
              <a:rPr lang="en-US" altLang="en-US" dirty="0" err="1"/>
              <a:t>o</a:t>
            </a:r>
            <a:r>
              <a:rPr lang="en-US" altLang="en-US" dirty="0" err="1" smtClean="0"/>
              <a:t>veridden</a:t>
            </a:r>
            <a:r>
              <a:rPr lang="en-US" altLang="en-US" dirty="0" smtClean="0"/>
              <a:t> in “compatible” ways</a:t>
            </a:r>
          </a:p>
          <a:p>
            <a:pPr lvl="3" eaLnBrk="1" hangingPunct="1"/>
            <a:r>
              <a:rPr lang="en-US" altLang="en-US" dirty="0" smtClean="0"/>
              <a:t>Same number of parameters</a:t>
            </a:r>
          </a:p>
          <a:p>
            <a:pPr lvl="3" eaLnBrk="1" hangingPunct="1"/>
            <a:r>
              <a:rPr lang="en-US" altLang="en-US" dirty="0" smtClean="0"/>
              <a:t>Parameters &amp; return type must be type compatible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A4EF14E-60C7-4549-A290-BD5E5CBA0337}"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r>
              <a:rPr lang="en-US" altLang="en-US" smtClean="0"/>
              <a:t>Single and Multiple Inheritance</a:t>
            </a:r>
          </a:p>
        </p:txBody>
      </p:sp>
      <p:sp>
        <p:nvSpPr>
          <p:cNvPr id="34820" name="Rectangle 3"/>
          <p:cNvSpPr>
            <a:spLocks noGrp="1" noChangeArrowheads="1"/>
          </p:cNvSpPr>
          <p:nvPr>
            <p:ph type="body" idx="1"/>
          </p:nvPr>
        </p:nvSpPr>
        <p:spPr>
          <a:xfrm>
            <a:off x="609600" y="1631730"/>
            <a:ext cx="8153400" cy="4572000"/>
          </a:xfrm>
        </p:spPr>
        <p:txBody>
          <a:bodyPr/>
          <a:lstStyle/>
          <a:p>
            <a:pPr eaLnBrk="1" hangingPunct="1">
              <a:lnSpc>
                <a:spcPct val="90000"/>
              </a:lnSpc>
            </a:pPr>
            <a:r>
              <a:rPr lang="en-US" altLang="en-US" u="sng" dirty="0" smtClean="0"/>
              <a:t>Multiple inheritance</a:t>
            </a:r>
            <a:endParaRPr lang="en-US" altLang="en-US" dirty="0" smtClean="0"/>
          </a:p>
          <a:p>
            <a:pPr lvl="1" eaLnBrk="1" hangingPunct="1">
              <a:lnSpc>
                <a:spcPct val="90000"/>
              </a:lnSpc>
            </a:pPr>
            <a:r>
              <a:rPr lang="en-US" altLang="en-US" dirty="0" smtClean="0"/>
              <a:t>A new class inherits from two or more classes</a:t>
            </a:r>
          </a:p>
          <a:p>
            <a:pPr eaLnBrk="1" hangingPunct="1">
              <a:lnSpc>
                <a:spcPct val="90000"/>
              </a:lnSpc>
            </a:pPr>
            <a:r>
              <a:rPr lang="en-US" altLang="en-US" dirty="0" smtClean="0"/>
              <a:t>Advantage</a:t>
            </a:r>
          </a:p>
          <a:p>
            <a:pPr lvl="1" eaLnBrk="1" hangingPunct="1">
              <a:lnSpc>
                <a:spcPct val="90000"/>
              </a:lnSpc>
            </a:pPr>
            <a:r>
              <a:rPr lang="en-US" altLang="en-US" dirty="0" smtClean="0"/>
              <a:t>Sometimes it is quite convenient and valuable</a:t>
            </a:r>
          </a:p>
          <a:p>
            <a:pPr eaLnBrk="1" hangingPunct="1">
              <a:lnSpc>
                <a:spcPct val="90000"/>
              </a:lnSpc>
            </a:pPr>
            <a:r>
              <a:rPr lang="en-US" altLang="en-US" dirty="0" smtClean="0"/>
              <a:t>Disadvantages</a:t>
            </a:r>
          </a:p>
          <a:p>
            <a:pPr lvl="1" eaLnBrk="1" hangingPunct="1">
              <a:lnSpc>
                <a:spcPct val="90000"/>
              </a:lnSpc>
            </a:pPr>
            <a:r>
              <a:rPr lang="en-US" altLang="en-US" dirty="0"/>
              <a:t>Potential inefficiency</a:t>
            </a:r>
          </a:p>
          <a:p>
            <a:pPr lvl="2" eaLnBrk="1" hangingPunct="1">
              <a:lnSpc>
                <a:spcPct val="90000"/>
              </a:lnSpc>
            </a:pPr>
            <a:r>
              <a:rPr lang="en-US" altLang="en-US" dirty="0"/>
              <a:t>Multiple inheritance dynamic binding costs more</a:t>
            </a:r>
          </a:p>
          <a:p>
            <a:pPr lvl="2" eaLnBrk="1" hangingPunct="1">
              <a:lnSpc>
                <a:spcPct val="90000"/>
              </a:lnSpc>
            </a:pPr>
            <a:r>
              <a:rPr lang="en-US" altLang="en-US" dirty="0"/>
              <a:t>But not a great deal </a:t>
            </a:r>
            <a:r>
              <a:rPr lang="en-US" altLang="en-US" dirty="0" smtClean="0"/>
              <a:t>more</a:t>
            </a:r>
          </a:p>
          <a:p>
            <a:pPr lvl="1" eaLnBrk="1" hangingPunct="1">
              <a:lnSpc>
                <a:spcPct val="90000"/>
              </a:lnSpc>
            </a:pPr>
            <a:r>
              <a:rPr lang="en-US" altLang="en-US" dirty="0" smtClean="0"/>
              <a:t>Language and implementation complexity</a:t>
            </a:r>
          </a:p>
          <a:p>
            <a:pPr lvl="2" eaLnBrk="1" hangingPunct="1">
              <a:lnSpc>
                <a:spcPct val="90000"/>
              </a:lnSpc>
            </a:pPr>
            <a:r>
              <a:rPr lang="en-US" altLang="en-US" dirty="0" smtClean="0"/>
              <a:t>Primarily due to n</a:t>
            </a:r>
            <a:r>
              <a:rPr lang="en-US" altLang="en-US" dirty="0" smtClean="0"/>
              <a:t>ame </a:t>
            </a:r>
            <a:r>
              <a:rPr lang="en-US" altLang="en-US" dirty="0" smtClean="0"/>
              <a:t>collisions</a:t>
            </a:r>
          </a:p>
          <a:p>
            <a:pPr lvl="2" eaLnBrk="1" hangingPunct="1">
              <a:lnSpc>
                <a:spcPct val="90000"/>
              </a:lnSpc>
            </a:pPr>
            <a:r>
              <a:rPr lang="en-US" altLang="en-US" dirty="0" smtClean="0"/>
              <a:t>When 2 </a:t>
            </a:r>
            <a:r>
              <a:rPr lang="en-US" altLang="en-US" dirty="0" smtClean="0"/>
              <a:t>parent classes have entities with same name</a:t>
            </a:r>
          </a:p>
          <a:p>
            <a:pPr lvl="2" eaLnBrk="1" hangingPunct="1">
              <a:lnSpc>
                <a:spcPct val="90000"/>
              </a:lnSpc>
            </a:pPr>
            <a:r>
              <a:rPr lang="en-US" altLang="en-US" u="sng" dirty="0" smtClean="0"/>
              <a:t>Implicit</a:t>
            </a:r>
            <a:r>
              <a:rPr lang="en-US" altLang="en-US" dirty="0" smtClean="0"/>
              <a:t> when diamond inheritance takes place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A4EF14E-60C7-4549-A290-BD5E5CBA0337}"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r>
              <a:rPr lang="en-US" altLang="en-US" dirty="0" smtClean="0"/>
              <a:t>Single and Multiple Inheritance</a:t>
            </a:r>
          </a:p>
        </p:txBody>
      </p:sp>
      <p:sp>
        <p:nvSpPr>
          <p:cNvPr id="3" name="Rectangle 2"/>
          <p:cNvSpPr/>
          <p:nvPr/>
        </p:nvSpPr>
        <p:spPr bwMode="auto">
          <a:xfrm>
            <a:off x="4267200" y="1752600"/>
            <a:ext cx="838200" cy="914400"/>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ZA" sz="2400" b="0" i="0" u="none" strike="noStrike" cap="none" normalizeH="0" baseline="0" dirty="0" smtClean="0">
                <a:ln>
                  <a:noFill/>
                </a:ln>
                <a:solidFill>
                  <a:schemeClr val="tx1"/>
                </a:solidFill>
                <a:effectLst/>
                <a:latin typeface="+mj-lt"/>
              </a:rPr>
              <a:t>A</a:t>
            </a:r>
          </a:p>
        </p:txBody>
      </p:sp>
      <p:sp>
        <p:nvSpPr>
          <p:cNvPr id="8" name="Rectangle 7"/>
          <p:cNvSpPr/>
          <p:nvPr/>
        </p:nvSpPr>
        <p:spPr bwMode="auto">
          <a:xfrm>
            <a:off x="3200400" y="3200400"/>
            <a:ext cx="838200" cy="914400"/>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dirty="0">
                <a:latin typeface="+mj-lt"/>
              </a:rPr>
              <a:t>B</a:t>
            </a:r>
            <a:endParaRPr kumimoji="0" lang="en-ZA" sz="2400" b="0" i="0" u="none" strike="noStrike" cap="none" normalizeH="0" baseline="0" dirty="0" smtClean="0">
              <a:ln>
                <a:noFill/>
              </a:ln>
              <a:solidFill>
                <a:schemeClr val="tx1"/>
              </a:solidFill>
              <a:effectLst/>
              <a:latin typeface="+mj-lt"/>
            </a:endParaRPr>
          </a:p>
        </p:txBody>
      </p:sp>
      <p:sp>
        <p:nvSpPr>
          <p:cNvPr id="9" name="Rectangle 8"/>
          <p:cNvSpPr/>
          <p:nvPr/>
        </p:nvSpPr>
        <p:spPr bwMode="auto">
          <a:xfrm>
            <a:off x="5334000" y="3200400"/>
            <a:ext cx="838200" cy="914400"/>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dirty="0">
                <a:latin typeface="+mj-lt"/>
              </a:rPr>
              <a:t>C</a:t>
            </a:r>
            <a:endParaRPr kumimoji="0" lang="en-ZA" sz="2400" b="0" i="0" u="none" strike="noStrike" cap="none" normalizeH="0" baseline="0" dirty="0" smtClean="0">
              <a:ln>
                <a:noFill/>
              </a:ln>
              <a:solidFill>
                <a:schemeClr val="tx1"/>
              </a:solidFill>
              <a:effectLst/>
              <a:latin typeface="+mj-lt"/>
            </a:endParaRPr>
          </a:p>
        </p:txBody>
      </p:sp>
      <p:sp>
        <p:nvSpPr>
          <p:cNvPr id="10" name="Rectangle 9"/>
          <p:cNvSpPr/>
          <p:nvPr/>
        </p:nvSpPr>
        <p:spPr bwMode="auto">
          <a:xfrm>
            <a:off x="4267200" y="4648200"/>
            <a:ext cx="838200" cy="914400"/>
          </a:xfrm>
          <a:prstGeom prst="rect">
            <a:avLst/>
          </a:prstGeom>
          <a:noFill/>
          <a:ln w="158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ZA" dirty="0">
                <a:latin typeface="+mj-lt"/>
              </a:rPr>
              <a:t>D</a:t>
            </a:r>
            <a:endParaRPr kumimoji="0" lang="en-ZA" sz="2400" b="0" i="0" u="none" strike="noStrike" cap="none" normalizeH="0" baseline="0" dirty="0" smtClean="0">
              <a:ln>
                <a:noFill/>
              </a:ln>
              <a:solidFill>
                <a:schemeClr val="tx1"/>
              </a:solidFill>
              <a:effectLst/>
              <a:latin typeface="+mj-lt"/>
            </a:endParaRPr>
          </a:p>
        </p:txBody>
      </p:sp>
      <p:cxnSp>
        <p:nvCxnSpPr>
          <p:cNvPr id="5" name="Elbow Connector 4"/>
          <p:cNvCxnSpPr>
            <a:stCxn id="3" idx="2"/>
            <a:endCxn id="8" idx="0"/>
          </p:cNvCxnSpPr>
          <p:nvPr/>
        </p:nvCxnSpPr>
        <p:spPr bwMode="auto">
          <a:xfrm rot="5400000">
            <a:off x="3886200" y="2400300"/>
            <a:ext cx="533400" cy="1066800"/>
          </a:xfrm>
          <a:prstGeom prst="bentConnector3">
            <a:avLst>
              <a:gd name="adj1" fmla="val 50000"/>
            </a:avLst>
          </a:prstGeom>
          <a:solidFill>
            <a:schemeClr val="accent1"/>
          </a:solidFill>
          <a:ln w="15875" cap="flat" cmpd="sng" algn="ctr">
            <a:solidFill>
              <a:schemeClr val="tx1"/>
            </a:solidFill>
            <a:prstDash val="solid"/>
            <a:round/>
            <a:headEnd type="triangle" w="lg" len="lg"/>
            <a:tailEnd type="none"/>
          </a:ln>
          <a:effectLst/>
        </p:spPr>
      </p:cxnSp>
      <p:cxnSp>
        <p:nvCxnSpPr>
          <p:cNvPr id="19" name="Elbow Connector 18"/>
          <p:cNvCxnSpPr>
            <a:stCxn id="3" idx="2"/>
            <a:endCxn id="9" idx="0"/>
          </p:cNvCxnSpPr>
          <p:nvPr/>
        </p:nvCxnSpPr>
        <p:spPr bwMode="auto">
          <a:xfrm rot="16200000" flipH="1">
            <a:off x="4953000" y="2400300"/>
            <a:ext cx="533400" cy="1066800"/>
          </a:xfrm>
          <a:prstGeom prst="bentConnector3">
            <a:avLst>
              <a:gd name="adj1" fmla="val 50000"/>
            </a:avLst>
          </a:prstGeom>
          <a:solidFill>
            <a:schemeClr val="accent1"/>
          </a:solidFill>
          <a:ln w="15875" cap="flat" cmpd="sng" algn="ctr">
            <a:solidFill>
              <a:schemeClr val="tx1"/>
            </a:solidFill>
            <a:prstDash val="solid"/>
            <a:round/>
            <a:headEnd type="triangle" w="lg" len="lg"/>
            <a:tailEnd type="none"/>
          </a:ln>
          <a:effectLst/>
        </p:spPr>
      </p:cxnSp>
      <p:cxnSp>
        <p:nvCxnSpPr>
          <p:cNvPr id="23" name="Elbow Connector 22"/>
          <p:cNvCxnSpPr>
            <a:stCxn id="8" idx="2"/>
            <a:endCxn id="10" idx="0"/>
          </p:cNvCxnSpPr>
          <p:nvPr/>
        </p:nvCxnSpPr>
        <p:spPr bwMode="auto">
          <a:xfrm rot="16200000" flipH="1">
            <a:off x="3886200" y="3848100"/>
            <a:ext cx="533400" cy="1066800"/>
          </a:xfrm>
          <a:prstGeom prst="bentConnector3">
            <a:avLst>
              <a:gd name="adj1" fmla="val 50000"/>
            </a:avLst>
          </a:prstGeom>
          <a:solidFill>
            <a:schemeClr val="accent1"/>
          </a:solidFill>
          <a:ln w="15875" cap="flat" cmpd="sng" algn="ctr">
            <a:solidFill>
              <a:schemeClr val="tx1"/>
            </a:solidFill>
            <a:prstDash val="solid"/>
            <a:round/>
            <a:headEnd type="triangle" w="lg" len="lg"/>
            <a:tailEnd type="none"/>
          </a:ln>
          <a:effectLst/>
        </p:spPr>
      </p:cxnSp>
      <p:cxnSp>
        <p:nvCxnSpPr>
          <p:cNvPr id="26" name="Elbow Connector 25"/>
          <p:cNvCxnSpPr>
            <a:stCxn id="9" idx="2"/>
            <a:endCxn id="10" idx="0"/>
          </p:cNvCxnSpPr>
          <p:nvPr/>
        </p:nvCxnSpPr>
        <p:spPr bwMode="auto">
          <a:xfrm rot="5400000">
            <a:off x="4953000" y="3848100"/>
            <a:ext cx="533400" cy="1066800"/>
          </a:xfrm>
          <a:prstGeom prst="bentConnector3">
            <a:avLst>
              <a:gd name="adj1" fmla="val 50000"/>
            </a:avLst>
          </a:prstGeom>
          <a:solidFill>
            <a:schemeClr val="accent1"/>
          </a:solidFill>
          <a:ln w="15875" cap="flat" cmpd="sng" algn="ctr">
            <a:solidFill>
              <a:schemeClr val="tx1"/>
            </a:solidFill>
            <a:prstDash val="solid"/>
            <a:round/>
            <a:headEnd type="triangle" w="lg" len="lg"/>
            <a:tailEnd type="none"/>
          </a:ln>
          <a:effectLst/>
        </p:spPr>
      </p:cxnSp>
      <p:sp>
        <p:nvSpPr>
          <p:cNvPr id="2" name="TextBox 1"/>
          <p:cNvSpPr txBox="1"/>
          <p:nvPr/>
        </p:nvSpPr>
        <p:spPr>
          <a:xfrm>
            <a:off x="3037451" y="5764924"/>
            <a:ext cx="3297698" cy="461665"/>
          </a:xfrm>
          <a:prstGeom prst="rect">
            <a:avLst/>
          </a:prstGeom>
          <a:noFill/>
        </p:spPr>
        <p:txBody>
          <a:bodyPr wrap="none" rtlCol="0">
            <a:spAutoFit/>
          </a:bodyPr>
          <a:lstStyle/>
          <a:p>
            <a:r>
              <a:rPr lang="en-ZA" dirty="0" smtClean="0">
                <a:solidFill>
                  <a:srgbClr val="666699"/>
                </a:solidFill>
                <a:latin typeface="+mj-lt"/>
              </a:rPr>
              <a:t>Diamond inheritance</a:t>
            </a:r>
            <a:endParaRPr lang="en-ZA" dirty="0">
              <a:solidFill>
                <a:srgbClr val="666699"/>
              </a:solidFill>
              <a:latin typeface="+mj-lt"/>
            </a:endParaRPr>
          </a:p>
        </p:txBody>
      </p:sp>
      <p:sp>
        <p:nvSpPr>
          <p:cNvPr id="14"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683982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29D9E3F-8802-4D3C-ABE4-B3E5CE7A2E85}"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36867" name="Rectangle 2"/>
          <p:cNvSpPr>
            <a:spLocks noGrp="1" noChangeArrowheads="1"/>
          </p:cNvSpPr>
          <p:nvPr>
            <p:ph type="title"/>
          </p:nvPr>
        </p:nvSpPr>
        <p:spPr>
          <a:xfrm>
            <a:off x="609600" y="419100"/>
            <a:ext cx="8153400" cy="1143000"/>
          </a:xfrm>
        </p:spPr>
        <p:txBody>
          <a:bodyPr/>
          <a:lstStyle/>
          <a:p>
            <a:pPr eaLnBrk="1" hangingPunct="1"/>
            <a:r>
              <a:rPr lang="en-US" altLang="en-US" sz="3200" smtClean="0"/>
              <a:t>Allocation and Deallocation of Objects</a:t>
            </a:r>
          </a:p>
        </p:txBody>
      </p:sp>
      <p:sp>
        <p:nvSpPr>
          <p:cNvPr id="36868" name="Rectangle 3"/>
          <p:cNvSpPr>
            <a:spLocks noGrp="1" noChangeArrowheads="1"/>
          </p:cNvSpPr>
          <p:nvPr>
            <p:ph type="body" idx="1"/>
          </p:nvPr>
        </p:nvSpPr>
        <p:spPr>
          <a:xfrm>
            <a:off x="609600" y="1631730"/>
            <a:ext cx="8153400" cy="4876800"/>
          </a:xfrm>
        </p:spPr>
        <p:txBody>
          <a:bodyPr/>
          <a:lstStyle/>
          <a:p>
            <a:pPr eaLnBrk="1" hangingPunct="1">
              <a:lnSpc>
                <a:spcPct val="90000"/>
              </a:lnSpc>
            </a:pPr>
            <a:r>
              <a:rPr lang="en-US" altLang="en-US" dirty="0" smtClean="0"/>
              <a:t>From where are objects allocated?</a:t>
            </a:r>
          </a:p>
          <a:p>
            <a:pPr lvl="1" eaLnBrk="1" hangingPunct="1">
              <a:lnSpc>
                <a:spcPct val="90000"/>
              </a:lnSpc>
            </a:pPr>
            <a:r>
              <a:rPr lang="en-US" altLang="en-US" dirty="0" smtClean="0"/>
              <a:t>If objects behave like ADTs</a:t>
            </a:r>
          </a:p>
          <a:p>
            <a:pPr lvl="2" eaLnBrk="1" hangingPunct="1">
              <a:lnSpc>
                <a:spcPct val="90000"/>
              </a:lnSpc>
            </a:pPr>
            <a:r>
              <a:rPr lang="en-US" altLang="en-US" dirty="0" smtClean="0"/>
              <a:t>Can be allocated from the run-time stack, AND</a:t>
            </a:r>
          </a:p>
          <a:p>
            <a:pPr lvl="2" eaLnBrk="1" hangingPunct="1">
              <a:lnSpc>
                <a:spcPct val="90000"/>
              </a:lnSpc>
            </a:pPr>
            <a:r>
              <a:rPr lang="en-US" altLang="en-US" dirty="0" smtClean="0"/>
              <a:t>Can be explicitly created on the heap (e.g. via </a:t>
            </a:r>
            <a:r>
              <a:rPr lang="en-US" altLang="en-US" b="1" dirty="0" smtClean="0">
                <a:latin typeface="Courier New" panose="02070309020205020404" pitchFamily="49" charset="0"/>
                <a:cs typeface="Courier New" panose="02070309020205020404" pitchFamily="49" charset="0"/>
              </a:rPr>
              <a:t>new</a:t>
            </a:r>
            <a:r>
              <a:rPr lang="en-US" altLang="en-US" dirty="0" smtClean="0"/>
              <a:t>)</a:t>
            </a:r>
          </a:p>
          <a:p>
            <a:pPr lvl="1" eaLnBrk="1" hangingPunct="1">
              <a:lnSpc>
                <a:spcPct val="90000"/>
              </a:lnSpc>
            </a:pPr>
            <a:r>
              <a:rPr lang="en-US" altLang="en-US" dirty="0" smtClean="0"/>
              <a:t>If objects are all heap-dynamic</a:t>
            </a:r>
          </a:p>
          <a:p>
            <a:pPr lvl="2" eaLnBrk="1" hangingPunct="1">
              <a:lnSpc>
                <a:spcPct val="90000"/>
              </a:lnSpc>
            </a:pPr>
            <a:r>
              <a:rPr lang="en-US" altLang="en-US" dirty="0" smtClean="0"/>
              <a:t>Uniform use through pointer or reference variable</a:t>
            </a:r>
          </a:p>
          <a:p>
            <a:pPr lvl="2" eaLnBrk="1" hangingPunct="1">
              <a:lnSpc>
                <a:spcPct val="90000"/>
              </a:lnSpc>
            </a:pPr>
            <a:r>
              <a:rPr lang="en-US" altLang="en-US" dirty="0" smtClean="0"/>
              <a:t>Simplifies assignment (just a reference copy)</a:t>
            </a:r>
          </a:p>
          <a:p>
            <a:pPr lvl="2" eaLnBrk="1" hangingPunct="1">
              <a:lnSpc>
                <a:spcPct val="90000"/>
              </a:lnSpc>
            </a:pPr>
            <a:r>
              <a:rPr lang="en-US" altLang="en-US" dirty="0" smtClean="0"/>
              <a:t>Dereferencing can be implicit</a:t>
            </a:r>
          </a:p>
          <a:p>
            <a:pPr lvl="1" eaLnBrk="1" hangingPunct="1">
              <a:lnSpc>
                <a:spcPct val="90000"/>
              </a:lnSpc>
            </a:pPr>
            <a:r>
              <a:rPr lang="en-US" altLang="en-US" dirty="0" smtClean="0"/>
              <a:t>If objects are stack dynamic</a:t>
            </a:r>
          </a:p>
          <a:p>
            <a:pPr lvl="2" eaLnBrk="1" hangingPunct="1">
              <a:lnSpc>
                <a:spcPct val="90000"/>
              </a:lnSpc>
            </a:pPr>
            <a:r>
              <a:rPr lang="en-US" altLang="en-US" dirty="0" smtClean="0"/>
              <a:t>A problem with subtypes: Assume </a:t>
            </a:r>
            <a:r>
              <a:rPr lang="en-US" altLang="en-US" dirty="0" smtClean="0">
                <a:latin typeface="Courier New" panose="02070309020205020404" pitchFamily="49" charset="0"/>
              </a:rPr>
              <a:t>B</a:t>
            </a:r>
            <a:r>
              <a:rPr lang="en-US" altLang="en-US" dirty="0" smtClean="0"/>
              <a:t> is subtype of </a:t>
            </a:r>
            <a:r>
              <a:rPr lang="en-US" altLang="en-US" dirty="0" smtClean="0">
                <a:latin typeface="Courier New" panose="02070309020205020404" pitchFamily="49" charset="0"/>
              </a:rPr>
              <a:t>A</a:t>
            </a:r>
          </a:p>
          <a:p>
            <a:pPr lvl="2" eaLnBrk="1" hangingPunct="1">
              <a:lnSpc>
                <a:spcPct val="90000"/>
              </a:lnSpc>
            </a:pPr>
            <a:r>
              <a:rPr lang="en-US" altLang="en-US" dirty="0" smtClean="0"/>
              <a:t>Truncation if: </a:t>
            </a:r>
            <a:r>
              <a:rPr lang="en-US" altLang="en-US" dirty="0" smtClean="0">
                <a:latin typeface="Courier New" panose="02070309020205020404" pitchFamily="49" charset="0"/>
              </a:rPr>
              <a:t>A </a:t>
            </a:r>
            <a:r>
              <a:rPr lang="en-US" altLang="en-US" dirty="0" err="1" smtClean="0">
                <a:latin typeface="Courier New" panose="02070309020205020404" pitchFamily="49" charset="0"/>
              </a:rPr>
              <a:t>aVar</a:t>
            </a:r>
            <a:r>
              <a:rPr lang="en-US" altLang="en-US" dirty="0" smtClean="0">
                <a:latin typeface="Courier New" panose="02070309020205020404" pitchFamily="49" charset="0"/>
              </a:rPr>
              <a:t>; B </a:t>
            </a:r>
            <a:r>
              <a:rPr lang="en-US" altLang="en-US" dirty="0" err="1" smtClean="0">
                <a:latin typeface="Courier New" panose="02070309020205020404" pitchFamily="49" charset="0"/>
              </a:rPr>
              <a:t>bVar</a:t>
            </a:r>
            <a:r>
              <a:rPr lang="en-US" altLang="en-US" dirty="0" smtClean="0">
                <a:latin typeface="Courier New" panose="02070309020205020404" pitchFamily="49" charset="0"/>
              </a:rPr>
              <a:t>; </a:t>
            </a:r>
            <a:r>
              <a:rPr lang="en-US" altLang="en-US" dirty="0" err="1" smtClean="0">
                <a:latin typeface="Courier New" panose="02070309020205020404" pitchFamily="49" charset="0"/>
              </a:rPr>
              <a:t>aVar</a:t>
            </a:r>
            <a:r>
              <a:rPr lang="en-US" altLang="en-US" dirty="0" smtClean="0">
                <a:latin typeface="Courier New" panose="02070309020205020404" pitchFamily="49" charset="0"/>
              </a:rPr>
              <a:t> = </a:t>
            </a:r>
            <a:r>
              <a:rPr lang="en-US" altLang="en-US" dirty="0" err="1" smtClean="0">
                <a:latin typeface="Courier New" panose="02070309020205020404" pitchFamily="49" charset="0"/>
              </a:rPr>
              <a:t>bVar</a:t>
            </a:r>
            <a:r>
              <a:rPr lang="en-US" altLang="en-US" dirty="0" smtClean="0">
                <a:latin typeface="Courier New" panose="02070309020205020404" pitchFamily="49" charset="0"/>
              </a:rPr>
              <a:t>;</a:t>
            </a:r>
          </a:p>
          <a:p>
            <a:pPr eaLnBrk="1" hangingPunct="1">
              <a:lnSpc>
                <a:spcPct val="90000"/>
              </a:lnSpc>
            </a:pPr>
            <a:r>
              <a:rPr lang="en-US" altLang="en-US" dirty="0" smtClean="0"/>
              <a:t>Is heap deallocation explicit or implicit?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12E5BBB-3CD4-41DC-B01C-AD752DC7EE22}"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38915" name="Rectangle 2"/>
          <p:cNvSpPr>
            <a:spLocks noGrp="1" noChangeArrowheads="1"/>
          </p:cNvSpPr>
          <p:nvPr>
            <p:ph type="title"/>
          </p:nvPr>
        </p:nvSpPr>
        <p:spPr/>
        <p:txBody>
          <a:bodyPr/>
          <a:lstStyle/>
          <a:p>
            <a:pPr eaLnBrk="1" hangingPunct="1"/>
            <a:r>
              <a:rPr lang="en-US" altLang="en-US" dirty="0" smtClean="0"/>
              <a:t>Dynamic and Static Binding</a:t>
            </a:r>
          </a:p>
        </p:txBody>
      </p:sp>
      <p:sp>
        <p:nvSpPr>
          <p:cNvPr id="38916"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Should every binding of a message to a method be dynamic?</a:t>
            </a:r>
          </a:p>
          <a:p>
            <a:pPr lvl="1" eaLnBrk="1" hangingPunct="1"/>
            <a:r>
              <a:rPr lang="en-US" altLang="en-US" dirty="0" smtClean="0"/>
              <a:t>If none are, lose advantages of dynamic binding</a:t>
            </a:r>
          </a:p>
          <a:p>
            <a:pPr lvl="1" eaLnBrk="1" hangingPunct="1"/>
            <a:r>
              <a:rPr lang="en-US" altLang="en-US" dirty="0" smtClean="0"/>
              <a:t>If all are, it is inefficient</a:t>
            </a:r>
          </a:p>
          <a:p>
            <a:pPr lvl="1" eaLnBrk="1" hangingPunct="1"/>
            <a:r>
              <a:rPr lang="en-US" altLang="en-US" dirty="0" smtClean="0"/>
              <a:t>Allow the programmer to specify?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F6063D7-9ABA-46A7-BA8C-95CA6A49C183}"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40963" name="Rectangle 2"/>
          <p:cNvSpPr>
            <a:spLocks noGrp="1" noChangeArrowheads="1"/>
          </p:cNvSpPr>
          <p:nvPr>
            <p:ph type="title"/>
          </p:nvPr>
        </p:nvSpPr>
        <p:spPr/>
        <p:txBody>
          <a:bodyPr/>
          <a:lstStyle/>
          <a:p>
            <a:pPr eaLnBrk="1" hangingPunct="1"/>
            <a:r>
              <a:rPr lang="en-US" altLang="en-US" smtClean="0"/>
              <a:t>Nested Classes</a:t>
            </a:r>
          </a:p>
        </p:txBody>
      </p:sp>
      <p:sp>
        <p:nvSpPr>
          <p:cNvPr id="40964"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If a new class is needed by only one class</a:t>
            </a:r>
          </a:p>
          <a:p>
            <a:pPr lvl="1" eaLnBrk="1" hangingPunct="1"/>
            <a:r>
              <a:rPr lang="en-US" altLang="en-US" dirty="0" smtClean="0"/>
              <a:t>No reason for it to be visible to other classes</a:t>
            </a:r>
          </a:p>
          <a:p>
            <a:pPr lvl="2" eaLnBrk="1" hangingPunct="1"/>
            <a:r>
              <a:rPr lang="en-US" altLang="en-US" dirty="0" smtClean="0"/>
              <a:t>Can new class be nested in the class that uses it?</a:t>
            </a:r>
          </a:p>
          <a:p>
            <a:pPr lvl="2" eaLnBrk="1" hangingPunct="1"/>
            <a:r>
              <a:rPr lang="en-US" altLang="en-US" dirty="0" smtClean="0"/>
              <a:t>Can the new class be nested inside a subprogram?</a:t>
            </a:r>
          </a:p>
          <a:p>
            <a:pPr eaLnBrk="1" hangingPunct="1"/>
            <a:r>
              <a:rPr lang="en-US" altLang="en-US" dirty="0" smtClean="0"/>
              <a:t>Other issue</a:t>
            </a:r>
          </a:p>
          <a:p>
            <a:pPr lvl="1" eaLnBrk="1" hangingPunct="1"/>
            <a:r>
              <a:rPr lang="en-US" altLang="en-US" dirty="0" smtClean="0"/>
              <a:t>Visibility of members</a:t>
            </a:r>
          </a:p>
          <a:p>
            <a:pPr lvl="2" eaLnBrk="1" hangingPunct="1"/>
            <a:r>
              <a:rPr lang="en-US" altLang="en-US" dirty="0" smtClean="0"/>
              <a:t>Of the nesting class to the nested class</a:t>
            </a:r>
          </a:p>
          <a:p>
            <a:pPr lvl="2" eaLnBrk="1" hangingPunct="1"/>
            <a:r>
              <a:rPr lang="en-US" altLang="en-US" dirty="0" smtClean="0"/>
              <a:t>Of the nested class to the nesting class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smtClean="0"/>
              <a:t>Initialization of Objects</a:t>
            </a:r>
          </a:p>
        </p:txBody>
      </p:sp>
      <p:sp>
        <p:nvSpPr>
          <p:cNvPr id="43011" name="Content Placeholder 2"/>
          <p:cNvSpPr>
            <a:spLocks noGrp="1"/>
          </p:cNvSpPr>
          <p:nvPr>
            <p:ph idx="1"/>
          </p:nvPr>
        </p:nvSpPr>
        <p:spPr>
          <a:xfrm>
            <a:off x="609600" y="1600200"/>
            <a:ext cx="8153400" cy="4572000"/>
          </a:xfrm>
        </p:spPr>
        <p:txBody>
          <a:bodyPr/>
          <a:lstStyle/>
          <a:p>
            <a:pPr eaLnBrk="1" hangingPunct="1"/>
            <a:r>
              <a:rPr lang="en-US" altLang="en-US" dirty="0" smtClean="0"/>
              <a:t>Are objects initialized to values when they are created?</a:t>
            </a:r>
          </a:p>
          <a:p>
            <a:pPr lvl="1" eaLnBrk="1" hangingPunct="1"/>
            <a:r>
              <a:rPr lang="en-US" altLang="en-US" dirty="0" smtClean="0"/>
              <a:t>Explicit initialization</a:t>
            </a:r>
          </a:p>
          <a:p>
            <a:pPr lvl="1" eaLnBrk="1" hangingPunct="1"/>
            <a:r>
              <a:rPr lang="en-US" altLang="en-US" dirty="0" smtClean="0"/>
              <a:t>Implicit initialization</a:t>
            </a:r>
          </a:p>
          <a:p>
            <a:pPr lvl="1" eaLnBrk="1" hangingPunct="1">
              <a:buFontTx/>
              <a:buNone/>
            </a:pPr>
            <a:endParaRPr lang="en-US" altLang="en-US" dirty="0" smtClean="0"/>
          </a:p>
          <a:p>
            <a:pPr eaLnBrk="1" hangingPunct="1"/>
            <a:r>
              <a:rPr lang="en-US" altLang="en-US" dirty="0" smtClean="0"/>
              <a:t>How are parent class members initialized when a subclass object is created?</a:t>
            </a:r>
          </a:p>
          <a:p>
            <a:pPr lvl="1" eaLnBrk="1" hangingPunct="1"/>
            <a:r>
              <a:rPr lang="en-US" altLang="en-US" dirty="0" smtClean="0"/>
              <a:t>Explicit initialization</a:t>
            </a:r>
          </a:p>
          <a:p>
            <a:pPr lvl="1" eaLnBrk="1" hangingPunct="1"/>
            <a:r>
              <a:rPr lang="en-US" altLang="en-US" dirty="0" smtClean="0"/>
              <a:t>Implicit initialization</a:t>
            </a:r>
          </a:p>
        </p:txBody>
      </p:sp>
      <p:sp>
        <p:nvSpPr>
          <p:cNvPr id="4301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D883FB5-40B4-44DF-BFD0-AF73C1AEFCF9}"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24D7F18-0864-4836-9541-53AA949C88B3}"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45059" name="Rectangle 2"/>
          <p:cNvSpPr>
            <a:spLocks noGrp="1" noChangeArrowheads="1"/>
          </p:cNvSpPr>
          <p:nvPr>
            <p:ph type="title"/>
          </p:nvPr>
        </p:nvSpPr>
        <p:spPr/>
        <p:txBody>
          <a:bodyPr/>
          <a:lstStyle/>
          <a:p>
            <a:pPr eaLnBrk="1" hangingPunct="1"/>
            <a:r>
              <a:rPr lang="en-US" altLang="en-US" smtClean="0"/>
              <a:t>Support for OOP in Smalltalk</a:t>
            </a:r>
          </a:p>
        </p:txBody>
      </p:sp>
      <p:sp>
        <p:nvSpPr>
          <p:cNvPr id="45060" name="Rectangle 3"/>
          <p:cNvSpPr>
            <a:spLocks noGrp="1" noChangeArrowheads="1"/>
          </p:cNvSpPr>
          <p:nvPr>
            <p:ph type="body" idx="1"/>
          </p:nvPr>
        </p:nvSpPr>
        <p:spPr>
          <a:xfrm>
            <a:off x="609600" y="1631730"/>
            <a:ext cx="8153400" cy="4572000"/>
          </a:xfrm>
        </p:spPr>
        <p:txBody>
          <a:bodyPr/>
          <a:lstStyle/>
          <a:p>
            <a:pPr eaLnBrk="1" hangingPunct="1">
              <a:lnSpc>
                <a:spcPct val="90000"/>
              </a:lnSpc>
            </a:pPr>
            <a:r>
              <a:rPr lang="en-US" altLang="en-US" dirty="0" smtClean="0"/>
              <a:t>Smalltalk is a pure OOP language</a:t>
            </a:r>
          </a:p>
          <a:p>
            <a:pPr lvl="1" eaLnBrk="1" hangingPunct="1">
              <a:lnSpc>
                <a:spcPct val="90000"/>
              </a:lnSpc>
            </a:pPr>
            <a:r>
              <a:rPr lang="en-US" altLang="en-US" dirty="0" smtClean="0"/>
              <a:t>Basis of most OOP as we know it</a:t>
            </a:r>
          </a:p>
          <a:p>
            <a:pPr lvl="1" eaLnBrk="1" hangingPunct="1">
              <a:lnSpc>
                <a:spcPct val="90000"/>
              </a:lnSpc>
            </a:pPr>
            <a:r>
              <a:rPr lang="en-US" altLang="en-US" dirty="0" smtClean="0"/>
              <a:t>Everything is an object</a:t>
            </a:r>
          </a:p>
          <a:p>
            <a:pPr lvl="2" eaLnBrk="1" hangingPunct="1">
              <a:lnSpc>
                <a:spcPct val="90000"/>
              </a:lnSpc>
            </a:pPr>
            <a:r>
              <a:rPr lang="en-US" altLang="en-US" sz="2400" dirty="0" smtClean="0"/>
              <a:t>No characteristics of imperative languages</a:t>
            </a:r>
          </a:p>
          <a:p>
            <a:pPr lvl="2" eaLnBrk="1" hangingPunct="1">
              <a:lnSpc>
                <a:spcPct val="90000"/>
              </a:lnSpc>
            </a:pPr>
            <a:r>
              <a:rPr lang="en-US" altLang="en-US" sz="2400" dirty="0" smtClean="0"/>
              <a:t>All objects are allocated from the heap</a:t>
            </a:r>
          </a:p>
          <a:p>
            <a:pPr lvl="2" eaLnBrk="1" hangingPunct="1">
              <a:lnSpc>
                <a:spcPct val="90000"/>
              </a:lnSpc>
            </a:pPr>
            <a:r>
              <a:rPr lang="en-US" altLang="en-US" sz="2400" dirty="0" smtClean="0"/>
              <a:t>Slow (why?)</a:t>
            </a:r>
          </a:p>
          <a:p>
            <a:pPr lvl="1" eaLnBrk="1" hangingPunct="1">
              <a:lnSpc>
                <a:spcPct val="90000"/>
              </a:lnSpc>
            </a:pPr>
            <a:r>
              <a:rPr lang="en-US" altLang="en-US" dirty="0" smtClean="0"/>
              <a:t>All computation is uniform</a:t>
            </a:r>
          </a:p>
          <a:p>
            <a:pPr lvl="2" eaLnBrk="1" hangingPunct="1">
              <a:lnSpc>
                <a:spcPct val="90000"/>
              </a:lnSpc>
            </a:pPr>
            <a:r>
              <a:rPr lang="en-US" altLang="en-US" sz="2400" dirty="0" smtClean="0"/>
              <a:t>Objects sending messages to objects</a:t>
            </a:r>
          </a:p>
          <a:p>
            <a:pPr lvl="2" eaLnBrk="1" hangingPunct="1">
              <a:lnSpc>
                <a:spcPct val="90000"/>
              </a:lnSpc>
            </a:pPr>
            <a:r>
              <a:rPr lang="en-US" altLang="en-US" sz="2400" dirty="0" smtClean="0"/>
              <a:t>Slow (why?)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242702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24D7F18-0864-4836-9541-53AA949C88B3}" type="slidenum">
              <a:rPr lang="en-US" altLang="en-US" sz="1000" smtClean="0">
                <a:solidFill>
                  <a:schemeClr val="tx1"/>
                </a:solidFill>
                <a:latin typeface="Arial" panose="020B0604020202020204" pitchFamily="34" charset="0"/>
              </a:rPr>
              <a:pPr>
                <a:spcBef>
                  <a:spcPct val="0"/>
                </a:spcBef>
                <a:buFontTx/>
                <a:buNone/>
              </a:pPr>
              <a:t>24</a:t>
            </a:fld>
            <a:endParaRPr lang="en-US" altLang="en-US" sz="1000" smtClean="0">
              <a:solidFill>
                <a:schemeClr val="tx1"/>
              </a:solidFill>
              <a:latin typeface="Arial" panose="020B0604020202020204" pitchFamily="34" charset="0"/>
            </a:endParaRPr>
          </a:p>
        </p:txBody>
      </p:sp>
      <p:sp>
        <p:nvSpPr>
          <p:cNvPr id="45059" name="Rectangle 2"/>
          <p:cNvSpPr>
            <a:spLocks noGrp="1" noChangeArrowheads="1"/>
          </p:cNvSpPr>
          <p:nvPr>
            <p:ph type="title"/>
          </p:nvPr>
        </p:nvSpPr>
        <p:spPr/>
        <p:txBody>
          <a:bodyPr/>
          <a:lstStyle/>
          <a:p>
            <a:pPr eaLnBrk="1" hangingPunct="1"/>
            <a:r>
              <a:rPr lang="en-US" altLang="en-US" smtClean="0"/>
              <a:t>Support for OOP in Smalltalk</a:t>
            </a:r>
          </a:p>
        </p:txBody>
      </p:sp>
      <p:sp>
        <p:nvSpPr>
          <p:cNvPr id="45060" name="Rectangle 3"/>
          <p:cNvSpPr>
            <a:spLocks noGrp="1" noChangeArrowheads="1"/>
          </p:cNvSpPr>
          <p:nvPr>
            <p:ph type="body" idx="1"/>
          </p:nvPr>
        </p:nvSpPr>
        <p:spPr>
          <a:xfrm>
            <a:off x="609600" y="1631730"/>
            <a:ext cx="8153400" cy="4572000"/>
          </a:xfrm>
        </p:spPr>
        <p:txBody>
          <a:bodyPr/>
          <a:lstStyle/>
          <a:p>
            <a:pPr eaLnBrk="1" hangingPunct="1">
              <a:lnSpc>
                <a:spcPct val="90000"/>
              </a:lnSpc>
            </a:pPr>
            <a:r>
              <a:rPr lang="en-US" altLang="en-US" dirty="0" smtClean="0"/>
              <a:t>Smalltalk is a pure OOP language</a:t>
            </a:r>
          </a:p>
          <a:p>
            <a:pPr lvl="1" eaLnBrk="1" hangingPunct="1">
              <a:lnSpc>
                <a:spcPct val="90000"/>
              </a:lnSpc>
            </a:pPr>
            <a:r>
              <a:rPr lang="en-US" altLang="en-US" dirty="0" smtClean="0"/>
              <a:t>Object access</a:t>
            </a:r>
          </a:p>
          <a:p>
            <a:pPr lvl="2" eaLnBrk="1" hangingPunct="1">
              <a:lnSpc>
                <a:spcPct val="90000"/>
              </a:lnSpc>
            </a:pPr>
            <a:r>
              <a:rPr lang="en-US" altLang="en-US" sz="2400" dirty="0" smtClean="0"/>
              <a:t>By means of </a:t>
            </a:r>
            <a:r>
              <a:rPr lang="en-US" altLang="en-US" sz="2400" dirty="0" err="1" smtClean="0"/>
              <a:t>typeless</a:t>
            </a:r>
            <a:r>
              <a:rPr lang="en-US" altLang="en-US" sz="2400" dirty="0" smtClean="0"/>
              <a:t> reference variables</a:t>
            </a:r>
          </a:p>
          <a:p>
            <a:pPr lvl="2" eaLnBrk="1" hangingPunct="1">
              <a:lnSpc>
                <a:spcPct val="90000"/>
              </a:lnSpc>
            </a:pPr>
            <a:r>
              <a:rPr lang="en-US" altLang="en-US" sz="2400" dirty="0" smtClean="0"/>
              <a:t>References are implicitly dereferenced</a:t>
            </a:r>
          </a:p>
          <a:p>
            <a:pPr lvl="1" eaLnBrk="1" hangingPunct="1">
              <a:lnSpc>
                <a:spcPct val="90000"/>
              </a:lnSpc>
            </a:pPr>
            <a:r>
              <a:rPr lang="en-US" altLang="en-US" dirty="0" smtClean="0"/>
              <a:t>All deallocation is implicit</a:t>
            </a:r>
          </a:p>
          <a:p>
            <a:pPr lvl="2" eaLnBrk="1" hangingPunct="1">
              <a:lnSpc>
                <a:spcPct val="90000"/>
              </a:lnSpc>
            </a:pPr>
            <a:r>
              <a:rPr lang="en-US" altLang="en-US" sz="2400" dirty="0" smtClean="0"/>
              <a:t>Uses a garbage collector</a:t>
            </a:r>
          </a:p>
          <a:p>
            <a:pPr lvl="2" eaLnBrk="1" hangingPunct="1">
              <a:lnSpc>
                <a:spcPct val="90000"/>
              </a:lnSpc>
            </a:pPr>
            <a:r>
              <a:rPr lang="en-US" altLang="en-US" sz="2400" dirty="0" smtClean="0"/>
              <a:t>Can be slow, depending on implementation</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9807307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38762CA-C15E-446B-AEF4-2E7CC686B950}" type="slidenum">
              <a:rPr lang="en-US" altLang="en-US" sz="1000" smtClean="0">
                <a:solidFill>
                  <a:schemeClr val="tx1"/>
                </a:solidFill>
                <a:latin typeface="Arial" panose="020B0604020202020204" pitchFamily="34" charset="0"/>
              </a:rPr>
              <a:pPr>
                <a:spcBef>
                  <a:spcPct val="0"/>
                </a:spcBef>
                <a:buFontTx/>
                <a:buNone/>
              </a:pPr>
              <a:t>25</a:t>
            </a:fld>
            <a:endParaRPr lang="en-US" altLang="en-US" sz="1000" smtClean="0">
              <a:solidFill>
                <a:schemeClr val="tx1"/>
              </a:solidFill>
              <a:latin typeface="Arial" panose="020B0604020202020204" pitchFamily="34" charset="0"/>
            </a:endParaRPr>
          </a:p>
        </p:txBody>
      </p:sp>
      <p:sp>
        <p:nvSpPr>
          <p:cNvPr id="49155" name="Rectangle 2"/>
          <p:cNvSpPr>
            <a:spLocks noGrp="1" noChangeArrowheads="1"/>
          </p:cNvSpPr>
          <p:nvPr>
            <p:ph type="title"/>
          </p:nvPr>
        </p:nvSpPr>
        <p:spPr>
          <a:xfrm>
            <a:off x="609600" y="381000"/>
            <a:ext cx="8305800" cy="1143000"/>
          </a:xfrm>
        </p:spPr>
        <p:txBody>
          <a:bodyPr/>
          <a:lstStyle/>
          <a:p>
            <a:pPr eaLnBrk="1" hangingPunct="1"/>
            <a:r>
              <a:rPr lang="en-US" altLang="en-US" dirty="0" smtClean="0"/>
              <a:t>Support for OOP in Smalltalk</a:t>
            </a:r>
          </a:p>
        </p:txBody>
      </p:sp>
      <p:sp>
        <p:nvSpPr>
          <p:cNvPr id="49156" name="Rectangle 3"/>
          <p:cNvSpPr>
            <a:spLocks noGrp="1" noChangeArrowheads="1"/>
          </p:cNvSpPr>
          <p:nvPr>
            <p:ph type="body" idx="1"/>
          </p:nvPr>
        </p:nvSpPr>
        <p:spPr>
          <a:xfrm>
            <a:off x="609600" y="1600200"/>
            <a:ext cx="8153400" cy="4953000"/>
          </a:xfrm>
        </p:spPr>
        <p:txBody>
          <a:bodyPr/>
          <a:lstStyle/>
          <a:p>
            <a:pPr eaLnBrk="1" hangingPunct="1"/>
            <a:r>
              <a:rPr lang="en-US" altLang="en-US" dirty="0" smtClean="0"/>
              <a:t>Inheritance</a:t>
            </a:r>
          </a:p>
          <a:p>
            <a:pPr lvl="1" eaLnBrk="1" hangingPunct="1"/>
            <a:r>
              <a:rPr lang="en-US" altLang="en-US" dirty="0" smtClean="0"/>
              <a:t>A Smalltalk subclass inherits from its superclass</a:t>
            </a:r>
          </a:p>
          <a:p>
            <a:pPr lvl="2" eaLnBrk="1" hangingPunct="1"/>
            <a:r>
              <a:rPr lang="en-US" altLang="en-US" dirty="0" smtClean="0"/>
              <a:t>All instance variables &amp; methods, and class methods</a:t>
            </a:r>
          </a:p>
          <a:p>
            <a:pPr lvl="1" eaLnBrk="1" hangingPunct="1"/>
            <a:r>
              <a:rPr lang="en-US" altLang="en-US" dirty="0" smtClean="0"/>
              <a:t>All subclasses are subtypes</a:t>
            </a:r>
          </a:p>
          <a:p>
            <a:pPr lvl="2" eaLnBrk="1" hangingPunct="1"/>
            <a:r>
              <a:rPr lang="en-US" altLang="en-US" dirty="0" smtClean="0"/>
              <a:t>Nothing defined in parent class can be removed</a:t>
            </a:r>
            <a:endParaRPr lang="en-US" altLang="en-US" dirty="0" smtClean="0"/>
          </a:p>
          <a:p>
            <a:pPr lvl="1" eaLnBrk="1" hangingPunct="1"/>
            <a:r>
              <a:rPr lang="en-US" altLang="en-US" dirty="0" smtClean="0"/>
              <a:t>Simple inheritance model</a:t>
            </a:r>
          </a:p>
          <a:p>
            <a:pPr lvl="2" eaLnBrk="1" hangingPunct="1"/>
            <a:r>
              <a:rPr lang="en-US" altLang="en-US" dirty="0" smtClean="0"/>
              <a:t>Methods with same name and protocol as a parent method override and hide the parent method</a:t>
            </a:r>
          </a:p>
          <a:p>
            <a:pPr lvl="2" eaLnBrk="1" hangingPunct="1"/>
            <a:r>
              <a:rPr lang="en-US" altLang="en-US" dirty="0" smtClean="0"/>
              <a:t>Access to overridden methods using </a:t>
            </a:r>
            <a:r>
              <a:rPr lang="en-US" altLang="en-US" dirty="0" smtClean="0">
                <a:latin typeface="Courier New" panose="02070309020205020404" pitchFamily="49" charset="0"/>
              </a:rPr>
              <a:t>super</a:t>
            </a:r>
          </a:p>
          <a:p>
            <a:pPr lvl="1" eaLnBrk="1" hangingPunct="1"/>
            <a:r>
              <a:rPr lang="en-US" altLang="en-US" dirty="0" smtClean="0"/>
              <a:t>No multiple inheritance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4397243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Support for OOP in Smalltalk</a:t>
            </a:r>
            <a:endParaRPr lang="en-ZA" dirty="0"/>
          </a:p>
        </p:txBody>
      </p:sp>
      <p:sp>
        <p:nvSpPr>
          <p:cNvPr id="3" name="Content Placeholder 2"/>
          <p:cNvSpPr>
            <a:spLocks noGrp="1"/>
          </p:cNvSpPr>
          <p:nvPr>
            <p:ph idx="1"/>
          </p:nvPr>
        </p:nvSpPr>
        <p:spPr/>
        <p:txBody>
          <a:bodyPr/>
          <a:lstStyle/>
          <a:p>
            <a:pPr eaLnBrk="1" hangingPunct="1"/>
            <a:r>
              <a:rPr lang="en-US" altLang="en-US" dirty="0" smtClean="0"/>
              <a:t>Dynamic binding</a:t>
            </a:r>
            <a:endParaRPr lang="en-US" altLang="en-US" dirty="0"/>
          </a:p>
          <a:p>
            <a:pPr lvl="1" eaLnBrk="1" hangingPunct="1"/>
            <a:r>
              <a:rPr lang="en-US" altLang="en-US" dirty="0"/>
              <a:t>All binding of messages to methods is dynamic</a:t>
            </a:r>
          </a:p>
          <a:p>
            <a:pPr lvl="2" eaLnBrk="1" hangingPunct="1"/>
            <a:r>
              <a:rPr lang="en-US" altLang="en-US" dirty="0"/>
              <a:t>Search for the correct method</a:t>
            </a:r>
          </a:p>
          <a:p>
            <a:pPr lvl="3" eaLnBrk="1" hangingPunct="1"/>
            <a:r>
              <a:rPr lang="en-US" altLang="en-US" dirty="0"/>
              <a:t>Start in the object to which the message is sent</a:t>
            </a:r>
          </a:p>
          <a:p>
            <a:pPr lvl="3" eaLnBrk="1" hangingPunct="1"/>
            <a:r>
              <a:rPr lang="en-US" altLang="en-US" dirty="0"/>
              <a:t>Continue up the class hierarchy, to </a:t>
            </a:r>
            <a:r>
              <a:rPr lang="en-US" altLang="en-US" dirty="0" smtClean="0">
                <a:latin typeface="Courier New" panose="02070309020205020404" pitchFamily="49" charset="0"/>
                <a:cs typeface="Courier New" panose="02070309020205020404" pitchFamily="49" charset="0"/>
              </a:rPr>
              <a:t>Object</a:t>
            </a:r>
            <a:endParaRPr lang="en-US" altLang="en-US" dirty="0"/>
          </a:p>
          <a:p>
            <a:pPr lvl="2" eaLnBrk="1" hangingPunct="1"/>
            <a:r>
              <a:rPr lang="en-US" altLang="en-US" dirty="0"/>
              <a:t>Another factor making Smalltalk slow</a:t>
            </a:r>
          </a:p>
        </p:txBody>
      </p:sp>
      <p:sp>
        <p:nvSpPr>
          <p:cNvPr id="4" name="Footer Placeholder 3"/>
          <p:cNvSpPr>
            <a:spLocks noGrp="1"/>
          </p:cNvSpPr>
          <p:nvPr>
            <p:ph type="ftr" sz="quarter" idx="10"/>
          </p:nvPr>
        </p:nvSpPr>
        <p:spPr/>
        <p:txBody>
          <a:bodyPr/>
          <a:lstStyle/>
          <a:p>
            <a:pPr>
              <a:defRPr/>
            </a:pPr>
            <a:r>
              <a:rPr lang="en-US" smtClean="0"/>
              <a:t>Copyright © 2012 Addison-Wesley. All rights reserved.</a:t>
            </a:r>
            <a:endParaRPr lang="en-US"/>
          </a:p>
        </p:txBody>
      </p:sp>
      <p:sp>
        <p:nvSpPr>
          <p:cNvPr id="5" name="Slide Number Placeholder 4"/>
          <p:cNvSpPr>
            <a:spLocks noGrp="1"/>
          </p:cNvSpPr>
          <p:nvPr>
            <p:ph type="sldNum" sz="quarter" idx="11"/>
          </p:nvPr>
        </p:nvSpPr>
        <p:spPr/>
        <p:txBody>
          <a:bodyPr/>
          <a:lstStyle/>
          <a:p>
            <a:pPr>
              <a:defRPr/>
            </a:pPr>
            <a:r>
              <a:rPr lang="en-US" altLang="en-US" smtClean="0"/>
              <a:t>1-</a:t>
            </a:r>
            <a:fld id="{EB10AE17-2325-4DC3-881B-9D7888EA69CD}" type="slidenum">
              <a:rPr lang="en-US" altLang="en-US" smtClean="0"/>
              <a:pPr>
                <a:defRPr/>
              </a:pPr>
              <a:t>26</a:t>
            </a:fld>
            <a:endParaRPr lang="en-US" altLang="en-US"/>
          </a:p>
        </p:txBody>
      </p:sp>
    </p:spTree>
    <p:extLst>
      <p:ext uri="{BB962C8B-B14F-4D97-AF65-F5344CB8AC3E}">
        <p14:creationId xmlns:p14="http://schemas.microsoft.com/office/powerpoint/2010/main" val="37062528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8283</TotalTime>
  <Words>3436</Words>
  <Application>Microsoft Office PowerPoint</Application>
  <PresentationFormat>On-screen Show (4:3)</PresentationFormat>
  <Paragraphs>437</Paragraphs>
  <Slides>26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Courier New</vt:lpstr>
      <vt:lpstr>Lucida Sans Unicode</vt:lpstr>
      <vt:lpstr>Times</vt:lpstr>
      <vt:lpstr>1_sebesta</vt:lpstr>
      <vt:lpstr>Chapter 12 Part 1</vt:lpstr>
      <vt:lpstr>Chapter 12 Topics</vt:lpstr>
      <vt:lpstr>Introduction</vt:lpstr>
      <vt:lpstr>Abstract Data Types (ADTs)</vt:lpstr>
      <vt:lpstr>Object-Oriented Programming</vt:lpstr>
      <vt:lpstr>Inheritance</vt:lpstr>
      <vt:lpstr>Object-Oriented Concepts</vt:lpstr>
      <vt:lpstr>Object-Oriented Concepts</vt:lpstr>
      <vt:lpstr>Object-Oriented Concepts</vt:lpstr>
      <vt:lpstr>Object-Oriented Concepts</vt:lpstr>
      <vt:lpstr>Dynamic Binding</vt:lpstr>
      <vt:lpstr>Dynamic Binding Concepts</vt:lpstr>
      <vt:lpstr>Design Issues for OOP Languages</vt:lpstr>
      <vt:lpstr>The Exclusivity of Objects</vt:lpstr>
      <vt:lpstr>The Exclusivity of Objects</vt:lpstr>
      <vt:lpstr>Are Subclasses Subtypes?</vt:lpstr>
      <vt:lpstr>Single and Multiple Inheritance</vt:lpstr>
      <vt:lpstr>Single and Multiple Inheritance</vt:lpstr>
      <vt:lpstr>Allocation and Deallocation of Objects</vt:lpstr>
      <vt:lpstr>Dynamic and Static Binding</vt:lpstr>
      <vt:lpstr>Nested Classes</vt:lpstr>
      <vt:lpstr>Initialization of Objects</vt:lpstr>
      <vt:lpstr>Support for OOP in Smalltalk</vt:lpstr>
      <vt:lpstr>Support for OOP in Smalltalk</vt:lpstr>
      <vt:lpstr>Support for OOP in Smalltalk</vt:lpstr>
      <vt:lpstr>Support for OOP in Smalltalk</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309</cp:revision>
  <dcterms:created xsi:type="dcterms:W3CDTF">2003-08-01T12:29:19Z</dcterms:created>
  <dcterms:modified xsi:type="dcterms:W3CDTF">2026-05-25T20:28:25Z</dcterms:modified>
</cp:coreProperties>
</file>