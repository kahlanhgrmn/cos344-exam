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6"/>
  </p:notesMasterIdLst>
  <p:sldIdLst>
    <p:sldId id="348" r:id="rId2"/>
    <p:sldId id="258" r:id="rId3"/>
    <p:sldId id="372" r:id="rId4"/>
    <p:sldId id="373" r:id="rId5"/>
    <p:sldId id="374" r:id="rId6"/>
    <p:sldId id="375" r:id="rId7"/>
    <p:sldId id="376" r:id="rId8"/>
    <p:sldId id="296" r:id="rId9"/>
    <p:sldId id="297" r:id="rId10"/>
    <p:sldId id="338" r:id="rId11"/>
    <p:sldId id="339" r:id="rId12"/>
    <p:sldId id="396" r:id="rId13"/>
    <p:sldId id="397" r:id="rId14"/>
    <p:sldId id="378" r:id="rId15"/>
    <p:sldId id="379" r:id="rId16"/>
    <p:sldId id="398" r:id="rId17"/>
    <p:sldId id="381" r:id="rId18"/>
    <p:sldId id="382" r:id="rId19"/>
    <p:sldId id="383" r:id="rId20"/>
    <p:sldId id="384" r:id="rId21"/>
    <p:sldId id="399" r:id="rId22"/>
    <p:sldId id="400" r:id="rId23"/>
    <p:sldId id="393" r:id="rId24"/>
    <p:sldId id="401" r:id="rId2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38" autoAdjust="0"/>
    <p:restoredTop sz="86424" autoAdjust="0"/>
  </p:normalViewPr>
  <p:slideViewPr>
    <p:cSldViewPr>
      <p:cViewPr varScale="1">
        <p:scale>
          <a:sx n="73" d="100"/>
          <a:sy n="73" d="100"/>
        </p:scale>
        <p:origin x="111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28B867D4-3D5E-44EC-95F6-553D3B22CBF0}" type="slidenum">
              <a:rPr lang="en-US" altLang="en-US"/>
              <a:pPr>
                <a:defRPr/>
              </a:pPr>
              <a:t>‹#›</a:t>
            </a:fld>
            <a:endParaRPr lang="en-US" altLang="en-US"/>
          </a:p>
        </p:txBody>
      </p:sp>
    </p:spTree>
    <p:extLst>
      <p:ext uri="{BB962C8B-B14F-4D97-AF65-F5344CB8AC3E}">
        <p14:creationId xmlns:p14="http://schemas.microsoft.com/office/powerpoint/2010/main" val="32815458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CEA835B-E755-440F-9641-F2AA4F397C97}"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6590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6AEABED-08AB-4AD7-B95D-07BC2F763EEE}"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solidFill>
            <a:srgbClr val="FFFFFF"/>
          </a:solidFill>
          <a:ln/>
        </p:spPr>
      </p:sp>
      <p:sp>
        <p:nvSpPr>
          <p:cNvPr id="7172" name="Rectangle 3"/>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smtClean="0"/>
          </a:p>
        </p:txBody>
      </p:sp>
    </p:spTree>
    <p:extLst>
      <p:ext uri="{BB962C8B-B14F-4D97-AF65-F5344CB8AC3E}">
        <p14:creationId xmlns:p14="http://schemas.microsoft.com/office/powerpoint/2010/main" val="2453101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4BB48F9-A99B-46C8-90C2-F985396F13E8}" type="slidenum">
              <a:rPr lang="en-US" altLang="en-US" sz="1300" smtClean="0"/>
              <a:pPr/>
              <a:t>3</a:t>
            </a:fld>
            <a:endParaRPr lang="en-US" altLang="en-US" sz="1300" smtClean="0"/>
          </a:p>
        </p:txBody>
      </p:sp>
      <p:sp>
        <p:nvSpPr>
          <p:cNvPr id="52227" name="Rectangle 2"/>
          <p:cNvSpPr>
            <a:spLocks noGrp="1" noRot="1" noChangeAspect="1" noChangeArrowheads="1" noTextEdit="1"/>
          </p:cNvSpPr>
          <p:nvPr>
            <p:ph type="sldImg"/>
          </p:nvPr>
        </p:nvSpPr>
        <p:spPr>
          <a:xfrm>
            <a:off x="992188" y="768350"/>
            <a:ext cx="5114925" cy="3836988"/>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566575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DEE7B14-BEC9-41AE-A6DD-E197FA7E4FFE}" type="slidenum">
              <a:rPr lang="en-US" altLang="en-US" sz="1300" smtClean="0"/>
              <a:pPr/>
              <a:t>4</a:t>
            </a:fld>
            <a:endParaRPr lang="en-US" altLang="en-US" sz="1300" smtClean="0"/>
          </a:p>
        </p:txBody>
      </p:sp>
      <p:sp>
        <p:nvSpPr>
          <p:cNvPr id="54275" name="Rectangle 2"/>
          <p:cNvSpPr>
            <a:spLocks noGrp="1" noRot="1" noChangeAspect="1" noChangeArrowheads="1" noTextEdit="1"/>
          </p:cNvSpPr>
          <p:nvPr>
            <p:ph type="sldImg"/>
          </p:nvPr>
        </p:nvSpPr>
        <p:spPr>
          <a:xfrm>
            <a:off x="992188" y="768350"/>
            <a:ext cx="5114925" cy="3836988"/>
          </a:xfrm>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2454233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1204526-36EA-458A-AF4A-8A55E3C45B60}" type="slidenum">
              <a:rPr lang="en-US" altLang="en-US" sz="1300" smtClean="0"/>
              <a:pPr/>
              <a:t>5</a:t>
            </a:fld>
            <a:endParaRPr lang="en-US" altLang="en-US" sz="1300" smtClean="0"/>
          </a:p>
        </p:txBody>
      </p:sp>
      <p:sp>
        <p:nvSpPr>
          <p:cNvPr id="56323" name="Rectangle 2"/>
          <p:cNvSpPr>
            <a:spLocks noGrp="1" noRot="1" noChangeAspect="1" noChangeArrowheads="1" noTextEdit="1"/>
          </p:cNvSpPr>
          <p:nvPr>
            <p:ph type="sldImg"/>
          </p:nvPr>
        </p:nvSpPr>
        <p:spPr>
          <a:xfrm>
            <a:off x="992188" y="768350"/>
            <a:ext cx="5114925" cy="3836988"/>
          </a:xfrm>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Don’t confuse the concept of public and private inheritance with the concept of public and private members.</a:t>
            </a:r>
          </a:p>
          <a:p>
            <a:pPr eaLnBrk="1" hangingPunct="1"/>
            <a:endParaRPr lang="en-GB" altLang="en-US" dirty="0" smtClean="0"/>
          </a:p>
          <a:p>
            <a:pPr eaLnBrk="1" hangingPunct="1"/>
            <a:r>
              <a:rPr lang="en-GB" altLang="en-US" dirty="0" smtClean="0"/>
              <a:t>Public derivation is the most commonly used, and works in the most natural way. Public subclasses are always subtypes of their parent classes.</a:t>
            </a:r>
          </a:p>
          <a:p>
            <a:pPr eaLnBrk="1" hangingPunct="1"/>
            <a:endParaRPr lang="en-GB" altLang="en-US" dirty="0" smtClean="0"/>
          </a:p>
          <a:p>
            <a:pPr eaLnBrk="1" hangingPunct="1"/>
            <a:r>
              <a:rPr lang="en-GB" altLang="en-US" dirty="0" smtClean="0"/>
              <a:t>If class B privately inherits from A, everything that is public and protected in A is inherited by B, but is made private in B. Can you explain why this means that B is not a subtype of A? Can you think of a situation in which this would be useful?</a:t>
            </a:r>
          </a:p>
          <a:p>
            <a:pPr eaLnBrk="1" hangingPunct="1"/>
            <a:endParaRPr lang="en-GB" altLang="en-US" dirty="0" smtClean="0"/>
          </a:p>
          <a:p>
            <a:pPr eaLnBrk="1" hangingPunct="1"/>
            <a:r>
              <a:rPr lang="en-GB" altLang="en-US" dirty="0" smtClean="0"/>
              <a:t>There is also protected inheritance (not discussed in the textbook), which does the same kind of thing as private inheritance, but makes the inherited members protected (instead</a:t>
            </a:r>
            <a:r>
              <a:rPr lang="en-GB" altLang="en-US" baseline="0" dirty="0" smtClean="0"/>
              <a:t> of</a:t>
            </a:r>
            <a:r>
              <a:rPr lang="en-GB" altLang="en-US" dirty="0" smtClean="0"/>
              <a:t> private). Consider how the effect of protected inheritance is different to private inheritance.</a:t>
            </a:r>
          </a:p>
        </p:txBody>
      </p:sp>
    </p:spTree>
    <p:extLst>
      <p:ext uri="{BB962C8B-B14F-4D97-AF65-F5344CB8AC3E}">
        <p14:creationId xmlns:p14="http://schemas.microsoft.com/office/powerpoint/2010/main" val="1837271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107650F-269E-4D42-A111-E72E12754E35}" type="slidenum">
              <a:rPr lang="en-US" altLang="en-US" sz="1300" smtClean="0"/>
              <a:pPr/>
              <a:t>6</a:t>
            </a:fld>
            <a:endParaRPr lang="en-US" altLang="en-US" sz="1300" smtClean="0"/>
          </a:p>
        </p:txBody>
      </p:sp>
      <p:sp>
        <p:nvSpPr>
          <p:cNvPr id="58371" name="Rectangle 2"/>
          <p:cNvSpPr>
            <a:spLocks noGrp="1" noRot="1" noChangeAspect="1" noChangeArrowheads="1" noTextEdit="1"/>
          </p:cNvSpPr>
          <p:nvPr>
            <p:ph type="sldImg"/>
          </p:nvPr>
        </p:nvSpPr>
        <p:spPr>
          <a:xfrm>
            <a:off x="992188" y="768350"/>
            <a:ext cx="5114925" cy="3836988"/>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061103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3DE1290-2A78-46E7-9A41-386EF941AEA5}" type="slidenum">
              <a:rPr lang="en-US" altLang="en-US" sz="1300" smtClean="0"/>
              <a:pPr/>
              <a:t>7</a:t>
            </a:fld>
            <a:endParaRPr lang="en-US" altLang="en-US" sz="1300" smtClean="0"/>
          </a:p>
        </p:txBody>
      </p:sp>
      <p:sp>
        <p:nvSpPr>
          <p:cNvPr id="60419" name="Rectangle 2"/>
          <p:cNvSpPr>
            <a:spLocks noGrp="1" noRot="1" noChangeAspect="1" noChangeArrowheads="1" noTextEdit="1"/>
          </p:cNvSpPr>
          <p:nvPr>
            <p:ph type="sldImg"/>
          </p:nvPr>
        </p:nvSpPr>
        <p:spPr>
          <a:xfrm>
            <a:off x="992188" y="768350"/>
            <a:ext cx="5114925" cy="3836988"/>
          </a:xfrm>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code example assumes that </a:t>
            </a:r>
            <a:r>
              <a:rPr lang="en-GB" altLang="en-US" dirty="0" err="1" smtClean="0"/>
              <a:t>base_class</a:t>
            </a:r>
            <a:r>
              <a:rPr lang="en-GB" altLang="en-US" dirty="0" smtClean="0"/>
              <a:t> has a member named c. sub_class_3 then inherits privately from </a:t>
            </a:r>
            <a:r>
              <a:rPr lang="en-GB" altLang="en-US" dirty="0" err="1" smtClean="0"/>
              <a:t>base_class</a:t>
            </a:r>
            <a:r>
              <a:rPr lang="en-GB" altLang="en-US" dirty="0" smtClean="0"/>
              <a:t>, but chooses to make it available again by explicitly re-exporting it.</a:t>
            </a:r>
          </a:p>
          <a:p>
            <a:pPr eaLnBrk="1" hangingPunct="1"/>
            <a:endParaRPr lang="en-GB" altLang="en-US" dirty="0" smtClean="0"/>
          </a:p>
          <a:p>
            <a:pPr eaLnBrk="1" hangingPunct="1"/>
            <a:r>
              <a:rPr lang="en-GB" altLang="en-US" dirty="0" smtClean="0"/>
              <a:t>Note that the textbook doesn’t use the using reserved word. The approach used by the textbook works, but is deprecated in favour of what’s on this slide.</a:t>
            </a:r>
          </a:p>
        </p:txBody>
      </p:sp>
    </p:spTree>
    <p:extLst>
      <p:ext uri="{BB962C8B-B14F-4D97-AF65-F5344CB8AC3E}">
        <p14:creationId xmlns:p14="http://schemas.microsoft.com/office/powerpoint/2010/main" val="3110420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F73DD36-990F-4844-8BEF-D89073085E63}" type="slidenum">
              <a:rPr lang="en-US" altLang="en-US" sz="1200" smtClean="0"/>
              <a:pPr/>
              <a:t>8</a:t>
            </a:fld>
            <a:endParaRPr lang="en-US" altLang="en-US" sz="1200"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67017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81F9C99-DF77-4B1C-A260-FE41414984C6}" type="slidenum">
              <a:rPr lang="en-US" altLang="en-US" sz="1200" smtClean="0"/>
              <a:pPr/>
              <a:t>9</a:t>
            </a:fld>
            <a:endParaRPr lang="en-US" altLang="en-US" sz="1200"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12199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There are a few cases where Java objects aren’t created using new. These include (amongst others):</a:t>
            </a:r>
          </a:p>
          <a:p>
            <a:endParaRPr lang="en-ZA" dirty="0" smtClean="0"/>
          </a:p>
          <a:p>
            <a:pPr marL="171450" indent="-171450">
              <a:buFontTx/>
              <a:buChar char="-"/>
            </a:pPr>
            <a:r>
              <a:rPr lang="en-ZA" dirty="0" smtClean="0"/>
              <a:t>When using an array initialiser.</a:t>
            </a:r>
          </a:p>
          <a:p>
            <a:pPr marL="171450" indent="-171450">
              <a:buFontTx/>
              <a:buChar char="-"/>
            </a:pPr>
            <a:r>
              <a:rPr lang="en-ZA" dirty="0" smtClean="0"/>
              <a:t>When</a:t>
            </a:r>
            <a:r>
              <a:rPr lang="en-ZA" baseline="0" dirty="0" smtClean="0"/>
              <a:t> using a String literal.</a:t>
            </a:r>
          </a:p>
          <a:p>
            <a:pPr marL="171450" indent="-171450">
              <a:buFontTx/>
              <a:buChar char="-"/>
            </a:pPr>
            <a:r>
              <a:rPr lang="en-ZA" baseline="0" dirty="0" smtClean="0"/>
              <a:t>When </a:t>
            </a:r>
            <a:r>
              <a:rPr lang="en-ZA" baseline="0" dirty="0" err="1" smtClean="0"/>
              <a:t>autoboxing</a:t>
            </a:r>
            <a:r>
              <a:rPr lang="en-ZA" baseline="0" dirty="0" smtClean="0"/>
              <a:t> and unboxing to create a wrapper for a primitive type.</a:t>
            </a:r>
            <a:endParaRPr lang="en-ZA" dirty="0"/>
          </a:p>
        </p:txBody>
      </p:sp>
      <p:sp>
        <p:nvSpPr>
          <p:cNvPr id="4" name="Slide Number Placeholder 3"/>
          <p:cNvSpPr>
            <a:spLocks noGrp="1"/>
          </p:cNvSpPr>
          <p:nvPr>
            <p:ph type="sldNum" sz="quarter" idx="10"/>
          </p:nvPr>
        </p:nvSpPr>
        <p:spPr/>
        <p:txBody>
          <a:bodyPr/>
          <a:lstStyle/>
          <a:p>
            <a:pPr>
              <a:defRPr/>
            </a:pPr>
            <a:fld id="{28B867D4-3D5E-44EC-95F6-553D3B22CBF0}" type="slidenum">
              <a:rPr lang="en-US" altLang="en-US" smtClean="0"/>
              <a:pPr>
                <a:defRPr/>
              </a:pPr>
              <a:t>13</a:t>
            </a:fld>
            <a:endParaRPr lang="en-US" altLang="en-US"/>
          </a:p>
        </p:txBody>
      </p:sp>
    </p:spTree>
    <p:extLst>
      <p:ext uri="{BB962C8B-B14F-4D97-AF65-F5344CB8AC3E}">
        <p14:creationId xmlns:p14="http://schemas.microsoft.com/office/powerpoint/2010/main" val="1413723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3F176D5-801A-406A-AA21-11612A2E90EC}" type="slidenum">
              <a:rPr lang="en-US" altLang="en-US" sz="1300" smtClean="0"/>
              <a:pPr/>
              <a:t>14</a:t>
            </a:fld>
            <a:endParaRPr lang="en-US" altLang="en-US" sz="1300" smtClean="0"/>
          </a:p>
        </p:txBody>
      </p:sp>
      <p:sp>
        <p:nvSpPr>
          <p:cNvPr id="70659" name="Rectangle 2"/>
          <p:cNvSpPr>
            <a:spLocks noGrp="1" noRot="1" noChangeAspect="1" noChangeArrowheads="1" noTextEdit="1"/>
          </p:cNvSpPr>
          <p:nvPr>
            <p:ph type="sldImg"/>
          </p:nvPr>
        </p:nvSpPr>
        <p:spPr>
          <a:xfrm>
            <a:off x="992188" y="768350"/>
            <a:ext cx="5114925" cy="3836988"/>
          </a:xfrm>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What effect does Java’s use of only single inheritance have in terms of the language evaluation criteria (particularly in comparison to C++)?</a:t>
            </a:r>
          </a:p>
        </p:txBody>
      </p:sp>
    </p:spTree>
    <p:extLst>
      <p:ext uri="{BB962C8B-B14F-4D97-AF65-F5344CB8AC3E}">
        <p14:creationId xmlns:p14="http://schemas.microsoft.com/office/powerpoint/2010/main" val="2787648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198ACA4-2FDB-4CBD-9A3D-3B2AD468F865}" type="slidenum">
              <a:rPr lang="en-US" altLang="en-US" sz="1300" smtClean="0"/>
              <a:pPr/>
              <a:t>15</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This means that Java uses dynamic message binding in all cases, except where static message binding is guaranteed to work. What tradeoffs are apparent here, in terms of the language evaluation criteria, when compared to C++ and Smalltalk?</a:t>
            </a:r>
          </a:p>
        </p:txBody>
      </p:sp>
    </p:spTree>
    <p:extLst>
      <p:ext uri="{BB962C8B-B14F-4D97-AF65-F5344CB8AC3E}">
        <p14:creationId xmlns:p14="http://schemas.microsoft.com/office/powerpoint/2010/main" val="3090227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0F488DC-DBE7-44F5-9E1C-FCD8BA528D5C}" type="slidenum">
              <a:rPr lang="en-US" altLang="en-US" sz="1300" smtClean="0"/>
              <a:pPr/>
              <a:t>16</a:t>
            </a:fld>
            <a:endParaRPr lang="en-US" altLang="en-US" sz="1300" smtClean="0"/>
          </a:p>
        </p:txBody>
      </p:sp>
      <p:sp>
        <p:nvSpPr>
          <p:cNvPr id="74755" name="Rectangle 2"/>
          <p:cNvSpPr>
            <a:spLocks noGrp="1" noRot="1" noChangeAspect="1" noChangeArrowheads="1" noTextEdit="1"/>
          </p:cNvSpPr>
          <p:nvPr>
            <p:ph type="sldImg"/>
          </p:nvPr>
        </p:nvSpPr>
        <p:spPr>
          <a:xfrm>
            <a:off x="992188" y="768350"/>
            <a:ext cx="5114925" cy="3836988"/>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Nested classes can be anonymous. Anonymous classes are classes without names, which are only meant to be used once. They are defined to inherit from an existing class, or to implement an existing interface, and then add their own functionality. For example, if we assume that the following interface is defined:</a:t>
            </a:r>
          </a:p>
          <a:p>
            <a:pPr eaLnBrk="1" hangingPunct="1"/>
            <a:endParaRPr lang="en-GB" altLang="en-US" dirty="0" smtClean="0"/>
          </a:p>
          <a:p>
            <a:pPr eaLnBrk="1" hangingPunct="1"/>
            <a:r>
              <a:rPr lang="en-ZA" altLang="en-US" dirty="0" smtClean="0"/>
              <a:t>interface HelloWorld {</a:t>
            </a:r>
          </a:p>
          <a:p>
            <a:pPr eaLnBrk="1" hangingPunct="1"/>
            <a:r>
              <a:rPr lang="en-ZA" altLang="en-US" dirty="0" smtClean="0"/>
              <a:t>   public void greet();</a:t>
            </a:r>
          </a:p>
          <a:p>
            <a:pPr eaLnBrk="1" hangingPunct="1"/>
            <a:r>
              <a:rPr lang="en-ZA" altLang="en-US" dirty="0" smtClean="0"/>
              <a:t>   public void </a:t>
            </a:r>
            <a:r>
              <a:rPr lang="en-ZA" altLang="en-US" dirty="0" err="1" smtClean="0"/>
              <a:t>greetSomeone</a:t>
            </a:r>
            <a:r>
              <a:rPr lang="en-ZA" altLang="en-US" dirty="0" smtClean="0"/>
              <a:t>(String someone);</a:t>
            </a:r>
          </a:p>
          <a:p>
            <a:pPr eaLnBrk="1" hangingPunct="1"/>
            <a:r>
              <a:rPr lang="en-ZA" altLang="en-US" dirty="0" smtClean="0"/>
              <a:t>}</a:t>
            </a:r>
            <a:endParaRPr lang="en-GB" altLang="en-US" dirty="0" smtClean="0"/>
          </a:p>
          <a:p>
            <a:pPr eaLnBrk="1" hangingPunct="1"/>
            <a:endParaRPr lang="en-GB" altLang="en-US" dirty="0" smtClean="0"/>
          </a:p>
          <a:p>
            <a:pPr eaLnBrk="1" hangingPunct="1"/>
            <a:r>
              <a:rPr lang="en-GB" altLang="en-US" dirty="0" smtClean="0"/>
              <a:t>Then we can create an anonymous class that implements the interface, like this:</a:t>
            </a:r>
          </a:p>
          <a:p>
            <a:pPr eaLnBrk="1" hangingPunct="1"/>
            <a:endParaRPr lang="en-GB" altLang="en-US" dirty="0" smtClean="0"/>
          </a:p>
          <a:p>
            <a:pPr eaLnBrk="1" hangingPunct="1"/>
            <a:r>
              <a:rPr lang="en-US" altLang="en-US" dirty="0" smtClean="0"/>
              <a:t>HelloWorld </a:t>
            </a:r>
            <a:r>
              <a:rPr lang="en-US" altLang="en-US" dirty="0" err="1" smtClean="0"/>
              <a:t>frenchGreeting</a:t>
            </a:r>
            <a:r>
              <a:rPr lang="en-US" altLang="en-US" dirty="0" smtClean="0"/>
              <a:t> = new HelloWorld() {</a:t>
            </a:r>
          </a:p>
          <a:p>
            <a:pPr eaLnBrk="1" hangingPunct="1"/>
            <a:endParaRPr lang="en-US" altLang="en-US" dirty="0" smtClean="0"/>
          </a:p>
          <a:p>
            <a:pPr eaLnBrk="1" hangingPunct="1"/>
            <a:r>
              <a:rPr lang="en-US" altLang="en-US" dirty="0" smtClean="0"/>
              <a:t>   String name = "tout le monde";</a:t>
            </a:r>
          </a:p>
          <a:p>
            <a:pPr eaLnBrk="1" hangingPunct="1"/>
            <a:endParaRPr lang="en-US" altLang="en-US" dirty="0" smtClean="0"/>
          </a:p>
          <a:p>
            <a:pPr eaLnBrk="1" hangingPunct="1"/>
            <a:r>
              <a:rPr lang="en-US" altLang="en-US" dirty="0" smtClean="0"/>
              <a:t>   public void greet() {</a:t>
            </a:r>
          </a:p>
          <a:p>
            <a:pPr eaLnBrk="1" hangingPunct="1"/>
            <a:r>
              <a:rPr lang="en-US" altLang="en-US" dirty="0" smtClean="0"/>
              <a:t>      </a:t>
            </a:r>
            <a:r>
              <a:rPr lang="en-US" altLang="en-US" dirty="0" err="1" smtClean="0"/>
              <a:t>greetSomeone</a:t>
            </a:r>
            <a:r>
              <a:rPr lang="en-US" altLang="en-US" dirty="0" smtClean="0"/>
              <a:t>("tout le monde");</a:t>
            </a:r>
          </a:p>
          <a:p>
            <a:pPr eaLnBrk="1" hangingPunct="1"/>
            <a:r>
              <a:rPr lang="en-US" altLang="en-US" dirty="0" smtClean="0"/>
              <a:t>   }</a:t>
            </a:r>
          </a:p>
          <a:p>
            <a:pPr eaLnBrk="1" hangingPunct="1"/>
            <a:endParaRPr lang="en-US" altLang="en-US" dirty="0" smtClean="0"/>
          </a:p>
          <a:p>
            <a:pPr eaLnBrk="1" hangingPunct="1"/>
            <a:r>
              <a:rPr lang="en-US" altLang="en-US" dirty="0" smtClean="0"/>
              <a:t>   public void </a:t>
            </a:r>
            <a:r>
              <a:rPr lang="en-US" altLang="en-US" dirty="0" err="1" smtClean="0"/>
              <a:t>greetSomeone</a:t>
            </a:r>
            <a:r>
              <a:rPr lang="en-US" altLang="en-US" dirty="0" smtClean="0"/>
              <a:t>(String someone) {</a:t>
            </a:r>
          </a:p>
          <a:p>
            <a:pPr eaLnBrk="1" hangingPunct="1"/>
            <a:r>
              <a:rPr lang="en-US" altLang="en-US" dirty="0" smtClean="0"/>
              <a:t>      name = someone;</a:t>
            </a:r>
          </a:p>
          <a:p>
            <a:pPr eaLnBrk="1" hangingPunct="1"/>
            <a:r>
              <a:rPr lang="en-US" altLang="en-US" dirty="0" smtClean="0"/>
              <a:t>      </a:t>
            </a:r>
            <a:r>
              <a:rPr lang="en-US" altLang="en-US" dirty="0" err="1" smtClean="0"/>
              <a:t>System.out.println</a:t>
            </a:r>
            <a:r>
              <a:rPr lang="en-US" altLang="en-US" dirty="0" smtClean="0"/>
              <a:t>("</a:t>
            </a:r>
            <a:r>
              <a:rPr lang="en-US" altLang="en-US" dirty="0" err="1" smtClean="0"/>
              <a:t>Salut</a:t>
            </a:r>
            <a:r>
              <a:rPr lang="en-US" altLang="en-US" dirty="0" smtClean="0"/>
              <a:t> " + name);</a:t>
            </a:r>
          </a:p>
          <a:p>
            <a:pPr eaLnBrk="1" hangingPunct="1"/>
            <a:r>
              <a:rPr lang="en-US" altLang="en-US" dirty="0" smtClean="0"/>
              <a:t>   }</a:t>
            </a:r>
          </a:p>
          <a:p>
            <a:pPr eaLnBrk="1" hangingPunct="1"/>
            <a:r>
              <a:rPr lang="en-US" altLang="en-US" dirty="0" smtClean="0"/>
              <a:t>};</a:t>
            </a:r>
          </a:p>
          <a:p>
            <a:pPr eaLnBrk="1" hangingPunct="1"/>
            <a:endParaRPr lang="en-ZA" altLang="en-US" dirty="0" smtClean="0"/>
          </a:p>
          <a:p>
            <a:pPr eaLnBrk="1" hangingPunct="1"/>
            <a:r>
              <a:rPr lang="en-ZA" altLang="en-US" dirty="0" smtClean="0"/>
              <a:t>We can then directly use the variable </a:t>
            </a:r>
            <a:r>
              <a:rPr lang="en-ZA" altLang="en-US" dirty="0" err="1" smtClean="0"/>
              <a:t>frenchGreeting</a:t>
            </a:r>
            <a:r>
              <a:rPr lang="en-ZA" altLang="en-US" dirty="0" smtClean="0"/>
              <a:t>. Note that </a:t>
            </a:r>
            <a:r>
              <a:rPr lang="en-ZA" altLang="en-US" dirty="0" err="1" smtClean="0"/>
              <a:t>frenchGreeting</a:t>
            </a:r>
            <a:r>
              <a:rPr lang="en-ZA" altLang="en-US" dirty="0" smtClean="0"/>
              <a:t> isn’t an object of a named class, but rather an object of an unnamed class that implements the HelloWorld interface. We just have to use this class once, so there’s no need to create an entirely separate class that has to be compiled into its own bytecode file.</a:t>
            </a:r>
            <a:endParaRPr lang="en-GB" altLang="en-US" dirty="0" smtClean="0"/>
          </a:p>
        </p:txBody>
      </p:sp>
    </p:spTree>
    <p:extLst>
      <p:ext uri="{BB962C8B-B14F-4D97-AF65-F5344CB8AC3E}">
        <p14:creationId xmlns:p14="http://schemas.microsoft.com/office/powerpoint/2010/main" val="3576448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17849EA-5F3D-4648-A343-4CD846E31990}" type="slidenum">
              <a:rPr lang="en-US" altLang="en-US" sz="1300" smtClean="0"/>
              <a:pPr/>
              <a:t>17</a:t>
            </a:fld>
            <a:endParaRPr lang="en-US" altLang="en-US" sz="1300" smtClean="0"/>
          </a:p>
        </p:txBody>
      </p:sp>
      <p:sp>
        <p:nvSpPr>
          <p:cNvPr id="76803" name="Rectangle 2"/>
          <p:cNvSpPr>
            <a:spLocks noGrp="1" noRot="1" noChangeAspect="1" noChangeArrowheads="1" noTextEdit="1"/>
          </p:cNvSpPr>
          <p:nvPr>
            <p:ph type="sldImg"/>
          </p:nvPr>
        </p:nvSpPr>
        <p:spPr>
          <a:xfrm>
            <a:off x="992188" y="768350"/>
            <a:ext cx="5114925" cy="3836988"/>
          </a:xfrm>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C++, a </a:t>
            </a:r>
            <a:r>
              <a:rPr lang="en-GB" altLang="en-US" dirty="0" err="1" smtClean="0"/>
              <a:t>struct</a:t>
            </a:r>
            <a:r>
              <a:rPr lang="en-GB" altLang="en-US" dirty="0" smtClean="0"/>
              <a:t> is very similar to a class. The</a:t>
            </a:r>
            <a:r>
              <a:rPr lang="en-GB" altLang="en-US" baseline="0" dirty="0" smtClean="0"/>
              <a:t> only difference is that the default access modifier is private in a class, and public in a </a:t>
            </a:r>
            <a:r>
              <a:rPr lang="en-GB" altLang="en-US" baseline="0" dirty="0" err="1" smtClean="0"/>
              <a:t>struct</a:t>
            </a:r>
            <a:r>
              <a:rPr lang="en-GB" altLang="en-US" baseline="0" dirty="0" smtClean="0"/>
              <a:t>.</a:t>
            </a:r>
            <a:r>
              <a:rPr lang="en-GB" altLang="en-US" dirty="0" smtClean="0"/>
              <a:t> In C# </a:t>
            </a:r>
            <a:r>
              <a:rPr lang="en-GB" altLang="en-US" dirty="0" err="1" smtClean="0"/>
              <a:t>structs</a:t>
            </a:r>
            <a:r>
              <a:rPr lang="en-GB" altLang="en-US" dirty="0" smtClean="0"/>
              <a:t> and classes are quite different, with </a:t>
            </a:r>
            <a:r>
              <a:rPr lang="en-GB" altLang="en-US" dirty="0" err="1" smtClean="0"/>
              <a:t>structs</a:t>
            </a:r>
            <a:r>
              <a:rPr lang="en-GB" altLang="en-US" dirty="0" smtClean="0"/>
              <a:t> intended for the very limited purpose of only storing data in a single syntactic unit, while classes are meant for proper OO programming.</a:t>
            </a:r>
          </a:p>
        </p:txBody>
      </p:sp>
    </p:spTree>
    <p:extLst>
      <p:ext uri="{BB962C8B-B14F-4D97-AF65-F5344CB8AC3E}">
        <p14:creationId xmlns:p14="http://schemas.microsoft.com/office/powerpoint/2010/main" val="788164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039CE95-E409-4D50-AFB7-79078740DDE2}" type="slidenum">
              <a:rPr lang="en-US" altLang="en-US" sz="1300" smtClean="0"/>
              <a:pPr/>
              <a:t>18</a:t>
            </a:fld>
            <a:endParaRPr lang="en-US" altLang="en-US" sz="1300" smtClean="0"/>
          </a:p>
        </p:txBody>
      </p:sp>
      <p:sp>
        <p:nvSpPr>
          <p:cNvPr id="78851" name="Rectangle 2"/>
          <p:cNvSpPr>
            <a:spLocks noGrp="1" noRot="1" noChangeAspect="1" noChangeArrowheads="1" noTextEdit="1"/>
          </p:cNvSpPr>
          <p:nvPr>
            <p:ph type="sldImg"/>
          </p:nvPr>
        </p:nvSpPr>
        <p:spPr>
          <a:xfrm>
            <a:off x="992188" y="768350"/>
            <a:ext cx="5114925" cy="3836988"/>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Try to answer the question on the slide.</a:t>
            </a:r>
          </a:p>
          <a:p>
            <a:pPr eaLnBrk="1" hangingPunct="1"/>
            <a:endParaRPr lang="en-GB" altLang="en-US" dirty="0" smtClean="0"/>
          </a:p>
          <a:p>
            <a:pPr eaLnBrk="1" hangingPunct="1"/>
            <a:r>
              <a:rPr lang="en-GB" altLang="en-US" dirty="0" smtClean="0"/>
              <a:t>C# does not support multiple inheritance. However, interfaces provide some of the benefits of multiple inheritance, in the same way they do in Java.</a:t>
            </a:r>
          </a:p>
        </p:txBody>
      </p:sp>
    </p:spTree>
    <p:extLst>
      <p:ext uri="{BB962C8B-B14F-4D97-AF65-F5344CB8AC3E}">
        <p14:creationId xmlns:p14="http://schemas.microsoft.com/office/powerpoint/2010/main" val="163193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E8F743F-0A5A-424E-A2D9-D0C78F3A4D43}" type="slidenum">
              <a:rPr lang="en-US" altLang="en-US" sz="1300" smtClean="0"/>
              <a:pPr/>
              <a:t>19</a:t>
            </a:fld>
            <a:endParaRPr lang="en-US" altLang="en-US" sz="1300" smtClean="0"/>
          </a:p>
        </p:txBody>
      </p:sp>
      <p:sp>
        <p:nvSpPr>
          <p:cNvPr id="80899" name="Rectangle 2"/>
          <p:cNvSpPr>
            <a:spLocks noGrp="1" noRot="1" noChangeAspect="1" noChangeArrowheads="1" noTextEdit="1"/>
          </p:cNvSpPr>
          <p:nvPr>
            <p:ph type="sldImg"/>
          </p:nvPr>
        </p:nvSpPr>
        <p:spPr>
          <a:xfrm>
            <a:off x="992188" y="768350"/>
            <a:ext cx="5114925" cy="3836988"/>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What is the effect of marking implemented virtual methods with the override keyword, in terms of the language evaluation criteria?</a:t>
            </a:r>
          </a:p>
          <a:p>
            <a:pPr eaLnBrk="1" hangingPunct="1"/>
            <a:endParaRPr lang="en-GB" altLang="en-US" smtClean="0"/>
          </a:p>
          <a:p>
            <a:pPr eaLnBrk="1" hangingPunct="1"/>
            <a:r>
              <a:rPr lang="en-GB" altLang="en-US" smtClean="0"/>
              <a:t>Compare the C# approach of marking abstract methods using an abstract keyword to the C++ approach (marking the abstract method as virtual, and adding “= 0” after it), in terms of the language evaluation criteria.</a:t>
            </a:r>
          </a:p>
        </p:txBody>
      </p:sp>
    </p:spTree>
    <p:extLst>
      <p:ext uri="{BB962C8B-B14F-4D97-AF65-F5344CB8AC3E}">
        <p14:creationId xmlns:p14="http://schemas.microsoft.com/office/powerpoint/2010/main" val="41481650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4AB5500-A037-41F9-B43D-1339C672F971}" type="slidenum">
              <a:rPr lang="en-US" altLang="en-US" sz="1300" smtClean="0"/>
              <a:pPr/>
              <a:t>20</a:t>
            </a:fld>
            <a:endParaRPr lang="en-US" altLang="en-US" sz="1300" smtClean="0"/>
          </a:p>
        </p:txBody>
      </p:sp>
      <p:sp>
        <p:nvSpPr>
          <p:cNvPr id="82947" name="Rectangle 2"/>
          <p:cNvSpPr>
            <a:spLocks noGrp="1" noRot="1" noChangeAspect="1" noChangeArrowheads="1" noTextEdit="1"/>
          </p:cNvSpPr>
          <p:nvPr>
            <p:ph type="sldImg"/>
          </p:nvPr>
        </p:nvSpPr>
        <p:spPr>
          <a:xfrm>
            <a:off x="992188" y="768350"/>
            <a:ext cx="5114925" cy="3836988"/>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82792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4AB5500-A037-41F9-B43D-1339C672F971}" type="slidenum">
              <a:rPr lang="en-US" altLang="en-US" sz="1300" smtClean="0"/>
              <a:pPr/>
              <a:t>21</a:t>
            </a:fld>
            <a:endParaRPr lang="en-US" altLang="en-US" sz="1300" smtClean="0"/>
          </a:p>
        </p:txBody>
      </p:sp>
      <p:sp>
        <p:nvSpPr>
          <p:cNvPr id="82947" name="Rectangle 2"/>
          <p:cNvSpPr>
            <a:spLocks noGrp="1" noRot="1" noChangeAspect="1" noChangeArrowheads="1" noTextEdit="1"/>
          </p:cNvSpPr>
          <p:nvPr>
            <p:ph type="sldImg"/>
          </p:nvPr>
        </p:nvSpPr>
        <p:spPr>
          <a:xfrm>
            <a:off x="992188" y="768350"/>
            <a:ext cx="5114925" cy="3836988"/>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Ruby has a similar approach to Smalltalk, in the sense that everything is represented as an object, and all operations are performed by means of message passing.</a:t>
            </a:r>
          </a:p>
        </p:txBody>
      </p:sp>
    </p:spTree>
    <p:extLst>
      <p:ext uri="{BB962C8B-B14F-4D97-AF65-F5344CB8AC3E}">
        <p14:creationId xmlns:p14="http://schemas.microsoft.com/office/powerpoint/2010/main" val="10360915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4AB5500-A037-41F9-B43D-1339C672F971}" type="slidenum">
              <a:rPr lang="en-US" altLang="en-US" sz="1300" smtClean="0"/>
              <a:pPr/>
              <a:t>22</a:t>
            </a:fld>
            <a:endParaRPr lang="en-US" altLang="en-US" sz="1300" smtClean="0"/>
          </a:p>
        </p:txBody>
      </p:sp>
      <p:sp>
        <p:nvSpPr>
          <p:cNvPr id="82947" name="Rectangle 2"/>
          <p:cNvSpPr>
            <a:spLocks noGrp="1" noRot="1" noChangeAspect="1" noChangeArrowheads="1" noTextEdit="1"/>
          </p:cNvSpPr>
          <p:nvPr>
            <p:ph type="sldImg"/>
          </p:nvPr>
        </p:nvSpPr>
        <p:spPr>
          <a:xfrm>
            <a:off x="992188" y="768350"/>
            <a:ext cx="5114925" cy="3836988"/>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What are the implications of all data being private in Ruby classes, in terms of the language evaluation criteria?</a:t>
            </a:r>
          </a:p>
          <a:p>
            <a:endParaRPr lang="en-ZA" altLang="en-US" dirty="0" smtClean="0"/>
          </a:p>
          <a:p>
            <a:r>
              <a:rPr lang="en-ZA" altLang="en-US" dirty="0" smtClean="0"/>
              <a:t>Regarding getter and setter shortcuts, consider the following example:</a:t>
            </a:r>
          </a:p>
          <a:p>
            <a:endParaRPr lang="en-ZA" altLang="en-US" dirty="0" smtClean="0"/>
          </a:p>
          <a:p>
            <a:r>
              <a:rPr lang="en-ZA" altLang="en-US" dirty="0" smtClean="0"/>
              <a:t>class Person</a:t>
            </a:r>
          </a:p>
          <a:p>
            <a:r>
              <a:rPr lang="en-ZA" altLang="en-US" dirty="0" smtClean="0"/>
              <a:t>   </a:t>
            </a:r>
            <a:r>
              <a:rPr lang="en-ZA" altLang="en-US" dirty="0" err="1" smtClean="0"/>
              <a:t>attr_reader</a:t>
            </a:r>
            <a:r>
              <a:rPr lang="en-ZA" altLang="en-US" dirty="0" smtClean="0"/>
              <a:t> :age</a:t>
            </a:r>
          </a:p>
          <a:p>
            <a:r>
              <a:rPr lang="en-ZA" altLang="en-US" dirty="0" smtClean="0"/>
              <a:t>   ...</a:t>
            </a:r>
          </a:p>
          <a:p>
            <a:r>
              <a:rPr lang="en-ZA" altLang="en-US" dirty="0" smtClean="0"/>
              <a:t>end</a:t>
            </a:r>
          </a:p>
          <a:p>
            <a:endParaRPr lang="en-ZA" altLang="en-US" dirty="0" smtClean="0"/>
          </a:p>
          <a:p>
            <a:r>
              <a:rPr lang="en-ZA" altLang="en-US" dirty="0" smtClean="0"/>
              <a:t>Here an accessor is automatically created for the age member variable. Also provided by Ruby are </a:t>
            </a:r>
            <a:r>
              <a:rPr lang="en-ZA" altLang="en-US" dirty="0" err="1" smtClean="0"/>
              <a:t>attr_writer</a:t>
            </a:r>
            <a:r>
              <a:rPr lang="en-ZA" altLang="en-US" dirty="0" smtClean="0"/>
              <a:t>, which creates a setter, and </a:t>
            </a:r>
            <a:r>
              <a:rPr lang="en-ZA" altLang="en-US" dirty="0" err="1" smtClean="0"/>
              <a:t>attr_accessor</a:t>
            </a:r>
            <a:r>
              <a:rPr lang="en-ZA" altLang="en-US" dirty="0" smtClean="0"/>
              <a:t>, which creates both a getter and a setter. This kind of notation is really just a shortcut for explicitly defining getters and setters.</a:t>
            </a:r>
            <a:endParaRPr lang="en-US" altLang="en-US" dirty="0" smtClean="0"/>
          </a:p>
        </p:txBody>
      </p:sp>
    </p:spTree>
    <p:extLst>
      <p:ext uri="{BB962C8B-B14F-4D97-AF65-F5344CB8AC3E}">
        <p14:creationId xmlns:p14="http://schemas.microsoft.com/office/powerpoint/2010/main" val="39194130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1462354-0ADD-4AA8-A03A-83FBDD65EAC9}" type="slidenum">
              <a:rPr lang="en-US" altLang="en-US" sz="1200" smtClean="0"/>
              <a:pPr/>
              <a:t>23</a:t>
            </a:fld>
            <a:endParaRPr lang="en-US" altLang="en-US" sz="1200" smtClean="0"/>
          </a:p>
        </p:txBody>
      </p:sp>
    </p:spTree>
    <p:extLst>
      <p:ext uri="{BB962C8B-B14F-4D97-AF65-F5344CB8AC3E}">
        <p14:creationId xmlns:p14="http://schemas.microsoft.com/office/powerpoint/2010/main" val="3585702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1462354-0ADD-4AA8-A03A-83FBDD65EAC9}" type="slidenum">
              <a:rPr lang="en-US" altLang="en-US" sz="1200" smtClean="0"/>
              <a:pPr/>
              <a:t>24</a:t>
            </a:fld>
            <a:endParaRPr lang="en-US" altLang="en-US" sz="1200" smtClean="0"/>
          </a:p>
        </p:txBody>
      </p:sp>
    </p:spTree>
    <p:extLst>
      <p:ext uri="{BB962C8B-B14F-4D97-AF65-F5344CB8AC3E}">
        <p14:creationId xmlns:p14="http://schemas.microsoft.com/office/powerpoint/2010/main" val="35340833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42088"/>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p>
        </p:txBody>
      </p:sp>
      <p:sp>
        <p:nvSpPr>
          <p:cNvPr id="91138"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91139"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6" name="Picture 5"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0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B10AE17-2325-4DC3-881B-9D7888EA69CD}" type="slidenum">
              <a:rPr lang="en-US" altLang="en-US"/>
              <a:pPr>
                <a:defRPr/>
              </a:pPr>
              <a:t>‹#›</a:t>
            </a:fld>
            <a:endParaRPr lang="en-US" altLang="en-US"/>
          </a:p>
        </p:txBody>
      </p:sp>
    </p:spTree>
    <p:extLst>
      <p:ext uri="{BB962C8B-B14F-4D97-AF65-F5344CB8AC3E}">
        <p14:creationId xmlns:p14="http://schemas.microsoft.com/office/powerpoint/2010/main" val="1261475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FB3D2B2-EC8F-4C9E-ABD9-BDA091653D72}" type="slidenum">
              <a:rPr lang="en-US" altLang="en-US"/>
              <a:pPr>
                <a:defRPr/>
              </a:pPr>
              <a:t>‹#›</a:t>
            </a:fld>
            <a:endParaRPr lang="en-US" altLang="en-US"/>
          </a:p>
        </p:txBody>
      </p:sp>
    </p:spTree>
    <p:extLst>
      <p:ext uri="{BB962C8B-B14F-4D97-AF65-F5344CB8AC3E}">
        <p14:creationId xmlns:p14="http://schemas.microsoft.com/office/powerpoint/2010/main" val="164391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53A993CC-C9E0-4A46-A6C0-63BC335B565A}" type="slidenum">
              <a:rPr lang="en-US" altLang="en-US"/>
              <a:pPr>
                <a:defRPr/>
              </a:pPr>
              <a:t>‹#›</a:t>
            </a:fld>
            <a:endParaRPr lang="en-US" altLang="en-US"/>
          </a:p>
        </p:txBody>
      </p:sp>
    </p:spTree>
    <p:extLst>
      <p:ext uri="{BB962C8B-B14F-4D97-AF65-F5344CB8AC3E}">
        <p14:creationId xmlns:p14="http://schemas.microsoft.com/office/powerpoint/2010/main" val="45682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691326B1-3711-48EC-BD8E-2650C2AB4A1F}" type="slidenum">
              <a:rPr lang="en-US" altLang="en-US"/>
              <a:pPr>
                <a:defRPr/>
              </a:pPr>
              <a:t>‹#›</a:t>
            </a:fld>
            <a:endParaRPr lang="en-US" altLang="en-US"/>
          </a:p>
        </p:txBody>
      </p:sp>
    </p:spTree>
    <p:extLst>
      <p:ext uri="{BB962C8B-B14F-4D97-AF65-F5344CB8AC3E}">
        <p14:creationId xmlns:p14="http://schemas.microsoft.com/office/powerpoint/2010/main" val="1068312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75732CFA-F1D2-4587-8628-2C97A35D541A}" type="slidenum">
              <a:rPr lang="en-US" altLang="en-US"/>
              <a:pPr>
                <a:defRPr/>
              </a:pPr>
              <a:t>‹#›</a:t>
            </a:fld>
            <a:endParaRPr lang="en-US" altLang="en-US"/>
          </a:p>
        </p:txBody>
      </p:sp>
    </p:spTree>
    <p:extLst>
      <p:ext uri="{BB962C8B-B14F-4D97-AF65-F5344CB8AC3E}">
        <p14:creationId xmlns:p14="http://schemas.microsoft.com/office/powerpoint/2010/main" val="1399982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E0BF1E6F-D259-41A5-B8FD-9E9DDED46061}" type="slidenum">
              <a:rPr lang="en-US" altLang="en-US"/>
              <a:pPr>
                <a:defRPr/>
              </a:pPr>
              <a:t>‹#›</a:t>
            </a:fld>
            <a:endParaRPr lang="en-US" altLang="en-US"/>
          </a:p>
        </p:txBody>
      </p:sp>
    </p:spTree>
    <p:extLst>
      <p:ext uri="{BB962C8B-B14F-4D97-AF65-F5344CB8AC3E}">
        <p14:creationId xmlns:p14="http://schemas.microsoft.com/office/powerpoint/2010/main" val="258490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895E29FE-D406-4817-9044-C9C7FE8FA7EB}" type="slidenum">
              <a:rPr lang="en-US" altLang="en-US"/>
              <a:pPr>
                <a:defRPr/>
              </a:pPr>
              <a:t>‹#›</a:t>
            </a:fld>
            <a:endParaRPr lang="en-US" altLang="en-US"/>
          </a:p>
        </p:txBody>
      </p:sp>
    </p:spTree>
    <p:extLst>
      <p:ext uri="{BB962C8B-B14F-4D97-AF65-F5344CB8AC3E}">
        <p14:creationId xmlns:p14="http://schemas.microsoft.com/office/powerpoint/2010/main" val="145810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E224AC78-870A-4E1A-9307-D70B95280824}" type="slidenum">
              <a:rPr lang="en-US" altLang="en-US"/>
              <a:pPr>
                <a:defRPr/>
              </a:pPr>
              <a:t>‹#›</a:t>
            </a:fld>
            <a:endParaRPr lang="en-US" altLang="en-US"/>
          </a:p>
        </p:txBody>
      </p:sp>
    </p:spTree>
    <p:extLst>
      <p:ext uri="{BB962C8B-B14F-4D97-AF65-F5344CB8AC3E}">
        <p14:creationId xmlns:p14="http://schemas.microsoft.com/office/powerpoint/2010/main" val="1541211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8E0A1FA-5933-4182-A642-A6E24D90F545}" type="slidenum">
              <a:rPr lang="en-US" altLang="en-US"/>
              <a:pPr>
                <a:defRPr/>
              </a:pPr>
              <a:t>‹#›</a:t>
            </a:fld>
            <a:endParaRPr lang="en-US" altLang="en-US"/>
          </a:p>
        </p:txBody>
      </p:sp>
    </p:spTree>
    <p:extLst>
      <p:ext uri="{BB962C8B-B14F-4D97-AF65-F5344CB8AC3E}">
        <p14:creationId xmlns:p14="http://schemas.microsoft.com/office/powerpoint/2010/main" val="1714035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1264D2E7-8CE4-4AE7-BFA5-47F9FBA3DDB4}" type="slidenum">
              <a:rPr lang="en-US" altLang="en-US"/>
              <a:pPr>
                <a:defRPr/>
              </a:pPr>
              <a:t>‹#›</a:t>
            </a:fld>
            <a:endParaRPr lang="en-US" altLang="en-US"/>
          </a:p>
        </p:txBody>
      </p:sp>
    </p:spTree>
    <p:extLst>
      <p:ext uri="{BB962C8B-B14F-4D97-AF65-F5344CB8AC3E}">
        <p14:creationId xmlns:p14="http://schemas.microsoft.com/office/powerpoint/2010/main" val="2848894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90116"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90117"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BF5394A2-B980-44E9-ACD8-69577FDA479B}"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759"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a:xfrm>
            <a:off x="304800" y="1371600"/>
            <a:ext cx="3657600" cy="1143000"/>
          </a:xfrm>
        </p:spPr>
        <p:txBody>
          <a:bodyPr/>
          <a:lstStyle/>
          <a:p>
            <a:pPr eaLnBrk="1" hangingPunct="1"/>
            <a:r>
              <a:rPr lang="en-US" altLang="en-US" dirty="0" smtClean="0"/>
              <a:t>Chapter 12</a:t>
            </a:r>
            <a:br>
              <a:rPr lang="en-US" altLang="en-US" dirty="0" smtClean="0"/>
            </a:br>
            <a:r>
              <a:rPr lang="en-US" altLang="en-US" sz="2800" dirty="0" smtClean="0"/>
              <a:t>Part 2</a:t>
            </a:r>
            <a:endParaRPr lang="en-US" altLang="en-US" dirty="0" smtClean="0"/>
          </a:p>
        </p:txBody>
      </p:sp>
      <p:sp>
        <p:nvSpPr>
          <p:cNvPr id="4099" name="Rectangle 5"/>
          <p:cNvSpPr>
            <a:spLocks noGrp="1" noChangeArrowheads="1"/>
          </p:cNvSpPr>
          <p:nvPr>
            <p:ph type="subTitle" idx="1"/>
          </p:nvPr>
        </p:nvSpPr>
        <p:spPr/>
        <p:txBody>
          <a:bodyPr/>
          <a:lstStyle/>
          <a:p>
            <a:pPr eaLnBrk="1" hangingPunct="1"/>
            <a:r>
              <a:rPr lang="en-US" altLang="en-US" dirty="0" smtClean="0"/>
              <a:t>Support for</a:t>
            </a:r>
            <a:br>
              <a:rPr lang="en-US" altLang="en-US" dirty="0" smtClean="0"/>
            </a:br>
            <a:r>
              <a:rPr lang="en-US" altLang="en-US" dirty="0" smtClean="0"/>
              <a:t>Object-Oriented Programming</a:t>
            </a:r>
          </a:p>
          <a:p>
            <a:pPr eaLnBrk="1" hangingPunct="1"/>
            <a:endParaRPr lang="en-US"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6268AC7-B954-4144-B6D6-D1457CB0E1CF}"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2"/>
          <p:cNvSpPr>
            <a:spLocks noGrp="1" noChangeArrowheads="1"/>
          </p:cNvSpPr>
          <p:nvPr>
            <p:ph type="title"/>
          </p:nvPr>
        </p:nvSpPr>
        <p:spPr/>
        <p:txBody>
          <a:bodyPr/>
          <a:lstStyle/>
          <a:p>
            <a:pPr eaLnBrk="1" hangingPunct="1"/>
            <a:r>
              <a:rPr lang="en-US" altLang="en-US" smtClean="0"/>
              <a:t>Chapter 12 Topics</a:t>
            </a:r>
          </a:p>
        </p:txBody>
      </p:sp>
      <p:sp>
        <p:nvSpPr>
          <p:cNvPr id="6149" name="Rectangle 3"/>
          <p:cNvSpPr>
            <a:spLocks noGrp="1" noChangeArrowheads="1"/>
          </p:cNvSpPr>
          <p:nvPr>
            <p:ph type="body" idx="1"/>
          </p:nvPr>
        </p:nvSpPr>
        <p:spPr>
          <a:xfrm>
            <a:off x="609600" y="1600200"/>
            <a:ext cx="8229600" cy="4800600"/>
          </a:xfrm>
        </p:spPr>
        <p:txBody>
          <a:bodyPr/>
          <a:lstStyle/>
          <a:p>
            <a:pPr eaLnBrk="1" hangingPunct="1"/>
            <a:r>
              <a:rPr lang="en-US" altLang="en-US" dirty="0" smtClean="0"/>
              <a:t>Support for OOP in C++</a:t>
            </a:r>
          </a:p>
          <a:p>
            <a:pPr eaLnBrk="1" hangingPunct="1"/>
            <a:r>
              <a:rPr lang="en-US" altLang="en-US" dirty="0" smtClean="0"/>
              <a:t>Support for OOP in Java</a:t>
            </a:r>
          </a:p>
          <a:p>
            <a:pPr eaLnBrk="1" hangingPunct="1"/>
            <a:r>
              <a:rPr lang="en-US" altLang="en-US" dirty="0" smtClean="0"/>
              <a:t>Support for OOP in C#</a:t>
            </a:r>
          </a:p>
          <a:p>
            <a:pPr eaLnBrk="1" hangingPunct="1"/>
            <a:r>
              <a:rPr lang="en-US" altLang="en-US" dirty="0" smtClean="0"/>
              <a:t>Support for OOP in Ruby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D142AB6-5E3D-4DE1-B4BA-0244C7E9D7A1}"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51203" name="Rectangle 2"/>
          <p:cNvSpPr>
            <a:spLocks noGrp="1" noChangeArrowheads="1"/>
          </p:cNvSpPr>
          <p:nvPr>
            <p:ph type="title"/>
          </p:nvPr>
        </p:nvSpPr>
        <p:spPr/>
        <p:txBody>
          <a:bodyPr/>
          <a:lstStyle/>
          <a:p>
            <a:pPr eaLnBrk="1" hangingPunct="1"/>
            <a:r>
              <a:rPr lang="en-US" altLang="en-US" dirty="0" smtClean="0"/>
              <a:t>Support for OOP in C++</a:t>
            </a:r>
          </a:p>
        </p:txBody>
      </p:sp>
      <p:sp>
        <p:nvSpPr>
          <p:cNvPr id="51204"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General Characteristics</a:t>
            </a:r>
          </a:p>
          <a:p>
            <a:pPr lvl="1" eaLnBrk="1" hangingPunct="1"/>
            <a:r>
              <a:rPr lang="en-US" altLang="en-US" dirty="0" smtClean="0"/>
              <a:t>Evolved from C and SIMULA 67</a:t>
            </a:r>
          </a:p>
          <a:p>
            <a:pPr lvl="1" eaLnBrk="1" hangingPunct="1"/>
            <a:r>
              <a:rPr lang="en-US" altLang="en-US" dirty="0" smtClean="0"/>
              <a:t>Among the most widely used OOP languages</a:t>
            </a:r>
          </a:p>
          <a:p>
            <a:pPr lvl="1" eaLnBrk="1" hangingPunct="1"/>
            <a:r>
              <a:rPr lang="en-US" altLang="en-US" dirty="0" smtClean="0"/>
              <a:t>Hybrid language</a:t>
            </a:r>
          </a:p>
          <a:p>
            <a:pPr lvl="2" eaLnBrk="1" hangingPunct="1"/>
            <a:r>
              <a:rPr lang="en-US" altLang="en-US" dirty="0" smtClean="0"/>
              <a:t>Mixed typing system</a:t>
            </a:r>
          </a:p>
          <a:p>
            <a:pPr lvl="3" eaLnBrk="1" hangingPunct="1"/>
            <a:r>
              <a:rPr lang="en-US" altLang="en-US" dirty="0" smtClean="0"/>
              <a:t>Imperative types (</a:t>
            </a:r>
            <a:r>
              <a:rPr lang="en-US" altLang="en-US" dirty="0" err="1" smtClean="0"/>
              <a:t>structs</a:t>
            </a:r>
            <a:r>
              <a:rPr lang="en-US" altLang="en-US" dirty="0" smtClean="0"/>
              <a:t>, unions, etc.)</a:t>
            </a:r>
          </a:p>
          <a:p>
            <a:pPr lvl="3" eaLnBrk="1" hangingPunct="1"/>
            <a:r>
              <a:rPr lang="en-US" altLang="en-US" dirty="0" smtClean="0"/>
              <a:t>Object-oriented classes</a:t>
            </a:r>
          </a:p>
          <a:p>
            <a:pPr lvl="2" eaLnBrk="1" hangingPunct="1"/>
            <a:r>
              <a:rPr lang="en-US" altLang="en-US" dirty="0" smtClean="0"/>
              <a:t>Allows functions that are not part of a class</a:t>
            </a:r>
          </a:p>
          <a:p>
            <a:pPr lvl="3" eaLnBrk="1" hangingPunct="1"/>
            <a:r>
              <a:rPr lang="en-US" altLang="en-US" dirty="0" smtClean="0"/>
              <a:t>Procedural and OO programming supported</a:t>
            </a:r>
          </a:p>
          <a:p>
            <a:pPr lvl="1" eaLnBrk="1" hangingPunct="1"/>
            <a:r>
              <a:rPr lang="en-US" altLang="en-US" dirty="0" smtClean="0"/>
              <a:t>Efficient execution</a:t>
            </a:r>
          </a:p>
          <a:p>
            <a:pPr lvl="2" eaLnBrk="1" hangingPunct="1"/>
            <a:r>
              <a:rPr lang="en-US" altLang="en-US" dirty="0" smtClean="0"/>
              <a:t>Smalltalk is ~10 times slower</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CABB4B5-B354-48A1-BB5F-A167A0E7E6DB}"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53251"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Inheritance in C++</a:t>
            </a:r>
          </a:p>
        </p:txBody>
      </p:sp>
      <p:sp>
        <p:nvSpPr>
          <p:cNvPr id="53252"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Inheritance</a:t>
            </a:r>
          </a:p>
          <a:p>
            <a:pPr lvl="1" eaLnBrk="1" hangingPunct="1"/>
            <a:r>
              <a:rPr lang="en-US" altLang="en-US" dirty="0" smtClean="0"/>
              <a:t>Class need not be a subclass of any class</a:t>
            </a:r>
          </a:p>
          <a:p>
            <a:pPr lvl="1" eaLnBrk="1" hangingPunct="1"/>
            <a:r>
              <a:rPr lang="en-US" altLang="en-US" dirty="0" smtClean="0"/>
              <a:t>Access controls for members are</a:t>
            </a:r>
          </a:p>
          <a:p>
            <a:pPr lvl="2" eaLnBrk="1" hangingPunct="1"/>
            <a:r>
              <a:rPr lang="en-US" altLang="en-US" dirty="0" smtClean="0"/>
              <a:t>Public</a:t>
            </a:r>
          </a:p>
          <a:p>
            <a:pPr lvl="3" eaLnBrk="1" hangingPunct="1"/>
            <a:r>
              <a:rPr lang="en-US" altLang="en-US" dirty="0" smtClean="0"/>
              <a:t>Member is visible to subclasses and clients</a:t>
            </a:r>
          </a:p>
          <a:p>
            <a:pPr lvl="2" eaLnBrk="1" hangingPunct="1"/>
            <a:r>
              <a:rPr lang="en-US" altLang="en-US" dirty="0" smtClean="0"/>
              <a:t>Private</a:t>
            </a:r>
          </a:p>
          <a:p>
            <a:pPr lvl="3" eaLnBrk="1" hangingPunct="1"/>
            <a:r>
              <a:rPr lang="en-US" altLang="en-US" dirty="0" smtClean="0"/>
              <a:t>Member is visible only to the class and friends</a:t>
            </a:r>
          </a:p>
          <a:p>
            <a:pPr lvl="2" eaLnBrk="1" hangingPunct="1"/>
            <a:r>
              <a:rPr lang="en-US" altLang="en-US" dirty="0" smtClean="0"/>
              <a:t>Protected</a:t>
            </a:r>
          </a:p>
          <a:p>
            <a:pPr lvl="3" eaLnBrk="1" hangingPunct="1"/>
            <a:r>
              <a:rPr lang="en-US" altLang="en-US" dirty="0" smtClean="0"/>
              <a:t>Member is visible to the class and in subclasses</a:t>
            </a:r>
          </a:p>
          <a:p>
            <a:pPr lvl="3" eaLnBrk="1" hangingPunct="1"/>
            <a:r>
              <a:rPr lang="en-US" altLang="en-US" dirty="0" smtClean="0"/>
              <a:t>Member is not visible to clients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84BF553-1CEE-47ED-ABA5-208F1CD7F354}"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55299"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Inheritance in C++</a:t>
            </a:r>
          </a:p>
        </p:txBody>
      </p:sp>
      <p:sp>
        <p:nvSpPr>
          <p:cNvPr id="55300"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Inheritance can also have access controls</a:t>
            </a:r>
          </a:p>
          <a:p>
            <a:pPr lvl="1" eaLnBrk="1" hangingPunct="1"/>
            <a:r>
              <a:rPr lang="en-US" altLang="en-US" dirty="0" smtClean="0"/>
              <a:t>Defines potential changes in the access controls of inherited members within subclasses</a:t>
            </a:r>
          </a:p>
          <a:p>
            <a:pPr lvl="1" eaLnBrk="1" hangingPunct="1"/>
            <a:r>
              <a:rPr lang="en-US" altLang="en-US" dirty="0" smtClean="0"/>
              <a:t>Two types</a:t>
            </a:r>
          </a:p>
          <a:p>
            <a:pPr lvl="2" eaLnBrk="1" hangingPunct="1"/>
            <a:r>
              <a:rPr lang="en-US" altLang="en-US" dirty="0" smtClean="0"/>
              <a:t>Public derivation</a:t>
            </a:r>
          </a:p>
          <a:p>
            <a:pPr lvl="3" eaLnBrk="1" hangingPunct="1"/>
            <a:r>
              <a:rPr lang="en-US" altLang="en-US" dirty="0" smtClean="0"/>
              <a:t>Inherited public and protected members remain public and protected in subclasses</a:t>
            </a:r>
          </a:p>
          <a:p>
            <a:pPr lvl="2" eaLnBrk="1" hangingPunct="1"/>
            <a:r>
              <a:rPr lang="en-US" altLang="en-US" dirty="0" smtClean="0"/>
              <a:t>Private derivation</a:t>
            </a:r>
          </a:p>
          <a:p>
            <a:pPr lvl="3" eaLnBrk="1" hangingPunct="1"/>
            <a:r>
              <a:rPr lang="en-US" altLang="en-US" dirty="0" smtClean="0"/>
              <a:t>Inherited public and protected members become private in subclasses</a:t>
            </a:r>
          </a:p>
          <a:p>
            <a:pPr lvl="3" eaLnBrk="1" hangingPunct="1"/>
            <a:r>
              <a:rPr lang="en-US" altLang="en-US" dirty="0" smtClean="0"/>
              <a:t>Disallows subclasses from being subtypes</a:t>
            </a:r>
          </a:p>
          <a:p>
            <a:pPr lvl="3" eaLnBrk="1" hangingPunct="1"/>
            <a:r>
              <a:rPr lang="en-US" altLang="en-US" dirty="0" smtClean="0"/>
              <a:t>When would this be useful?</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383A008-853A-4692-8446-516BBD2483F2}"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57347" name="Rectangle 2"/>
          <p:cNvSpPr>
            <a:spLocks noGrp="1" noChangeArrowheads="1"/>
          </p:cNvSpPr>
          <p:nvPr>
            <p:ph type="title"/>
          </p:nvPr>
        </p:nvSpPr>
        <p:spPr/>
        <p:txBody>
          <a:bodyPr/>
          <a:lstStyle/>
          <a:p>
            <a:pPr eaLnBrk="1" hangingPunct="1"/>
            <a:r>
              <a:rPr lang="en-US" altLang="en-US" smtClean="0"/>
              <a:t>Inheritance Example in C++</a:t>
            </a:r>
          </a:p>
        </p:txBody>
      </p:sp>
      <p:sp>
        <p:nvSpPr>
          <p:cNvPr id="57348" name="Rectangle 3"/>
          <p:cNvSpPr>
            <a:spLocks noGrp="1" noChangeArrowheads="1"/>
          </p:cNvSpPr>
          <p:nvPr>
            <p:ph type="body" idx="1"/>
          </p:nvPr>
        </p:nvSpPr>
        <p:spPr>
          <a:xfrm>
            <a:off x="685800" y="1600200"/>
            <a:ext cx="8153400" cy="4495800"/>
          </a:xfrm>
        </p:spPr>
        <p:txBody>
          <a:bodyPr/>
          <a:lstStyle/>
          <a:p>
            <a:pPr>
              <a:lnSpc>
                <a:spcPct val="80000"/>
              </a:lnSpc>
              <a:spcBef>
                <a:spcPct val="0"/>
              </a:spcBef>
              <a:buFontTx/>
              <a:buNone/>
            </a:pPr>
            <a:r>
              <a:rPr lang="en-US" altLang="en-US" sz="1800" b="1" dirty="0" smtClean="0">
                <a:latin typeface="Courier New" panose="02070309020205020404" pitchFamily="49" charset="0"/>
              </a:rPr>
              <a:t>class</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base_class</a:t>
            </a:r>
            <a:r>
              <a:rPr lang="en-US" altLang="en-US" sz="1800" dirty="0" smtClean="0">
                <a:latin typeface="Courier New" panose="02070309020205020404" pitchFamily="49" charset="0"/>
              </a:rPr>
              <a:t> {</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private</a:t>
            </a:r>
            <a:r>
              <a:rPr lang="en-US" altLang="en-US" sz="1800" dirty="0" smtClean="0">
                <a:latin typeface="Courier New" panose="02070309020205020404" pitchFamily="49" charset="0"/>
              </a:rPr>
              <a:t>:</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err="1" smtClean="0">
                <a:latin typeface="Courier New" panose="02070309020205020404" pitchFamily="49" charset="0"/>
              </a:rPr>
              <a:t>int</a:t>
            </a:r>
            <a:r>
              <a:rPr lang="en-US" altLang="en-US" sz="1800" dirty="0" smtClean="0">
                <a:latin typeface="Courier New" panose="02070309020205020404" pitchFamily="49" charset="0"/>
              </a:rPr>
              <a:t> a;</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float</a:t>
            </a:r>
            <a:r>
              <a:rPr lang="en-US" altLang="en-US" sz="1800" dirty="0" smtClean="0">
                <a:latin typeface="Courier New" panose="02070309020205020404" pitchFamily="49" charset="0"/>
              </a:rPr>
              <a:t> x;</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protected</a:t>
            </a:r>
            <a:r>
              <a:rPr lang="en-US" altLang="en-US" sz="1800" dirty="0" smtClean="0">
                <a:latin typeface="Courier New" panose="02070309020205020404" pitchFamily="49" charset="0"/>
              </a:rPr>
              <a:t>:</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err="1" smtClean="0">
                <a:latin typeface="Courier New" panose="02070309020205020404" pitchFamily="49" charset="0"/>
              </a:rPr>
              <a:t>int</a:t>
            </a:r>
            <a:r>
              <a:rPr lang="en-US" altLang="en-US" sz="1800" dirty="0" smtClean="0">
                <a:latin typeface="Courier New" panose="02070309020205020404" pitchFamily="49" charset="0"/>
              </a:rPr>
              <a:t> b;</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float</a:t>
            </a:r>
            <a:r>
              <a:rPr lang="en-US" altLang="en-US" sz="1800" dirty="0" smtClean="0">
                <a:latin typeface="Courier New" panose="02070309020205020404" pitchFamily="49" charset="0"/>
              </a:rPr>
              <a:t> y;</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public</a:t>
            </a:r>
            <a:r>
              <a:rPr lang="en-US" altLang="en-US" sz="1800" dirty="0" smtClean="0">
                <a:latin typeface="Courier New" panose="02070309020205020404" pitchFamily="49" charset="0"/>
              </a:rPr>
              <a:t>:</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err="1" smtClean="0">
                <a:latin typeface="Courier New" panose="02070309020205020404" pitchFamily="49" charset="0"/>
              </a:rPr>
              <a:t>int</a:t>
            </a:r>
            <a:r>
              <a:rPr lang="en-US" altLang="en-US" sz="1800" dirty="0" smtClean="0">
                <a:latin typeface="Courier New" panose="02070309020205020404" pitchFamily="49" charset="0"/>
              </a:rPr>
              <a:t> c;</a:t>
            </a:r>
          </a:p>
          <a:p>
            <a:pPr>
              <a:lnSpc>
                <a:spcPct val="80000"/>
              </a:lnSpc>
              <a:spcBef>
                <a:spcPct val="0"/>
              </a:spcBef>
              <a:buFontTx/>
              <a:buNone/>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float</a:t>
            </a:r>
            <a:r>
              <a:rPr lang="en-US" altLang="en-US" sz="1800" dirty="0" smtClean="0">
                <a:latin typeface="Courier New" panose="02070309020205020404" pitchFamily="49" charset="0"/>
              </a:rPr>
              <a:t> z;</a:t>
            </a:r>
          </a:p>
          <a:p>
            <a:pPr>
              <a:lnSpc>
                <a:spcPct val="80000"/>
              </a:lnSpc>
              <a:spcBef>
                <a:spcPct val="0"/>
              </a:spcBef>
              <a:buFontTx/>
              <a:buNone/>
            </a:pPr>
            <a:r>
              <a:rPr lang="en-US" altLang="en-US" sz="1800" dirty="0" smtClean="0">
                <a:latin typeface="Courier New" panose="02070309020205020404" pitchFamily="49" charset="0"/>
              </a:rPr>
              <a:t>};</a:t>
            </a:r>
          </a:p>
          <a:p>
            <a:pPr>
              <a:lnSpc>
                <a:spcPct val="80000"/>
              </a:lnSpc>
              <a:spcBef>
                <a:spcPct val="0"/>
              </a:spcBef>
              <a:buFontTx/>
              <a:buNone/>
            </a:pPr>
            <a:endParaRPr lang="en-US" altLang="en-US" sz="1800" dirty="0" smtClean="0">
              <a:latin typeface="Courier New" panose="02070309020205020404" pitchFamily="49" charset="0"/>
            </a:endParaRPr>
          </a:p>
          <a:p>
            <a:pPr>
              <a:lnSpc>
                <a:spcPct val="80000"/>
              </a:lnSpc>
              <a:spcBef>
                <a:spcPct val="0"/>
              </a:spcBef>
              <a:buFontTx/>
              <a:buNone/>
            </a:pPr>
            <a:r>
              <a:rPr lang="en-US" altLang="en-US" sz="1800" b="1" dirty="0" smtClean="0">
                <a:latin typeface="Courier New" panose="02070309020205020404" pitchFamily="49" charset="0"/>
              </a:rPr>
              <a:t>class</a:t>
            </a:r>
            <a:r>
              <a:rPr lang="en-US" altLang="en-US" sz="1800" dirty="0" smtClean="0">
                <a:latin typeface="Courier New" panose="02070309020205020404" pitchFamily="49" charset="0"/>
              </a:rPr>
              <a:t> subclass_1 : </a:t>
            </a:r>
            <a:r>
              <a:rPr lang="en-US" altLang="en-US" sz="1800" b="1" dirty="0" smtClean="0">
                <a:latin typeface="Courier New" panose="02070309020205020404" pitchFamily="49" charset="0"/>
              </a:rPr>
              <a:t>public</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base_class</a:t>
            </a:r>
            <a:r>
              <a:rPr lang="en-US" altLang="en-US" sz="1800" dirty="0" smtClean="0">
                <a:latin typeface="Courier New" panose="02070309020205020404" pitchFamily="49" charset="0"/>
              </a:rPr>
              <a:t> { </a:t>
            </a:r>
            <a:r>
              <a:rPr lang="en-US" altLang="en-US" sz="1800" dirty="0" smtClean="0"/>
              <a:t>...</a:t>
            </a:r>
            <a:r>
              <a:rPr lang="en-US" altLang="en-US" sz="1800" dirty="0" smtClean="0">
                <a:latin typeface="Courier New" panose="02070309020205020404" pitchFamily="49" charset="0"/>
              </a:rPr>
              <a:t> };</a:t>
            </a:r>
          </a:p>
          <a:p>
            <a:pPr>
              <a:lnSpc>
                <a:spcPct val="80000"/>
              </a:lnSpc>
              <a:spcBef>
                <a:spcPct val="0"/>
              </a:spcBef>
              <a:buFontTx/>
              <a:buNone/>
            </a:pPr>
            <a:r>
              <a:rPr lang="en-US" altLang="en-US" sz="1800" dirty="0" smtClean="0">
                <a:latin typeface="Courier New" panose="02070309020205020404" pitchFamily="49" charset="0"/>
              </a:rPr>
              <a:t>// Here, b and y are protected and c and z are public</a:t>
            </a:r>
          </a:p>
          <a:p>
            <a:pPr>
              <a:lnSpc>
                <a:spcPct val="80000"/>
              </a:lnSpc>
              <a:spcBef>
                <a:spcPct val="0"/>
              </a:spcBef>
              <a:buFontTx/>
              <a:buNone/>
            </a:pPr>
            <a:endParaRPr lang="en-US" altLang="en-US" sz="1800" dirty="0" smtClean="0">
              <a:latin typeface="Courier New" panose="02070309020205020404" pitchFamily="49" charset="0"/>
            </a:endParaRPr>
          </a:p>
          <a:p>
            <a:pPr>
              <a:lnSpc>
                <a:spcPct val="80000"/>
              </a:lnSpc>
              <a:spcBef>
                <a:spcPct val="0"/>
              </a:spcBef>
              <a:buFontTx/>
              <a:buNone/>
            </a:pPr>
            <a:r>
              <a:rPr lang="en-US" altLang="en-US" sz="1800" b="1" dirty="0" smtClean="0">
                <a:latin typeface="Courier New" panose="02070309020205020404" pitchFamily="49" charset="0"/>
              </a:rPr>
              <a:t>class</a:t>
            </a:r>
            <a:r>
              <a:rPr lang="en-US" altLang="en-US" sz="1800" dirty="0" smtClean="0">
                <a:latin typeface="Courier New" panose="02070309020205020404" pitchFamily="49" charset="0"/>
              </a:rPr>
              <a:t> subclass_2 : </a:t>
            </a:r>
            <a:r>
              <a:rPr lang="en-US" altLang="en-US" sz="1800" b="1" dirty="0" smtClean="0">
                <a:latin typeface="Courier New" panose="02070309020205020404" pitchFamily="49" charset="0"/>
              </a:rPr>
              <a:t>private</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base_class</a:t>
            </a:r>
            <a:r>
              <a:rPr lang="en-US" altLang="en-US" sz="1800" dirty="0" smtClean="0">
                <a:latin typeface="Courier New" panose="02070309020205020404" pitchFamily="49" charset="0"/>
              </a:rPr>
              <a:t> { </a:t>
            </a:r>
            <a:r>
              <a:rPr lang="en-US" altLang="en-US" sz="1800" dirty="0" smtClean="0"/>
              <a:t>...</a:t>
            </a:r>
            <a:r>
              <a:rPr lang="en-US" altLang="en-US" sz="1800" dirty="0" smtClean="0">
                <a:latin typeface="Courier New" panose="02070309020205020404" pitchFamily="49" charset="0"/>
              </a:rPr>
              <a:t> };</a:t>
            </a:r>
          </a:p>
          <a:p>
            <a:pPr>
              <a:lnSpc>
                <a:spcPct val="80000"/>
              </a:lnSpc>
              <a:spcBef>
                <a:spcPct val="0"/>
              </a:spcBef>
              <a:buFontTx/>
              <a:buNone/>
            </a:pPr>
            <a:r>
              <a:rPr lang="en-US" altLang="en-US" sz="1800" dirty="0" smtClean="0">
                <a:latin typeface="Courier New" panose="02070309020205020404" pitchFamily="49" charset="0"/>
              </a:rPr>
              <a:t>// Here, b, y, c, and z are private, and no derived class</a:t>
            </a:r>
          </a:p>
          <a:p>
            <a:pPr>
              <a:lnSpc>
                <a:spcPct val="80000"/>
              </a:lnSpc>
              <a:spcBef>
                <a:spcPct val="0"/>
              </a:spcBef>
              <a:buFontTx/>
              <a:buNone/>
            </a:pPr>
            <a:r>
              <a:rPr lang="en-US" altLang="en-US" sz="1800" dirty="0" smtClean="0">
                <a:latin typeface="Courier New" panose="02070309020205020404" pitchFamily="49" charset="0"/>
              </a:rPr>
              <a:t>// of subclass_2 has access to any member of </a:t>
            </a:r>
            <a:r>
              <a:rPr lang="en-US" altLang="en-US" sz="1800" dirty="0" err="1" smtClean="0">
                <a:latin typeface="Courier New" panose="02070309020205020404" pitchFamily="49" charset="0"/>
              </a:rPr>
              <a:t>base_class</a:t>
            </a:r>
            <a:endParaRPr lang="en-US" altLang="en-US" sz="1800" dirty="0" smtClean="0">
              <a:latin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BBC724B-8F8E-4A0B-A011-D82BA93750AF}"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59395" name="Rectangle 2"/>
          <p:cNvSpPr>
            <a:spLocks noGrp="1" noChangeArrowheads="1"/>
          </p:cNvSpPr>
          <p:nvPr>
            <p:ph type="title"/>
          </p:nvPr>
        </p:nvSpPr>
        <p:spPr/>
        <p:txBody>
          <a:bodyPr/>
          <a:lstStyle/>
          <a:p>
            <a:pPr eaLnBrk="1" hangingPunct="1"/>
            <a:r>
              <a:rPr lang="en-US" altLang="en-US" dirty="0" smtClean="0"/>
              <a:t>Re-Exportation in C++</a:t>
            </a:r>
          </a:p>
        </p:txBody>
      </p:sp>
      <p:sp>
        <p:nvSpPr>
          <p:cNvPr id="59396"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Members private due to private derivation</a:t>
            </a:r>
          </a:p>
          <a:p>
            <a:pPr lvl="1" eaLnBrk="1" hangingPunct="1"/>
            <a:r>
              <a:rPr lang="en-US" altLang="en-US" dirty="0" smtClean="0"/>
              <a:t>Can be re-exported</a:t>
            </a:r>
          </a:p>
          <a:p>
            <a:pPr lvl="2" eaLnBrk="1" hangingPunct="1"/>
            <a:r>
              <a:rPr lang="en-US" altLang="en-US" dirty="0" smtClean="0"/>
              <a:t>Makes the member visible</a:t>
            </a:r>
          </a:p>
          <a:p>
            <a:pPr lvl="2" eaLnBrk="1" hangingPunct="1"/>
            <a:r>
              <a:rPr lang="en-US" altLang="en-US" dirty="0" smtClean="0"/>
              <a:t>As if it had been inherited publicly</a:t>
            </a:r>
          </a:p>
          <a:p>
            <a:pPr lvl="1" eaLnBrk="1" hangingPunct="1"/>
            <a:r>
              <a:rPr lang="en-US" altLang="en-US" dirty="0" smtClean="0"/>
              <a:t>Use the scope resolution operator (</a:t>
            </a:r>
            <a:r>
              <a:rPr lang="en-US" altLang="en-US" b="1" dirty="0" smtClean="0">
                <a:latin typeface="Courier New" panose="02070309020205020404" pitchFamily="49" charset="0"/>
              </a:rPr>
              <a:t>::</a:t>
            </a:r>
            <a:r>
              <a:rPr lang="en-US" altLang="en-US" dirty="0" smtClean="0"/>
              <a:t>)</a:t>
            </a:r>
          </a:p>
          <a:p>
            <a:pPr>
              <a:lnSpc>
                <a:spcPct val="90000"/>
              </a:lnSpc>
              <a:spcBef>
                <a:spcPct val="0"/>
              </a:spcBef>
              <a:buFontTx/>
              <a:buNone/>
            </a:pPr>
            <a:endParaRPr lang="en-US" altLang="en-US" sz="1400" b="1" dirty="0" smtClean="0">
              <a:latin typeface="Courier New" panose="02070309020205020404" pitchFamily="49" charset="0"/>
            </a:endParaRPr>
          </a:p>
          <a:p>
            <a:pPr lvl="1">
              <a:lnSpc>
                <a:spcPct val="90000"/>
              </a:lnSpc>
              <a:spcBef>
                <a:spcPct val="0"/>
              </a:spcBef>
              <a:buFontTx/>
              <a:buNone/>
            </a:pPr>
            <a:r>
              <a:rPr lang="en-US" altLang="en-US" sz="1800" b="1" dirty="0" smtClean="0">
                <a:latin typeface="Courier New" panose="02070309020205020404" pitchFamily="49" charset="0"/>
              </a:rPr>
              <a:t>      class</a:t>
            </a:r>
            <a:r>
              <a:rPr lang="en-US" altLang="en-US" sz="1800" dirty="0" smtClean="0">
                <a:latin typeface="Courier New" panose="02070309020205020404" pitchFamily="49" charset="0"/>
              </a:rPr>
              <a:t> subclass_3 : </a:t>
            </a:r>
            <a:r>
              <a:rPr lang="en-US" altLang="en-US" sz="1800" b="1" dirty="0" smtClean="0">
                <a:latin typeface="Courier New" panose="02070309020205020404" pitchFamily="49" charset="0"/>
              </a:rPr>
              <a:t>private</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base_class</a:t>
            </a:r>
            <a:r>
              <a:rPr lang="en-US" altLang="en-US" sz="1800" dirty="0" smtClean="0">
                <a:latin typeface="Courier New" panose="02070309020205020404" pitchFamily="49" charset="0"/>
              </a:rPr>
              <a:t> {</a:t>
            </a:r>
          </a:p>
          <a:p>
            <a:pPr lvl="1">
              <a:lnSpc>
                <a:spcPct val="90000"/>
              </a:lnSpc>
              <a:spcBef>
                <a:spcPct val="0"/>
              </a:spcBef>
              <a:buFontTx/>
              <a:buNone/>
            </a:pPr>
            <a:r>
              <a:rPr lang="en-US" altLang="en-US" sz="1800" b="1" dirty="0" smtClean="0">
                <a:latin typeface="Courier New" panose="02070309020205020404" pitchFamily="49" charset="0"/>
              </a:rPr>
              <a:t>         using</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base_class</a:t>
            </a:r>
            <a:r>
              <a:rPr lang="en-US" altLang="en-US" sz="1800" dirty="0" smtClean="0">
                <a:latin typeface="Courier New" panose="02070309020205020404" pitchFamily="49" charset="0"/>
              </a:rPr>
              <a:t> :: c;</a:t>
            </a:r>
          </a:p>
          <a:p>
            <a:pPr lvl="1">
              <a:lnSpc>
                <a:spcPct val="90000"/>
              </a:lnSpc>
              <a:spcBef>
                <a:spcPct val="0"/>
              </a:spcBef>
              <a:buFontTx/>
              <a:buNone/>
            </a:pPr>
            <a:r>
              <a:rPr lang="en-US" altLang="en-US" sz="1800" dirty="0" smtClean="0">
                <a:latin typeface="Courier New" panose="02070309020205020404" pitchFamily="49" charset="0"/>
                <a:cs typeface="Courier New" panose="02070309020205020404" pitchFamily="49" charset="0"/>
              </a:rPr>
              <a:t>         ...</a:t>
            </a:r>
          </a:p>
          <a:p>
            <a:pPr lvl="1">
              <a:lnSpc>
                <a:spcPct val="90000"/>
              </a:lnSpc>
              <a:spcBef>
                <a:spcPct val="0"/>
              </a:spcBef>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endParaRPr lang="en-US" altLang="en-US" sz="3600"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29AA87E-4251-47EE-BFF2-04C5A5813853}"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dirty="0" smtClean="0"/>
              <a:t>Multiple Inheritance in C++</a:t>
            </a:r>
          </a:p>
        </p:txBody>
      </p:sp>
      <p:sp>
        <p:nvSpPr>
          <p:cNvPr id="61445"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Multiple inheritance is supported</a:t>
            </a:r>
          </a:p>
          <a:p>
            <a:pPr lvl="1" eaLnBrk="1" hangingPunct="1">
              <a:buFontTx/>
              <a:buNone/>
            </a:pPr>
            <a:endParaRPr lang="en-US" altLang="en-US" sz="1000" b="1" dirty="0" smtClean="0">
              <a:latin typeface="Courier New" panose="02070309020205020404" pitchFamily="49" charset="0"/>
              <a:cs typeface="Courier New" panose="02070309020205020404" pitchFamily="49" charset="0"/>
            </a:endParaRPr>
          </a:p>
          <a:p>
            <a:pPr lvl="1" eaLnBrk="1" hangingPunct="1">
              <a:buFontTx/>
              <a:buNone/>
            </a:pPr>
            <a:r>
              <a:rPr lang="en-US" altLang="en-US" sz="1800" b="1" dirty="0" smtClean="0">
                <a:latin typeface="Courier New" panose="02070309020205020404" pitchFamily="49" charset="0"/>
                <a:cs typeface="Courier New" panose="02070309020205020404" pitchFamily="49" charset="0"/>
              </a:rPr>
              <a:t>class</a:t>
            </a:r>
            <a:r>
              <a:rPr lang="en-US" altLang="en-US" sz="1800" dirty="0" smtClean="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rPr>
              <a:t>Thread { ... }</a:t>
            </a:r>
          </a:p>
          <a:p>
            <a:pPr lvl="1" eaLnBrk="1" hangingPunct="1">
              <a:buFontTx/>
              <a:buNone/>
            </a:pPr>
            <a:r>
              <a:rPr lang="en-US" altLang="en-US" sz="1800" b="1" dirty="0">
                <a:latin typeface="Courier New" panose="02070309020205020404" pitchFamily="49" charset="0"/>
                <a:cs typeface="Courier New" panose="02070309020205020404" pitchFamily="49" charset="0"/>
              </a:rPr>
              <a:t>class</a:t>
            </a:r>
            <a:r>
              <a:rPr lang="en-US" altLang="en-US" sz="1800" dirty="0">
                <a:latin typeface="Courier New" panose="02070309020205020404" pitchFamily="49" charset="0"/>
                <a:cs typeface="Courier New" panose="02070309020205020404" pitchFamily="49" charset="0"/>
              </a:rPr>
              <a:t> Drawing { ... }</a:t>
            </a:r>
          </a:p>
          <a:p>
            <a:pPr lvl="1" eaLnBrk="1" hangingPunct="1">
              <a:buFontTx/>
              <a:buNone/>
            </a:pPr>
            <a:r>
              <a:rPr lang="en-US" altLang="en-US" sz="1800" b="1" dirty="0">
                <a:latin typeface="Courier New" panose="02070309020205020404" pitchFamily="49" charset="0"/>
                <a:cs typeface="Courier New" panose="02070309020205020404" pitchFamily="49" charset="0"/>
              </a:rPr>
              <a:t>class</a:t>
            </a:r>
            <a:r>
              <a:rPr lang="en-US" altLang="en-US" sz="1800" dirty="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DrawThread</a:t>
            </a:r>
            <a:r>
              <a:rPr lang="en-US" altLang="en-US" sz="1800" dirty="0">
                <a:latin typeface="Courier New" panose="02070309020205020404" pitchFamily="49" charset="0"/>
                <a:cs typeface="Courier New" panose="02070309020205020404" pitchFamily="49" charset="0"/>
              </a:rPr>
              <a:t> : </a:t>
            </a:r>
            <a:r>
              <a:rPr lang="en-US" altLang="en-US" sz="1800" b="1" dirty="0">
                <a:latin typeface="Courier New" panose="02070309020205020404" pitchFamily="49" charset="0"/>
                <a:cs typeface="Courier New" panose="02070309020205020404" pitchFamily="49" charset="0"/>
              </a:rPr>
              <a:t>public</a:t>
            </a:r>
            <a:r>
              <a:rPr lang="en-US" altLang="en-US" sz="1800" dirty="0">
                <a:latin typeface="Courier New" panose="02070309020205020404" pitchFamily="49" charset="0"/>
                <a:cs typeface="Courier New" panose="02070309020205020404" pitchFamily="49" charset="0"/>
              </a:rPr>
              <a:t> Thread, </a:t>
            </a:r>
            <a:r>
              <a:rPr lang="en-US" altLang="en-US" sz="1800" b="1" dirty="0">
                <a:latin typeface="Courier New" panose="02070309020205020404" pitchFamily="49" charset="0"/>
                <a:cs typeface="Courier New" panose="02070309020205020404" pitchFamily="49" charset="0"/>
              </a:rPr>
              <a:t>public</a:t>
            </a:r>
            <a:r>
              <a:rPr lang="en-US" altLang="en-US" sz="1800" dirty="0">
                <a:latin typeface="Courier New" panose="02070309020205020404" pitchFamily="49" charset="0"/>
                <a:cs typeface="Courier New" panose="02070309020205020404" pitchFamily="49" charset="0"/>
              </a:rPr>
              <a:t> Drawing { ... </a:t>
            </a:r>
            <a:r>
              <a:rPr lang="en-US" altLang="en-US" sz="1800" dirty="0" smtClean="0">
                <a:latin typeface="Courier New" panose="02070309020205020404" pitchFamily="49" charset="0"/>
                <a:cs typeface="Courier New" panose="02070309020205020404" pitchFamily="49" charset="0"/>
              </a:rPr>
              <a:t>}</a:t>
            </a:r>
          </a:p>
          <a:p>
            <a:pPr lvl="1" eaLnBrk="1" hangingPunct="1">
              <a:buFontTx/>
              <a:buNone/>
            </a:pPr>
            <a:endParaRPr lang="en-US" altLang="en-US" sz="1000" dirty="0" smtClean="0"/>
          </a:p>
          <a:p>
            <a:pPr lvl="1" eaLnBrk="1" hangingPunct="1"/>
            <a:r>
              <a:rPr lang="en-US" altLang="en-US" dirty="0" smtClean="0"/>
              <a:t>If there are 2 inherited members with same name</a:t>
            </a:r>
          </a:p>
          <a:p>
            <a:pPr lvl="2" eaLnBrk="1" hangingPunct="1"/>
            <a:r>
              <a:rPr lang="en-US" altLang="en-US" dirty="0"/>
              <a:t>R</a:t>
            </a:r>
            <a:r>
              <a:rPr lang="en-US" altLang="en-US" dirty="0" smtClean="0"/>
              <a:t>eference either with scope resolution operator (</a:t>
            </a:r>
            <a:r>
              <a:rPr lang="en-US" altLang="en-US" dirty="0" smtClean="0">
                <a:latin typeface="Courier New" panose="02070309020205020404" pitchFamily="49" charset="0"/>
                <a:cs typeface="Courier New" panose="02070309020205020404" pitchFamily="49" charset="0"/>
              </a:rPr>
              <a:t>::</a:t>
            </a:r>
            <a:r>
              <a:rPr lang="en-US" altLang="en-US" dirty="0" smtClean="0"/>
              <a:t>)</a:t>
            </a:r>
          </a:p>
          <a:p>
            <a:pPr lvl="2" eaLnBrk="1" hangingPunct="1"/>
            <a:r>
              <a:rPr lang="en-US" altLang="en-US" dirty="0" smtClean="0"/>
              <a:t>For example, </a:t>
            </a:r>
            <a:r>
              <a:rPr lang="en-US" altLang="en-US" dirty="0" smtClean="0">
                <a:latin typeface="Courier New" panose="02070309020205020404" pitchFamily="49" charset="0"/>
                <a:cs typeface="Courier New" panose="02070309020205020404" pitchFamily="49" charset="0"/>
              </a:rPr>
              <a:t>Drawing::display</a:t>
            </a:r>
            <a:r>
              <a:rPr lang="en-US" altLang="en-US" dirty="0" smtClean="0">
                <a:latin typeface="Courier New" panose="02070309020205020404" pitchFamily="49" charset="0"/>
                <a:cs typeface="Courier New" panose="02070309020205020404" pitchFamily="49" charset="0"/>
              </a:rPr>
              <a:t>()</a:t>
            </a:r>
            <a:r>
              <a:rPr lang="en-US" altLang="en-US" dirty="0"/>
              <a:t> </a:t>
            </a:r>
            <a:r>
              <a:rPr lang="en-US" altLang="en-US" dirty="0" smtClean="0"/>
              <a:t>in </a:t>
            </a:r>
            <a:r>
              <a:rPr lang="en-US" altLang="en-US" dirty="0" err="1" smtClean="0">
                <a:latin typeface="Courier New" panose="02070309020205020404" pitchFamily="49" charset="0"/>
                <a:cs typeface="Courier New" panose="02070309020205020404" pitchFamily="49" charset="0"/>
              </a:rPr>
              <a:t>DrawThread</a:t>
            </a:r>
            <a:endParaRPr lang="en-US" altLang="en-US" dirty="0" smtClean="0"/>
          </a:p>
          <a:p>
            <a:pPr lvl="1" eaLnBrk="1" hangingPunct="1">
              <a:buFontTx/>
              <a:buNone/>
            </a:pPr>
            <a:endParaRPr lang="en-US" altLang="en-US" sz="2000" b="1" dirty="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FEC9FF7-8BE5-49B6-96A5-CBC9B01C40AE}"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63492" name="Rectangle 2"/>
          <p:cNvSpPr>
            <a:spLocks noGrp="1" noChangeArrowheads="1"/>
          </p:cNvSpPr>
          <p:nvPr>
            <p:ph type="title"/>
          </p:nvPr>
        </p:nvSpPr>
        <p:spPr/>
        <p:txBody>
          <a:bodyPr/>
          <a:lstStyle/>
          <a:p>
            <a:pPr eaLnBrk="1" hangingPunct="1"/>
            <a:r>
              <a:rPr lang="en-US" altLang="en-US" dirty="0" smtClean="0"/>
              <a:t>Message Binding in C++</a:t>
            </a:r>
          </a:p>
        </p:txBody>
      </p:sp>
      <p:sp>
        <p:nvSpPr>
          <p:cNvPr id="63493"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Programmer decides at class </a:t>
            </a:r>
            <a:r>
              <a:rPr lang="en-US" altLang="en-US" u="sng" dirty="0" smtClean="0"/>
              <a:t>design time</a:t>
            </a:r>
          </a:p>
          <a:p>
            <a:pPr eaLnBrk="1" hangingPunct="1"/>
            <a:r>
              <a:rPr lang="en-US" altLang="en-US" dirty="0" smtClean="0"/>
              <a:t>Static binding for methods by default</a:t>
            </a:r>
          </a:p>
          <a:p>
            <a:pPr lvl="1" eaLnBrk="1" hangingPunct="1"/>
            <a:r>
              <a:rPr lang="en-US" altLang="en-US" dirty="0" smtClean="0"/>
              <a:t>Faster than dynamic binding</a:t>
            </a:r>
          </a:p>
          <a:p>
            <a:pPr eaLnBrk="1" hangingPunct="1"/>
            <a:r>
              <a:rPr lang="en-US" altLang="en-US" dirty="0" smtClean="0"/>
              <a:t>Dynamic binding</a:t>
            </a:r>
          </a:p>
          <a:p>
            <a:pPr lvl="1" eaLnBrk="1" hangingPunct="1"/>
            <a:r>
              <a:rPr lang="en-US" altLang="en-US" dirty="0" smtClean="0"/>
              <a:t>A method can be defined to be </a:t>
            </a:r>
            <a:r>
              <a:rPr lang="en-US" altLang="en-US" b="1" dirty="0" smtClean="0">
                <a:latin typeface="Courier New" panose="02070309020205020404" pitchFamily="49" charset="0"/>
              </a:rPr>
              <a:t>virtual</a:t>
            </a:r>
            <a:endParaRPr lang="en-US" altLang="en-US" dirty="0" smtClean="0"/>
          </a:p>
          <a:p>
            <a:pPr lvl="2" eaLnBrk="1" hangingPunct="1"/>
            <a:r>
              <a:rPr lang="en-US" altLang="en-US" dirty="0" smtClean="0"/>
              <a:t>It can be called through polymorphic variables</a:t>
            </a:r>
          </a:p>
          <a:p>
            <a:pPr lvl="2" eaLnBrk="1" hangingPunct="1"/>
            <a:r>
              <a:rPr lang="en-US" altLang="en-US" dirty="0" smtClean="0"/>
              <a:t>Messages will be dynamically bound to method</a:t>
            </a:r>
          </a:p>
          <a:p>
            <a:pPr lvl="1" eaLnBrk="1" hangingPunct="1"/>
            <a:r>
              <a:rPr lang="en-US" altLang="en-US" dirty="0" smtClean="0"/>
              <a:t>A pure virtual function has no definition at all</a:t>
            </a:r>
          </a:p>
          <a:p>
            <a:pPr lvl="1" eaLnBrk="1" hangingPunct="1"/>
            <a:r>
              <a:rPr lang="en-US" altLang="en-US" dirty="0" smtClean="0"/>
              <a:t>A class with at least one pure virtual function</a:t>
            </a:r>
          </a:p>
          <a:p>
            <a:pPr lvl="2" eaLnBrk="1" hangingPunct="1"/>
            <a:r>
              <a:rPr lang="en-US" altLang="en-US" dirty="0" smtClean="0"/>
              <a:t>An </a:t>
            </a:r>
            <a:r>
              <a:rPr lang="en-US" altLang="en-US" u="sng" dirty="0" smtClean="0"/>
              <a:t>abstract class</a:t>
            </a:r>
            <a:endParaRPr lang="en-US" altLang="en-US" dirty="0" smtClean="0"/>
          </a:p>
          <a:p>
            <a:pPr lvl="2" eaLnBrk="1" hangingPunct="1"/>
            <a:r>
              <a:rPr lang="en-US" altLang="en-US" dirty="0" smtClean="0"/>
              <a:t>Cannot be instantiated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dirty="0" smtClean="0"/>
              <a:t>Message Binding in C++</a:t>
            </a:r>
            <a:endParaRPr lang="en-US" altLang="en-US" sz="4000" dirty="0" smtClean="0"/>
          </a:p>
        </p:txBody>
      </p:sp>
      <p:sp>
        <p:nvSpPr>
          <p:cNvPr id="65539" name="Content Placeholder 2"/>
          <p:cNvSpPr>
            <a:spLocks noGrp="1"/>
          </p:cNvSpPr>
          <p:nvPr>
            <p:ph idx="1"/>
          </p:nvPr>
        </p:nvSpPr>
        <p:spPr>
          <a:xfrm>
            <a:off x="609600" y="1447800"/>
            <a:ext cx="3886200" cy="4724400"/>
          </a:xfrm>
        </p:spPr>
        <p:txBody>
          <a:bodyPr/>
          <a:lstStyle/>
          <a:p>
            <a:pPr>
              <a:buFontTx/>
              <a:buNone/>
            </a:pPr>
            <a:r>
              <a:rPr lang="en-US" altLang="en-US" sz="1400" b="1" dirty="0" smtClean="0">
                <a:latin typeface="Courier New" panose="02070309020205020404" pitchFamily="49" charset="0"/>
                <a:cs typeface="Courier New" panose="02070309020205020404" pitchFamily="49" charset="0"/>
              </a:rPr>
              <a:t>class</a:t>
            </a:r>
            <a:r>
              <a:rPr lang="en-US" altLang="en-US" sz="1400" dirty="0" smtClean="0">
                <a:latin typeface="Courier New" panose="02070309020205020404" pitchFamily="49" charset="0"/>
                <a:cs typeface="Courier New" panose="02070309020205020404" pitchFamily="49" charset="0"/>
              </a:rPr>
              <a:t> Shape {</a:t>
            </a:r>
          </a:p>
          <a:p>
            <a:pPr>
              <a:buFontTx/>
              <a:buNone/>
            </a:pPr>
            <a:r>
              <a:rPr lang="en-US" altLang="en-US" sz="1400" dirty="0" smtClean="0">
                <a:latin typeface="Courier New" panose="02070309020205020404" pitchFamily="49" charset="0"/>
                <a:cs typeface="Courier New" panose="02070309020205020404" pitchFamily="49" charset="0"/>
              </a:rPr>
              <a:t>   </a:t>
            </a:r>
            <a:r>
              <a:rPr lang="en-US" altLang="en-US" sz="1400" b="1" dirty="0" smtClean="0">
                <a:latin typeface="Courier New" panose="02070309020205020404" pitchFamily="49" charset="0"/>
                <a:cs typeface="Courier New" panose="02070309020205020404" pitchFamily="49" charset="0"/>
              </a:rPr>
              <a:t>public</a:t>
            </a:r>
            <a:r>
              <a:rPr lang="en-US" altLang="en-US" sz="1400" dirty="0" smtClean="0">
                <a:latin typeface="Courier New" panose="02070309020205020404" pitchFamily="49" charset="0"/>
                <a:cs typeface="Courier New" panose="02070309020205020404" pitchFamily="49" charset="0"/>
              </a:rPr>
              <a:t>:</a:t>
            </a:r>
          </a:p>
          <a:p>
            <a:pPr>
              <a:buFontTx/>
              <a:buNone/>
            </a:pPr>
            <a:r>
              <a:rPr lang="en-US" altLang="en-US" sz="1400" dirty="0" smtClean="0">
                <a:latin typeface="Courier New" panose="02070309020205020404" pitchFamily="49" charset="0"/>
                <a:cs typeface="Courier New" panose="02070309020205020404" pitchFamily="49" charset="0"/>
              </a:rPr>
              <a:t>      </a:t>
            </a:r>
            <a:r>
              <a:rPr lang="en-US" altLang="en-US" sz="1400" b="1" dirty="0" smtClean="0">
                <a:latin typeface="Courier New" panose="02070309020205020404" pitchFamily="49" charset="0"/>
                <a:cs typeface="Courier New" panose="02070309020205020404" pitchFamily="49" charset="0"/>
              </a:rPr>
              <a:t>virtual void </a:t>
            </a:r>
            <a:r>
              <a:rPr lang="en-US" altLang="en-US" sz="1400" dirty="0" smtClean="0">
                <a:latin typeface="Courier New" panose="02070309020205020404" pitchFamily="49" charset="0"/>
                <a:cs typeface="Courier New" panose="02070309020205020404" pitchFamily="49" charset="0"/>
              </a:rPr>
              <a:t>draw() = 0;</a:t>
            </a:r>
          </a:p>
          <a:p>
            <a:pPr>
              <a:buFontTx/>
              <a:buNone/>
            </a:pPr>
            <a:r>
              <a:rPr lang="en-US" altLang="en-US" sz="1400" dirty="0" smtClean="0">
                <a:latin typeface="Courier New" panose="02070309020205020404" pitchFamily="49" charset="0"/>
                <a:cs typeface="Courier New" panose="02070309020205020404" pitchFamily="49" charset="0"/>
              </a:rPr>
              <a:t>   ...</a:t>
            </a:r>
          </a:p>
          <a:p>
            <a:pPr>
              <a:buFontTx/>
              <a:buNone/>
            </a:pPr>
            <a:r>
              <a:rPr lang="en-US" altLang="en-US" sz="1400" dirty="0" smtClean="0">
                <a:latin typeface="Courier New" panose="02070309020205020404" pitchFamily="49" charset="0"/>
                <a:cs typeface="Courier New" panose="02070309020205020404" pitchFamily="49" charset="0"/>
              </a:rPr>
              <a:t>};</a:t>
            </a:r>
          </a:p>
          <a:p>
            <a:pPr>
              <a:buFontTx/>
              <a:buNone/>
            </a:pPr>
            <a:endParaRPr lang="en-US" altLang="en-US" sz="1400" dirty="0" smtClean="0">
              <a:latin typeface="Courier New" panose="02070309020205020404" pitchFamily="49" charset="0"/>
              <a:cs typeface="Courier New" panose="02070309020205020404" pitchFamily="49" charset="0"/>
            </a:endParaRPr>
          </a:p>
          <a:p>
            <a:pPr>
              <a:buFontTx/>
              <a:buNone/>
            </a:pPr>
            <a:r>
              <a:rPr lang="en-US" altLang="en-US" sz="1400" b="1" dirty="0" smtClean="0">
                <a:latin typeface="Courier New" panose="02070309020205020404" pitchFamily="49" charset="0"/>
                <a:cs typeface="Courier New" panose="02070309020205020404" pitchFamily="49" charset="0"/>
              </a:rPr>
              <a:t>class</a:t>
            </a:r>
            <a:r>
              <a:rPr lang="en-US" altLang="en-US" sz="1400" dirty="0" smtClean="0">
                <a:latin typeface="Courier New" panose="02070309020205020404" pitchFamily="49" charset="0"/>
                <a:cs typeface="Courier New" panose="02070309020205020404" pitchFamily="49" charset="0"/>
              </a:rPr>
              <a:t> Circle : </a:t>
            </a:r>
            <a:r>
              <a:rPr lang="en-US" altLang="en-US" sz="1400" b="1" dirty="0" smtClean="0">
                <a:latin typeface="Courier New" panose="02070309020205020404" pitchFamily="49" charset="0"/>
                <a:cs typeface="Courier New" panose="02070309020205020404" pitchFamily="49" charset="0"/>
              </a:rPr>
              <a:t>public</a:t>
            </a:r>
            <a:r>
              <a:rPr lang="en-US" altLang="en-US" sz="1400" dirty="0" smtClean="0">
                <a:latin typeface="Courier New" panose="02070309020205020404" pitchFamily="49" charset="0"/>
                <a:cs typeface="Courier New" panose="02070309020205020404" pitchFamily="49" charset="0"/>
              </a:rPr>
              <a:t> Shape {</a:t>
            </a:r>
          </a:p>
          <a:p>
            <a:pPr>
              <a:buFontTx/>
              <a:buNone/>
            </a:pPr>
            <a:r>
              <a:rPr lang="en-US" altLang="en-US" sz="1400" dirty="0" smtClean="0">
                <a:latin typeface="Courier New" panose="02070309020205020404" pitchFamily="49" charset="0"/>
                <a:cs typeface="Courier New" panose="02070309020205020404" pitchFamily="49" charset="0"/>
              </a:rPr>
              <a:t>   </a:t>
            </a:r>
            <a:r>
              <a:rPr lang="en-US" altLang="en-US" sz="1400" b="1" dirty="0" smtClean="0">
                <a:latin typeface="Courier New" panose="02070309020205020404" pitchFamily="49" charset="0"/>
                <a:cs typeface="Courier New" panose="02070309020205020404" pitchFamily="49" charset="0"/>
              </a:rPr>
              <a:t>public</a:t>
            </a:r>
            <a:r>
              <a:rPr lang="en-US" altLang="en-US" sz="1400" dirty="0" smtClean="0">
                <a:latin typeface="Courier New" panose="02070309020205020404" pitchFamily="49" charset="0"/>
                <a:cs typeface="Courier New" panose="02070309020205020404" pitchFamily="49" charset="0"/>
              </a:rPr>
              <a:t>:</a:t>
            </a:r>
          </a:p>
          <a:p>
            <a:pPr>
              <a:buFontTx/>
              <a:buNone/>
            </a:pPr>
            <a:r>
              <a:rPr lang="en-US" altLang="en-US" sz="1400" dirty="0" smtClean="0">
                <a:latin typeface="Courier New" panose="02070309020205020404" pitchFamily="49" charset="0"/>
                <a:cs typeface="Courier New" panose="02070309020205020404" pitchFamily="49" charset="0"/>
              </a:rPr>
              <a:t>      </a:t>
            </a:r>
            <a:r>
              <a:rPr lang="en-US" altLang="en-US" sz="1400" b="1" dirty="0" smtClean="0">
                <a:latin typeface="Courier New" panose="02070309020205020404" pitchFamily="49" charset="0"/>
                <a:cs typeface="Courier New" panose="02070309020205020404" pitchFamily="49" charset="0"/>
              </a:rPr>
              <a:t>void</a:t>
            </a:r>
            <a:r>
              <a:rPr lang="en-US" altLang="en-US" sz="1400" dirty="0" smtClean="0">
                <a:latin typeface="Courier New" panose="02070309020205020404" pitchFamily="49" charset="0"/>
                <a:cs typeface="Courier New" panose="02070309020205020404" pitchFamily="49" charset="0"/>
              </a:rPr>
              <a:t> draw() { ... }</a:t>
            </a:r>
          </a:p>
          <a:p>
            <a:pPr>
              <a:buFontTx/>
              <a:buNone/>
            </a:pPr>
            <a:r>
              <a:rPr lang="en-US" altLang="en-US" sz="1400" dirty="0" smtClean="0">
                <a:latin typeface="Courier New" panose="02070309020205020404" pitchFamily="49" charset="0"/>
                <a:cs typeface="Courier New" panose="02070309020205020404" pitchFamily="49" charset="0"/>
              </a:rPr>
              <a:t>   ...</a:t>
            </a:r>
          </a:p>
          <a:p>
            <a:pPr>
              <a:buFontTx/>
              <a:buNone/>
            </a:pPr>
            <a:r>
              <a:rPr lang="en-US" altLang="en-US" sz="1400" dirty="0" smtClean="0">
                <a:latin typeface="Courier New" panose="02070309020205020404" pitchFamily="49" charset="0"/>
                <a:cs typeface="Courier New" panose="02070309020205020404" pitchFamily="49" charset="0"/>
              </a:rPr>
              <a:t>};</a:t>
            </a:r>
          </a:p>
          <a:p>
            <a:pPr>
              <a:buFontTx/>
              <a:buNone/>
            </a:pPr>
            <a:endParaRPr lang="en-US" altLang="en-US" sz="1400" dirty="0" smtClean="0">
              <a:latin typeface="Courier New" panose="02070309020205020404" pitchFamily="49" charset="0"/>
              <a:cs typeface="Courier New" panose="02070309020205020404" pitchFamily="49" charset="0"/>
            </a:endParaRPr>
          </a:p>
          <a:p>
            <a:pPr>
              <a:buFontTx/>
              <a:buNone/>
            </a:pPr>
            <a:r>
              <a:rPr lang="en-US" altLang="en-US" sz="1400" b="1" dirty="0" smtClean="0">
                <a:latin typeface="Courier New" panose="02070309020205020404" pitchFamily="49" charset="0"/>
                <a:cs typeface="Courier New" panose="02070309020205020404" pitchFamily="49" charset="0"/>
              </a:rPr>
              <a:t>class</a:t>
            </a:r>
            <a:r>
              <a:rPr lang="en-US" altLang="en-US" sz="1400" dirty="0" smtClean="0">
                <a:latin typeface="Courier New" panose="02070309020205020404" pitchFamily="49" charset="0"/>
                <a:cs typeface="Courier New" panose="02070309020205020404" pitchFamily="49" charset="0"/>
              </a:rPr>
              <a:t> Rectangle : </a:t>
            </a:r>
            <a:r>
              <a:rPr lang="en-US" altLang="en-US" sz="1400" b="1" dirty="0" smtClean="0">
                <a:latin typeface="Courier New" panose="02070309020205020404" pitchFamily="49" charset="0"/>
                <a:cs typeface="Courier New" panose="02070309020205020404" pitchFamily="49" charset="0"/>
              </a:rPr>
              <a:t>public</a:t>
            </a:r>
            <a:r>
              <a:rPr lang="en-US" altLang="en-US" sz="1400" dirty="0" smtClean="0">
                <a:latin typeface="Courier New" panose="02070309020205020404" pitchFamily="49" charset="0"/>
                <a:cs typeface="Courier New" panose="02070309020205020404" pitchFamily="49" charset="0"/>
              </a:rPr>
              <a:t> Shape {</a:t>
            </a:r>
          </a:p>
          <a:p>
            <a:pPr>
              <a:buFontTx/>
              <a:buNone/>
            </a:pPr>
            <a:r>
              <a:rPr lang="en-US" altLang="en-US" sz="1400" dirty="0" smtClean="0">
                <a:latin typeface="Courier New" panose="02070309020205020404" pitchFamily="49" charset="0"/>
                <a:cs typeface="Courier New" panose="02070309020205020404" pitchFamily="49" charset="0"/>
              </a:rPr>
              <a:t>   </a:t>
            </a:r>
            <a:r>
              <a:rPr lang="en-US" altLang="en-US" sz="1400" b="1" dirty="0" smtClean="0">
                <a:latin typeface="Courier New" panose="02070309020205020404" pitchFamily="49" charset="0"/>
                <a:cs typeface="Courier New" panose="02070309020205020404" pitchFamily="49" charset="0"/>
              </a:rPr>
              <a:t>public</a:t>
            </a:r>
            <a:r>
              <a:rPr lang="en-US" altLang="en-US" sz="1400" dirty="0" smtClean="0">
                <a:latin typeface="Courier New" panose="02070309020205020404" pitchFamily="49" charset="0"/>
                <a:cs typeface="Courier New" panose="02070309020205020404" pitchFamily="49" charset="0"/>
              </a:rPr>
              <a:t>:</a:t>
            </a:r>
          </a:p>
          <a:p>
            <a:pPr>
              <a:buFontTx/>
              <a:buNone/>
            </a:pPr>
            <a:r>
              <a:rPr lang="en-US" altLang="en-US" sz="1400" dirty="0" smtClean="0">
                <a:latin typeface="Courier New" panose="02070309020205020404" pitchFamily="49" charset="0"/>
                <a:cs typeface="Courier New" panose="02070309020205020404" pitchFamily="49" charset="0"/>
              </a:rPr>
              <a:t>      </a:t>
            </a:r>
            <a:r>
              <a:rPr lang="en-US" altLang="en-US" sz="1400" b="1" dirty="0" smtClean="0">
                <a:latin typeface="Courier New" panose="02070309020205020404" pitchFamily="49" charset="0"/>
                <a:cs typeface="Courier New" panose="02070309020205020404" pitchFamily="49" charset="0"/>
              </a:rPr>
              <a:t>void</a:t>
            </a:r>
            <a:r>
              <a:rPr lang="en-US" altLang="en-US" sz="1400" dirty="0" smtClean="0">
                <a:latin typeface="Courier New" panose="02070309020205020404" pitchFamily="49" charset="0"/>
                <a:cs typeface="Courier New" panose="02070309020205020404" pitchFamily="49" charset="0"/>
              </a:rPr>
              <a:t> draw() { ... }</a:t>
            </a:r>
          </a:p>
          <a:p>
            <a:pPr>
              <a:buFontTx/>
              <a:buNone/>
            </a:pPr>
            <a:r>
              <a:rPr lang="en-US" altLang="en-US" sz="1400" dirty="0" smtClean="0">
                <a:latin typeface="Courier New" panose="02070309020205020404" pitchFamily="49" charset="0"/>
                <a:cs typeface="Courier New" panose="02070309020205020404" pitchFamily="49" charset="0"/>
              </a:rPr>
              <a:t>   ...</a:t>
            </a:r>
          </a:p>
          <a:p>
            <a:pPr>
              <a:buFontTx/>
              <a:buNone/>
            </a:pPr>
            <a:r>
              <a:rPr lang="en-US" altLang="en-US" sz="1400" dirty="0" smtClean="0">
                <a:latin typeface="Courier New" panose="02070309020205020404" pitchFamily="49" charset="0"/>
                <a:cs typeface="Courier New" panose="02070309020205020404" pitchFamily="49" charset="0"/>
              </a:rPr>
              <a:t>};</a:t>
            </a:r>
          </a:p>
        </p:txBody>
      </p:sp>
      <p:sp>
        <p:nvSpPr>
          <p:cNvPr id="6554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F322727-AFB8-428E-83A1-FF0E27E0B0DC}"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65542" name="TextBox 5"/>
          <p:cNvSpPr txBox="1">
            <a:spLocks noChangeArrowheads="1"/>
          </p:cNvSpPr>
          <p:nvPr/>
        </p:nvSpPr>
        <p:spPr bwMode="auto">
          <a:xfrm>
            <a:off x="4267200" y="1524000"/>
            <a:ext cx="4495800" cy="2893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400" dirty="0" smtClean="0">
                <a:solidFill>
                  <a:schemeClr val="tx1"/>
                </a:solidFill>
                <a:latin typeface="Courier New" panose="02070309020205020404" pitchFamily="49" charset="0"/>
                <a:cs typeface="Courier New" panose="02070309020205020404" pitchFamily="49" charset="0"/>
              </a:rPr>
              <a:t>Circle *</a:t>
            </a:r>
            <a:r>
              <a:rPr lang="en-US" altLang="en-US" sz="1400" dirty="0" err="1" smtClean="0">
                <a:solidFill>
                  <a:schemeClr val="tx1"/>
                </a:solidFill>
                <a:latin typeface="Courier New" panose="02070309020205020404" pitchFamily="49" charset="0"/>
                <a:cs typeface="Courier New" panose="02070309020205020404" pitchFamily="49" charset="0"/>
              </a:rPr>
              <a:t>circ</a:t>
            </a:r>
            <a:r>
              <a:rPr lang="en-US" altLang="en-US" sz="1400" dirty="0" smtClean="0">
                <a:solidFill>
                  <a:schemeClr val="tx1"/>
                </a:solidFill>
                <a:latin typeface="Courier New" panose="02070309020205020404" pitchFamily="49" charset="0"/>
                <a:cs typeface="Courier New" panose="02070309020205020404" pitchFamily="49" charset="0"/>
              </a:rPr>
              <a:t> </a:t>
            </a:r>
            <a:r>
              <a:rPr lang="en-US" altLang="en-US" sz="1400" dirty="0">
                <a:solidFill>
                  <a:schemeClr val="tx1"/>
                </a:solidFill>
                <a:latin typeface="Courier New" panose="02070309020205020404" pitchFamily="49" charset="0"/>
                <a:cs typeface="Courier New" panose="02070309020205020404" pitchFamily="49" charset="0"/>
              </a:rPr>
              <a:t>= </a:t>
            </a:r>
            <a:r>
              <a:rPr lang="en-US" altLang="en-US" sz="1400" b="1" dirty="0">
                <a:solidFill>
                  <a:schemeClr val="tx1"/>
                </a:solidFill>
                <a:latin typeface="Courier New" panose="02070309020205020404" pitchFamily="49" charset="0"/>
                <a:cs typeface="Courier New" panose="02070309020205020404" pitchFamily="49" charset="0"/>
              </a:rPr>
              <a:t>new</a:t>
            </a:r>
            <a:r>
              <a:rPr lang="en-US" altLang="en-US" sz="1400" dirty="0">
                <a:solidFill>
                  <a:schemeClr val="tx1"/>
                </a:solidFill>
                <a:latin typeface="Courier New" panose="02070309020205020404" pitchFamily="49" charset="0"/>
                <a:cs typeface="Courier New" panose="02070309020205020404" pitchFamily="49" charset="0"/>
              </a:rPr>
              <a:t> </a:t>
            </a:r>
            <a:r>
              <a:rPr lang="en-US" altLang="en-US" sz="1400" dirty="0" smtClean="0">
                <a:solidFill>
                  <a:schemeClr val="tx1"/>
                </a:solidFill>
                <a:latin typeface="Courier New" panose="02070309020205020404" pitchFamily="49" charset="0"/>
                <a:cs typeface="Courier New" panose="02070309020205020404" pitchFamily="49" charset="0"/>
              </a:rPr>
              <a:t>Circle;</a:t>
            </a:r>
            <a:endParaRPr lang="en-US" altLang="en-US" sz="1400" dirty="0">
              <a:solidFill>
                <a:schemeClr val="tx1"/>
              </a:solidFill>
              <a:latin typeface="Courier New" panose="02070309020205020404" pitchFamily="49" charset="0"/>
              <a:cs typeface="Courier New" panose="02070309020205020404" pitchFamily="49" charset="0"/>
            </a:endParaRPr>
          </a:p>
          <a:p>
            <a:pPr>
              <a:spcBef>
                <a:spcPct val="0"/>
              </a:spcBef>
              <a:buFontTx/>
              <a:buNone/>
            </a:pPr>
            <a:r>
              <a:rPr lang="en-US" altLang="en-US" sz="1400" dirty="0" smtClean="0">
                <a:solidFill>
                  <a:schemeClr val="tx1"/>
                </a:solidFill>
                <a:latin typeface="Courier New" panose="02070309020205020404" pitchFamily="49" charset="0"/>
                <a:cs typeface="Courier New" panose="02070309020205020404" pitchFamily="49" charset="0"/>
              </a:rPr>
              <a:t>Rectangle *</a:t>
            </a:r>
            <a:r>
              <a:rPr lang="en-US" altLang="en-US" sz="1400" dirty="0" err="1" smtClean="0">
                <a:solidFill>
                  <a:schemeClr val="tx1"/>
                </a:solidFill>
                <a:latin typeface="Courier New" panose="02070309020205020404" pitchFamily="49" charset="0"/>
                <a:cs typeface="Courier New" panose="02070309020205020404" pitchFamily="49" charset="0"/>
              </a:rPr>
              <a:t>rect</a:t>
            </a:r>
            <a:r>
              <a:rPr lang="en-US" altLang="en-US" sz="1400" dirty="0" smtClean="0">
                <a:solidFill>
                  <a:schemeClr val="tx1"/>
                </a:solidFill>
                <a:latin typeface="Courier New" panose="02070309020205020404" pitchFamily="49" charset="0"/>
                <a:cs typeface="Courier New" panose="02070309020205020404" pitchFamily="49" charset="0"/>
              </a:rPr>
              <a:t> </a:t>
            </a:r>
            <a:r>
              <a:rPr lang="en-US" altLang="en-US" sz="1400" dirty="0">
                <a:solidFill>
                  <a:schemeClr val="tx1"/>
                </a:solidFill>
                <a:latin typeface="Courier New" panose="02070309020205020404" pitchFamily="49" charset="0"/>
                <a:cs typeface="Courier New" panose="02070309020205020404" pitchFamily="49" charset="0"/>
              </a:rPr>
              <a:t>= </a:t>
            </a:r>
            <a:r>
              <a:rPr lang="en-US" altLang="en-US" sz="1400" b="1" dirty="0">
                <a:solidFill>
                  <a:schemeClr val="tx1"/>
                </a:solidFill>
                <a:latin typeface="Courier New" panose="02070309020205020404" pitchFamily="49" charset="0"/>
                <a:cs typeface="Courier New" panose="02070309020205020404" pitchFamily="49" charset="0"/>
              </a:rPr>
              <a:t>new</a:t>
            </a:r>
            <a:r>
              <a:rPr lang="en-US" altLang="en-US" sz="1400" dirty="0">
                <a:solidFill>
                  <a:schemeClr val="tx1"/>
                </a:solidFill>
                <a:latin typeface="Courier New" panose="02070309020205020404" pitchFamily="49" charset="0"/>
                <a:cs typeface="Courier New" panose="02070309020205020404" pitchFamily="49" charset="0"/>
              </a:rPr>
              <a:t> Rectangle;</a:t>
            </a:r>
          </a:p>
          <a:p>
            <a:pPr>
              <a:spcBef>
                <a:spcPct val="0"/>
              </a:spcBef>
              <a:buFontTx/>
              <a:buNone/>
            </a:pPr>
            <a:r>
              <a:rPr lang="en-US" altLang="en-US" sz="1400" dirty="0" smtClean="0">
                <a:solidFill>
                  <a:schemeClr val="tx1"/>
                </a:solidFill>
                <a:latin typeface="Courier New" panose="02070309020205020404" pitchFamily="49" charset="0"/>
                <a:cs typeface="Courier New" panose="02070309020205020404" pitchFamily="49" charset="0"/>
              </a:rPr>
              <a:t>Shape *</a:t>
            </a:r>
            <a:r>
              <a:rPr lang="en-US" altLang="en-US" sz="1400" dirty="0" err="1" smtClean="0">
                <a:solidFill>
                  <a:schemeClr val="tx1"/>
                </a:solidFill>
                <a:latin typeface="Courier New" panose="02070309020205020404" pitchFamily="49" charset="0"/>
                <a:cs typeface="Courier New" panose="02070309020205020404" pitchFamily="49" charset="0"/>
              </a:rPr>
              <a:t>ptr_shape</a:t>
            </a:r>
            <a:r>
              <a:rPr lang="en-US" altLang="en-US" sz="1400" dirty="0" smtClean="0">
                <a:solidFill>
                  <a:schemeClr val="tx1"/>
                </a:solidFill>
                <a:latin typeface="Courier New" panose="02070309020205020404" pitchFamily="49" charset="0"/>
                <a:cs typeface="Courier New" panose="02070309020205020404" pitchFamily="49" charset="0"/>
              </a:rPr>
              <a:t>;</a:t>
            </a:r>
          </a:p>
          <a:p>
            <a:pPr>
              <a:spcBef>
                <a:spcPct val="0"/>
              </a:spcBef>
              <a:buFontTx/>
              <a:buNone/>
            </a:pPr>
            <a:endParaRPr lang="en-US" altLang="en-US" sz="1400" dirty="0">
              <a:solidFill>
                <a:schemeClr val="tx1"/>
              </a:solidFill>
              <a:latin typeface="Courier New" panose="02070309020205020404" pitchFamily="49" charset="0"/>
              <a:cs typeface="Courier New" panose="02070309020205020404" pitchFamily="49" charset="0"/>
            </a:endParaRPr>
          </a:p>
          <a:p>
            <a:pPr>
              <a:spcBef>
                <a:spcPct val="0"/>
              </a:spcBef>
              <a:buFontTx/>
              <a:buNone/>
            </a:pPr>
            <a:r>
              <a:rPr lang="en-US" altLang="en-US" sz="1400" dirty="0" err="1">
                <a:solidFill>
                  <a:schemeClr val="tx1"/>
                </a:solidFill>
                <a:latin typeface="Courier New" panose="02070309020205020404" pitchFamily="49" charset="0"/>
                <a:cs typeface="Courier New" panose="02070309020205020404" pitchFamily="49" charset="0"/>
              </a:rPr>
              <a:t>ptr_shape</a:t>
            </a:r>
            <a:r>
              <a:rPr lang="en-US" altLang="en-US" sz="1400" dirty="0">
                <a:solidFill>
                  <a:schemeClr val="tx1"/>
                </a:solidFill>
                <a:latin typeface="Courier New" panose="02070309020205020404" pitchFamily="49" charset="0"/>
                <a:cs typeface="Courier New" panose="02070309020205020404" pitchFamily="49" charset="0"/>
              </a:rPr>
              <a:t> = </a:t>
            </a:r>
            <a:r>
              <a:rPr lang="en-US" altLang="en-US" sz="1400" dirty="0" err="1" smtClean="0">
                <a:solidFill>
                  <a:schemeClr val="tx1"/>
                </a:solidFill>
                <a:latin typeface="Courier New" panose="02070309020205020404" pitchFamily="49" charset="0"/>
                <a:cs typeface="Courier New" panose="02070309020205020404" pitchFamily="49" charset="0"/>
              </a:rPr>
              <a:t>circ</a:t>
            </a:r>
            <a:r>
              <a:rPr lang="en-US" altLang="en-US" sz="1400" dirty="0" smtClean="0">
                <a:solidFill>
                  <a:schemeClr val="tx1"/>
                </a:solidFill>
                <a:latin typeface="Courier New" panose="02070309020205020404" pitchFamily="49" charset="0"/>
                <a:cs typeface="Courier New" panose="02070309020205020404" pitchFamily="49" charset="0"/>
              </a:rPr>
              <a:t>;  // </a:t>
            </a:r>
            <a:r>
              <a:rPr lang="en-US" altLang="en-US" sz="1400" dirty="0">
                <a:solidFill>
                  <a:schemeClr val="tx1"/>
                </a:solidFill>
                <a:latin typeface="Courier New" panose="02070309020205020404" pitchFamily="49" charset="0"/>
                <a:cs typeface="Courier New" panose="02070309020205020404" pitchFamily="49" charset="0"/>
              </a:rPr>
              <a:t>Points to a </a:t>
            </a:r>
            <a:r>
              <a:rPr lang="en-US" altLang="en-US" sz="1400" dirty="0" smtClean="0">
                <a:solidFill>
                  <a:schemeClr val="tx1"/>
                </a:solidFill>
                <a:latin typeface="Courier New" panose="02070309020205020404" pitchFamily="49" charset="0"/>
                <a:cs typeface="Courier New" panose="02070309020205020404" pitchFamily="49" charset="0"/>
              </a:rPr>
              <a:t>Circle</a:t>
            </a:r>
            <a:endParaRPr lang="en-US" altLang="en-US" sz="1400" dirty="0">
              <a:solidFill>
                <a:schemeClr val="tx1"/>
              </a:solidFill>
              <a:latin typeface="Courier New" panose="02070309020205020404" pitchFamily="49" charset="0"/>
              <a:cs typeface="Courier New" panose="02070309020205020404" pitchFamily="49" charset="0"/>
            </a:endParaRPr>
          </a:p>
          <a:p>
            <a:pPr>
              <a:spcBef>
                <a:spcPct val="0"/>
              </a:spcBef>
              <a:buFontTx/>
              <a:buNone/>
            </a:pPr>
            <a:endParaRPr lang="en-US" altLang="en-US" sz="1400" dirty="0" smtClean="0">
              <a:solidFill>
                <a:schemeClr val="tx1"/>
              </a:solidFill>
              <a:latin typeface="Courier New" panose="02070309020205020404" pitchFamily="49" charset="0"/>
              <a:cs typeface="Courier New" panose="02070309020205020404" pitchFamily="49" charset="0"/>
            </a:endParaRPr>
          </a:p>
          <a:p>
            <a:pPr>
              <a:spcBef>
                <a:spcPct val="0"/>
              </a:spcBef>
              <a:buFontTx/>
              <a:buNone/>
            </a:pPr>
            <a:r>
              <a:rPr lang="en-US" altLang="en-US" sz="1400" dirty="0" err="1" smtClean="0">
                <a:solidFill>
                  <a:schemeClr val="tx1"/>
                </a:solidFill>
                <a:latin typeface="Courier New" panose="02070309020205020404" pitchFamily="49" charset="0"/>
                <a:cs typeface="Courier New" panose="02070309020205020404" pitchFamily="49" charset="0"/>
              </a:rPr>
              <a:t>ptr_shape</a:t>
            </a:r>
            <a:r>
              <a:rPr lang="en-US" altLang="en-US" sz="1400" dirty="0" smtClean="0">
                <a:solidFill>
                  <a:schemeClr val="tx1"/>
                </a:solidFill>
                <a:latin typeface="Courier New" panose="02070309020205020404" pitchFamily="49" charset="0"/>
                <a:cs typeface="Courier New" panose="02070309020205020404" pitchFamily="49" charset="0"/>
              </a:rPr>
              <a:t>-</a:t>
            </a:r>
            <a:r>
              <a:rPr lang="en-US" altLang="en-US" sz="1400" dirty="0">
                <a:solidFill>
                  <a:schemeClr val="tx1"/>
                </a:solidFill>
                <a:latin typeface="Courier New" panose="02070309020205020404" pitchFamily="49" charset="0"/>
                <a:cs typeface="Courier New" panose="02070309020205020404" pitchFamily="49" charset="0"/>
              </a:rPr>
              <a:t>&gt;draw</a:t>
            </a:r>
            <a:r>
              <a:rPr lang="en-US" altLang="en-US" sz="1400" dirty="0" smtClean="0">
                <a:solidFill>
                  <a:schemeClr val="tx1"/>
                </a:solidFill>
                <a:latin typeface="Courier New" panose="02070309020205020404" pitchFamily="49" charset="0"/>
                <a:cs typeface="Courier New" panose="02070309020205020404" pitchFamily="49" charset="0"/>
              </a:rPr>
              <a:t>(); // </a:t>
            </a:r>
            <a:r>
              <a:rPr lang="en-US" altLang="en-US" sz="1400" dirty="0">
                <a:solidFill>
                  <a:schemeClr val="tx1"/>
                </a:solidFill>
                <a:latin typeface="Courier New" panose="02070309020205020404" pitchFamily="49" charset="0"/>
                <a:cs typeface="Courier New" panose="02070309020205020404" pitchFamily="49" charset="0"/>
              </a:rPr>
              <a:t>Dynamically</a:t>
            </a:r>
          </a:p>
          <a:p>
            <a:pPr>
              <a:spcBef>
                <a:spcPct val="0"/>
              </a:spcBef>
              <a:buFontTx/>
              <a:buNone/>
            </a:pPr>
            <a:r>
              <a:rPr lang="en-US" altLang="en-US" sz="1400" dirty="0">
                <a:solidFill>
                  <a:schemeClr val="tx1"/>
                </a:solidFill>
                <a:latin typeface="Courier New" panose="02070309020205020404" pitchFamily="49" charset="0"/>
                <a:cs typeface="Courier New" panose="02070309020205020404" pitchFamily="49" charset="0"/>
              </a:rPr>
              <a:t>              </a:t>
            </a:r>
            <a:r>
              <a:rPr lang="en-US" altLang="en-US" sz="1400" dirty="0" smtClean="0">
                <a:solidFill>
                  <a:schemeClr val="tx1"/>
                </a:solidFill>
                <a:latin typeface="Courier New" panose="02070309020205020404" pitchFamily="49" charset="0"/>
                <a:cs typeface="Courier New" panose="02070309020205020404" pitchFamily="49" charset="0"/>
              </a:rPr>
              <a:t>     // </a:t>
            </a:r>
            <a:r>
              <a:rPr lang="en-US" altLang="en-US" sz="1400" dirty="0">
                <a:solidFill>
                  <a:schemeClr val="tx1"/>
                </a:solidFill>
                <a:latin typeface="Courier New" panose="02070309020205020404" pitchFamily="49" charset="0"/>
                <a:cs typeface="Courier New" panose="02070309020205020404" pitchFamily="49" charset="0"/>
              </a:rPr>
              <a:t>bound to </a:t>
            </a:r>
            <a:r>
              <a:rPr lang="en-US" altLang="en-US" sz="1400" dirty="0" smtClean="0">
                <a:solidFill>
                  <a:schemeClr val="tx1"/>
                </a:solidFill>
                <a:latin typeface="Courier New" panose="02070309020205020404" pitchFamily="49" charset="0"/>
                <a:cs typeface="Courier New" panose="02070309020205020404" pitchFamily="49" charset="0"/>
              </a:rPr>
              <a:t>draw()</a:t>
            </a:r>
            <a:br>
              <a:rPr lang="en-US" altLang="en-US" sz="1400" dirty="0" smtClean="0">
                <a:solidFill>
                  <a:schemeClr val="tx1"/>
                </a:solidFill>
                <a:latin typeface="Courier New" panose="02070309020205020404" pitchFamily="49" charset="0"/>
                <a:cs typeface="Courier New" panose="02070309020205020404" pitchFamily="49" charset="0"/>
              </a:rPr>
            </a:br>
            <a:r>
              <a:rPr lang="en-US" altLang="en-US" sz="1400" dirty="0" smtClean="0">
                <a:solidFill>
                  <a:schemeClr val="tx1"/>
                </a:solidFill>
                <a:latin typeface="Courier New" panose="02070309020205020404" pitchFamily="49" charset="0"/>
                <a:cs typeface="Courier New" panose="02070309020205020404" pitchFamily="49" charset="0"/>
              </a:rPr>
              <a:t>                   // in Circle</a:t>
            </a:r>
          </a:p>
          <a:p>
            <a:pPr>
              <a:spcBef>
                <a:spcPct val="0"/>
              </a:spcBef>
              <a:buFontTx/>
              <a:buNone/>
            </a:pPr>
            <a:endParaRPr lang="en-US" altLang="en-US" sz="1400" dirty="0">
              <a:solidFill>
                <a:schemeClr val="tx1"/>
              </a:solidFill>
              <a:latin typeface="Courier New" panose="02070309020205020404" pitchFamily="49" charset="0"/>
              <a:cs typeface="Courier New" panose="02070309020205020404" pitchFamily="49" charset="0"/>
            </a:endParaRPr>
          </a:p>
          <a:p>
            <a:pPr>
              <a:spcBef>
                <a:spcPct val="0"/>
              </a:spcBef>
              <a:buFontTx/>
              <a:buNone/>
            </a:pPr>
            <a:r>
              <a:rPr lang="en-US" altLang="en-US" sz="1400" dirty="0" err="1">
                <a:solidFill>
                  <a:schemeClr val="tx1"/>
                </a:solidFill>
                <a:latin typeface="Courier New" panose="02070309020205020404" pitchFamily="49" charset="0"/>
                <a:cs typeface="Courier New" panose="02070309020205020404" pitchFamily="49" charset="0"/>
              </a:rPr>
              <a:t>rect</a:t>
            </a:r>
            <a:r>
              <a:rPr lang="en-US" altLang="en-US" sz="1400" dirty="0">
                <a:solidFill>
                  <a:schemeClr val="tx1"/>
                </a:solidFill>
                <a:latin typeface="Courier New" panose="02070309020205020404" pitchFamily="49" charset="0"/>
                <a:cs typeface="Courier New" panose="02070309020205020404" pitchFamily="49" charset="0"/>
              </a:rPr>
              <a:t>-&gt;draw(); </a:t>
            </a:r>
            <a:r>
              <a:rPr lang="en-US" altLang="en-US" sz="1400" dirty="0" smtClean="0">
                <a:solidFill>
                  <a:schemeClr val="tx1"/>
                </a:solidFill>
                <a:latin typeface="Courier New" panose="02070309020205020404" pitchFamily="49" charset="0"/>
                <a:cs typeface="Courier New" panose="02070309020205020404" pitchFamily="49" charset="0"/>
              </a:rPr>
              <a:t>     // </a:t>
            </a:r>
            <a:r>
              <a:rPr lang="en-US" altLang="en-US" sz="1400" dirty="0">
                <a:solidFill>
                  <a:schemeClr val="tx1"/>
                </a:solidFill>
                <a:latin typeface="Courier New" panose="02070309020205020404" pitchFamily="49" charset="0"/>
                <a:cs typeface="Courier New" panose="02070309020205020404" pitchFamily="49" charset="0"/>
              </a:rPr>
              <a:t>Statically </a:t>
            </a:r>
            <a:r>
              <a:rPr lang="en-US" altLang="en-US" sz="1400" dirty="0" smtClean="0">
                <a:solidFill>
                  <a:schemeClr val="tx1"/>
                </a:solidFill>
                <a:latin typeface="Courier New" panose="02070309020205020404" pitchFamily="49" charset="0"/>
                <a:cs typeface="Courier New" panose="02070309020205020404" pitchFamily="49" charset="0"/>
              </a:rPr>
              <a:t>bound</a:t>
            </a:r>
            <a:endParaRPr lang="en-US" altLang="en-US" sz="1400" dirty="0">
              <a:solidFill>
                <a:schemeClr val="tx1"/>
              </a:solidFill>
              <a:latin typeface="Courier New" panose="02070309020205020404" pitchFamily="49" charset="0"/>
              <a:cs typeface="Courier New" panose="02070309020205020404" pitchFamily="49" charset="0"/>
            </a:endParaRPr>
          </a:p>
          <a:p>
            <a:pPr>
              <a:spcBef>
                <a:spcPct val="0"/>
              </a:spcBef>
              <a:buFontTx/>
              <a:buNone/>
            </a:pPr>
            <a:r>
              <a:rPr lang="en-US" altLang="en-US" sz="1400" dirty="0">
                <a:solidFill>
                  <a:schemeClr val="tx1"/>
                </a:solidFill>
                <a:latin typeface="Courier New" panose="02070309020205020404" pitchFamily="49" charset="0"/>
                <a:cs typeface="Courier New" panose="02070309020205020404" pitchFamily="49" charset="0"/>
              </a:rPr>
              <a:t>              </a:t>
            </a:r>
            <a:r>
              <a:rPr lang="en-US" altLang="en-US" sz="1400" dirty="0" smtClean="0">
                <a:solidFill>
                  <a:schemeClr val="tx1"/>
                </a:solidFill>
                <a:latin typeface="Courier New" panose="02070309020205020404" pitchFamily="49" charset="0"/>
                <a:cs typeface="Courier New" panose="02070309020205020404" pitchFamily="49" charset="0"/>
              </a:rPr>
              <a:t>     // to draw() in</a:t>
            </a:r>
          </a:p>
          <a:p>
            <a:pPr>
              <a:spcBef>
                <a:spcPct val="0"/>
              </a:spcBef>
              <a:buFontTx/>
              <a:buNone/>
            </a:pPr>
            <a:r>
              <a:rPr lang="en-US" altLang="en-US" sz="1400" dirty="0">
                <a:solidFill>
                  <a:schemeClr val="tx1"/>
                </a:solidFill>
                <a:latin typeface="Courier New" panose="02070309020205020404" pitchFamily="49" charset="0"/>
                <a:cs typeface="Courier New" panose="02070309020205020404" pitchFamily="49" charset="0"/>
              </a:rPr>
              <a:t> </a:t>
            </a:r>
            <a:r>
              <a:rPr lang="en-US" altLang="en-US" sz="1400" dirty="0" smtClean="0">
                <a:solidFill>
                  <a:schemeClr val="tx1"/>
                </a:solidFill>
                <a:latin typeface="Courier New" panose="02070309020205020404" pitchFamily="49" charset="0"/>
                <a:cs typeface="Courier New" panose="02070309020205020404" pitchFamily="49" charset="0"/>
              </a:rPr>
              <a:t>                  // </a:t>
            </a:r>
            <a:r>
              <a:rPr lang="en-US" altLang="en-US" sz="1400" dirty="0">
                <a:solidFill>
                  <a:schemeClr val="tx1"/>
                </a:solidFill>
                <a:latin typeface="Courier New" panose="02070309020205020404" pitchFamily="49" charset="0"/>
                <a:cs typeface="Courier New" panose="02070309020205020404" pitchFamily="49" charset="0"/>
              </a:rPr>
              <a:t>Rectangle</a:t>
            </a:r>
          </a:p>
        </p:txBody>
      </p:sp>
      <p:sp>
        <p:nvSpPr>
          <p:cNvPr id="7"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dirty="0" smtClean="0"/>
              <a:t>Message Binding in C++</a:t>
            </a:r>
            <a:endParaRPr lang="en-US" altLang="en-US" sz="4000" dirty="0" smtClean="0"/>
          </a:p>
        </p:txBody>
      </p:sp>
      <p:sp>
        <p:nvSpPr>
          <p:cNvPr id="66563" name="Content Placeholder 2"/>
          <p:cNvSpPr>
            <a:spLocks noGrp="1"/>
          </p:cNvSpPr>
          <p:nvPr>
            <p:ph idx="1"/>
          </p:nvPr>
        </p:nvSpPr>
        <p:spPr/>
        <p:txBody>
          <a:bodyPr/>
          <a:lstStyle/>
          <a:p>
            <a:r>
              <a:rPr lang="en-US" altLang="en-US" dirty="0" smtClean="0"/>
              <a:t>If objects are allocated from the stack</a:t>
            </a:r>
          </a:p>
          <a:p>
            <a:pPr lvl="1"/>
            <a:r>
              <a:rPr lang="en-US" altLang="en-US" dirty="0" smtClean="0"/>
              <a:t>Assignment to parent variable truncates objects</a:t>
            </a:r>
          </a:p>
          <a:p>
            <a:pPr lvl="1"/>
            <a:r>
              <a:rPr lang="en-US" altLang="en-US" dirty="0" smtClean="0"/>
              <a:t>Message binding is not dynamic</a:t>
            </a:r>
          </a:p>
          <a:p>
            <a:pPr>
              <a:buFontTx/>
              <a:buNone/>
            </a:pPr>
            <a:endParaRPr lang="en-US" altLang="en-US" dirty="0" smtClean="0"/>
          </a:p>
          <a:p>
            <a:pPr>
              <a:buFontTx/>
              <a:buNone/>
            </a:pPr>
            <a:r>
              <a:rPr lang="en-US" altLang="en-US" sz="1600" dirty="0" smtClean="0">
                <a:latin typeface="Courier New" panose="02070309020205020404" pitchFamily="49" charset="0"/>
                <a:cs typeface="Courier New" panose="02070309020205020404" pitchFamily="49" charset="0"/>
              </a:rPr>
              <a:t>  </a:t>
            </a:r>
            <a:r>
              <a:rPr lang="en-ZA" altLang="en-US" sz="1600" dirty="0">
                <a:latin typeface="Courier New" panose="02070309020205020404" pitchFamily="49" charset="0"/>
                <a:cs typeface="Courier New" panose="02070309020205020404" pitchFamily="49" charset="0"/>
              </a:rPr>
              <a:t>class Square : public Rectangle </a:t>
            </a:r>
            <a:r>
              <a:rPr lang="en-ZA" altLang="en-US" sz="1600" dirty="0" smtClean="0">
                <a:latin typeface="Courier New" panose="02070309020205020404" pitchFamily="49" charset="0"/>
                <a:cs typeface="Courier New" panose="02070309020205020404" pitchFamily="49" charset="0"/>
              </a:rPr>
              <a:t>{</a:t>
            </a:r>
          </a:p>
          <a:p>
            <a:pPr>
              <a:buFontTx/>
              <a:buNone/>
            </a:pPr>
            <a:r>
              <a:rPr lang="en-ZA" altLang="en-US" sz="1600" dirty="0">
                <a:latin typeface="Courier New" panose="02070309020205020404" pitchFamily="49" charset="0"/>
                <a:cs typeface="Courier New" panose="02070309020205020404" pitchFamily="49" charset="0"/>
              </a:rPr>
              <a:t> </a:t>
            </a:r>
            <a:r>
              <a:rPr lang="en-ZA" altLang="en-US" sz="1600" dirty="0" smtClean="0">
                <a:latin typeface="Courier New" panose="02070309020205020404" pitchFamily="49" charset="0"/>
                <a:cs typeface="Courier New" panose="02070309020205020404" pitchFamily="49" charset="0"/>
              </a:rPr>
              <a:t>   public:</a:t>
            </a:r>
          </a:p>
          <a:p>
            <a:pPr>
              <a:buFontTx/>
              <a:buNone/>
            </a:pPr>
            <a:r>
              <a:rPr lang="en-ZA" altLang="en-US" sz="1600" dirty="0" smtClean="0">
                <a:latin typeface="Courier New" panose="02070309020205020404" pitchFamily="49" charset="0"/>
                <a:cs typeface="Courier New" panose="02070309020205020404" pitchFamily="49" charset="0"/>
              </a:rPr>
              <a:t>      </a:t>
            </a:r>
            <a:r>
              <a:rPr lang="en-ZA" altLang="en-US" sz="1600" dirty="0">
                <a:latin typeface="Courier New" panose="02070309020205020404" pitchFamily="49" charset="0"/>
                <a:cs typeface="Courier New" panose="02070309020205020404" pitchFamily="49" charset="0"/>
              </a:rPr>
              <a:t>void draw() </a:t>
            </a:r>
            <a:r>
              <a:rPr lang="en-ZA" altLang="en-US" sz="1600" dirty="0" smtClean="0">
                <a:latin typeface="Courier New" panose="02070309020205020404" pitchFamily="49" charset="0"/>
                <a:cs typeface="Courier New" panose="02070309020205020404" pitchFamily="49" charset="0"/>
              </a:rPr>
              <a:t>{ ... }</a:t>
            </a:r>
          </a:p>
          <a:p>
            <a:pPr>
              <a:buFontTx/>
              <a:buNone/>
            </a:pPr>
            <a:r>
              <a:rPr lang="en-ZA" altLang="en-US" sz="1600" dirty="0" smtClean="0">
                <a:latin typeface="Courier New" panose="02070309020205020404" pitchFamily="49" charset="0"/>
                <a:cs typeface="Courier New" panose="02070309020205020404" pitchFamily="49" charset="0"/>
              </a:rPr>
              <a:t>  </a:t>
            </a:r>
            <a:r>
              <a:rPr lang="en-ZA" altLang="en-US" sz="1600" dirty="0">
                <a:latin typeface="Courier New" panose="02070309020205020404" pitchFamily="49" charset="0"/>
                <a:cs typeface="Courier New" panose="02070309020205020404" pitchFamily="49" charset="0"/>
              </a:rPr>
              <a:t>};</a:t>
            </a:r>
            <a:endParaRPr lang="en-US" altLang="en-US" sz="1600" dirty="0" smtClean="0">
              <a:latin typeface="Courier New" panose="02070309020205020404" pitchFamily="49" charset="0"/>
              <a:cs typeface="Courier New" panose="02070309020205020404" pitchFamily="49" charset="0"/>
            </a:endParaRPr>
          </a:p>
          <a:p>
            <a:pPr>
              <a:buFontTx/>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p>
          <a:p>
            <a:pPr>
              <a:buFontTx/>
              <a:buNone/>
            </a:pPr>
            <a:r>
              <a:rPr lang="en-US" altLang="en-US" sz="1600" dirty="0" smtClean="0">
                <a:latin typeface="Courier New" panose="02070309020205020404" pitchFamily="49" charset="0"/>
                <a:cs typeface="Courier New" panose="02070309020205020404" pitchFamily="49" charset="0"/>
              </a:rPr>
              <a:t>  Rectangle </a:t>
            </a:r>
            <a:r>
              <a:rPr lang="en-US" altLang="en-US" sz="1600" dirty="0" err="1" smtClean="0">
                <a:latin typeface="Courier New" panose="02070309020205020404" pitchFamily="49" charset="0"/>
                <a:cs typeface="Courier New" panose="02070309020205020404" pitchFamily="49" charset="0"/>
              </a:rPr>
              <a:t>rect</a:t>
            </a:r>
            <a:r>
              <a:rPr lang="en-US" altLang="en-US" sz="1600" dirty="0" smtClean="0">
                <a:latin typeface="Courier New" panose="02070309020205020404" pitchFamily="49" charset="0"/>
                <a:cs typeface="Courier New" panose="02070309020205020404" pitchFamily="49" charset="0"/>
              </a:rPr>
              <a:t>;  // Allocates a Rectangle object from the stack</a:t>
            </a:r>
          </a:p>
          <a:p>
            <a:pPr>
              <a:buFontTx/>
              <a:buNone/>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Square </a:t>
            </a:r>
            <a:r>
              <a:rPr lang="en-US" altLang="en-US" sz="1600" dirty="0" err="1" smtClean="0">
                <a:latin typeface="Courier New" panose="02070309020205020404" pitchFamily="49" charset="0"/>
                <a:cs typeface="Courier New" panose="02070309020205020404" pitchFamily="49" charset="0"/>
              </a:rPr>
              <a:t>sqr</a:t>
            </a:r>
            <a:r>
              <a:rPr lang="en-US" altLang="en-US" sz="1600" dirty="0" smtClean="0">
                <a:latin typeface="Courier New" panose="02070309020205020404" pitchFamily="49" charset="0"/>
                <a:cs typeface="Courier New" panose="02070309020205020404" pitchFamily="49" charset="0"/>
              </a:rPr>
              <a:t>;      // Allocates a Square object from the stack</a:t>
            </a:r>
          </a:p>
          <a:p>
            <a:pPr>
              <a:buFontTx/>
              <a:buNone/>
            </a:pP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rect</a:t>
            </a:r>
            <a:r>
              <a:rPr lang="en-US" altLang="en-US" sz="1600" dirty="0" smtClean="0">
                <a:latin typeface="Courier New" panose="02070309020205020404" pitchFamily="49" charset="0"/>
                <a:cs typeface="Courier New" panose="02070309020205020404" pitchFamily="49" charset="0"/>
              </a:rPr>
              <a:t> = </a:t>
            </a:r>
            <a:r>
              <a:rPr lang="en-US" altLang="en-US" sz="1600" dirty="0" err="1" smtClean="0">
                <a:latin typeface="Courier New" panose="02070309020205020404" pitchFamily="49" charset="0"/>
                <a:cs typeface="Courier New" panose="02070309020205020404" pitchFamily="49" charset="0"/>
              </a:rPr>
              <a:t>sqr</a:t>
            </a:r>
            <a:r>
              <a:rPr lang="en-US" altLang="en-US" sz="1600" dirty="0" smtClean="0">
                <a:latin typeface="Courier New" panose="02070309020205020404" pitchFamily="49" charset="0"/>
                <a:cs typeface="Courier New" panose="02070309020205020404" pitchFamily="49" charset="0"/>
              </a:rPr>
              <a:t>;      // Copies data member values from </a:t>
            </a:r>
            <a:r>
              <a:rPr lang="en-US" altLang="en-US" sz="1600" dirty="0" err="1" smtClean="0">
                <a:latin typeface="Courier New" panose="02070309020205020404" pitchFamily="49" charset="0"/>
                <a:cs typeface="Courier New" panose="02070309020205020404" pitchFamily="49" charset="0"/>
              </a:rPr>
              <a:t>sqr</a:t>
            </a:r>
            <a:r>
              <a:rPr lang="en-US" altLang="en-US" sz="1600" dirty="0" smtClean="0">
                <a:latin typeface="Courier New" panose="02070309020205020404" pitchFamily="49" charset="0"/>
                <a:cs typeface="Courier New" panose="02070309020205020404" pitchFamily="49" charset="0"/>
              </a:rPr>
              <a:t> object</a:t>
            </a:r>
          </a:p>
          <a:p>
            <a:pPr>
              <a:buFontTx/>
              <a:buNone/>
            </a:pP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rect.draw</a:t>
            </a:r>
            <a:r>
              <a:rPr lang="en-US" altLang="en-US" sz="1600" dirty="0" smtClean="0">
                <a:latin typeface="Courier New" panose="02070309020205020404" pitchFamily="49" charset="0"/>
                <a:cs typeface="Courier New" panose="02070309020205020404" pitchFamily="49" charset="0"/>
              </a:rPr>
              <a:t>();     // Calls the draw from Rectangle</a:t>
            </a:r>
          </a:p>
        </p:txBody>
      </p:sp>
      <p:sp>
        <p:nvSpPr>
          <p:cNvPr id="6656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B21D7A9-4384-4AF2-A034-21F6FC60DF77}"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dirty="0" smtClean="0"/>
              <a:t>Support for OOP in Java</a:t>
            </a:r>
            <a:endParaRPr lang="en-US" altLang="en-US" sz="4000" dirty="0" smtClean="0"/>
          </a:p>
        </p:txBody>
      </p:sp>
      <p:sp>
        <p:nvSpPr>
          <p:cNvPr id="66563" name="Content Placeholder 2"/>
          <p:cNvSpPr>
            <a:spLocks noGrp="1"/>
          </p:cNvSpPr>
          <p:nvPr>
            <p:ph idx="1"/>
          </p:nvPr>
        </p:nvSpPr>
        <p:spPr/>
        <p:txBody>
          <a:bodyPr/>
          <a:lstStyle/>
          <a:p>
            <a:r>
              <a:rPr lang="en-ZA" altLang="en-US" dirty="0"/>
              <a:t>Close relationship to C++</a:t>
            </a:r>
          </a:p>
          <a:p>
            <a:pPr lvl="1"/>
            <a:r>
              <a:rPr lang="en-ZA" altLang="en-US" dirty="0"/>
              <a:t>We focus on the differences between the </a:t>
            </a:r>
            <a:r>
              <a:rPr lang="en-ZA" altLang="en-US" dirty="0" smtClean="0"/>
              <a:t>two</a:t>
            </a:r>
            <a:endParaRPr lang="en-ZA" altLang="en-US" dirty="0"/>
          </a:p>
        </p:txBody>
      </p:sp>
      <p:sp>
        <p:nvSpPr>
          <p:cNvPr id="6656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B21D7A9-4384-4AF2-A034-21F6FC60DF77}"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1073821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dirty="0"/>
              <a:t>Support for OOP in Java</a:t>
            </a:r>
            <a:endParaRPr lang="en-US" altLang="en-US" sz="4000" dirty="0" smtClean="0"/>
          </a:p>
        </p:txBody>
      </p:sp>
      <p:sp>
        <p:nvSpPr>
          <p:cNvPr id="66563" name="Content Placeholder 2"/>
          <p:cNvSpPr>
            <a:spLocks noGrp="1"/>
          </p:cNvSpPr>
          <p:nvPr>
            <p:ph idx="1"/>
          </p:nvPr>
        </p:nvSpPr>
        <p:spPr/>
        <p:txBody>
          <a:bodyPr/>
          <a:lstStyle/>
          <a:p>
            <a:pPr eaLnBrk="1" hangingPunct="1"/>
            <a:r>
              <a:rPr lang="en-US" altLang="en-US" dirty="0"/>
              <a:t>General Characteristics</a:t>
            </a:r>
          </a:p>
          <a:p>
            <a:pPr lvl="1" eaLnBrk="1" hangingPunct="1"/>
            <a:r>
              <a:rPr lang="en-US" altLang="en-US" dirty="0"/>
              <a:t>All data are objects except the primitive types</a:t>
            </a:r>
          </a:p>
          <a:p>
            <a:pPr lvl="2" eaLnBrk="1" hangingPunct="1"/>
            <a:r>
              <a:rPr lang="en-US" altLang="en-US" dirty="0"/>
              <a:t>Wrapper classes for primitive types, storing a value</a:t>
            </a:r>
          </a:p>
          <a:p>
            <a:pPr lvl="1" eaLnBrk="1" hangingPunct="1"/>
            <a:r>
              <a:rPr lang="en-US" altLang="en-US" dirty="0"/>
              <a:t>All objects</a:t>
            </a:r>
          </a:p>
          <a:p>
            <a:pPr lvl="2" eaLnBrk="1" hangingPunct="1"/>
            <a:r>
              <a:rPr lang="en-US" altLang="en-US" dirty="0"/>
              <a:t>Part of a class hierarchy, with </a:t>
            </a:r>
            <a:r>
              <a:rPr lang="en-US" altLang="en-US" dirty="0">
                <a:latin typeface="Courier New" panose="02070309020205020404" pitchFamily="49" charset="0"/>
                <a:cs typeface="Courier New" panose="02070309020205020404" pitchFamily="49" charset="0"/>
              </a:rPr>
              <a:t>Object</a:t>
            </a:r>
            <a:r>
              <a:rPr lang="en-US" altLang="en-US" dirty="0"/>
              <a:t> at the root</a:t>
            </a:r>
          </a:p>
          <a:p>
            <a:pPr lvl="2" eaLnBrk="1" hangingPunct="1"/>
            <a:r>
              <a:rPr lang="en-US" altLang="en-US" dirty="0"/>
              <a:t>Heap-dynamic (most are allocated with </a:t>
            </a:r>
            <a:r>
              <a:rPr lang="en-US" altLang="en-US" b="1" dirty="0">
                <a:latin typeface="Courier New" panose="02070309020205020404" pitchFamily="49" charset="0"/>
              </a:rPr>
              <a:t>new</a:t>
            </a:r>
            <a:r>
              <a:rPr lang="en-US" altLang="en-US" dirty="0"/>
              <a:t>)</a:t>
            </a:r>
          </a:p>
          <a:p>
            <a:pPr lvl="2" eaLnBrk="1" hangingPunct="1"/>
            <a:r>
              <a:rPr lang="en-US" altLang="en-US" dirty="0"/>
              <a:t>Referenced through reference variables</a:t>
            </a:r>
            <a:endParaRPr lang="en-US" altLang="en-US" dirty="0">
              <a:latin typeface="Courier New" panose="02070309020205020404" pitchFamily="49" charset="0"/>
            </a:endParaRPr>
          </a:p>
          <a:p>
            <a:pPr lvl="1" eaLnBrk="1" hangingPunct="1"/>
            <a:r>
              <a:rPr lang="en-US" altLang="en-US" dirty="0"/>
              <a:t>Memory management through garbage collector</a:t>
            </a:r>
          </a:p>
          <a:p>
            <a:pPr lvl="2" eaLnBrk="1" hangingPunct="1"/>
            <a:r>
              <a:rPr lang="en-US" altLang="en-US" dirty="0" smtClean="0"/>
              <a:t>Garbage collector frees memory automatically</a:t>
            </a:r>
          </a:p>
          <a:p>
            <a:pPr lvl="2" eaLnBrk="1" hangingPunct="1"/>
            <a:r>
              <a:rPr lang="en-US" altLang="en-US" dirty="0" smtClean="0"/>
              <a:t>As </a:t>
            </a:r>
            <a:r>
              <a:rPr lang="en-US" altLang="en-US" dirty="0"/>
              <a:t>garbage collector </a:t>
            </a:r>
            <a:r>
              <a:rPr lang="en-US" altLang="en-US" dirty="0" smtClean="0"/>
              <a:t>about </a:t>
            </a:r>
            <a:r>
              <a:rPr lang="en-US" altLang="en-US" dirty="0"/>
              <a:t>to reclaim </a:t>
            </a:r>
            <a:r>
              <a:rPr lang="en-US" altLang="en-US" dirty="0" smtClean="0"/>
              <a:t>object </a:t>
            </a:r>
            <a:r>
              <a:rPr lang="en-US" altLang="en-US" dirty="0"/>
              <a:t>storage</a:t>
            </a:r>
            <a:endParaRPr lang="en-US" altLang="en-US" dirty="0" smtClean="0"/>
          </a:p>
          <a:p>
            <a:pPr lvl="3" eaLnBrk="1" hangingPunct="1"/>
            <a:r>
              <a:rPr lang="en-US" altLang="en-US" dirty="0" smtClean="0"/>
              <a:t>A </a:t>
            </a:r>
            <a:r>
              <a:rPr lang="en-US" altLang="en-US" b="1" dirty="0">
                <a:latin typeface="Courier New" panose="02070309020205020404" pitchFamily="49" charset="0"/>
                <a:cs typeface="Courier New" panose="02070309020205020404" pitchFamily="49" charset="0"/>
              </a:rPr>
              <a:t>finalize</a:t>
            </a:r>
            <a:r>
              <a:rPr lang="en-US" altLang="en-US" dirty="0"/>
              <a:t> method implicitly </a:t>
            </a:r>
            <a:r>
              <a:rPr lang="en-US" altLang="en-US" dirty="0" smtClean="0"/>
              <a:t>called</a:t>
            </a:r>
          </a:p>
          <a:p>
            <a:pPr lvl="3" eaLnBrk="1" hangingPunct="1"/>
            <a:r>
              <a:rPr lang="en-US" altLang="en-US" dirty="0" smtClean="0"/>
              <a:t>When this happens is unpredictable</a:t>
            </a:r>
            <a:endParaRPr lang="en-US" altLang="en-US" dirty="0"/>
          </a:p>
        </p:txBody>
      </p:sp>
      <p:sp>
        <p:nvSpPr>
          <p:cNvPr id="6656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B21D7A9-4384-4AF2-A034-21F6FC60DF77}"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5840818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EFFFCD5-CED9-4ADB-BEF6-76F520529DAE}"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69635" name="Rectangle 2"/>
          <p:cNvSpPr>
            <a:spLocks noGrp="1" noChangeArrowheads="1"/>
          </p:cNvSpPr>
          <p:nvPr>
            <p:ph type="title"/>
          </p:nvPr>
        </p:nvSpPr>
        <p:spPr/>
        <p:txBody>
          <a:bodyPr/>
          <a:lstStyle/>
          <a:p>
            <a:pPr eaLnBrk="1" hangingPunct="1"/>
            <a:r>
              <a:rPr lang="en-US" altLang="en-US" dirty="0" smtClean="0"/>
              <a:t>Support for OOP in Java</a:t>
            </a:r>
          </a:p>
        </p:txBody>
      </p:sp>
      <p:sp>
        <p:nvSpPr>
          <p:cNvPr id="69636" name="Rectangle 3"/>
          <p:cNvSpPr>
            <a:spLocks noGrp="1" noChangeArrowheads="1"/>
          </p:cNvSpPr>
          <p:nvPr>
            <p:ph type="body" idx="1"/>
          </p:nvPr>
        </p:nvSpPr>
        <p:spPr>
          <a:xfrm>
            <a:off x="609600" y="1600200"/>
            <a:ext cx="8153400" cy="4953000"/>
          </a:xfrm>
        </p:spPr>
        <p:txBody>
          <a:bodyPr/>
          <a:lstStyle/>
          <a:p>
            <a:pPr eaLnBrk="1" hangingPunct="1"/>
            <a:r>
              <a:rPr lang="en-US" altLang="en-US" dirty="0" smtClean="0"/>
              <a:t>Inheritance</a:t>
            </a:r>
          </a:p>
          <a:p>
            <a:pPr lvl="1" eaLnBrk="1" hangingPunct="1"/>
            <a:r>
              <a:rPr lang="en-US" altLang="en-US" dirty="0" smtClean="0"/>
              <a:t>Only single inheritance is supported</a:t>
            </a:r>
          </a:p>
          <a:p>
            <a:pPr lvl="1" eaLnBrk="1" hangingPunct="1"/>
            <a:r>
              <a:rPr lang="en-US" altLang="en-US" dirty="0" smtClean="0"/>
              <a:t>An </a:t>
            </a:r>
            <a:r>
              <a:rPr lang="en-US" altLang="en-US" b="1" dirty="0" smtClean="0">
                <a:latin typeface="Courier New" panose="02070309020205020404" pitchFamily="49" charset="0"/>
              </a:rPr>
              <a:t>interface</a:t>
            </a:r>
            <a:endParaRPr lang="en-US" altLang="en-US" b="1" dirty="0" smtClean="0"/>
          </a:p>
          <a:p>
            <a:pPr lvl="2" eaLnBrk="1" hangingPunct="1"/>
            <a:r>
              <a:rPr lang="en-US" altLang="en-US" dirty="0" smtClean="0"/>
              <a:t>Like an abstract class</a:t>
            </a:r>
          </a:p>
          <a:p>
            <a:pPr lvl="2" eaLnBrk="1" hangingPunct="1"/>
            <a:r>
              <a:rPr lang="en-US" altLang="en-US" dirty="0" smtClean="0"/>
              <a:t>Provides some benefits of multiple inheritance</a:t>
            </a:r>
          </a:p>
          <a:p>
            <a:pPr lvl="2" eaLnBrk="1" hangingPunct="1"/>
            <a:r>
              <a:rPr lang="en-US" altLang="en-US" dirty="0" smtClean="0"/>
              <a:t>Only method declarations and named constants</a:t>
            </a:r>
          </a:p>
          <a:p>
            <a:pPr lvl="1" eaLnBrk="1" hangingPunct="1">
              <a:buFontTx/>
              <a:buNone/>
            </a:pPr>
            <a:endParaRPr lang="en-US" altLang="en-US" sz="800" dirty="0" smtClean="0">
              <a:latin typeface="Courier New" panose="02070309020205020404" pitchFamily="49" charset="0"/>
              <a:cs typeface="Courier New" panose="02070309020205020404" pitchFamily="49" charset="0"/>
            </a:endParaRPr>
          </a:p>
          <a:p>
            <a:pPr lvl="1" eaLnBrk="1" hangingPunct="1">
              <a:buFontTx/>
              <a:buNone/>
            </a:pP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public</a:t>
            </a: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interface</a:t>
            </a:r>
            <a:r>
              <a:rPr lang="en-US" altLang="en-US" sz="1800" dirty="0" smtClean="0">
                <a:latin typeface="Courier New" panose="02070309020205020404" pitchFamily="49" charset="0"/>
                <a:cs typeface="Courier New" panose="02070309020205020404" pitchFamily="49" charset="0"/>
              </a:rPr>
              <a:t> Comparable &lt;T&gt; {</a:t>
            </a:r>
          </a:p>
          <a:p>
            <a:pPr lvl="1" eaLnBrk="1" hangingPunct="1">
              <a:buFontTx/>
              <a:buNone/>
            </a:pPr>
            <a:r>
              <a:rPr lang="en-US" altLang="en-US" sz="1800" b="1" dirty="0" smtClean="0">
                <a:latin typeface="Courier New" panose="02070309020205020404" pitchFamily="49" charset="0"/>
                <a:cs typeface="Courier New" panose="02070309020205020404" pitchFamily="49" charset="0"/>
              </a:rPr>
              <a:t>			    public</a:t>
            </a: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comparedTo</a:t>
            </a:r>
            <a:r>
              <a:rPr lang="en-US" altLang="en-US" sz="1800" dirty="0" smtClean="0">
                <a:latin typeface="Courier New" panose="02070309020205020404" pitchFamily="49" charset="0"/>
                <a:cs typeface="Courier New" panose="02070309020205020404" pitchFamily="49" charset="0"/>
              </a:rPr>
              <a:t> (T b);</a:t>
            </a:r>
          </a:p>
          <a:p>
            <a:pPr lvl="1" eaLnBrk="1" hangingPunct="1">
              <a:buFontTx/>
              <a:buNone/>
            </a:pPr>
            <a:r>
              <a:rPr lang="en-US" altLang="en-US" sz="1800" dirty="0" smtClean="0">
                <a:latin typeface="Courier New" panose="02070309020205020404" pitchFamily="49" charset="0"/>
                <a:cs typeface="Courier New" panose="02070309020205020404" pitchFamily="49" charset="0"/>
              </a:rPr>
              <a:t>		    }</a:t>
            </a:r>
            <a:endParaRPr lang="en-US" altLang="en-US" sz="2000" dirty="0" smtClean="0">
              <a:latin typeface="Courier New" panose="02070309020205020404" pitchFamily="49" charset="0"/>
              <a:cs typeface="Courier New" panose="02070309020205020404" pitchFamily="49" charset="0"/>
            </a:endParaRPr>
          </a:p>
          <a:p>
            <a:pPr lvl="1" eaLnBrk="1" hangingPunct="1">
              <a:buFontTx/>
              <a:buNone/>
            </a:pPr>
            <a:endParaRPr lang="en-US" altLang="en-US" sz="800" dirty="0" smtClean="0">
              <a:latin typeface="Courier New" panose="02070309020205020404" pitchFamily="49" charset="0"/>
              <a:cs typeface="Courier New" panose="02070309020205020404" pitchFamily="49" charset="0"/>
            </a:endParaRPr>
          </a:p>
          <a:p>
            <a:pPr lvl="2" eaLnBrk="1" hangingPunct="1"/>
            <a:r>
              <a:rPr lang="en-US" altLang="en-US" dirty="0" smtClean="0"/>
              <a:t>Simpler than C++ multiple inheritance (why?)</a:t>
            </a:r>
          </a:p>
          <a:p>
            <a:pPr lvl="1" eaLnBrk="1" hangingPunct="1"/>
            <a:r>
              <a:rPr lang="en-US" altLang="en-US" dirty="0" smtClean="0"/>
              <a:t>Methods that are </a:t>
            </a:r>
            <a:r>
              <a:rPr lang="en-US" altLang="en-US" b="1" dirty="0" smtClean="0">
                <a:latin typeface="Courier New" panose="02070309020205020404" pitchFamily="49" charset="0"/>
              </a:rPr>
              <a:t>final</a:t>
            </a:r>
            <a:r>
              <a:rPr lang="en-US" altLang="en-US" dirty="0" smtClean="0"/>
              <a:t> cannot be </a:t>
            </a:r>
            <a:r>
              <a:rPr lang="en-US" altLang="en-US" dirty="0" err="1" smtClean="0"/>
              <a:t>overriden</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781045A-ABF4-4FF9-8082-DDF1CE8D929B}"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71683" name="Rectangle 2"/>
          <p:cNvSpPr>
            <a:spLocks noGrp="1" noChangeArrowheads="1"/>
          </p:cNvSpPr>
          <p:nvPr>
            <p:ph type="title"/>
          </p:nvPr>
        </p:nvSpPr>
        <p:spPr/>
        <p:txBody>
          <a:bodyPr/>
          <a:lstStyle/>
          <a:p>
            <a:pPr eaLnBrk="1" hangingPunct="1"/>
            <a:r>
              <a:rPr lang="en-US" altLang="en-US" dirty="0" smtClean="0"/>
              <a:t>Support for OOP in Java</a:t>
            </a:r>
          </a:p>
        </p:txBody>
      </p:sp>
      <p:sp>
        <p:nvSpPr>
          <p:cNvPr id="71684"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Dynamic Binding</a:t>
            </a:r>
          </a:p>
          <a:p>
            <a:pPr lvl="1" eaLnBrk="1" hangingPunct="1"/>
            <a:r>
              <a:rPr lang="en-US" altLang="en-US" dirty="0" smtClean="0"/>
              <a:t>All messages are dynamically bound to methods</a:t>
            </a:r>
          </a:p>
          <a:p>
            <a:pPr lvl="1" eaLnBrk="1" hangingPunct="1"/>
            <a:r>
              <a:rPr lang="en-US" altLang="en-US" dirty="0" smtClean="0"/>
              <a:t>Static binding only in specific circumstances</a:t>
            </a:r>
          </a:p>
          <a:p>
            <a:pPr lvl="2" eaLnBrk="1" hangingPunct="1"/>
            <a:r>
              <a:rPr lang="en-US" altLang="en-US" dirty="0" smtClean="0"/>
              <a:t>When method cannot be overridden</a:t>
            </a:r>
          </a:p>
          <a:p>
            <a:pPr lvl="3" eaLnBrk="1" hangingPunct="1"/>
            <a:r>
              <a:rPr lang="en-US" altLang="en-US" dirty="0" smtClean="0"/>
              <a:t>The method is </a:t>
            </a:r>
            <a:r>
              <a:rPr lang="en-US" altLang="en-US" b="1" dirty="0" smtClean="0">
                <a:latin typeface="Courier New" panose="02070309020205020404" pitchFamily="49" charset="0"/>
              </a:rPr>
              <a:t>final</a:t>
            </a:r>
          </a:p>
          <a:p>
            <a:pPr lvl="3" eaLnBrk="1" hangingPunct="1"/>
            <a:r>
              <a:rPr lang="en-US" altLang="en-US" dirty="0" smtClean="0"/>
              <a:t>The method is </a:t>
            </a:r>
            <a:r>
              <a:rPr lang="en-US" altLang="en-US" b="1" dirty="0" smtClean="0">
                <a:latin typeface="Courier New" panose="02070309020205020404" pitchFamily="49" charset="0"/>
                <a:cs typeface="Courier New" panose="02070309020205020404" pitchFamily="49" charset="0"/>
              </a:rPr>
              <a:t>private</a:t>
            </a:r>
            <a:endParaRPr lang="en-US" altLang="en-US" b="1" dirty="0" smtClean="0"/>
          </a:p>
          <a:p>
            <a:pPr lvl="3" eaLnBrk="1" hangingPunct="1"/>
            <a:r>
              <a:rPr lang="en-US" altLang="en-US" dirty="0" smtClean="0"/>
              <a:t>The method is </a:t>
            </a:r>
            <a:r>
              <a:rPr lang="en-US" altLang="en-US" b="1" dirty="0" smtClean="0">
                <a:latin typeface="Courier New" panose="02070309020205020404" pitchFamily="49" charset="0"/>
                <a:cs typeface="Courier New" panose="02070309020205020404" pitchFamily="49" charset="0"/>
              </a:rPr>
              <a:t>static</a:t>
            </a:r>
            <a:r>
              <a:rPr lang="en-US" altLang="en-US" dirty="0" smtClean="0"/>
              <a:t> (i.e. a class method)</a:t>
            </a:r>
          </a:p>
          <a:p>
            <a:pPr lvl="2" eaLnBrk="1" hangingPunct="1"/>
            <a:r>
              <a:rPr lang="en-US" altLang="en-US" dirty="0" smtClean="0"/>
              <a:t>In these cases dynamic binding serves no purpose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7574082-9D50-4DF1-979F-D6578C39BE3C}"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73731" name="Rectangle 2"/>
          <p:cNvSpPr>
            <a:spLocks noGrp="1" noChangeArrowheads="1"/>
          </p:cNvSpPr>
          <p:nvPr>
            <p:ph type="title"/>
          </p:nvPr>
        </p:nvSpPr>
        <p:spPr/>
        <p:txBody>
          <a:bodyPr/>
          <a:lstStyle/>
          <a:p>
            <a:pPr eaLnBrk="1" hangingPunct="1"/>
            <a:r>
              <a:rPr lang="en-US" altLang="en-US" dirty="0" smtClean="0"/>
              <a:t>Support for OOP in Java</a:t>
            </a:r>
          </a:p>
        </p:txBody>
      </p:sp>
      <p:sp>
        <p:nvSpPr>
          <p:cNvPr id="73732" name="Rectangle 3"/>
          <p:cNvSpPr>
            <a:spLocks noGrp="1" noChangeArrowheads="1"/>
          </p:cNvSpPr>
          <p:nvPr>
            <p:ph type="body" idx="1"/>
          </p:nvPr>
        </p:nvSpPr>
        <p:spPr>
          <a:xfrm>
            <a:off x="609600" y="1600200"/>
            <a:ext cx="8439150" cy="4800600"/>
          </a:xfrm>
        </p:spPr>
        <p:txBody>
          <a:bodyPr/>
          <a:lstStyle/>
          <a:p>
            <a:pPr eaLnBrk="1" hangingPunct="1"/>
            <a:r>
              <a:rPr lang="en-US" altLang="en-US" dirty="0" smtClean="0"/>
              <a:t>Nested classes in another class</a:t>
            </a:r>
          </a:p>
          <a:p>
            <a:pPr lvl="1" eaLnBrk="1" hangingPunct="1"/>
            <a:r>
              <a:rPr lang="en-US" altLang="en-US" dirty="0" smtClean="0"/>
              <a:t>Nesting class can access all nested class members</a:t>
            </a:r>
          </a:p>
          <a:p>
            <a:pPr lvl="1" eaLnBrk="1" hangingPunct="1"/>
            <a:r>
              <a:rPr lang="en-US" altLang="en-US" dirty="0" err="1" smtClean="0"/>
              <a:t>Nonstatic</a:t>
            </a:r>
            <a:r>
              <a:rPr lang="en-US" altLang="en-US" dirty="0" smtClean="0"/>
              <a:t> nested class, or </a:t>
            </a:r>
            <a:r>
              <a:rPr lang="en-US" altLang="en-US" u="sng" dirty="0" smtClean="0"/>
              <a:t>inner class</a:t>
            </a:r>
            <a:endParaRPr lang="en-US" altLang="en-US" sz="1800" u="sng" dirty="0" smtClean="0">
              <a:solidFill>
                <a:srgbClr val="333399"/>
              </a:solidFill>
            </a:endParaRPr>
          </a:p>
          <a:p>
            <a:pPr lvl="2" eaLnBrk="1" hangingPunct="1"/>
            <a:r>
              <a:rPr lang="en-US" altLang="en-US" dirty="0" smtClean="0"/>
              <a:t>Can access all members of its nesting class</a:t>
            </a:r>
          </a:p>
          <a:p>
            <a:pPr lvl="1" eaLnBrk="1" hangingPunct="1"/>
            <a:r>
              <a:rPr lang="en-US" altLang="en-US" dirty="0" smtClean="0"/>
              <a:t>Static nested class</a:t>
            </a:r>
          </a:p>
          <a:p>
            <a:pPr lvl="2" eaLnBrk="1" hangingPunct="1"/>
            <a:r>
              <a:rPr lang="en-US" altLang="en-US" dirty="0" smtClean="0"/>
              <a:t>Can’t access members of nesting class</a:t>
            </a:r>
          </a:p>
          <a:p>
            <a:pPr eaLnBrk="1" hangingPunct="1"/>
            <a:r>
              <a:rPr lang="en-US" altLang="en-US" dirty="0" smtClean="0"/>
              <a:t>Nested classes in methods of a nesting class</a:t>
            </a:r>
          </a:p>
          <a:p>
            <a:pPr lvl="1" eaLnBrk="1" hangingPunct="1"/>
            <a:r>
              <a:rPr lang="en-US" altLang="en-US" dirty="0" smtClean="0"/>
              <a:t>Called a </a:t>
            </a:r>
            <a:r>
              <a:rPr lang="en-US" altLang="en-US" u="sng" dirty="0" smtClean="0"/>
              <a:t>local nested class</a:t>
            </a:r>
            <a:endParaRPr lang="en-US" altLang="en-US" dirty="0" smtClean="0"/>
          </a:p>
          <a:p>
            <a:pPr lvl="1" eaLnBrk="1" hangingPunct="1"/>
            <a:r>
              <a:rPr lang="en-US" altLang="en-US" dirty="0" smtClean="0"/>
              <a:t>No class access specifier (</a:t>
            </a:r>
            <a:r>
              <a:rPr lang="en-US" altLang="en-US" b="1" dirty="0" smtClean="0">
                <a:latin typeface="Courier New" panose="02070309020205020404" pitchFamily="49" charset="0"/>
              </a:rPr>
              <a:t>private</a:t>
            </a:r>
            <a:r>
              <a:rPr lang="en-US" altLang="en-US" dirty="0" smtClean="0"/>
              <a:t> or </a:t>
            </a:r>
            <a:r>
              <a:rPr lang="en-US" altLang="en-US" b="1" dirty="0" smtClean="0">
                <a:latin typeface="Courier New" panose="02070309020205020404" pitchFamily="49" charset="0"/>
              </a:rPr>
              <a:t>public</a:t>
            </a:r>
            <a:r>
              <a:rPr lang="en-US" altLang="en-US" dirty="0" smtClean="0"/>
              <a:t>)</a:t>
            </a:r>
          </a:p>
          <a:p>
            <a:pPr lvl="1" eaLnBrk="1" hangingPunct="1"/>
            <a:r>
              <a:rPr lang="en-US" altLang="en-US" dirty="0" smtClean="0"/>
              <a:t>Members visible only in nesting method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416287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212E970-6670-4E32-A860-AD6196AED8FB}"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75779" name="Rectangle 2"/>
          <p:cNvSpPr>
            <a:spLocks noGrp="1" noChangeArrowheads="1"/>
          </p:cNvSpPr>
          <p:nvPr>
            <p:ph type="title"/>
          </p:nvPr>
        </p:nvSpPr>
        <p:spPr/>
        <p:txBody>
          <a:bodyPr/>
          <a:lstStyle/>
          <a:p>
            <a:pPr eaLnBrk="1" hangingPunct="1"/>
            <a:r>
              <a:rPr lang="en-US" altLang="en-US" smtClean="0"/>
              <a:t>Support for OOP in C#</a:t>
            </a:r>
          </a:p>
        </p:txBody>
      </p:sp>
      <p:sp>
        <p:nvSpPr>
          <p:cNvPr id="80901" name="Rectangle 3"/>
          <p:cNvSpPr>
            <a:spLocks noGrp="1" noChangeArrowheads="1"/>
          </p:cNvSpPr>
          <p:nvPr>
            <p:ph type="body" idx="1"/>
          </p:nvPr>
        </p:nvSpPr>
        <p:spPr>
          <a:xfrm>
            <a:off x="609600" y="1600200"/>
            <a:ext cx="8153400" cy="4572000"/>
          </a:xfrm>
        </p:spPr>
        <p:txBody>
          <a:bodyPr/>
          <a:lstStyle/>
          <a:p>
            <a:pPr eaLnBrk="1" hangingPunct="1">
              <a:defRPr/>
            </a:pPr>
            <a:r>
              <a:rPr lang="en-US" altLang="en-US" dirty="0" smtClean="0"/>
              <a:t>General characteristics</a:t>
            </a:r>
          </a:p>
          <a:p>
            <a:pPr lvl="1" eaLnBrk="1" hangingPunct="1">
              <a:defRPr/>
            </a:pPr>
            <a:r>
              <a:rPr lang="en-US" altLang="en-US" dirty="0" smtClean="0"/>
              <a:t>Support for OOP is similar to Java</a:t>
            </a:r>
          </a:p>
          <a:p>
            <a:pPr lvl="1" eaLnBrk="1" hangingPunct="1">
              <a:defRPr/>
            </a:pPr>
            <a:r>
              <a:rPr lang="en-US" altLang="en-US" dirty="0" smtClean="0"/>
              <a:t>Includes both class and </a:t>
            </a:r>
            <a:r>
              <a:rPr lang="en-US" altLang="en-US" dirty="0" err="1" smtClean="0">
                <a:latin typeface="Courier New" panose="02070309020205020404" pitchFamily="49" charset="0"/>
                <a:cs typeface="Courier New" panose="02070309020205020404" pitchFamily="49" charset="0"/>
              </a:rPr>
              <a:t>struct</a:t>
            </a:r>
            <a:r>
              <a:rPr lang="en-US" altLang="en-US" dirty="0" smtClean="0"/>
              <a:t> constructs</a:t>
            </a:r>
          </a:p>
          <a:p>
            <a:pPr lvl="2" eaLnBrk="1" hangingPunct="1">
              <a:defRPr/>
            </a:pPr>
            <a:r>
              <a:rPr lang="en-US" altLang="en-US" dirty="0" smtClean="0"/>
              <a:t>Classes are similar to Java’s classes</a:t>
            </a:r>
          </a:p>
          <a:p>
            <a:pPr lvl="2" eaLnBrk="1" hangingPunct="1">
              <a:defRPr/>
            </a:pPr>
            <a:r>
              <a:rPr lang="en-US" altLang="en-US" dirty="0" smtClean="0">
                <a:latin typeface="+mj-lt"/>
                <a:cs typeface="Courier New" panose="02070309020205020404" pitchFamily="49" charset="0"/>
              </a:rPr>
              <a:t>A </a:t>
            </a:r>
            <a:r>
              <a:rPr lang="en-US" altLang="en-US" dirty="0" err="1" smtClean="0">
                <a:latin typeface="Courier New" panose="02070309020205020404" pitchFamily="49" charset="0"/>
                <a:cs typeface="Courier New" panose="02070309020205020404" pitchFamily="49" charset="0"/>
              </a:rPr>
              <a:t>struct</a:t>
            </a:r>
            <a:r>
              <a:rPr lang="en-US" altLang="en-US" dirty="0" smtClean="0">
                <a:latin typeface="+mj-lt"/>
                <a:cs typeface="Courier New" panose="02070309020205020404" pitchFamily="49" charset="0"/>
              </a:rPr>
              <a:t> is less powerful than in C++</a:t>
            </a:r>
            <a:endParaRPr lang="en-US" altLang="en-US" dirty="0"/>
          </a:p>
          <a:p>
            <a:pPr lvl="3" eaLnBrk="1" hangingPunct="1">
              <a:defRPr/>
            </a:pPr>
            <a:r>
              <a:rPr lang="en-US" altLang="en-US" dirty="0" smtClean="0"/>
              <a:t>A stack-dynamic construct</a:t>
            </a:r>
          </a:p>
          <a:p>
            <a:pPr lvl="3" eaLnBrk="1" hangingPunct="1">
              <a:defRPr/>
            </a:pPr>
            <a:r>
              <a:rPr lang="en-US" altLang="en-US" dirty="0"/>
              <a:t>N</a:t>
            </a:r>
            <a:r>
              <a:rPr lang="en-US" altLang="en-US" dirty="0" smtClean="0"/>
              <a:t>o inheritance</a:t>
            </a:r>
          </a:p>
          <a:p>
            <a:pPr lvl="3" eaLnBrk="1" hangingPunct="1">
              <a:defRPr/>
            </a:pPr>
            <a:r>
              <a:rPr lang="en-US" altLang="en-US" dirty="0"/>
              <a:t>N</a:t>
            </a:r>
            <a:r>
              <a:rPr lang="en-US" altLang="en-US" dirty="0" smtClean="0"/>
              <a:t>o members referencing the </a:t>
            </a:r>
            <a:r>
              <a:rPr lang="en-US" altLang="en-US" dirty="0" err="1" smtClean="0">
                <a:latin typeface="Courier New" panose="02070309020205020404" pitchFamily="49" charset="0"/>
              </a:rPr>
              <a:t>struct</a:t>
            </a:r>
            <a:r>
              <a:rPr lang="en-US" altLang="en-US" dirty="0" smtClean="0"/>
              <a:t> itself</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BC74139-4C6D-46B0-829B-E13D1950FF6A}"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77827" name="Rectangle 2"/>
          <p:cNvSpPr>
            <a:spLocks noGrp="1" noChangeArrowheads="1"/>
          </p:cNvSpPr>
          <p:nvPr>
            <p:ph type="title"/>
          </p:nvPr>
        </p:nvSpPr>
        <p:spPr/>
        <p:txBody>
          <a:bodyPr/>
          <a:lstStyle/>
          <a:p>
            <a:pPr eaLnBrk="1" hangingPunct="1"/>
            <a:r>
              <a:rPr lang="en-US" altLang="en-US" dirty="0" smtClean="0"/>
              <a:t>Support for OOP in C#</a:t>
            </a:r>
          </a:p>
        </p:txBody>
      </p:sp>
      <p:sp>
        <p:nvSpPr>
          <p:cNvPr id="77828"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Inheritance</a:t>
            </a:r>
          </a:p>
          <a:p>
            <a:pPr lvl="1" eaLnBrk="1" hangingPunct="1"/>
            <a:r>
              <a:rPr lang="en-US" altLang="en-US" dirty="0" smtClean="0"/>
              <a:t>Uses the syntax of C++ for defining classes</a:t>
            </a:r>
          </a:p>
          <a:p>
            <a:pPr lvl="1" eaLnBrk="1" hangingPunct="1"/>
            <a:r>
              <a:rPr lang="en-US" altLang="en-US" dirty="0" smtClean="0"/>
              <a:t>Overriding a method inherited from parent class</a:t>
            </a:r>
          </a:p>
          <a:p>
            <a:pPr lvl="2" eaLnBrk="1" hangingPunct="1"/>
            <a:r>
              <a:rPr lang="en-US" altLang="en-US" dirty="0" smtClean="0"/>
              <a:t>Mark the overriding method’s definition with </a:t>
            </a:r>
            <a:r>
              <a:rPr lang="en-US" altLang="en-US" b="1" dirty="0" smtClean="0">
                <a:latin typeface="Courier New" panose="02070309020205020404" pitchFamily="49" charset="0"/>
              </a:rPr>
              <a:t>new</a:t>
            </a:r>
          </a:p>
          <a:p>
            <a:pPr lvl="3" eaLnBrk="1" hangingPunct="1"/>
            <a:r>
              <a:rPr lang="en-US" altLang="en-US" dirty="0" smtClean="0"/>
              <a:t>Advantages of this approach?</a:t>
            </a:r>
          </a:p>
          <a:p>
            <a:pPr lvl="3" eaLnBrk="1" hangingPunct="1"/>
            <a:r>
              <a:rPr lang="en-US" altLang="en-US" dirty="0" smtClean="0"/>
              <a:t>Disadvantage </a:t>
            </a:r>
            <a:r>
              <a:rPr lang="en-US" altLang="en-US" dirty="0"/>
              <a:t>of this approach?</a:t>
            </a:r>
            <a:endParaRPr lang="en-US" altLang="en-US" dirty="0" smtClean="0"/>
          </a:p>
          <a:p>
            <a:pPr lvl="2" eaLnBrk="1" hangingPunct="1"/>
            <a:r>
              <a:rPr lang="en-US" altLang="en-US" dirty="0" smtClean="0"/>
              <a:t>Parent class version called explicitly with </a:t>
            </a:r>
            <a:r>
              <a:rPr lang="en-US" altLang="en-US" b="1" dirty="0" smtClean="0">
                <a:latin typeface="Courier New" panose="02070309020205020404" pitchFamily="49" charset="0"/>
              </a:rPr>
              <a:t>base</a:t>
            </a:r>
            <a:r>
              <a:rPr lang="en-US" altLang="en-US" dirty="0" smtClean="0"/>
              <a:t> prefix</a:t>
            </a:r>
            <a:endParaRPr lang="en-US" altLang="en-US" dirty="0" smtClean="0">
              <a:latin typeface="Courier New" panose="02070309020205020404" pitchFamily="49" charset="0"/>
            </a:endParaRPr>
          </a:p>
          <a:p>
            <a:pPr lvl="3" eaLnBrk="1" hangingPunct="1">
              <a:buFontTx/>
              <a:buNone/>
            </a:pPr>
            <a:r>
              <a:rPr lang="en-US" altLang="en-US" b="1" dirty="0" err="1" smtClean="0">
                <a:latin typeface="Courier New" panose="02070309020205020404" pitchFamily="49" charset="0"/>
              </a:rPr>
              <a:t>base</a:t>
            </a:r>
            <a:r>
              <a:rPr lang="en-US" altLang="en-US" dirty="0" err="1" smtClean="0">
                <a:latin typeface="Courier New" panose="02070309020205020404" pitchFamily="49" charset="0"/>
              </a:rPr>
              <a:t>.Draw</a:t>
            </a:r>
            <a:r>
              <a:rPr lang="en-US" altLang="en-US" dirty="0" smtClean="0">
                <a:latin typeface="Courier New" panose="02070309020205020404" pitchFamily="49" charset="0"/>
              </a:rPr>
              <a:t>()</a:t>
            </a:r>
          </a:p>
          <a:p>
            <a:pPr lvl="1" eaLnBrk="1" hangingPunct="1"/>
            <a:r>
              <a:rPr lang="en-US" altLang="en-US" dirty="0" smtClean="0"/>
              <a:t>Also supports interfaces, like in Java</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2721D6A-DAE1-41CF-8D2F-243A87AE4C35}"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79875" name="Rectangle 2"/>
          <p:cNvSpPr>
            <a:spLocks noGrp="1" noChangeArrowheads="1"/>
          </p:cNvSpPr>
          <p:nvPr>
            <p:ph type="title"/>
          </p:nvPr>
        </p:nvSpPr>
        <p:spPr/>
        <p:txBody>
          <a:bodyPr/>
          <a:lstStyle/>
          <a:p>
            <a:pPr eaLnBrk="1" hangingPunct="1"/>
            <a:r>
              <a:rPr lang="en-US" altLang="en-US" dirty="0" smtClean="0"/>
              <a:t>Support for OOP in C#</a:t>
            </a:r>
          </a:p>
        </p:txBody>
      </p:sp>
      <p:sp>
        <p:nvSpPr>
          <p:cNvPr id="79876"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Dynamic binding</a:t>
            </a:r>
          </a:p>
          <a:p>
            <a:pPr lvl="1" eaLnBrk="1" hangingPunct="1"/>
            <a:r>
              <a:rPr lang="en-US" altLang="en-US" dirty="0" smtClean="0"/>
              <a:t>For dynamic binding of messages to methods</a:t>
            </a:r>
          </a:p>
          <a:p>
            <a:pPr lvl="2" eaLnBrk="1" hangingPunct="1"/>
            <a:r>
              <a:rPr lang="en-US" altLang="en-US" dirty="0" smtClean="0"/>
              <a:t>The base class method is marked </a:t>
            </a:r>
            <a:r>
              <a:rPr lang="en-US" altLang="en-US" b="1" dirty="0" smtClean="0">
                <a:latin typeface="Courier New" panose="02070309020205020404" pitchFamily="49" charset="0"/>
              </a:rPr>
              <a:t>virtual</a:t>
            </a:r>
          </a:p>
          <a:p>
            <a:pPr lvl="2" eaLnBrk="1" hangingPunct="1"/>
            <a:r>
              <a:rPr lang="en-US" altLang="en-US" dirty="0" smtClean="0"/>
              <a:t>Implemented </a:t>
            </a:r>
            <a:r>
              <a:rPr lang="en-US" altLang="en-US" b="1" dirty="0" smtClean="0">
                <a:latin typeface="Courier New" panose="02070309020205020404" pitchFamily="49" charset="0"/>
                <a:cs typeface="Courier New" panose="02070309020205020404" pitchFamily="49" charset="0"/>
              </a:rPr>
              <a:t>virtual</a:t>
            </a:r>
            <a:r>
              <a:rPr lang="en-US" altLang="en-US" dirty="0" smtClean="0"/>
              <a:t> methods marked </a:t>
            </a:r>
            <a:r>
              <a:rPr lang="en-US" altLang="en-US" b="1" dirty="0" smtClean="0">
                <a:latin typeface="Courier New" panose="02070309020205020404" pitchFamily="49" charset="0"/>
              </a:rPr>
              <a:t>override</a:t>
            </a:r>
            <a:endParaRPr lang="en-US" altLang="en-US" b="1" dirty="0" smtClean="0"/>
          </a:p>
          <a:p>
            <a:pPr lvl="2" eaLnBrk="1" hangingPunct="1"/>
            <a:r>
              <a:rPr lang="en-US" altLang="en-US" dirty="0" smtClean="0"/>
              <a:t>Advantages of this approach?</a:t>
            </a:r>
          </a:p>
          <a:p>
            <a:pPr lvl="2" eaLnBrk="1" hangingPunct="1"/>
            <a:r>
              <a:rPr lang="en-US" altLang="en-US" dirty="0" smtClean="0"/>
              <a:t>Disadvantage </a:t>
            </a:r>
            <a:r>
              <a:rPr lang="en-US" altLang="en-US" dirty="0"/>
              <a:t>of this approach?</a:t>
            </a:r>
            <a:endParaRPr lang="en-US" altLang="en-US" dirty="0" smtClean="0"/>
          </a:p>
          <a:p>
            <a:pPr lvl="1" eaLnBrk="1" hangingPunct="1"/>
            <a:r>
              <a:rPr lang="en-US" altLang="en-US" dirty="0" smtClean="0"/>
              <a:t>Abstract methods are marked </a:t>
            </a:r>
            <a:r>
              <a:rPr lang="en-US" altLang="en-US" b="1" dirty="0" smtClean="0">
                <a:latin typeface="Courier New" panose="02070309020205020404" pitchFamily="49" charset="0"/>
                <a:cs typeface="Courier New" panose="02070309020205020404" pitchFamily="49" charset="0"/>
              </a:rPr>
              <a:t>abstract</a:t>
            </a:r>
            <a:endParaRPr lang="en-US" altLang="en-US" dirty="0" smtClean="0"/>
          </a:p>
          <a:p>
            <a:pPr lvl="1" eaLnBrk="1" hangingPunct="1"/>
            <a:r>
              <a:rPr lang="en-US" altLang="en-US" dirty="0" smtClean="0"/>
              <a:t>All classes are derived from a root </a:t>
            </a:r>
            <a:r>
              <a:rPr lang="en-US" altLang="en-US" dirty="0" smtClean="0">
                <a:latin typeface="Courier New" panose="02070309020205020404" pitchFamily="49" charset="0"/>
                <a:cs typeface="Courier New" panose="02070309020205020404" pitchFamily="49" charset="0"/>
              </a:rPr>
              <a:t>Object</a:t>
            </a:r>
            <a:r>
              <a:rPr lang="en-US" altLang="en-US" dirty="0" smtClean="0"/>
              <a:t> class</a:t>
            </a:r>
            <a:endParaRPr lang="en-US" altLang="en-US" dirty="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43C9978-5901-4036-B59E-257F73BE993B}"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81923" name="Rectangle 2"/>
          <p:cNvSpPr>
            <a:spLocks noGrp="1" noChangeArrowheads="1"/>
          </p:cNvSpPr>
          <p:nvPr>
            <p:ph type="title"/>
          </p:nvPr>
        </p:nvSpPr>
        <p:spPr/>
        <p:txBody>
          <a:bodyPr/>
          <a:lstStyle/>
          <a:p>
            <a:pPr eaLnBrk="1" hangingPunct="1"/>
            <a:r>
              <a:rPr lang="en-US" altLang="en-US" dirty="0" smtClean="0"/>
              <a:t>Support for OOP in C#</a:t>
            </a:r>
          </a:p>
        </p:txBody>
      </p:sp>
      <p:sp>
        <p:nvSpPr>
          <p:cNvPr id="81924"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Nested Classes</a:t>
            </a:r>
          </a:p>
          <a:p>
            <a:pPr lvl="1" eaLnBrk="1" hangingPunct="1"/>
            <a:r>
              <a:rPr lang="en-US" altLang="en-US" dirty="0" smtClean="0"/>
              <a:t>A class that is directly nested in a nesting class</a:t>
            </a:r>
          </a:p>
          <a:p>
            <a:pPr lvl="2" eaLnBrk="1" hangingPunct="1"/>
            <a:r>
              <a:rPr lang="en-US" altLang="en-US" dirty="0" smtClean="0"/>
              <a:t>Behaves like a Java static nested class</a:t>
            </a:r>
          </a:p>
          <a:p>
            <a:pPr lvl="2" eaLnBrk="1" hangingPunct="1"/>
            <a:r>
              <a:rPr lang="en-US" altLang="en-US" dirty="0" smtClean="0"/>
              <a:t>Thus cannot access members of the nesting class</a:t>
            </a:r>
          </a:p>
          <a:p>
            <a:pPr lvl="2" eaLnBrk="1" hangingPunct="1"/>
            <a:r>
              <a:rPr lang="en-US" altLang="en-US" dirty="0" smtClean="0"/>
              <a:t>No nested classes like the non-static classes of Java</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43C9978-5901-4036-B59E-257F73BE993B}"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81923" name="Rectangle 2"/>
          <p:cNvSpPr>
            <a:spLocks noGrp="1" noChangeArrowheads="1"/>
          </p:cNvSpPr>
          <p:nvPr>
            <p:ph type="title"/>
          </p:nvPr>
        </p:nvSpPr>
        <p:spPr/>
        <p:txBody>
          <a:bodyPr/>
          <a:lstStyle/>
          <a:p>
            <a:pPr eaLnBrk="1" hangingPunct="1"/>
            <a:r>
              <a:rPr lang="en-US" altLang="en-US" dirty="0" smtClean="0"/>
              <a:t>Support for OOP in Ruby</a:t>
            </a:r>
          </a:p>
        </p:txBody>
      </p:sp>
      <p:sp>
        <p:nvSpPr>
          <p:cNvPr id="81924" name="Rectangle 3"/>
          <p:cNvSpPr>
            <a:spLocks noGrp="1" noChangeArrowheads="1"/>
          </p:cNvSpPr>
          <p:nvPr>
            <p:ph type="body" idx="1"/>
          </p:nvPr>
        </p:nvSpPr>
        <p:spPr>
          <a:xfrm>
            <a:off x="609600" y="1600200"/>
            <a:ext cx="8153400" cy="4572000"/>
          </a:xfrm>
        </p:spPr>
        <p:txBody>
          <a:bodyPr/>
          <a:lstStyle/>
          <a:p>
            <a:pPr eaLnBrk="1" hangingPunct="1"/>
            <a:r>
              <a:rPr lang="en-ZA" altLang="en-US" dirty="0"/>
              <a:t>General Characteristics</a:t>
            </a:r>
          </a:p>
          <a:p>
            <a:pPr lvl="1" eaLnBrk="1" hangingPunct="1"/>
            <a:r>
              <a:rPr lang="en-ZA" altLang="en-US" dirty="0"/>
              <a:t>Everything is an object</a:t>
            </a:r>
          </a:p>
          <a:p>
            <a:pPr lvl="1" eaLnBrk="1" hangingPunct="1"/>
            <a:r>
              <a:rPr lang="en-ZA" altLang="en-US" dirty="0"/>
              <a:t>All computation is through message passing</a:t>
            </a:r>
          </a:p>
          <a:p>
            <a:pPr lvl="1" eaLnBrk="1" hangingPunct="1"/>
            <a:r>
              <a:rPr lang="en-ZA" altLang="en-US" dirty="0"/>
              <a:t>Class definitions are executable</a:t>
            </a:r>
          </a:p>
          <a:p>
            <a:pPr lvl="2" eaLnBrk="1" hangingPunct="1"/>
            <a:r>
              <a:rPr lang="en-ZA" altLang="en-US" dirty="0"/>
              <a:t>Secondary definitions can add members</a:t>
            </a:r>
          </a:p>
          <a:p>
            <a:pPr lvl="1" eaLnBrk="1" hangingPunct="1"/>
            <a:r>
              <a:rPr lang="en-ZA" altLang="en-US" dirty="0"/>
              <a:t>Method definitions are also </a:t>
            </a:r>
            <a:r>
              <a:rPr lang="en-ZA" altLang="en-US" dirty="0" smtClean="0"/>
              <a:t>executable</a:t>
            </a:r>
          </a:p>
          <a:p>
            <a:pPr lvl="2" eaLnBrk="1" hangingPunct="1"/>
            <a:r>
              <a:rPr lang="en-ZA" altLang="en-US" dirty="0" smtClean="0"/>
              <a:t>Method definition can be changed at runtime</a:t>
            </a:r>
            <a:endParaRPr lang="en-ZA" altLang="en-US" dirty="0"/>
          </a:p>
          <a:p>
            <a:pPr lvl="1" eaLnBrk="1" hangingPunct="1"/>
            <a:r>
              <a:rPr lang="en-ZA" altLang="en-US" dirty="0"/>
              <a:t>All variables are </a:t>
            </a:r>
            <a:r>
              <a:rPr lang="en-ZA" altLang="en-US" dirty="0" err="1"/>
              <a:t>typeless</a:t>
            </a:r>
            <a:r>
              <a:rPr lang="en-ZA" altLang="en-US" dirty="0"/>
              <a:t> object </a:t>
            </a:r>
            <a:r>
              <a:rPr lang="en-ZA" altLang="en-US" dirty="0" smtClean="0"/>
              <a:t>references</a:t>
            </a:r>
            <a:endParaRPr lang="en-ZA" altLang="en-US" dirty="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853861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43C9978-5901-4036-B59E-257F73BE993B}"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81923" name="Rectangle 2"/>
          <p:cNvSpPr>
            <a:spLocks noGrp="1" noChangeArrowheads="1"/>
          </p:cNvSpPr>
          <p:nvPr>
            <p:ph type="title"/>
          </p:nvPr>
        </p:nvSpPr>
        <p:spPr/>
        <p:txBody>
          <a:bodyPr/>
          <a:lstStyle/>
          <a:p>
            <a:pPr eaLnBrk="1" hangingPunct="1"/>
            <a:r>
              <a:rPr lang="en-US" altLang="en-US" dirty="0" smtClean="0"/>
              <a:t>Support for OOP in Ruby</a:t>
            </a:r>
          </a:p>
        </p:txBody>
      </p:sp>
      <p:sp>
        <p:nvSpPr>
          <p:cNvPr id="81924" name="Rectangle 3"/>
          <p:cNvSpPr>
            <a:spLocks noGrp="1" noChangeArrowheads="1"/>
          </p:cNvSpPr>
          <p:nvPr>
            <p:ph type="body" idx="1"/>
          </p:nvPr>
        </p:nvSpPr>
        <p:spPr>
          <a:xfrm>
            <a:off x="609600" y="1600200"/>
            <a:ext cx="8153400" cy="4572000"/>
          </a:xfrm>
        </p:spPr>
        <p:txBody>
          <a:bodyPr/>
          <a:lstStyle/>
          <a:p>
            <a:pPr eaLnBrk="1" hangingPunct="1"/>
            <a:r>
              <a:rPr lang="en-ZA" altLang="en-US" dirty="0"/>
              <a:t>General Characteristics</a:t>
            </a:r>
          </a:p>
          <a:p>
            <a:pPr lvl="1" eaLnBrk="1" hangingPunct="1"/>
            <a:r>
              <a:rPr lang="en-ZA" altLang="en-US" dirty="0" smtClean="0"/>
              <a:t>Access </a:t>
            </a:r>
            <a:r>
              <a:rPr lang="en-ZA" altLang="en-US" dirty="0"/>
              <a:t>control is different for data and methods</a:t>
            </a:r>
          </a:p>
          <a:p>
            <a:pPr lvl="2" eaLnBrk="1" hangingPunct="1"/>
            <a:r>
              <a:rPr lang="en-ZA" altLang="en-US" dirty="0"/>
              <a:t>All data is private, and this cannot change</a:t>
            </a:r>
          </a:p>
          <a:p>
            <a:pPr lvl="2" eaLnBrk="1" hangingPunct="1"/>
            <a:r>
              <a:rPr lang="en-ZA" altLang="en-US" dirty="0"/>
              <a:t>Methods can be either public, private, or protected</a:t>
            </a:r>
          </a:p>
          <a:p>
            <a:pPr lvl="2" eaLnBrk="1" hangingPunct="1"/>
            <a:r>
              <a:rPr lang="en-ZA" altLang="en-US" dirty="0"/>
              <a:t>Method access is checked at </a:t>
            </a:r>
            <a:r>
              <a:rPr lang="en-ZA" altLang="en-US" dirty="0" smtClean="0"/>
              <a:t>runtime (result?)</a:t>
            </a:r>
            <a:endParaRPr lang="en-ZA" altLang="en-US" dirty="0"/>
          </a:p>
          <a:p>
            <a:pPr lvl="1" eaLnBrk="1" hangingPunct="1"/>
            <a:r>
              <a:rPr lang="en-ZA" altLang="en-US" dirty="0"/>
              <a:t>Getters and setters can be defined by shortcuts</a:t>
            </a:r>
          </a:p>
          <a:p>
            <a:pPr eaLnBrk="1" hangingPunct="1"/>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452518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en-US" dirty="0" smtClean="0"/>
              <a:t>Support for OOP in Ruby</a:t>
            </a:r>
            <a:endParaRPr lang="en-GB" altLang="en-US" dirty="0" smtClean="0"/>
          </a:p>
        </p:txBody>
      </p:sp>
      <p:sp>
        <p:nvSpPr>
          <p:cNvPr id="86019" name="Rectangle 3"/>
          <p:cNvSpPr>
            <a:spLocks noGrp="1" noChangeArrowheads="1"/>
          </p:cNvSpPr>
          <p:nvPr>
            <p:ph type="body" idx="1"/>
          </p:nvPr>
        </p:nvSpPr>
        <p:spPr>
          <a:xfrm>
            <a:off x="609600" y="1600200"/>
            <a:ext cx="8153400" cy="5029200"/>
          </a:xfrm>
        </p:spPr>
        <p:txBody>
          <a:bodyPr/>
          <a:lstStyle/>
          <a:p>
            <a:r>
              <a:rPr lang="en-ZA" altLang="en-US" dirty="0" smtClean="0"/>
              <a:t>Inheritance</a:t>
            </a:r>
          </a:p>
          <a:p>
            <a:pPr lvl="1"/>
            <a:r>
              <a:rPr lang="en-ZA" altLang="en-US" dirty="0" smtClean="0"/>
              <a:t>Ruby doesn’t support true multiple inheritance</a:t>
            </a:r>
          </a:p>
          <a:p>
            <a:pPr lvl="1"/>
            <a:r>
              <a:rPr lang="en-ZA" altLang="en-US" dirty="0" smtClean="0"/>
              <a:t>Parent class access control can change in child</a:t>
            </a:r>
          </a:p>
          <a:p>
            <a:pPr lvl="2"/>
            <a:r>
              <a:rPr lang="en-ZA" altLang="en-US" sz="2000" dirty="0" smtClean="0"/>
              <a:t>So subclasses are not necessarily subtypes</a:t>
            </a:r>
          </a:p>
          <a:p>
            <a:pPr lvl="1"/>
            <a:r>
              <a:rPr lang="en-ZA" altLang="en-US" dirty="0" smtClean="0"/>
              <a:t>Does not support abstract classes</a:t>
            </a:r>
          </a:p>
        </p:txBody>
      </p:sp>
      <p:sp>
        <p:nvSpPr>
          <p:cNvPr id="86020"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4798EA6F-E49C-4F29-B659-5FFAE2E98BBC}" type="slidenum">
              <a:rPr lang="en-US" altLang="en-US" sz="1000">
                <a:solidFill>
                  <a:schemeClr val="tx1"/>
                </a:solidFill>
                <a:latin typeface="Arial" panose="020B0604020202020204" pitchFamily="34" charset="0"/>
              </a:rPr>
              <a:pPr algn="r">
                <a:spcBef>
                  <a:spcPct val="0"/>
                </a:spcBef>
                <a:buFontTx/>
                <a:buNone/>
              </a:pPr>
              <a:t>23</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en-US" dirty="0" smtClean="0"/>
              <a:t>Support for OOP in Ruby</a:t>
            </a:r>
            <a:endParaRPr lang="en-GB" altLang="en-US" dirty="0" smtClean="0"/>
          </a:p>
        </p:txBody>
      </p:sp>
      <p:sp>
        <p:nvSpPr>
          <p:cNvPr id="86019" name="Rectangle 3"/>
          <p:cNvSpPr>
            <a:spLocks noGrp="1" noChangeArrowheads="1"/>
          </p:cNvSpPr>
          <p:nvPr>
            <p:ph type="body" idx="1"/>
          </p:nvPr>
        </p:nvSpPr>
        <p:spPr>
          <a:xfrm>
            <a:off x="609600" y="1600200"/>
            <a:ext cx="8153400" cy="5029200"/>
          </a:xfrm>
        </p:spPr>
        <p:txBody>
          <a:bodyPr/>
          <a:lstStyle/>
          <a:p>
            <a:r>
              <a:rPr lang="en-ZA" altLang="en-US" dirty="0" smtClean="0"/>
              <a:t>Dynamic Binding</a:t>
            </a:r>
          </a:p>
          <a:p>
            <a:pPr lvl="1"/>
            <a:r>
              <a:rPr lang="en-ZA" altLang="en-US" dirty="0" smtClean="0"/>
              <a:t>All variables are </a:t>
            </a:r>
            <a:r>
              <a:rPr lang="en-ZA" altLang="en-US" dirty="0" err="1" smtClean="0"/>
              <a:t>typeless</a:t>
            </a:r>
            <a:r>
              <a:rPr lang="en-ZA" altLang="en-US" dirty="0" smtClean="0"/>
              <a:t> object references</a:t>
            </a:r>
          </a:p>
          <a:p>
            <a:pPr lvl="1"/>
            <a:r>
              <a:rPr lang="en-ZA" altLang="en-US" dirty="0" smtClean="0"/>
              <a:t>These references are polymorphic</a:t>
            </a:r>
          </a:p>
        </p:txBody>
      </p:sp>
      <p:sp>
        <p:nvSpPr>
          <p:cNvPr id="86020"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4798EA6F-E49C-4F29-B659-5FFAE2E98BBC}" type="slidenum">
              <a:rPr lang="en-US" altLang="en-US" sz="1000">
                <a:solidFill>
                  <a:schemeClr val="tx1"/>
                </a:solidFill>
                <a:latin typeface="Arial" panose="020B0604020202020204" pitchFamily="34" charset="0"/>
              </a:rPr>
              <a:pPr algn="r">
                <a:spcBef>
                  <a:spcPct val="0"/>
                </a:spcBef>
                <a:buFontTx/>
                <a:buNone/>
              </a:pPr>
              <a:t>24</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805372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7833</TotalTime>
  <Words>2318</Words>
  <Application>Microsoft Office PowerPoint</Application>
  <PresentationFormat>On-screen Show (4:3)</PresentationFormat>
  <Paragraphs>372</Paragraphs>
  <Slides>24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Courier New</vt:lpstr>
      <vt:lpstr>Lucida Sans Unicode</vt:lpstr>
      <vt:lpstr>Times</vt:lpstr>
      <vt:lpstr>1_sebesta</vt:lpstr>
      <vt:lpstr>Chapter 12 Part 2</vt:lpstr>
      <vt:lpstr>Chapter 12 Topics</vt:lpstr>
      <vt:lpstr>Support for OOP in C++</vt:lpstr>
      <vt:lpstr>Inheritance in C++</vt:lpstr>
      <vt:lpstr>Inheritance in C++</vt:lpstr>
      <vt:lpstr>Inheritance Example in C++</vt:lpstr>
      <vt:lpstr>Re-Exportation in C++</vt:lpstr>
      <vt:lpstr>Multiple Inheritance in C++</vt:lpstr>
      <vt:lpstr>Message Binding in C++</vt:lpstr>
      <vt:lpstr>Message Binding in C++</vt:lpstr>
      <vt:lpstr>Message Binding in C++</vt:lpstr>
      <vt:lpstr>Support for OOP in Java</vt:lpstr>
      <vt:lpstr>Support for OOP in Java</vt:lpstr>
      <vt:lpstr>Support for OOP in Java</vt:lpstr>
      <vt:lpstr>Support for OOP in Java</vt:lpstr>
      <vt:lpstr>Support for OOP in Java</vt:lpstr>
      <vt:lpstr>Support for OOP in C#</vt:lpstr>
      <vt:lpstr>Support for OOP in C#</vt:lpstr>
      <vt:lpstr>Support for OOP in C#</vt:lpstr>
      <vt:lpstr>Support for OOP in C#</vt:lpstr>
      <vt:lpstr>Support for OOP in Ruby</vt:lpstr>
      <vt:lpstr>Support for OOP in Ruby</vt:lpstr>
      <vt:lpstr>Support for OOP in Ruby</vt:lpstr>
      <vt:lpstr>Support for OOP in Ruby</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351</cp:revision>
  <dcterms:created xsi:type="dcterms:W3CDTF">2003-08-01T12:29:19Z</dcterms:created>
  <dcterms:modified xsi:type="dcterms:W3CDTF">2026-05-25T20:52:42Z</dcterms:modified>
</cp:coreProperties>
</file>